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2f40751ea84fa9" /><Relationship Type="http://schemas.openxmlformats.org/officeDocument/2006/relationships/extended-properties" Target="/docProps/app.xml" Id="R7f1352c1b49c41e0" /><Relationship Type="http://schemas.openxmlformats.org/officeDocument/2006/relationships/officeDocument" Target="/ppt/presentation.xml" Id="R947584382d79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0b8a51fb144b7"/>
  </p:sldMasterIdLst>
  <p:notesMasterIdLst>
    <p:notesMasterId xmlns:r="http://schemas.openxmlformats.org/officeDocument/2006/relationships" r:id="Rfae7927e979e40f9"/>
  </p:notesMasterIdLst>
  <p:sldIdLst>
    <p:sldId xmlns:r="http://schemas.openxmlformats.org/officeDocument/2006/relationships" id="256" r:id="Ra30be4d5782f4ac1"/>
    <p:sldId xmlns:r="http://schemas.openxmlformats.org/officeDocument/2006/relationships" id="257" r:id="Re5ac9db4326a4a8f"/>
    <p:sldId xmlns:r="http://schemas.openxmlformats.org/officeDocument/2006/relationships" id="258" r:id="Rc3c53e83ea224c1f"/>
    <p:sldId xmlns:r="http://schemas.openxmlformats.org/officeDocument/2006/relationships" id="259" r:id="Rad2d3f09adca459a"/>
    <p:sldId xmlns:r="http://schemas.openxmlformats.org/officeDocument/2006/relationships" id="260" r:id="R55c3e62f71d64b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1042ac17584ba4" /><Relationship Type="http://schemas.openxmlformats.org/officeDocument/2006/relationships/slideMaster" Target="/ppt/slideMasters/slideMaster1.xml" Id="Rb660b8a51fb144b7" /><Relationship Type="http://schemas.openxmlformats.org/officeDocument/2006/relationships/notesMaster" Target="/ppt/notesMasters/notesMaster1.xml" Id="Rfae7927e979e40f9" /><Relationship Type="http://schemas.openxmlformats.org/officeDocument/2006/relationships/presProps" Target="/ppt/presProps.xml" Id="R3151e447c8e84402" /><Relationship Type="http://schemas.openxmlformats.org/officeDocument/2006/relationships/tableStyles" Target="/ppt/tableStyles.xml" Id="R0a4f79fed529439c" /><Relationship Type="http://schemas.openxmlformats.org/officeDocument/2006/relationships/slide" Target="/ppt/slides/slide1.xml" Id="Ra30be4d5782f4ac1" /><Relationship Type="http://schemas.openxmlformats.org/officeDocument/2006/relationships/slide" Target="/ppt/slides/slide2.xml" Id="Re5ac9db4326a4a8f" /><Relationship Type="http://schemas.openxmlformats.org/officeDocument/2006/relationships/slide" Target="/ppt/slides/slide3.xml" Id="Rc3c53e83ea224c1f" /><Relationship Type="http://schemas.openxmlformats.org/officeDocument/2006/relationships/slide" Target="/ppt/slides/slide4.xml" Id="Rad2d3f09adca459a" /><Relationship Type="http://schemas.openxmlformats.org/officeDocument/2006/relationships/slide" Target="/ppt/slides/slide5.xml" Id="R55c3e62f71d64b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95c6d79591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ed29f3f5d4204" /><Relationship Type="http://schemas.openxmlformats.org/officeDocument/2006/relationships/notesMaster" Target="/ppt/notesMasters/notesMaster1.xml" Id="R58c98d50a26d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68e5897a14ae7" /><Relationship Type="http://schemas.openxmlformats.org/officeDocument/2006/relationships/notesMaster" Target="/ppt/notesMasters/notesMaster1.xml" Id="R87d653096b7c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26763af874036" /><Relationship Type="http://schemas.openxmlformats.org/officeDocument/2006/relationships/notesMaster" Target="/ppt/notesMasters/notesMaster1.xml" Id="R2d9614d9420e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f8b61f14934746" /><Relationship Type="http://schemas.openxmlformats.org/officeDocument/2006/relationships/notesMaster" Target="/ppt/notesMasters/notesMaster1.xml" Id="Rea18add9d434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7cef722614308" /><Relationship Type="http://schemas.openxmlformats.org/officeDocument/2006/relationships/notesMaster" Target="/ppt/notesMasters/notesMaster1.xml" Id="R9d092a32d3f64a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practical motivation. The project does not decide whether a specific house is safe; it supports a first comparison of mainland locations using a transparent and reproducible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flow diagram as the core explanation. Features come from predictor year T; the observed burned share in T+1 is the learning target. A future category supports comparison, not a safety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explain each source. Stress the temporal rule: ICNF is only past fire context or a next-year outcome, never a same-year predictor. ERA5-Land is June to September data from T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random splitting would be misleading: the project needs to test the model on later years. The baseline is historical fire context; Random Forest is a candidate, not a pre-decided winner.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setting the correct expectation. The project is useful if it makes the first-stage comparison more transparent. It cannot guarantee the safety of an individual property or replace local due diligence.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27688686441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70a09a03d4e5b" /><Relationship Type="http://schemas.openxmlformats.org/officeDocument/2006/relationships/slideLayout" Target="/ppt/slideLayouts/slideLayout1.xml" Id="Rf75ab0388263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ab0388263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75888ca9a421e" /><Relationship Type="http://schemas.openxmlformats.org/officeDocument/2006/relationships/notesSlide" Target="/ppt/notesSlides/notesSlide1.xml" Id="R57ea70548ddc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1f0d03a2f45a5" /><Relationship Type="http://schemas.openxmlformats.org/officeDocument/2006/relationships/notesSlide" Target="/ppt/notesSlides/notesSlide2.xml" Id="Rec26be85d68845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824946ffc4e82" /><Relationship Type="http://schemas.openxmlformats.org/officeDocument/2006/relationships/notesSlide" Target="/ppt/notesSlides/notesSlide3.xml" Id="R80d7c738b3a74d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e9b7304e0437d" /><Relationship Type="http://schemas.openxmlformats.org/officeDocument/2006/relationships/notesSlide" Target="/ppt/notesSlides/notesSlide4.xml" Id="Re187d735f4d847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9ca1b2605408d" /><Relationship Type="http://schemas.openxmlformats.org/officeDocument/2006/relationships/notesSlide" Target="/ppt/notesSlides/notesSlide5.xml" Id="R7bc1568d03ed44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32CA158-1618-4093-B432-99EF1FC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DATA SCIENCE PROJECT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D0A6CD7-7120-4AD0-8DED-552940B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14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A33"/>
                </a:solidFill>
              </a:defRPr>
            </a:pPr>
            <a:r>
              <a:rPr sz="4200" b="1">
                <a:solidFill>
                  <a:srgbClr val="102A33"/>
                </a:solidFill>
              </a:rPr>
              <a:t>Reproducible Wildfire</a:t>
            </a:r>
          </a:p>
          <a:p xmlns:a="http://schemas.openxmlformats.org/drawingml/2006/main">
            <a:pPr algn="l">
              <a:defRPr sz="4200" b="1">
                <a:solidFill>
                  <a:srgbClr val="102A33"/>
                </a:solidFill>
              </a:defRPr>
            </a:pPr>
            <a:r>
              <a:rPr sz="4200" b="1">
                <a:solidFill>
                  <a:srgbClr val="102A33"/>
                </a:solidFill>
              </a:rPr>
              <a:t>Exposure Screening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3FFA04-52FA-4A3C-8AF6-7EB96A9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8606B"/>
                </a:solidFill>
              </a:defRPr>
            </a:pPr>
            <a:r>
              <a:rPr sz="2025" b="0">
                <a:solidFill>
                  <a:srgbClr val="48606B"/>
                </a:solidFill>
              </a:rPr>
              <a:t>Residential location selection in mainland Portugal</a:t>
            </a:r>
          </a:p>
        </p:txBody>
      </p:sp>
      <p:sp>
        <p:nvSpPr>
          <p:cNvPr id="4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B57A9956-CF36-4917-9F06-45EDBF34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33"/>
                </a:solidFill>
              </a:defRPr>
            </a:pPr>
            <a:r>
              <a:rPr sz="1800" b="0">
                <a:solidFill>
                  <a:srgbClr val="102A33"/>
                </a:solidFill>
              </a:rPr>
              <a:t>A transparent way to compare areas by relative wildfire exposure — one useful factor before a property purchase.</a:t>
            </a:r>
          </a:p>
        </p:txBody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BE3F74B6-428B-42F0-B11B-CD3E620D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2628900" cy="4095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EAF6FD"/>
            </a:solidFill>
            <a:prstDash val="solid"/>
          </a:ln>
        </p:spPr>
      </p:sp>
      <p:sp>
        <p:nvSpPr>
          <p:cNvPr id="6" name="cover-panel-label">
            <a:extLst xmlns:a="http://schemas.openxmlformats.org/drawingml/2006/main">
              <a:ext uri="{FF2B5EF4-FFF2-40B4-BE49-F238E27FC236}">
                <a16:creationId xmlns:a16="http://schemas.microsoft.com/office/drawing/2014/main" id="{B8E0D155-B776-42F3-B181-32F5BA18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14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ANALYSIS UNIT</a:t>
            </a:r>
          </a:p>
        </p:txBody>
      </p:sp>
      <p:sp>
        <p:nvSpPr>
          <p:cNvPr id="7" name="cover-grid">
            <a:extLst xmlns:a="http://schemas.openxmlformats.org/drawingml/2006/main">
              <a:ext uri="{FF2B5EF4-FFF2-40B4-BE49-F238E27FC236}">
                <a16:creationId xmlns:a16="http://schemas.microsoft.com/office/drawing/2014/main" id="{75280D20-9FE4-41ED-8456-820907B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33"/>
                </a:solidFill>
              </a:defRPr>
            </a:pPr>
            <a:r>
              <a:rPr sz="2325" b="1">
                <a:solidFill>
                  <a:srgbClr val="102A33"/>
                </a:solidFill>
              </a:rPr>
              <a:t>1 km × 1 km</a:t>
            </a:r>
          </a:p>
        </p:txBody>
      </p:sp>
      <p:sp>
        <p:nvSpPr>
          <p:cNvPr id="8" name="cover-crs">
            <a:extLst xmlns:a="http://schemas.openxmlformats.org/drawingml/2006/main">
              <a:ext uri="{FF2B5EF4-FFF2-40B4-BE49-F238E27FC236}">
                <a16:creationId xmlns:a16="http://schemas.microsoft.com/office/drawing/2014/main" id="{C5A29E70-8626-4D3C-A5B7-0D0CE8A5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606B"/>
                </a:solidFill>
              </a:defRPr>
            </a:pPr>
            <a:r>
              <a:rPr sz="1350" b="1">
                <a:solidFill>
                  <a:srgbClr val="48606B"/>
                </a:solidFill>
              </a:rPr>
              <a:t>EPSG:3763</a:t>
            </a:r>
          </a:p>
        </p:txBody>
      </p:sp>
      <p:sp>
        <p:nvSpPr>
          <p:cNvPr id="9" name="grid-0-0">
            <a:extLst xmlns:a="http://schemas.openxmlformats.org/drawingml/2006/main">
              <a:ext uri="{FF2B5EF4-FFF2-40B4-BE49-F238E27FC236}">
                <a16:creationId xmlns:a16="http://schemas.microsoft.com/office/drawing/2014/main" id="{E462A856-F9FF-450D-8F5A-4E126DF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0" name="grid-0-1">
            <a:extLst xmlns:a="http://schemas.openxmlformats.org/drawingml/2006/main">
              <a:ext uri="{FF2B5EF4-FFF2-40B4-BE49-F238E27FC236}">
                <a16:creationId xmlns:a16="http://schemas.microsoft.com/office/drawing/2014/main" id="{6FC17513-3C94-4146-9963-FB3255F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1" name="grid-0-2">
            <a:extLst xmlns:a="http://schemas.openxmlformats.org/drawingml/2006/main">
              <a:ext uri="{FF2B5EF4-FFF2-40B4-BE49-F238E27FC236}">
                <a16:creationId xmlns:a16="http://schemas.microsoft.com/office/drawing/2014/main" id="{C4386C66-BEF4-43BC-9E97-1C334E2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2" name="grid-0-3">
            <a:extLst xmlns:a="http://schemas.openxmlformats.org/drawingml/2006/main">
              <a:ext uri="{FF2B5EF4-FFF2-40B4-BE49-F238E27FC236}">
                <a16:creationId xmlns:a16="http://schemas.microsoft.com/office/drawing/2014/main" id="{CB12D9E2-3F50-472F-A32F-CE0D6C9E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3" name="grid-1-0">
            <a:extLst xmlns:a="http://schemas.openxmlformats.org/drawingml/2006/main">
              <a:ext uri="{FF2B5EF4-FFF2-40B4-BE49-F238E27FC236}">
                <a16:creationId xmlns:a16="http://schemas.microsoft.com/office/drawing/2014/main" id="{7C21C11F-E80C-496A-A60B-D0BEE7AC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4" name="grid-1-1">
            <a:extLst xmlns:a="http://schemas.openxmlformats.org/drawingml/2006/main">
              <a:ext uri="{FF2B5EF4-FFF2-40B4-BE49-F238E27FC236}">
                <a16:creationId xmlns:a16="http://schemas.microsoft.com/office/drawing/2014/main" id="{1452AE48-3040-4671-928E-9CE18D84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5" name="grid-1-2">
            <a:extLst xmlns:a="http://schemas.openxmlformats.org/drawingml/2006/main">
              <a:ext uri="{FF2B5EF4-FFF2-40B4-BE49-F238E27FC236}">
                <a16:creationId xmlns:a16="http://schemas.microsoft.com/office/drawing/2014/main" id="{1CEA386D-EFE4-4764-9F5C-898139D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6" name="grid-1-3">
            <a:extLst xmlns:a="http://schemas.openxmlformats.org/drawingml/2006/main">
              <a:ext uri="{FF2B5EF4-FFF2-40B4-BE49-F238E27FC236}">
                <a16:creationId xmlns:a16="http://schemas.microsoft.com/office/drawing/2014/main" id="{3B1DCA34-0970-4892-98F4-D41D2CF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7" name="grid-2-0">
            <a:extLst xmlns:a="http://schemas.openxmlformats.org/drawingml/2006/main">
              <a:ext uri="{FF2B5EF4-FFF2-40B4-BE49-F238E27FC236}">
                <a16:creationId xmlns:a16="http://schemas.microsoft.com/office/drawing/2014/main" id="{D3D6FBB5-7A60-493B-A3CC-89457D7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8" name="grid-2-1">
            <a:extLst xmlns:a="http://schemas.openxmlformats.org/drawingml/2006/main">
              <a:ext uri="{FF2B5EF4-FFF2-40B4-BE49-F238E27FC236}">
                <a16:creationId xmlns:a16="http://schemas.microsoft.com/office/drawing/2014/main" id="{159E2319-20FF-413E-ADC8-938DA3BF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9" name="grid-2-2">
            <a:extLst xmlns:a="http://schemas.openxmlformats.org/drawingml/2006/main">
              <a:ext uri="{FF2B5EF4-FFF2-40B4-BE49-F238E27FC236}">
                <a16:creationId xmlns:a16="http://schemas.microsoft.com/office/drawing/2014/main" id="{920A23EC-FCCD-4E04-A0C4-3A03BB72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0" name="grid-2-3">
            <a:extLst xmlns:a="http://schemas.openxmlformats.org/drawingml/2006/main">
              <a:ext uri="{FF2B5EF4-FFF2-40B4-BE49-F238E27FC236}">
                <a16:creationId xmlns:a16="http://schemas.microsoft.com/office/drawing/2014/main" id="{334FB27A-44F4-4861-AB4A-4F093A1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1" name="grid-3-0">
            <a:extLst xmlns:a="http://schemas.openxmlformats.org/drawingml/2006/main">
              <a:ext uri="{FF2B5EF4-FFF2-40B4-BE49-F238E27FC236}">
                <a16:creationId xmlns:a16="http://schemas.microsoft.com/office/drawing/2014/main" id="{8B500D36-A366-4F73-AAB0-779F9B9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2" name="grid-3-1">
            <a:extLst xmlns:a="http://schemas.openxmlformats.org/drawingml/2006/main">
              <a:ext uri="{FF2B5EF4-FFF2-40B4-BE49-F238E27FC236}">
                <a16:creationId xmlns:a16="http://schemas.microsoft.com/office/drawing/2014/main" id="{94EA7861-42C9-4804-99A7-D5C69E7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3" name="grid-3-2">
            <a:extLst xmlns:a="http://schemas.openxmlformats.org/drawingml/2006/main">
              <a:ext uri="{FF2B5EF4-FFF2-40B4-BE49-F238E27FC236}">
                <a16:creationId xmlns:a16="http://schemas.microsoft.com/office/drawing/2014/main" id="{00D3C39E-4302-4B63-861C-D58410C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4" name="grid-3-3">
            <a:extLst xmlns:a="http://schemas.openxmlformats.org/drawingml/2006/main">
              <a:ext uri="{FF2B5EF4-FFF2-40B4-BE49-F238E27FC236}">
                <a16:creationId xmlns:a16="http://schemas.microsoft.com/office/drawing/2014/main" id="{017242FD-B038-4295-9D39-659FEA70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5E3BD383-73E2-4E9C-ACBD-2DB20DA2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06B"/>
                </a:solidFill>
              </a:defRPr>
            </a:pPr>
            <a:r>
              <a:rPr sz="1200" b="0">
                <a:solidFill>
                  <a:srgbClr val="48606B"/>
                </a:solidFill>
              </a:rPr>
              <a:t>Teacher presentation • Project design stage</a:t>
            </a:r>
          </a:p>
        </p:txBody>
      </p:sp>
    </p:spTree>
    <p:extLst>
      <p:ext uri="{BB962C8B-B14F-4D97-AF65-F5344CB8AC3E}">
        <p14:creationId xmlns:p14="http://schemas.microsoft.com/office/powerpoint/2010/main" val="1683666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2">
            <a:extLst xmlns:a="http://schemas.openxmlformats.org/drawingml/2006/main">
              <a:ext uri="{FF2B5EF4-FFF2-40B4-BE49-F238E27FC236}">
                <a16:creationId xmlns:a16="http://schemas.microsoft.com/office/drawing/2014/main" id="{449CD7FF-9491-41DD-8AF0-A734323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PURPOSE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787FC20-5B8E-4CF3-A141-6383866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Turn public data into a clear screening signal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B6F4546-D1E9-4F53-A3DC-6557804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36D596D-0924-4B8B-BB9C-8235935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02</a:t>
            </a:r>
          </a:p>
        </p:txBody>
      </p:sp>
      <p:sp>
        <p:nvSpPr>
          <p:cNvPr id="5" name="goal-lead">
            <a:extLst xmlns:a="http://schemas.openxmlformats.org/drawingml/2006/main">
              <a:ext uri="{FF2B5EF4-FFF2-40B4-BE49-F238E27FC236}">
                <a16:creationId xmlns:a16="http://schemas.microsoft.com/office/drawing/2014/main" id="{D478F449-224B-43A9-B37C-2DC2C41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3"/>
                </a:solidFill>
              </a:defRPr>
            </a:pPr>
            <a:r>
              <a:rPr sz="1875" b="1">
                <a:solidFill>
                  <a:srgbClr val="102A33"/>
                </a:solidFill>
              </a:rPr>
              <a:t>Goal: classify areas as lower, medium, or higher relative wildfire exposure — as one input to location shortlisting.</a:t>
            </a:r>
          </a:p>
        </p:txBody>
      </p:sp>
      <p:sp>
        <p:nvSpPr>
          <p:cNvPr id="6" name="flow-inputs">
            <a:extLst xmlns:a="http://schemas.openxmlformats.org/drawingml/2006/main">
              <a:ext uri="{FF2B5EF4-FFF2-40B4-BE49-F238E27FC236}">
                <a16:creationId xmlns:a16="http://schemas.microsoft.com/office/drawing/2014/main" id="{7DCE1915-2B70-426F-9417-14912BBC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866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flow-inputs-label">
            <a:extLst xmlns:a="http://schemas.openxmlformats.org/drawingml/2006/main">
              <a:ext uri="{FF2B5EF4-FFF2-40B4-BE49-F238E27FC236}">
                <a16:creationId xmlns:a16="http://schemas.microsoft.com/office/drawing/2014/main" id="{306014D3-5C74-4E61-9338-B33F58BF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63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Historical fires +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land cover + climate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in predictor year T</a:t>
            </a:r>
          </a:p>
        </p:txBody>
      </p:sp>
      <p:sp>
        <p:nvSpPr>
          <p:cNvPr id="8" name="flow-model">
            <a:extLst xmlns:a="http://schemas.openxmlformats.org/drawingml/2006/main">
              <a:ext uri="{FF2B5EF4-FFF2-40B4-BE49-F238E27FC236}">
                <a16:creationId xmlns:a16="http://schemas.microsoft.com/office/drawing/2014/main" id="{17F198AA-6E40-4DE1-A253-E511CBE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638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9" name="flow-model-label">
            <a:extLst xmlns:a="http://schemas.openxmlformats.org/drawingml/2006/main">
              <a:ext uri="{FF2B5EF4-FFF2-40B4-BE49-F238E27FC236}">
                <a16:creationId xmlns:a16="http://schemas.microsoft.com/office/drawing/2014/main" id="{164AE366-B7E7-4E85-A176-6093F02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140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Supervised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ML model</a:t>
            </a:r>
          </a:p>
        </p:txBody>
      </p:sp>
      <p:sp>
        <p:nvSpPr>
          <p:cNvPr id="10" name="flow-target">
            <a:extLst xmlns:a="http://schemas.openxmlformats.org/drawingml/2006/main">
              <a:ext uri="{FF2B5EF4-FFF2-40B4-BE49-F238E27FC236}">
                <a16:creationId xmlns:a16="http://schemas.microsoft.com/office/drawing/2014/main" id="{036B4B50-993E-4B5B-8C71-86AB0C4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638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1" name="flow-target-label">
            <a:extLst xmlns:a="http://schemas.openxmlformats.org/drawingml/2006/main">
              <a:ext uri="{FF2B5EF4-FFF2-40B4-BE49-F238E27FC236}">
                <a16:creationId xmlns:a16="http://schemas.microsoft.com/office/drawing/2014/main" id="{E6D3673A-3AD5-45AE-A38D-3413FB6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57550"/>
            <a:ext cx="140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Burned share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in T+1</a:t>
            </a:r>
          </a:p>
        </p:txBody>
      </p:sp>
      <p:sp>
        <p:nvSpPr>
          <p:cNvPr id="12" name="flow-screen">
            <a:extLst xmlns:a="http://schemas.openxmlformats.org/drawingml/2006/main">
              <a:ext uri="{FF2B5EF4-FFF2-40B4-BE49-F238E27FC236}">
                <a16:creationId xmlns:a16="http://schemas.microsoft.com/office/drawing/2014/main" id="{A3D21D4A-FC8E-4BD8-A48D-D99BC7B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1866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9AC9A6"/>
            </a:solidFill>
            <a:prstDash val="solid"/>
          </a:ln>
        </p:spPr>
      </p:sp>
      <p:sp>
        <p:nvSpPr>
          <p:cNvPr id="13" name="flow-screen-label">
            <a:extLst xmlns:a="http://schemas.openxmlformats.org/drawingml/2006/main">
              <a:ext uri="{FF2B5EF4-FFF2-40B4-BE49-F238E27FC236}">
                <a16:creationId xmlns:a16="http://schemas.microsoft.com/office/drawing/2014/main" id="{0928625C-F842-4DB9-ABD1-C5935C54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63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Low / medium / high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screening category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52700" y="3667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52950" y="36671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81800" y="36671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7" name="goal-b1-dot">
            <a:extLst xmlns:a="http://schemas.openxmlformats.org/drawingml/2006/main">
              <a:ext uri="{FF2B5EF4-FFF2-40B4-BE49-F238E27FC236}">
                <a16:creationId xmlns:a16="http://schemas.microsoft.com/office/drawing/2014/main" id="{23DD367E-023D-4B2E-9793-00B6AD73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goal-b1-text">
            <a:extLst xmlns:a="http://schemas.openxmlformats.org/drawingml/2006/main">
              <a:ext uri="{FF2B5EF4-FFF2-40B4-BE49-F238E27FC236}">
                <a16:creationId xmlns:a16="http://schemas.microsoft.com/office/drawing/2014/main" id="{6F543513-95C4-4717-A563-3EFA88FF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The output is a relative area-level screening category, not a property decision.</a:t>
            </a:r>
          </a:p>
        </p:txBody>
      </p:sp>
      <p:sp>
        <p:nvSpPr>
          <p:cNvPr id="19" name="goal-b2-dot">
            <a:extLst xmlns:a="http://schemas.openxmlformats.org/drawingml/2006/main">
              <a:ext uri="{FF2B5EF4-FFF2-40B4-BE49-F238E27FC236}">
                <a16:creationId xmlns:a16="http://schemas.microsoft.com/office/drawing/2014/main" id="{6EE54B50-4098-49EC-98EB-EEDCEEC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goal-b2-text">
            <a:extLst xmlns:a="http://schemas.openxmlformats.org/drawingml/2006/main">
              <a:ext uri="{FF2B5EF4-FFF2-40B4-BE49-F238E27FC236}">
                <a16:creationId xmlns:a16="http://schemas.microsoft.com/office/drawing/2014/main" id="{F38FE965-4E09-45EE-859C-1B5C39D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The continuous target is the share of each 1 km cell burned in the next year.</a:t>
            </a:r>
          </a:p>
        </p:txBody>
      </p: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0C7B84E9-C248-46DD-A328-5323612D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612563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7FF37F3D-04D8-449A-BCE9-5C8B420A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INPUTS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357F26C-48B9-4F3E-967D-54C7AEDE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Four public data sources describe each area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8FDD7CBE-203F-4E02-A3BA-06161DB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CD8F7CD-1B87-48A2-99F6-05EFD231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03</a:t>
            </a:r>
          </a:p>
        </p:txBody>
      </p:sp>
      <p:sp>
        <p:nvSpPr>
          <p:cNvPr id="5" name="source-card-0">
            <a:extLst xmlns:a="http://schemas.openxmlformats.org/drawingml/2006/main">
              <a:ext uri="{FF2B5EF4-FFF2-40B4-BE49-F238E27FC236}">
                <a16:creationId xmlns:a16="http://schemas.microsoft.com/office/drawing/2014/main" id="{5B160EAD-F0C5-4EAB-8407-1315B498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6" name="source-card-title-0">
            <a:extLst xmlns:a="http://schemas.openxmlformats.org/drawingml/2006/main">
              <a:ext uri="{FF2B5EF4-FFF2-40B4-BE49-F238E27FC236}">
                <a16:creationId xmlns:a16="http://schemas.microsoft.com/office/drawing/2014/main" id="{793A0499-AFA8-4922-9CB6-5C7F47C7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ICNF burned areas</a:t>
            </a:r>
          </a:p>
        </p:txBody>
      </p:sp>
      <p:sp>
        <p:nvSpPr>
          <p:cNvPr id="7" name="source-card-body-0">
            <a:extLst xmlns:a="http://schemas.openxmlformats.org/drawingml/2006/main">
              <a:ext uri="{FF2B5EF4-FFF2-40B4-BE49-F238E27FC236}">
                <a16:creationId xmlns:a16="http://schemas.microsoft.com/office/drawing/2014/main" id="{E19A4905-5846-4727-985C-0BA4BAAF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Target in T+1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+10-year history: T−10 to T−1</a:t>
            </a:r>
          </a:p>
        </p:txBody>
      </p:sp>
      <p:sp>
        <p:nvSpPr>
          <p:cNvPr id="8" name="source-card-1">
            <a:extLst xmlns:a="http://schemas.openxmlformats.org/drawingml/2006/main">
              <a:ext uri="{FF2B5EF4-FFF2-40B4-BE49-F238E27FC236}">
                <a16:creationId xmlns:a16="http://schemas.microsoft.com/office/drawing/2014/main" id="{E22E20A0-8B43-4618-9183-816BC22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9" name="source-card-title-1">
            <a:extLst xmlns:a="http://schemas.openxmlformats.org/drawingml/2006/main">
              <a:ext uri="{FF2B5EF4-FFF2-40B4-BE49-F238E27FC236}">
                <a16:creationId xmlns:a16="http://schemas.microsoft.com/office/drawing/2014/main" id="{61CB3464-3622-4109-A186-7EF9C672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CORINE Land Cover</a:t>
            </a:r>
          </a:p>
        </p:txBody>
      </p:sp>
      <p:sp>
        <p:nvSpPr>
          <p:cNvPr id="10" name="source-card-body-1">
            <a:extLst xmlns:a="http://schemas.openxmlformats.org/drawingml/2006/main">
              <a:ext uri="{FF2B5EF4-FFF2-40B4-BE49-F238E27FC236}">
                <a16:creationId xmlns:a16="http://schemas.microsoft.com/office/drawing/2014/main" id="{8CF16A8F-59D8-40AF-81F7-5F7C90C0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Broad landscape shares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not annual parcel data</a:t>
            </a:r>
          </a:p>
        </p:txBody>
      </p:sp>
      <p:sp>
        <p:nvSpPr>
          <p:cNvPr id="11" name="source-card-2">
            <a:extLst xmlns:a="http://schemas.openxmlformats.org/drawingml/2006/main">
              <a:ext uri="{FF2B5EF4-FFF2-40B4-BE49-F238E27FC236}">
                <a16:creationId xmlns:a16="http://schemas.microsoft.com/office/drawing/2014/main" id="{7E44F545-ADBE-4533-8A81-92AA60C1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2" name="source-card-title-2">
            <a:extLst xmlns:a="http://schemas.openxmlformats.org/drawingml/2006/main">
              <a:ext uri="{FF2B5EF4-FFF2-40B4-BE49-F238E27FC236}">
                <a16:creationId xmlns:a16="http://schemas.microsoft.com/office/drawing/2014/main" id="{38E76016-ACFC-4923-ABB5-E8BFE3A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ERA5-Land</a:t>
            </a:r>
          </a:p>
        </p:txBody>
      </p:sp>
      <p:sp>
        <p:nvSpPr>
          <p:cNvPr id="13" name="source-card-body-2">
            <a:extLst xmlns:a="http://schemas.openxmlformats.org/drawingml/2006/main">
              <a:ext uri="{FF2B5EF4-FFF2-40B4-BE49-F238E27FC236}">
                <a16:creationId xmlns:a16="http://schemas.microsoft.com/office/drawing/2014/main" id="{CA78031E-C17C-45E9-831A-7832E2EE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JJAS T-only: temperature,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precipitation, shallow soil moisture</a:t>
            </a:r>
          </a:p>
        </p:txBody>
      </p:sp>
      <p:sp>
        <p:nvSpPr>
          <p:cNvPr id="14" name="source-card-3">
            <a:extLst xmlns:a="http://schemas.openxmlformats.org/drawingml/2006/main">
              <a:ext uri="{FF2B5EF4-FFF2-40B4-BE49-F238E27FC236}">
                <a16:creationId xmlns:a16="http://schemas.microsoft.com/office/drawing/2014/main" id="{3EB1B019-D779-4581-B141-E4ECBFA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5" name="source-card-title-3">
            <a:extLst xmlns:a="http://schemas.openxmlformats.org/drawingml/2006/main">
              <a:ext uri="{FF2B5EF4-FFF2-40B4-BE49-F238E27FC236}">
                <a16:creationId xmlns:a16="http://schemas.microsoft.com/office/drawing/2014/main" id="{01F97E22-B139-4F16-9A70-15D5DA8E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CAOP + DEM</a:t>
            </a:r>
          </a:p>
        </p:txBody>
      </p:sp>
      <p:sp>
        <p:nvSpPr>
          <p:cNvPr id="16" name="source-card-body-3">
            <a:extLst xmlns:a="http://schemas.openxmlformats.org/drawingml/2006/main">
              <a:ext uri="{FF2B5EF4-FFF2-40B4-BE49-F238E27FC236}">
                <a16:creationId xmlns:a16="http://schemas.microsoft.com/office/drawing/2014/main" id="{D0AA1B64-AEE6-4A7D-B906-38FFA638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Mainland boundary,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reporting areas, terrain context</a:t>
            </a:r>
          </a:p>
        </p:txBody>
      </p:sp>
      <p:sp>
        <p:nvSpPr>
          <p:cNvPr id="17" name="input-b1-dot">
            <a:extLst xmlns:a="http://schemas.openxmlformats.org/drawingml/2006/main">
              <a:ext uri="{FF2B5EF4-FFF2-40B4-BE49-F238E27FC236}">
                <a16:creationId xmlns:a16="http://schemas.microsoft.com/office/drawing/2014/main" id="{340D67FC-D817-417F-8F65-DACEAD8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input-b1-text">
            <a:extLst xmlns:a="http://schemas.openxmlformats.org/drawingml/2006/main">
              <a:ext uri="{FF2B5EF4-FFF2-40B4-BE49-F238E27FC236}">
                <a16:creationId xmlns:a16="http://schemas.microsoft.com/office/drawing/2014/main" id="{06C3A261-CFDC-4BDC-B67A-E7EB37EE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All area and distance work uses the Portuguese projected CRS: EPSG:3763.</a:t>
            </a:r>
          </a:p>
        </p:txBody>
      </p:sp>
      <p:sp>
        <p:nvSpPr>
          <p:cNvPr id="19" name="input-b2-dot">
            <a:extLst xmlns:a="http://schemas.openxmlformats.org/drawingml/2006/main">
              <a:ext uri="{FF2B5EF4-FFF2-40B4-BE49-F238E27FC236}">
                <a16:creationId xmlns:a16="http://schemas.microsoft.com/office/drawing/2014/main" id="{01E73909-9AFA-40EA-A66D-E312821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input-b2-text">
            <a:extLst xmlns:a="http://schemas.openxmlformats.org/drawingml/2006/main">
              <a:ext uri="{FF2B5EF4-FFF2-40B4-BE49-F238E27FC236}">
                <a16:creationId xmlns:a16="http://schemas.microsoft.com/office/drawing/2014/main" id="{64F70584-C2DA-4F04-B5EE-2917483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CLC and ERA5-Land provide broad context; neither is treated as local property evidence.</a:t>
            </a:r>
          </a:p>
        </p:txBody>
      </p:sp>
      <p:sp>
        <p:nvSpPr>
          <p:cNvPr id="21" name="footer-3">
            <a:extLst xmlns:a="http://schemas.openxmlformats.org/drawingml/2006/main">
              <a:ext uri="{FF2B5EF4-FFF2-40B4-BE49-F238E27FC236}">
                <a16:creationId xmlns:a16="http://schemas.microsoft.com/office/drawing/2014/main" id="{21B23105-8C40-451E-B23F-64258F3C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675236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46912A16-14FF-4F67-92F7-FF9DCF8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METHOD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0F8E403-7326-4FBF-8C22-F3359A6E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The model is tested on future years, not random rows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24D83F99-500F-4F83-A506-6ED6A31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BE4F396-9547-448F-A234-303919AB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04</a:t>
            </a:r>
          </a:p>
        </p:txBody>
      </p:sp>
      <p:sp>
        <p:nvSpPr>
          <p:cNvPr id="5" name="method-lead">
            <a:extLst xmlns:a="http://schemas.openxmlformats.org/drawingml/2006/main">
              <a:ext uri="{FF2B5EF4-FFF2-40B4-BE49-F238E27FC236}">
                <a16:creationId xmlns:a16="http://schemas.microsoft.com/office/drawing/2014/main" id="{C96723CF-B91F-4BAE-AF4D-B87A9B8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33"/>
                </a:solidFill>
              </a:defRPr>
            </a:pPr>
            <a:r>
              <a:rPr sz="1725" b="0">
                <a:solidFill>
                  <a:srgbClr val="102A33"/>
                </a:solidFill>
              </a:rPr>
              <a:t>Supervised learning will be compared with a simple historical-fire baseline. A tree-based model, such as Random Forest, is evaluated only after data preparation.</a:t>
            </a:r>
          </a:p>
        </p:txBody>
      </p:sp>
      <p:sp>
        <p:nvSpPr>
          <p:cNvPr id="6" name="time-0">
            <a:extLst xmlns:a="http://schemas.openxmlformats.org/drawingml/2006/main">
              <a:ext uri="{FF2B5EF4-FFF2-40B4-BE49-F238E27FC236}">
                <a16:creationId xmlns:a16="http://schemas.microsoft.com/office/drawing/2014/main" id="{F93916DF-564F-43F4-8E58-E539BE1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47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time-label-0">
            <a:extLst xmlns:a="http://schemas.openxmlformats.org/drawingml/2006/main">
              <a:ext uri="{FF2B5EF4-FFF2-40B4-BE49-F238E27FC236}">
                <a16:creationId xmlns:a16="http://schemas.microsoft.com/office/drawing/2014/main" id="{223553E2-5936-4466-BAE8-78D4DDF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8" name="time-years-0">
            <a:extLst xmlns:a="http://schemas.openxmlformats.org/drawingml/2006/main">
              <a:ext uri="{FF2B5EF4-FFF2-40B4-BE49-F238E27FC236}">
                <a16:creationId xmlns:a16="http://schemas.microsoft.com/office/drawing/2014/main" id="{73E320B7-6C1E-4E90-A297-44DC9819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2015–2019</a:t>
            </a:r>
          </a:p>
        </p:txBody>
      </p:sp>
      <p:sp>
        <p:nvSpPr>
          <p:cNvPr id="9" name="time-1">
            <a:extLst xmlns:a="http://schemas.openxmlformats.org/drawingml/2006/main">
              <a:ext uri="{FF2B5EF4-FFF2-40B4-BE49-F238E27FC236}">
                <a16:creationId xmlns:a16="http://schemas.microsoft.com/office/drawing/2014/main" id="{CFC319C5-F8AD-45A4-98F8-93184C49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time-label-1">
            <a:extLst xmlns:a="http://schemas.openxmlformats.org/drawingml/2006/main">
              <a:ext uri="{FF2B5EF4-FFF2-40B4-BE49-F238E27FC236}">
                <a16:creationId xmlns:a16="http://schemas.microsoft.com/office/drawing/2014/main" id="{DAD1BF20-9BE5-4415-8BBD-E154117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1" name="time-years-1">
            <a:extLst xmlns:a="http://schemas.openxmlformats.org/drawingml/2006/main">
              <a:ext uri="{FF2B5EF4-FFF2-40B4-BE49-F238E27FC236}">
                <a16:creationId xmlns:a16="http://schemas.microsoft.com/office/drawing/2014/main" id="{BA3F1279-D81F-480B-B49E-627D987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38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2020–2021</a:t>
            </a:r>
          </a:p>
        </p:txBody>
      </p:sp>
      <p:sp>
        <p:nvSpPr>
          <p:cNvPr id="12" name="time-2">
            <a:extLst xmlns:a="http://schemas.openxmlformats.org/drawingml/2006/main">
              <a:ext uri="{FF2B5EF4-FFF2-40B4-BE49-F238E27FC236}">
                <a16:creationId xmlns:a16="http://schemas.microsoft.com/office/drawing/2014/main" id="{F25FBF6F-7763-425E-AFCC-2404684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905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9AC9A6"/>
          </a:solidFill>
          <a:ln xmlns:a="http://schemas.openxmlformats.org/drawingml/2006/main" w="9525">
            <a:solidFill>
              <a:srgbClr val="9AC9A6"/>
            </a:solidFill>
            <a:prstDash val="solid"/>
          </a:ln>
        </p:spPr>
      </p:sp>
      <p:sp>
        <p:nvSpPr>
          <p:cNvPr id="13" name="time-label-2">
            <a:extLst xmlns:a="http://schemas.openxmlformats.org/drawingml/2006/main">
              <a:ext uri="{FF2B5EF4-FFF2-40B4-BE49-F238E27FC236}">
                <a16:creationId xmlns:a16="http://schemas.microsoft.com/office/drawing/2014/main" id="{DBCE5E56-CBF2-40B7-A30E-3592B5C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Final temporal test</a:t>
            </a:r>
          </a:p>
        </p:txBody>
      </p:sp>
      <p:sp>
        <p:nvSpPr>
          <p:cNvPr id="14" name="time-years-2">
            <a:extLst xmlns:a="http://schemas.openxmlformats.org/drawingml/2006/main">
              <a:ext uri="{FF2B5EF4-FFF2-40B4-BE49-F238E27FC236}">
                <a16:creationId xmlns:a16="http://schemas.microsoft.com/office/drawing/2014/main" id="{79D5412D-5827-403D-8DDB-9C97A0E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2022–2024</a:t>
            </a:r>
          </a:p>
        </p:txBody>
      </p:sp>
      <p:sp>
        <p:nvSpPr>
          <p:cNvPr id="15" name="method-b1-dot">
            <a:extLst xmlns:a="http://schemas.openxmlformats.org/drawingml/2006/main">
              <a:ext uri="{FF2B5EF4-FFF2-40B4-BE49-F238E27FC236}">
                <a16:creationId xmlns:a16="http://schemas.microsoft.com/office/drawing/2014/main" id="{7D31DFC1-0747-460E-BC1C-B22CA12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method-b1-text">
            <a:extLst xmlns:a="http://schemas.openxmlformats.org/drawingml/2006/main">
              <a:ext uri="{FF2B5EF4-FFF2-40B4-BE49-F238E27FC236}">
                <a16:creationId xmlns:a16="http://schemas.microsoft.com/office/drawing/2014/main" id="{B93474B1-B1A8-4B82-8A8B-62EDABF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Time-based splits check whether the method generalises to later wildfire years.</a:t>
            </a:r>
          </a:p>
        </p:txBody>
      </p:sp>
      <p:sp>
        <p:nvSpPr>
          <p:cNvPr id="17" name="method-b2-dot">
            <a:extLst xmlns:a="http://schemas.openxmlformats.org/drawingml/2006/main">
              <a:ext uri="{FF2B5EF4-FFF2-40B4-BE49-F238E27FC236}">
                <a16:creationId xmlns:a16="http://schemas.microsoft.com/office/drawing/2014/main" id="{1D162FFB-B042-4E65-B70D-ACFB2EE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method-b2-text">
            <a:extLst xmlns:a="http://schemas.openxmlformats.org/drawingml/2006/main">
              <a:ext uri="{FF2B5EF4-FFF2-40B4-BE49-F238E27FC236}">
                <a16:creationId xmlns:a16="http://schemas.microsoft.com/office/drawing/2014/main" id="{160F4201-B62F-4543-A983-680CE3D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7677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No final winning algorithm or performance result is claimed before training.</a:t>
            </a:r>
          </a:p>
        </p:txBody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1A97F2BA-515D-441D-ABE6-6E2C590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745297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F71E2E94-33CB-4A93-A0C9-57B4C33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VALUE AND LIMITS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6ED4AA4-123C-4383-B49A-80F3B42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A transparent shortlist tool — not a fire guarantee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A7AC8424-6452-472B-A3ED-87A12AF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08A37EC-8AFF-4363-8058-5F6FB6A4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05</a:t>
            </a:r>
          </a:p>
        </p:txBody>
      </p:sp>
      <p:sp>
        <p:nvSpPr>
          <p:cNvPr id="5" name="value-panel">
            <a:extLst xmlns:a="http://schemas.openxmlformats.org/drawingml/2006/main">
              <a:ext uri="{FF2B5EF4-FFF2-40B4-BE49-F238E27FC236}">
                <a16:creationId xmlns:a16="http://schemas.microsoft.com/office/drawing/2014/main" id="{6274795B-BB13-477B-A85F-C12C58D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434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EAF6FD"/>
            </a:solidFill>
            <a:prstDash val="solid"/>
          </a:ln>
        </p:spPr>
      </p:sp>
      <p:sp>
        <p:nvSpPr>
          <p:cNvPr id="6" name="value-title">
            <a:extLst xmlns:a="http://schemas.openxmlformats.org/drawingml/2006/main">
              <a:ext uri="{FF2B5EF4-FFF2-40B4-BE49-F238E27FC236}">
                <a16:creationId xmlns:a16="http://schemas.microsoft.com/office/drawing/2014/main" id="{6C3F9F6F-78C1-4C8D-B2C4-E264CD6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3"/>
                </a:solidFill>
              </a:defRPr>
            </a:pPr>
            <a:r>
              <a:rPr sz="1950" b="1">
                <a:solidFill>
                  <a:srgbClr val="102A33"/>
                </a:solidFill>
              </a:rPr>
              <a:t>Expected value</a:t>
            </a:r>
          </a:p>
        </p:txBody>
      </p:sp>
      <p:sp>
        <p:nvSpPr>
          <p:cNvPr id="7" name="value-b1-dot">
            <a:extLst xmlns:a="http://schemas.openxmlformats.org/drawingml/2006/main">
              <a:ext uri="{FF2B5EF4-FFF2-40B4-BE49-F238E27FC236}">
                <a16:creationId xmlns:a16="http://schemas.microsoft.com/office/drawing/2014/main" id="{9259B1B3-27AF-4542-8990-28C6D999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value-b1-text">
            <a:extLst xmlns:a="http://schemas.openxmlformats.org/drawingml/2006/main">
              <a:ext uri="{FF2B5EF4-FFF2-40B4-BE49-F238E27FC236}">
                <a16:creationId xmlns:a16="http://schemas.microsoft.com/office/drawing/2014/main" id="{F9CBB8DD-5DF9-4B1D-8ADC-9545F24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Compare mainland locations using the same documented rules.</a:t>
            </a:r>
          </a:p>
        </p:txBody>
      </p:sp>
      <p:sp>
        <p:nvSpPr>
          <p:cNvPr id="9" name="value-b2-dot">
            <a:extLst xmlns:a="http://schemas.openxmlformats.org/drawingml/2006/main">
              <a:ext uri="{FF2B5EF4-FFF2-40B4-BE49-F238E27FC236}">
                <a16:creationId xmlns:a16="http://schemas.microsoft.com/office/drawing/2014/main" id="{75241042-A711-491B-814B-7A5FA204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value-b2-text">
            <a:extLst xmlns:a="http://schemas.openxmlformats.org/drawingml/2006/main">
              <a:ext uri="{FF2B5EF4-FFF2-40B4-BE49-F238E27FC236}">
                <a16:creationId xmlns:a16="http://schemas.microsoft.com/office/drawing/2014/main" id="{124D916F-C225-4663-99A2-D877C07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Show the data sources and limitations behind each screening result.</a:t>
            </a:r>
          </a:p>
        </p:txBody>
      </p:sp>
      <p:sp>
        <p:nvSpPr>
          <p:cNvPr id="11" name="limits-panel">
            <a:extLst xmlns:a="http://schemas.openxmlformats.org/drawingml/2006/main">
              <a:ext uri="{FF2B5EF4-FFF2-40B4-BE49-F238E27FC236}">
                <a16:creationId xmlns:a16="http://schemas.microsoft.com/office/drawing/2014/main" id="{5C62524A-3220-4FF3-83FE-10B4B493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56007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2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FA5213B1-EB13-4EA6-BEE3-7BEBE5B2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3"/>
                </a:solidFill>
              </a:defRPr>
            </a:pPr>
            <a:r>
              <a:rPr sz="1950" b="1">
                <a:solidFill>
                  <a:srgbClr val="102A33"/>
                </a:solidFill>
              </a:rPr>
              <a:t>Important limits and next steps</a:t>
            </a:r>
          </a:p>
        </p:txBody>
      </p:sp>
      <p:sp>
        <p:nvSpPr>
          <p:cNvPr id="13" name="limits-b1-dot">
            <a:extLst xmlns:a="http://schemas.openxmlformats.org/drawingml/2006/main">
              <a:ext uri="{FF2B5EF4-FFF2-40B4-BE49-F238E27FC236}">
                <a16:creationId xmlns:a16="http://schemas.microsoft.com/office/drawing/2014/main" id="{1CAF1C0E-3041-4908-A9A2-DD01ECB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limits-b1-text">
            <a:extLst xmlns:a="http://schemas.openxmlformats.org/drawingml/2006/main">
              <a:ext uri="{FF2B5EF4-FFF2-40B4-BE49-F238E27FC236}">
                <a16:creationId xmlns:a16="http://schemas.microsoft.com/office/drawing/2014/main" id="{9560D79F-6BBF-423E-8DD2-F2BEE29D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Retrospective evaluation, not an exact real-time operational forecast.</a:t>
            </a:r>
          </a:p>
        </p:txBody>
      </p:sp>
      <p:sp>
        <p:nvSpPr>
          <p:cNvPr id="15" name="limits-b2-dot">
            <a:extLst xmlns:a="http://schemas.openxmlformats.org/drawingml/2006/main">
              <a:ext uri="{FF2B5EF4-FFF2-40B4-BE49-F238E27FC236}">
                <a16:creationId xmlns:a16="http://schemas.microsoft.com/office/drawing/2014/main" id="{F4879307-672E-40F1-8867-E0028A27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limits-b2-text">
            <a:extLst xmlns:a="http://schemas.openxmlformats.org/drawingml/2006/main">
              <a:ext uri="{FF2B5EF4-FFF2-40B4-BE49-F238E27FC236}">
                <a16:creationId xmlns:a16="http://schemas.microsoft.com/office/drawing/2014/main" id="{79AA3245-8206-4275-BC9E-D81ED30D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528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ERA5-Land is coarse regional context, not 1 km weather.</a:t>
            </a:r>
          </a:p>
        </p:txBody>
      </p:sp>
      <p:sp>
        <p:nvSpPr>
          <p:cNvPr id="17" name="limits-b3-dot">
            <a:extLst xmlns:a="http://schemas.openxmlformats.org/drawingml/2006/main">
              <a:ext uri="{FF2B5EF4-FFF2-40B4-BE49-F238E27FC236}">
                <a16:creationId xmlns:a16="http://schemas.microsoft.com/office/drawing/2014/main" id="{AB72D43E-FDD3-4C96-BF8A-ECC134F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limits-b3-text">
            <a:extLst xmlns:a="http://schemas.openxmlformats.org/drawingml/2006/main">
              <a:ext uri="{FF2B5EF4-FFF2-40B4-BE49-F238E27FC236}">
                <a16:creationId xmlns:a16="http://schemas.microsoft.com/office/drawing/2014/main" id="{7102AA04-9D6F-4015-9501-3F7A73F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005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Next: collect, validate, prepare data, then evaluate the baseline and ML models.</a:t>
            </a:r>
          </a:p>
        </p:txBody>
      </p:sp>
      <p:sp>
        <p:nvSpPr>
          <p:cNvPr id="19" name="close">
            <a:extLst xmlns:a="http://schemas.openxmlformats.org/drawingml/2006/main">
              <a:ext uri="{FF2B5EF4-FFF2-40B4-BE49-F238E27FC236}">
                <a16:creationId xmlns:a16="http://schemas.microsoft.com/office/drawing/2014/main" id="{8A1FB10C-CE9B-44AC-89F1-0CAB4372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3"/>
                </a:solidFill>
              </a:defRPr>
            </a:pPr>
            <a:r>
              <a:rPr sz="2025" b="1">
                <a:solidFill>
                  <a:srgbClr val="102A33"/>
                </a:solidFill>
              </a:rPr>
              <a:t>A useful first question: “Which areas deserve closer investigation?”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85584A46-B009-478C-97DE-42F8930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1389461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2026-08-03T14:07:31.5100000Z</dcterms:created>
  <dcterms:modified xsi:type="dcterms:W3CDTF">2026-08-03T14:07:31.5100000Z</dcterms:modified>
</coreProperties>
</file>