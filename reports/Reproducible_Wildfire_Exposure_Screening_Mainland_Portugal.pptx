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445" autoAdjust="0"/>
  </p:normalViewPr>
  <p:slideViewPr>
    <p:cSldViewPr snapToGrid="0">
      <p:cViewPr varScale="1">
        <p:scale>
          <a:sx n="85" d="100"/>
          <a:sy n="85" d="100"/>
        </p:scale>
        <p:origin x="732"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Hello. My project is called Reproducible Wildfire Exposure Screening for Residential Location Selection in Mainland Portugal. The idea is simple: before someone spends time looking at a property, they can compare different areas using wildfire exposure as one factor. I divide mainland Portugal into equal 1 </a:t>
            </a:r>
            <a:r>
              <a:rPr dirty="0" err="1"/>
              <a:t>kilometre</a:t>
            </a:r>
            <a:r>
              <a:rPr dirty="0"/>
              <a:t> by 1 </a:t>
            </a:r>
            <a:r>
              <a:rPr dirty="0" err="1"/>
              <a:t>kilometre</a:t>
            </a:r>
            <a:r>
              <a:rPr dirty="0"/>
              <a:t> cells. This does not say that a house is safe or unsafe. It gives a consistent first view of the area around it.</a:t>
            </a:r>
          </a:p>
          <a:p>
            <a:endParaRPr dirty="0"/>
          </a:p>
          <a:p>
            <a:r>
              <a:rPr dirty="0"/>
              <a:t>[Sources]</a:t>
            </a:r>
          </a:p>
          <a:p>
            <a:r>
              <a:rPr dirty="0"/>
              <a:t>- Repository: README.md; docs/project_brief.md; docs/source_plan.md; docs/data_dictionary.md; </a:t>
            </a:r>
            <a:r>
              <a:rPr dirty="0" err="1"/>
              <a:t>src</a:t>
            </a:r>
            <a:r>
              <a:rPr dirty="0"/>
              <a:t>/config.py.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basic logic. For one year, which I call T, I use information that was available in that year: past fires, land cover and climate. The model learns from the share of the cell that burned in the next year, T plus 1. Later, the result can be shown as lower, medium or higher relative exposure. These are screening categories, not promises. The exact thresholds will be chosen only after we inspect the burned-share distribution and test the model.</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main data sources. ICNF gives official burned-area polygons. I use ten previous years of fire history, from T minus 10 to T minus 1, and the next year as the outcome. CORINE Land Cover gives broad shares of artificial land, forest and shrubland. ERA5-Land gives June to September temperature, rainfall and shallow soil moisture. CAOP gives the mainland boundary and reporting geography, while the DEM supports terrain context. At the moment, we already have and have validated the CAOP 2025 archive and the ICNF 2024 burned-area archive. The historical ICNF files, CLC and ERA5-Land still need to be collected and validated.</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not mix all years randomly. Instead, I train on 2015 to 2019, choose settings using 2020 to 2021, and keep 2022 to 2024 for the final test. This better reflects the real question: can a model trained on earlier years help with later years? I will compare a simple historical-fire baseline with a Random Forest model. Random Forest is useful because it combines many decision trees and can learn non-linear patterns and interactions, for example when past fires, forest cover and a dry summer occur together. But it is only a candidate model. I will choose a final approach only if the testing evidence supports it.</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intended value is a more transparent shortlist. A lower category means lower relative modelled exposure within this comparison; medium means in between; higher means higher relative modelled exposure. It does not mean safe, unsafe, or guaranteed to burn. The category thresholds will be documented after examining the target and validation results. The model is retrospective, so it is not an exact real-time forecast. ERA5-Land is also much coarser than 1 kilometre, so it describes regional climate context rather than the weather at one house. The next work is to collect, validate and prepare the remaining sources, then test the baseline and machine-learning models.</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a simple real-world example. A buyer is deciding between two areas. They first choose the locations, and the system identifies the relevant 1 kilometre cells. For each cell, it joins the same documented historical-fire, land-cover, climate and terrain features. The model gives a relative category and shows any limitations or missing data. The buyer can use this to decide which area needs closer research. It is not the final property evaluation. Before buying, the person must still inspect the actual house and local vegetation, check road and evacuation access, building condition, water availability and insurance requirements.</a:t>
            </a:r>
          </a:p>
          <a:p>
            <a:endParaRPr/>
          </a:p>
          <a:p>
            <a:r>
              <a:t>[Sources]</a:t>
            </a:r>
          </a:p>
          <a:p>
            <a:r>
              <a:t>- Repository: README.md; docs/project_brief.md; docs/source_plan.md; docs/data_dictionary.md; src/config.py.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cover-kicker">
            <a:extLst>
              <a:ext uri="{FF2B5EF4-FFF2-40B4-BE49-F238E27FC236}">
                <a16:creationId xmlns:a16="http://schemas.microsoft.com/office/drawing/2014/main" id="{A8F4523A-1645-4535-8595-EDF3B8810EC2}"/>
              </a:ext>
            </a:extLst>
          </p:cNvPr>
          <p:cNvSpPr>
            <a:spLocks noGrp="1"/>
          </p:cNvSpPr>
          <p:nvPr/>
        </p:nvSpPr>
        <p:spPr>
          <a:xfrm>
            <a:off x="685800" y="647700"/>
            <a:ext cx="3333750" cy="228600"/>
          </a:xfrm>
          <a:prstGeom prst="rect">
            <a:avLst/>
          </a:prstGeom>
          <a:noFill/>
          <a:ln w="0">
            <a:noFill/>
            <a:prstDash val="solid"/>
          </a:ln>
        </p:spPr>
        <p:txBody>
          <a:bodyPr/>
          <a:lstStyle/>
          <a:p>
            <a:pPr algn="l">
              <a:defRPr sz="1200" b="1">
                <a:solidFill>
                  <a:srgbClr val="3D8DFF"/>
                </a:solidFill>
              </a:defRPr>
            </a:pPr>
            <a:r>
              <a:rPr sz="1200" b="1">
                <a:solidFill>
                  <a:srgbClr val="3D8DFF"/>
                </a:solidFill>
              </a:rPr>
              <a:t>DATA SCIENCE PROJECT</a:t>
            </a:r>
          </a:p>
        </p:txBody>
      </p:sp>
      <p:sp>
        <p:nvSpPr>
          <p:cNvPr id="2" name="cover-title">
            <a:extLst>
              <a:ext uri="{FF2B5EF4-FFF2-40B4-BE49-F238E27FC236}">
                <a16:creationId xmlns:a16="http://schemas.microsoft.com/office/drawing/2014/main" id="{0879A109-C213-4F6E-85BC-64D34FE7712E}"/>
              </a:ext>
            </a:extLst>
          </p:cNvPr>
          <p:cNvSpPr>
            <a:spLocks noGrp="1"/>
          </p:cNvSpPr>
          <p:nvPr/>
        </p:nvSpPr>
        <p:spPr>
          <a:xfrm>
            <a:off x="685800" y="1200150"/>
            <a:ext cx="7143750" cy="1476375"/>
          </a:xfrm>
          <a:prstGeom prst="rect">
            <a:avLst/>
          </a:prstGeom>
          <a:noFill/>
          <a:ln w="0">
            <a:noFill/>
            <a:prstDash val="solid"/>
          </a:ln>
        </p:spPr>
        <p:txBody>
          <a:bodyPr/>
          <a:lstStyle/>
          <a:p>
            <a:pPr algn="l">
              <a:defRPr sz="4200" b="1">
                <a:solidFill>
                  <a:srgbClr val="102A33"/>
                </a:solidFill>
              </a:defRPr>
            </a:pPr>
            <a:r>
              <a:rPr sz="4200" b="1">
                <a:solidFill>
                  <a:srgbClr val="102A33"/>
                </a:solidFill>
              </a:rPr>
              <a:t>Reproducible Wildfire</a:t>
            </a:r>
          </a:p>
          <a:p>
            <a:pPr algn="l">
              <a:defRPr sz="4200" b="1">
                <a:solidFill>
                  <a:srgbClr val="102A33"/>
                </a:solidFill>
              </a:defRPr>
            </a:pPr>
            <a:r>
              <a:rPr sz="4200" b="1">
                <a:solidFill>
                  <a:srgbClr val="102A33"/>
                </a:solidFill>
              </a:rPr>
              <a:t>Exposure Screening</a:t>
            </a:r>
          </a:p>
        </p:txBody>
      </p:sp>
      <p:sp>
        <p:nvSpPr>
          <p:cNvPr id="3" name="cover-subtitle">
            <a:extLst>
              <a:ext uri="{FF2B5EF4-FFF2-40B4-BE49-F238E27FC236}">
                <a16:creationId xmlns:a16="http://schemas.microsoft.com/office/drawing/2014/main" id="{87BE8119-F2C6-488C-BB51-8B8DA0A0E781}"/>
              </a:ext>
            </a:extLst>
          </p:cNvPr>
          <p:cNvSpPr>
            <a:spLocks noGrp="1"/>
          </p:cNvSpPr>
          <p:nvPr/>
        </p:nvSpPr>
        <p:spPr>
          <a:xfrm>
            <a:off x="685800" y="2952750"/>
            <a:ext cx="6381750" cy="400050"/>
          </a:xfrm>
          <a:prstGeom prst="rect">
            <a:avLst/>
          </a:prstGeom>
          <a:noFill/>
          <a:ln w="0">
            <a:noFill/>
            <a:prstDash val="solid"/>
          </a:ln>
        </p:spPr>
        <p:txBody>
          <a:bodyPr/>
          <a:lstStyle/>
          <a:p>
            <a:pPr algn="l">
              <a:defRPr sz="2025" b="0">
                <a:solidFill>
                  <a:srgbClr val="48606B"/>
                </a:solidFill>
              </a:defRPr>
            </a:pPr>
            <a:r>
              <a:rPr sz="2025" b="0">
                <a:solidFill>
                  <a:srgbClr val="48606B"/>
                </a:solidFill>
              </a:rPr>
              <a:t>Residential location selection in mainland Portugal</a:t>
            </a:r>
          </a:p>
        </p:txBody>
      </p:sp>
      <p:sp>
        <p:nvSpPr>
          <p:cNvPr id="4" name="cover-message">
            <a:extLst>
              <a:ext uri="{FF2B5EF4-FFF2-40B4-BE49-F238E27FC236}">
                <a16:creationId xmlns:a16="http://schemas.microsoft.com/office/drawing/2014/main" id="{AD2631E8-3996-4D75-ADFF-4E157143D006}"/>
              </a:ext>
            </a:extLst>
          </p:cNvPr>
          <p:cNvSpPr>
            <a:spLocks noGrp="1"/>
          </p:cNvSpPr>
          <p:nvPr/>
        </p:nvSpPr>
        <p:spPr>
          <a:xfrm>
            <a:off x="685800" y="3829050"/>
            <a:ext cx="5715000" cy="857250"/>
          </a:xfrm>
          <a:prstGeom prst="rect">
            <a:avLst/>
          </a:prstGeom>
          <a:noFill/>
          <a:ln w="0">
            <a:noFill/>
            <a:prstDash val="solid"/>
          </a:ln>
        </p:spPr>
        <p:txBody>
          <a:bodyPr/>
          <a:lstStyle/>
          <a:p>
            <a:pPr algn="l">
              <a:defRPr sz="1800" b="0">
                <a:solidFill>
                  <a:srgbClr val="102A33"/>
                </a:solidFill>
              </a:defRPr>
            </a:pPr>
            <a:r>
              <a:rPr sz="1800" b="0">
                <a:solidFill>
                  <a:srgbClr val="102A33"/>
                </a:solidFill>
              </a:rPr>
              <a:t>A transparent way to compare areas by relative wildfire exposure — one useful factor before a property purchase.</a:t>
            </a:r>
          </a:p>
        </p:txBody>
      </p:sp>
      <p:sp>
        <p:nvSpPr>
          <p:cNvPr id="5" name="cover-panel">
            <a:extLst>
              <a:ext uri="{FF2B5EF4-FFF2-40B4-BE49-F238E27FC236}">
                <a16:creationId xmlns:a16="http://schemas.microsoft.com/office/drawing/2014/main" id="{93F2D6E4-A962-4B75-A0A2-D0004461EB74}"/>
              </a:ext>
            </a:extLst>
          </p:cNvPr>
          <p:cNvSpPr>
            <a:spLocks noGrp="1"/>
          </p:cNvSpPr>
          <p:nvPr/>
        </p:nvSpPr>
        <p:spPr>
          <a:xfrm>
            <a:off x="8191500" y="876300"/>
            <a:ext cx="2628900" cy="4095750"/>
          </a:xfrm>
          <a:prstGeom prst="roundRect">
            <a:avLst>
              <a:gd name="adj" fmla="val 2899"/>
            </a:avLst>
          </a:prstGeom>
          <a:solidFill>
            <a:srgbClr val="EAF6FD"/>
          </a:solidFill>
          <a:ln w="9525">
            <a:solidFill>
              <a:srgbClr val="EAF6FD"/>
            </a:solidFill>
            <a:prstDash val="solid"/>
          </a:ln>
        </p:spPr>
      </p:sp>
      <p:sp>
        <p:nvSpPr>
          <p:cNvPr id="6" name="cover-panel-label">
            <a:extLst>
              <a:ext uri="{FF2B5EF4-FFF2-40B4-BE49-F238E27FC236}">
                <a16:creationId xmlns:a16="http://schemas.microsoft.com/office/drawing/2014/main" id="{40DCEB20-D5B2-42DC-94B5-8D66B6D3CFA8}"/>
              </a:ext>
            </a:extLst>
          </p:cNvPr>
          <p:cNvSpPr>
            <a:spLocks noGrp="1"/>
          </p:cNvSpPr>
          <p:nvPr/>
        </p:nvSpPr>
        <p:spPr>
          <a:xfrm>
            <a:off x="8496300" y="1314450"/>
            <a:ext cx="2000250" cy="228600"/>
          </a:xfrm>
          <a:prstGeom prst="rect">
            <a:avLst/>
          </a:prstGeom>
          <a:noFill/>
          <a:ln w="0">
            <a:noFill/>
            <a:prstDash val="solid"/>
          </a:ln>
        </p:spPr>
        <p:txBody>
          <a:bodyPr/>
          <a:lstStyle/>
          <a:p>
            <a:pPr algn="ctr">
              <a:defRPr sz="1125" b="1">
                <a:solidFill>
                  <a:srgbClr val="3D8DFF"/>
                </a:solidFill>
              </a:defRPr>
            </a:pPr>
            <a:r>
              <a:rPr sz="1125" b="1">
                <a:solidFill>
                  <a:srgbClr val="3D8DFF"/>
                </a:solidFill>
              </a:rPr>
              <a:t>ANALYSIS UNIT</a:t>
            </a:r>
          </a:p>
        </p:txBody>
      </p:sp>
      <p:sp>
        <p:nvSpPr>
          <p:cNvPr id="7" name="cover-grid">
            <a:extLst>
              <a:ext uri="{FF2B5EF4-FFF2-40B4-BE49-F238E27FC236}">
                <a16:creationId xmlns:a16="http://schemas.microsoft.com/office/drawing/2014/main" id="{B064CF6E-18C5-4249-9124-78849B95945D}"/>
              </a:ext>
            </a:extLst>
          </p:cNvPr>
          <p:cNvSpPr>
            <a:spLocks noGrp="1"/>
          </p:cNvSpPr>
          <p:nvPr/>
        </p:nvSpPr>
        <p:spPr>
          <a:xfrm>
            <a:off x="8401050" y="2095500"/>
            <a:ext cx="2209800" cy="476250"/>
          </a:xfrm>
          <a:prstGeom prst="rect">
            <a:avLst/>
          </a:prstGeom>
          <a:noFill/>
          <a:ln w="0">
            <a:noFill/>
            <a:prstDash val="solid"/>
          </a:ln>
        </p:spPr>
        <p:txBody>
          <a:bodyPr/>
          <a:lstStyle/>
          <a:p>
            <a:pPr algn="ctr">
              <a:defRPr sz="2325" b="1">
                <a:solidFill>
                  <a:srgbClr val="102A33"/>
                </a:solidFill>
              </a:defRPr>
            </a:pPr>
            <a:r>
              <a:rPr sz="2325" b="1">
                <a:solidFill>
                  <a:srgbClr val="102A33"/>
                </a:solidFill>
              </a:rPr>
              <a:t>1 km × 1 km</a:t>
            </a:r>
          </a:p>
        </p:txBody>
      </p:sp>
      <p:sp>
        <p:nvSpPr>
          <p:cNvPr id="8" name="cover-crs">
            <a:extLst>
              <a:ext uri="{FF2B5EF4-FFF2-40B4-BE49-F238E27FC236}">
                <a16:creationId xmlns:a16="http://schemas.microsoft.com/office/drawing/2014/main" id="{327081FD-51A7-4047-BB0F-FCC205714D8C}"/>
              </a:ext>
            </a:extLst>
          </p:cNvPr>
          <p:cNvSpPr>
            <a:spLocks noGrp="1"/>
          </p:cNvSpPr>
          <p:nvPr/>
        </p:nvSpPr>
        <p:spPr>
          <a:xfrm>
            <a:off x="8496300" y="2714625"/>
            <a:ext cx="2000250" cy="228600"/>
          </a:xfrm>
          <a:prstGeom prst="rect">
            <a:avLst/>
          </a:prstGeom>
          <a:noFill/>
          <a:ln w="0">
            <a:noFill/>
            <a:prstDash val="solid"/>
          </a:ln>
        </p:spPr>
        <p:txBody>
          <a:bodyPr/>
          <a:lstStyle/>
          <a:p>
            <a:pPr algn="ctr">
              <a:defRPr sz="1350" b="1">
                <a:solidFill>
                  <a:srgbClr val="48606B"/>
                </a:solidFill>
              </a:defRPr>
            </a:pPr>
            <a:r>
              <a:rPr sz="1350" b="1">
                <a:solidFill>
                  <a:srgbClr val="48606B"/>
                </a:solidFill>
              </a:rPr>
              <a:t>EPSG:3763</a:t>
            </a:r>
          </a:p>
        </p:txBody>
      </p:sp>
      <p:sp>
        <p:nvSpPr>
          <p:cNvPr id="9" name="grid-0-0">
            <a:extLst>
              <a:ext uri="{FF2B5EF4-FFF2-40B4-BE49-F238E27FC236}">
                <a16:creationId xmlns:a16="http://schemas.microsoft.com/office/drawing/2014/main" id="{0609BBE5-4702-413E-A6CF-B52CB5258F16}"/>
              </a:ext>
            </a:extLst>
          </p:cNvPr>
          <p:cNvSpPr>
            <a:spLocks noGrp="1"/>
          </p:cNvSpPr>
          <p:nvPr/>
        </p:nvSpPr>
        <p:spPr>
          <a:xfrm>
            <a:off x="8686800" y="3286125"/>
            <a:ext cx="333375" cy="238125"/>
          </a:xfrm>
          <a:prstGeom prst="rect">
            <a:avLst/>
          </a:prstGeom>
          <a:solidFill>
            <a:srgbClr val="FFFFFF"/>
          </a:solidFill>
          <a:ln w="9525">
            <a:solidFill>
              <a:srgbClr val="C8D2D6"/>
            </a:solidFill>
            <a:prstDash val="solid"/>
          </a:ln>
        </p:spPr>
      </p:sp>
      <p:sp>
        <p:nvSpPr>
          <p:cNvPr id="10" name="grid-0-1">
            <a:extLst>
              <a:ext uri="{FF2B5EF4-FFF2-40B4-BE49-F238E27FC236}">
                <a16:creationId xmlns:a16="http://schemas.microsoft.com/office/drawing/2014/main" id="{162DF41A-E918-49FB-98CF-FB9101F84BE2}"/>
              </a:ext>
            </a:extLst>
          </p:cNvPr>
          <p:cNvSpPr>
            <a:spLocks noGrp="1"/>
          </p:cNvSpPr>
          <p:nvPr/>
        </p:nvSpPr>
        <p:spPr>
          <a:xfrm>
            <a:off x="9115425" y="3286125"/>
            <a:ext cx="333375" cy="238125"/>
          </a:xfrm>
          <a:prstGeom prst="rect">
            <a:avLst/>
          </a:prstGeom>
          <a:solidFill>
            <a:srgbClr val="6DCBF4"/>
          </a:solidFill>
          <a:ln w="9525">
            <a:solidFill>
              <a:srgbClr val="C8D2D6"/>
            </a:solidFill>
            <a:prstDash val="solid"/>
          </a:ln>
        </p:spPr>
      </p:sp>
      <p:sp>
        <p:nvSpPr>
          <p:cNvPr id="11" name="grid-0-2">
            <a:extLst>
              <a:ext uri="{FF2B5EF4-FFF2-40B4-BE49-F238E27FC236}">
                <a16:creationId xmlns:a16="http://schemas.microsoft.com/office/drawing/2014/main" id="{622069DF-5135-4ECA-A8AB-89E879B96A2A}"/>
              </a:ext>
            </a:extLst>
          </p:cNvPr>
          <p:cNvSpPr>
            <a:spLocks noGrp="1"/>
          </p:cNvSpPr>
          <p:nvPr/>
        </p:nvSpPr>
        <p:spPr>
          <a:xfrm>
            <a:off x="9544050" y="3286125"/>
            <a:ext cx="333375" cy="238125"/>
          </a:xfrm>
          <a:prstGeom prst="rect">
            <a:avLst/>
          </a:prstGeom>
          <a:solidFill>
            <a:srgbClr val="FFFFFF"/>
          </a:solidFill>
          <a:ln w="9525">
            <a:solidFill>
              <a:srgbClr val="C8D2D6"/>
            </a:solidFill>
            <a:prstDash val="solid"/>
          </a:ln>
        </p:spPr>
      </p:sp>
      <p:sp>
        <p:nvSpPr>
          <p:cNvPr id="12" name="grid-0-3">
            <a:extLst>
              <a:ext uri="{FF2B5EF4-FFF2-40B4-BE49-F238E27FC236}">
                <a16:creationId xmlns:a16="http://schemas.microsoft.com/office/drawing/2014/main" id="{120A4B14-AD33-4BA2-BBA5-C15384E68CAA}"/>
              </a:ext>
            </a:extLst>
          </p:cNvPr>
          <p:cNvSpPr>
            <a:spLocks noGrp="1"/>
          </p:cNvSpPr>
          <p:nvPr/>
        </p:nvSpPr>
        <p:spPr>
          <a:xfrm>
            <a:off x="9972675" y="3286125"/>
            <a:ext cx="333375" cy="238125"/>
          </a:xfrm>
          <a:prstGeom prst="rect">
            <a:avLst/>
          </a:prstGeom>
          <a:solidFill>
            <a:srgbClr val="FFFFFF"/>
          </a:solidFill>
          <a:ln w="9525">
            <a:solidFill>
              <a:srgbClr val="C8D2D6"/>
            </a:solidFill>
            <a:prstDash val="solid"/>
          </a:ln>
        </p:spPr>
      </p:sp>
      <p:sp>
        <p:nvSpPr>
          <p:cNvPr id="13" name="grid-1-0">
            <a:extLst>
              <a:ext uri="{FF2B5EF4-FFF2-40B4-BE49-F238E27FC236}">
                <a16:creationId xmlns:a16="http://schemas.microsoft.com/office/drawing/2014/main" id="{AA46D719-6758-4CF5-A53E-D14A0DA6D857}"/>
              </a:ext>
            </a:extLst>
          </p:cNvPr>
          <p:cNvSpPr>
            <a:spLocks noGrp="1"/>
          </p:cNvSpPr>
          <p:nvPr/>
        </p:nvSpPr>
        <p:spPr>
          <a:xfrm>
            <a:off x="8686800" y="3619500"/>
            <a:ext cx="333375" cy="238125"/>
          </a:xfrm>
          <a:prstGeom prst="rect">
            <a:avLst/>
          </a:prstGeom>
          <a:solidFill>
            <a:srgbClr val="6DCBF4"/>
          </a:solidFill>
          <a:ln w="9525">
            <a:solidFill>
              <a:srgbClr val="C8D2D6"/>
            </a:solidFill>
            <a:prstDash val="solid"/>
          </a:ln>
        </p:spPr>
      </p:sp>
      <p:sp>
        <p:nvSpPr>
          <p:cNvPr id="14" name="grid-1-1">
            <a:extLst>
              <a:ext uri="{FF2B5EF4-FFF2-40B4-BE49-F238E27FC236}">
                <a16:creationId xmlns:a16="http://schemas.microsoft.com/office/drawing/2014/main" id="{BE6A10C8-1F56-4CDF-BDDF-6A082452059D}"/>
              </a:ext>
            </a:extLst>
          </p:cNvPr>
          <p:cNvSpPr>
            <a:spLocks noGrp="1"/>
          </p:cNvSpPr>
          <p:nvPr/>
        </p:nvSpPr>
        <p:spPr>
          <a:xfrm>
            <a:off x="9115425" y="3619500"/>
            <a:ext cx="333375" cy="238125"/>
          </a:xfrm>
          <a:prstGeom prst="rect">
            <a:avLst/>
          </a:prstGeom>
          <a:solidFill>
            <a:srgbClr val="FFFFFF"/>
          </a:solidFill>
          <a:ln w="9525">
            <a:solidFill>
              <a:srgbClr val="C8D2D6"/>
            </a:solidFill>
            <a:prstDash val="solid"/>
          </a:ln>
        </p:spPr>
      </p:sp>
      <p:sp>
        <p:nvSpPr>
          <p:cNvPr id="15" name="grid-1-2">
            <a:extLst>
              <a:ext uri="{FF2B5EF4-FFF2-40B4-BE49-F238E27FC236}">
                <a16:creationId xmlns:a16="http://schemas.microsoft.com/office/drawing/2014/main" id="{E1F6CE9F-E827-415D-B707-DEE6EC59EA5F}"/>
              </a:ext>
            </a:extLst>
          </p:cNvPr>
          <p:cNvSpPr>
            <a:spLocks noGrp="1"/>
          </p:cNvSpPr>
          <p:nvPr/>
        </p:nvSpPr>
        <p:spPr>
          <a:xfrm>
            <a:off x="9544050" y="3619500"/>
            <a:ext cx="333375" cy="238125"/>
          </a:xfrm>
          <a:prstGeom prst="rect">
            <a:avLst/>
          </a:prstGeom>
          <a:solidFill>
            <a:srgbClr val="FFFFFF"/>
          </a:solidFill>
          <a:ln w="9525">
            <a:solidFill>
              <a:srgbClr val="C8D2D6"/>
            </a:solidFill>
            <a:prstDash val="solid"/>
          </a:ln>
        </p:spPr>
      </p:sp>
      <p:sp>
        <p:nvSpPr>
          <p:cNvPr id="16" name="grid-1-3">
            <a:extLst>
              <a:ext uri="{FF2B5EF4-FFF2-40B4-BE49-F238E27FC236}">
                <a16:creationId xmlns:a16="http://schemas.microsoft.com/office/drawing/2014/main" id="{99882DA5-931B-429E-AE45-8DFCF614BC21}"/>
              </a:ext>
            </a:extLst>
          </p:cNvPr>
          <p:cNvSpPr>
            <a:spLocks noGrp="1"/>
          </p:cNvSpPr>
          <p:nvPr/>
        </p:nvSpPr>
        <p:spPr>
          <a:xfrm>
            <a:off x="9972675" y="3619500"/>
            <a:ext cx="333375" cy="238125"/>
          </a:xfrm>
          <a:prstGeom prst="rect">
            <a:avLst/>
          </a:prstGeom>
          <a:solidFill>
            <a:srgbClr val="6DCBF4"/>
          </a:solidFill>
          <a:ln w="9525">
            <a:solidFill>
              <a:srgbClr val="C8D2D6"/>
            </a:solidFill>
            <a:prstDash val="solid"/>
          </a:ln>
        </p:spPr>
      </p:sp>
      <p:sp>
        <p:nvSpPr>
          <p:cNvPr id="17" name="grid-2-0">
            <a:extLst>
              <a:ext uri="{FF2B5EF4-FFF2-40B4-BE49-F238E27FC236}">
                <a16:creationId xmlns:a16="http://schemas.microsoft.com/office/drawing/2014/main" id="{6CCA6304-F87B-4EF5-B8FF-39621D5657E9}"/>
              </a:ext>
            </a:extLst>
          </p:cNvPr>
          <p:cNvSpPr>
            <a:spLocks noGrp="1"/>
          </p:cNvSpPr>
          <p:nvPr/>
        </p:nvSpPr>
        <p:spPr>
          <a:xfrm>
            <a:off x="8686800" y="3952875"/>
            <a:ext cx="333375" cy="238125"/>
          </a:xfrm>
          <a:prstGeom prst="rect">
            <a:avLst/>
          </a:prstGeom>
          <a:solidFill>
            <a:srgbClr val="FFFFFF"/>
          </a:solidFill>
          <a:ln w="9525">
            <a:solidFill>
              <a:srgbClr val="C8D2D6"/>
            </a:solidFill>
            <a:prstDash val="solid"/>
          </a:ln>
        </p:spPr>
      </p:sp>
      <p:sp>
        <p:nvSpPr>
          <p:cNvPr id="18" name="grid-2-1">
            <a:extLst>
              <a:ext uri="{FF2B5EF4-FFF2-40B4-BE49-F238E27FC236}">
                <a16:creationId xmlns:a16="http://schemas.microsoft.com/office/drawing/2014/main" id="{8AF23A86-05D6-4958-A929-56100AFC21B3}"/>
              </a:ext>
            </a:extLst>
          </p:cNvPr>
          <p:cNvSpPr>
            <a:spLocks noGrp="1"/>
          </p:cNvSpPr>
          <p:nvPr/>
        </p:nvSpPr>
        <p:spPr>
          <a:xfrm>
            <a:off x="9115425" y="3952875"/>
            <a:ext cx="333375" cy="238125"/>
          </a:xfrm>
          <a:prstGeom prst="rect">
            <a:avLst/>
          </a:prstGeom>
          <a:solidFill>
            <a:srgbClr val="FFFFFF"/>
          </a:solidFill>
          <a:ln w="9525">
            <a:solidFill>
              <a:srgbClr val="C8D2D6"/>
            </a:solidFill>
            <a:prstDash val="solid"/>
          </a:ln>
        </p:spPr>
      </p:sp>
      <p:sp>
        <p:nvSpPr>
          <p:cNvPr id="19" name="grid-2-2">
            <a:extLst>
              <a:ext uri="{FF2B5EF4-FFF2-40B4-BE49-F238E27FC236}">
                <a16:creationId xmlns:a16="http://schemas.microsoft.com/office/drawing/2014/main" id="{A7E448EB-2562-4F68-A053-45DAEF75E1C5}"/>
              </a:ext>
            </a:extLst>
          </p:cNvPr>
          <p:cNvSpPr>
            <a:spLocks noGrp="1"/>
          </p:cNvSpPr>
          <p:nvPr/>
        </p:nvSpPr>
        <p:spPr>
          <a:xfrm>
            <a:off x="9544050" y="3952875"/>
            <a:ext cx="333375" cy="238125"/>
          </a:xfrm>
          <a:prstGeom prst="rect">
            <a:avLst/>
          </a:prstGeom>
          <a:solidFill>
            <a:srgbClr val="6DCBF4"/>
          </a:solidFill>
          <a:ln w="9525">
            <a:solidFill>
              <a:srgbClr val="C8D2D6"/>
            </a:solidFill>
            <a:prstDash val="solid"/>
          </a:ln>
        </p:spPr>
      </p:sp>
      <p:sp>
        <p:nvSpPr>
          <p:cNvPr id="20" name="grid-2-3">
            <a:extLst>
              <a:ext uri="{FF2B5EF4-FFF2-40B4-BE49-F238E27FC236}">
                <a16:creationId xmlns:a16="http://schemas.microsoft.com/office/drawing/2014/main" id="{5D36A3AA-59B1-4B82-8628-45A0AF8F4A97}"/>
              </a:ext>
            </a:extLst>
          </p:cNvPr>
          <p:cNvSpPr>
            <a:spLocks noGrp="1"/>
          </p:cNvSpPr>
          <p:nvPr/>
        </p:nvSpPr>
        <p:spPr>
          <a:xfrm>
            <a:off x="9972675" y="3952875"/>
            <a:ext cx="333375" cy="238125"/>
          </a:xfrm>
          <a:prstGeom prst="rect">
            <a:avLst/>
          </a:prstGeom>
          <a:solidFill>
            <a:srgbClr val="FFFFFF"/>
          </a:solidFill>
          <a:ln w="9525">
            <a:solidFill>
              <a:srgbClr val="C8D2D6"/>
            </a:solidFill>
            <a:prstDash val="solid"/>
          </a:ln>
        </p:spPr>
      </p:sp>
      <p:sp>
        <p:nvSpPr>
          <p:cNvPr id="21" name="grid-3-0">
            <a:extLst>
              <a:ext uri="{FF2B5EF4-FFF2-40B4-BE49-F238E27FC236}">
                <a16:creationId xmlns:a16="http://schemas.microsoft.com/office/drawing/2014/main" id="{6238B807-5351-4C2D-86F3-24EB6CE3A01A}"/>
              </a:ext>
            </a:extLst>
          </p:cNvPr>
          <p:cNvSpPr>
            <a:spLocks noGrp="1"/>
          </p:cNvSpPr>
          <p:nvPr/>
        </p:nvSpPr>
        <p:spPr>
          <a:xfrm>
            <a:off x="8686800" y="4286250"/>
            <a:ext cx="333375" cy="238125"/>
          </a:xfrm>
          <a:prstGeom prst="rect">
            <a:avLst/>
          </a:prstGeom>
          <a:solidFill>
            <a:srgbClr val="FFFFFF"/>
          </a:solidFill>
          <a:ln w="9525">
            <a:solidFill>
              <a:srgbClr val="C8D2D6"/>
            </a:solidFill>
            <a:prstDash val="solid"/>
          </a:ln>
        </p:spPr>
      </p:sp>
      <p:sp>
        <p:nvSpPr>
          <p:cNvPr id="22" name="grid-3-1">
            <a:extLst>
              <a:ext uri="{FF2B5EF4-FFF2-40B4-BE49-F238E27FC236}">
                <a16:creationId xmlns:a16="http://schemas.microsoft.com/office/drawing/2014/main" id="{5458FAC2-484E-404C-AAD5-3EBDBECE909C}"/>
              </a:ext>
            </a:extLst>
          </p:cNvPr>
          <p:cNvSpPr>
            <a:spLocks noGrp="1"/>
          </p:cNvSpPr>
          <p:nvPr/>
        </p:nvSpPr>
        <p:spPr>
          <a:xfrm>
            <a:off x="9115425" y="4286250"/>
            <a:ext cx="333375" cy="238125"/>
          </a:xfrm>
          <a:prstGeom prst="rect">
            <a:avLst/>
          </a:prstGeom>
          <a:solidFill>
            <a:srgbClr val="6DCBF4"/>
          </a:solidFill>
          <a:ln w="9525">
            <a:solidFill>
              <a:srgbClr val="C8D2D6"/>
            </a:solidFill>
            <a:prstDash val="solid"/>
          </a:ln>
        </p:spPr>
      </p:sp>
      <p:sp>
        <p:nvSpPr>
          <p:cNvPr id="23" name="grid-3-2">
            <a:extLst>
              <a:ext uri="{FF2B5EF4-FFF2-40B4-BE49-F238E27FC236}">
                <a16:creationId xmlns:a16="http://schemas.microsoft.com/office/drawing/2014/main" id="{362527D4-D441-4E68-AD02-1FDF9B1F5E8E}"/>
              </a:ext>
            </a:extLst>
          </p:cNvPr>
          <p:cNvSpPr>
            <a:spLocks noGrp="1"/>
          </p:cNvSpPr>
          <p:nvPr/>
        </p:nvSpPr>
        <p:spPr>
          <a:xfrm>
            <a:off x="9544050" y="4286250"/>
            <a:ext cx="333375" cy="238125"/>
          </a:xfrm>
          <a:prstGeom prst="rect">
            <a:avLst/>
          </a:prstGeom>
          <a:solidFill>
            <a:srgbClr val="FFFFFF"/>
          </a:solidFill>
          <a:ln w="9525">
            <a:solidFill>
              <a:srgbClr val="C8D2D6"/>
            </a:solidFill>
            <a:prstDash val="solid"/>
          </a:ln>
        </p:spPr>
      </p:sp>
      <p:sp>
        <p:nvSpPr>
          <p:cNvPr id="24" name="grid-3-3">
            <a:extLst>
              <a:ext uri="{FF2B5EF4-FFF2-40B4-BE49-F238E27FC236}">
                <a16:creationId xmlns:a16="http://schemas.microsoft.com/office/drawing/2014/main" id="{FDC3D5CC-6EA1-4637-A125-FC8AB2C2E664}"/>
              </a:ext>
            </a:extLst>
          </p:cNvPr>
          <p:cNvSpPr>
            <a:spLocks noGrp="1"/>
          </p:cNvSpPr>
          <p:nvPr/>
        </p:nvSpPr>
        <p:spPr>
          <a:xfrm>
            <a:off x="9972675" y="4286250"/>
            <a:ext cx="333375" cy="238125"/>
          </a:xfrm>
          <a:prstGeom prst="rect">
            <a:avLst/>
          </a:prstGeom>
          <a:solidFill>
            <a:srgbClr val="FFFFFF"/>
          </a:solidFill>
          <a:ln w="9525">
            <a:solidFill>
              <a:srgbClr val="C8D2D6"/>
            </a:solidFill>
            <a:prstDash val="solid"/>
          </a:ln>
        </p:spPr>
      </p:sp>
      <p:sp>
        <p:nvSpPr>
          <p:cNvPr id="25" name="cover-author">
            <a:extLst>
              <a:ext uri="{FF2B5EF4-FFF2-40B4-BE49-F238E27FC236}">
                <a16:creationId xmlns:a16="http://schemas.microsoft.com/office/drawing/2014/main" id="{2F74F378-C5D4-412D-9705-6CF1E9FF97A6}"/>
              </a:ext>
            </a:extLst>
          </p:cNvPr>
          <p:cNvSpPr>
            <a:spLocks noGrp="1"/>
          </p:cNvSpPr>
          <p:nvPr/>
        </p:nvSpPr>
        <p:spPr>
          <a:xfrm>
            <a:off x="685800" y="6096000"/>
            <a:ext cx="4762500" cy="190500"/>
          </a:xfrm>
          <a:prstGeom prst="rect">
            <a:avLst/>
          </a:prstGeom>
          <a:noFill/>
          <a:ln w="0">
            <a:noFill/>
            <a:prstDash val="solid"/>
          </a:ln>
        </p:spPr>
        <p:txBody>
          <a:bodyPr/>
          <a:lstStyle/>
          <a:p>
            <a:pPr algn="l">
              <a:defRPr sz="1200" b="0">
                <a:solidFill>
                  <a:srgbClr val="48606B"/>
                </a:solidFill>
              </a:defRPr>
            </a:pPr>
            <a:r>
              <a:rPr lang="en-US" sz="1200" b="0" dirty="0">
                <a:solidFill>
                  <a:srgbClr val="48606B"/>
                </a:solidFill>
              </a:rPr>
              <a:t>First</a:t>
            </a:r>
            <a:r>
              <a:rPr sz="1200" b="0" dirty="0">
                <a:solidFill>
                  <a:srgbClr val="48606B"/>
                </a:solidFill>
              </a:rPr>
              <a:t> presentation • Project design stage</a:t>
            </a:r>
          </a:p>
        </p:txBody>
      </p:sp>
    </p:spTree>
    <p:extLst>
      <p:ext uri="{BB962C8B-B14F-4D97-AF65-F5344CB8AC3E}">
        <p14:creationId xmlns:p14="http://schemas.microsoft.com/office/powerpoint/2010/main" val="13575898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kicker-2">
            <a:extLst>
              <a:ext uri="{FF2B5EF4-FFF2-40B4-BE49-F238E27FC236}">
                <a16:creationId xmlns:a16="http://schemas.microsoft.com/office/drawing/2014/main" id="{AE6D7BB9-C064-4B4B-9C43-EC73FB3B2F15}"/>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PURPOSE</a:t>
            </a:r>
          </a:p>
        </p:txBody>
      </p:sp>
      <p:sp>
        <p:nvSpPr>
          <p:cNvPr id="2" name="title-2">
            <a:extLst>
              <a:ext uri="{FF2B5EF4-FFF2-40B4-BE49-F238E27FC236}">
                <a16:creationId xmlns:a16="http://schemas.microsoft.com/office/drawing/2014/main" id="{87936CEA-52D6-40DD-A804-CE265976C15A}"/>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Turn public data into a clear screening signal</a:t>
            </a:r>
          </a:p>
        </p:txBody>
      </p:sp>
      <p:sp>
        <p:nvSpPr>
          <p:cNvPr id="3" name="rule-2">
            <a:extLst>
              <a:ext uri="{FF2B5EF4-FFF2-40B4-BE49-F238E27FC236}">
                <a16:creationId xmlns:a16="http://schemas.microsoft.com/office/drawing/2014/main" id="{DC6E43CA-6949-4222-AFCA-DD1FFDCA4A2D}"/>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2">
            <a:extLst>
              <a:ext uri="{FF2B5EF4-FFF2-40B4-BE49-F238E27FC236}">
                <a16:creationId xmlns:a16="http://schemas.microsoft.com/office/drawing/2014/main" id="{7F37C806-0A3A-4E44-9CB4-0C28A562084A}"/>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02</a:t>
            </a:r>
          </a:p>
        </p:txBody>
      </p:sp>
      <p:sp>
        <p:nvSpPr>
          <p:cNvPr id="5" name="goal-lead">
            <a:extLst>
              <a:ext uri="{FF2B5EF4-FFF2-40B4-BE49-F238E27FC236}">
                <a16:creationId xmlns:a16="http://schemas.microsoft.com/office/drawing/2014/main" id="{A885D827-9367-4772-930A-F19244DC5575}"/>
              </a:ext>
            </a:extLst>
          </p:cNvPr>
          <p:cNvSpPr>
            <a:spLocks noGrp="1"/>
          </p:cNvSpPr>
          <p:nvPr/>
        </p:nvSpPr>
        <p:spPr>
          <a:xfrm>
            <a:off x="685800" y="1809750"/>
            <a:ext cx="9715500" cy="495300"/>
          </a:xfrm>
          <a:prstGeom prst="rect">
            <a:avLst/>
          </a:prstGeom>
          <a:noFill/>
          <a:ln w="0">
            <a:noFill/>
            <a:prstDash val="solid"/>
          </a:ln>
        </p:spPr>
        <p:txBody>
          <a:bodyPr/>
          <a:lstStyle/>
          <a:p>
            <a:pPr algn="l">
              <a:defRPr sz="1875" b="1">
                <a:solidFill>
                  <a:srgbClr val="102A33"/>
                </a:solidFill>
              </a:defRPr>
            </a:pPr>
            <a:r>
              <a:rPr sz="1875" b="1">
                <a:solidFill>
                  <a:srgbClr val="102A33"/>
                </a:solidFill>
              </a:rPr>
              <a:t>Goal: classify areas as lower, medium, or higher relative wildfire exposure — as one input to location shortlisting.</a:t>
            </a:r>
          </a:p>
        </p:txBody>
      </p:sp>
      <p:sp>
        <p:nvSpPr>
          <p:cNvPr id="6" name="flow-inputs">
            <a:extLst>
              <a:ext uri="{FF2B5EF4-FFF2-40B4-BE49-F238E27FC236}">
                <a16:creationId xmlns:a16="http://schemas.microsoft.com/office/drawing/2014/main" id="{9F4817BC-9A6B-4918-9472-F7D7770C406C}"/>
              </a:ext>
            </a:extLst>
          </p:cNvPr>
          <p:cNvSpPr>
            <a:spLocks noGrp="1"/>
          </p:cNvSpPr>
          <p:nvPr/>
        </p:nvSpPr>
        <p:spPr>
          <a:xfrm>
            <a:off x="685800" y="3067050"/>
            <a:ext cx="1866900" cy="1200150"/>
          </a:xfrm>
          <a:prstGeom prst="roundRect">
            <a:avLst>
              <a:gd name="adj" fmla="val 6349"/>
            </a:avLst>
          </a:prstGeom>
          <a:solidFill>
            <a:srgbClr val="EAF6FD"/>
          </a:solidFill>
          <a:ln w="9525">
            <a:solidFill>
              <a:srgbClr val="6DCBF4"/>
            </a:solidFill>
            <a:prstDash val="solid"/>
          </a:ln>
        </p:spPr>
      </p:sp>
      <p:sp>
        <p:nvSpPr>
          <p:cNvPr id="7" name="flow-inputs-label">
            <a:extLst>
              <a:ext uri="{FF2B5EF4-FFF2-40B4-BE49-F238E27FC236}">
                <a16:creationId xmlns:a16="http://schemas.microsoft.com/office/drawing/2014/main" id="{194BED44-8B48-4F8A-AB79-E8E0417A4B30}"/>
              </a:ext>
            </a:extLst>
          </p:cNvPr>
          <p:cNvSpPr>
            <a:spLocks noGrp="1"/>
          </p:cNvSpPr>
          <p:nvPr/>
        </p:nvSpPr>
        <p:spPr>
          <a:xfrm>
            <a:off x="800100" y="3257550"/>
            <a:ext cx="16383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Historical fires +</a:t>
            </a:r>
          </a:p>
          <a:p>
            <a:pPr algn="ctr">
              <a:defRPr sz="1425" b="1">
                <a:solidFill>
                  <a:srgbClr val="102A33"/>
                </a:solidFill>
              </a:defRPr>
            </a:pPr>
            <a:r>
              <a:rPr sz="1425" b="1">
                <a:solidFill>
                  <a:srgbClr val="102A33"/>
                </a:solidFill>
              </a:rPr>
              <a:t>land cover + climate</a:t>
            </a:r>
          </a:p>
          <a:p>
            <a:pPr algn="ctr">
              <a:defRPr sz="1425" b="1">
                <a:solidFill>
                  <a:srgbClr val="102A33"/>
                </a:solidFill>
              </a:defRPr>
            </a:pPr>
            <a:r>
              <a:rPr sz="1425" b="1">
                <a:solidFill>
                  <a:srgbClr val="102A33"/>
                </a:solidFill>
              </a:rPr>
              <a:t>in predictor year T</a:t>
            </a:r>
          </a:p>
        </p:txBody>
      </p:sp>
      <p:sp>
        <p:nvSpPr>
          <p:cNvPr id="8" name="flow-model">
            <a:extLst>
              <a:ext uri="{FF2B5EF4-FFF2-40B4-BE49-F238E27FC236}">
                <a16:creationId xmlns:a16="http://schemas.microsoft.com/office/drawing/2014/main" id="{7CF62065-E389-4EC5-BF62-13A3D8201038}"/>
              </a:ext>
            </a:extLst>
          </p:cNvPr>
          <p:cNvSpPr>
            <a:spLocks noGrp="1"/>
          </p:cNvSpPr>
          <p:nvPr/>
        </p:nvSpPr>
        <p:spPr>
          <a:xfrm>
            <a:off x="2914650" y="3067050"/>
            <a:ext cx="1638300" cy="1200150"/>
          </a:xfrm>
          <a:prstGeom prst="roundRect">
            <a:avLst>
              <a:gd name="adj" fmla="val 6349"/>
            </a:avLst>
          </a:prstGeom>
          <a:solidFill>
            <a:srgbClr val="F3F6F7"/>
          </a:solidFill>
          <a:ln w="9525">
            <a:solidFill>
              <a:srgbClr val="C8D2D6"/>
            </a:solidFill>
            <a:prstDash val="solid"/>
          </a:ln>
        </p:spPr>
      </p:sp>
      <p:sp>
        <p:nvSpPr>
          <p:cNvPr id="9" name="flow-model-label">
            <a:extLst>
              <a:ext uri="{FF2B5EF4-FFF2-40B4-BE49-F238E27FC236}">
                <a16:creationId xmlns:a16="http://schemas.microsoft.com/office/drawing/2014/main" id="{E21C7A7F-23BF-4A9D-90E8-2496E88607AC}"/>
              </a:ext>
            </a:extLst>
          </p:cNvPr>
          <p:cNvSpPr>
            <a:spLocks noGrp="1"/>
          </p:cNvSpPr>
          <p:nvPr/>
        </p:nvSpPr>
        <p:spPr>
          <a:xfrm>
            <a:off x="3028950" y="3257550"/>
            <a:ext cx="14097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Supervised</a:t>
            </a:r>
          </a:p>
          <a:p>
            <a:pPr algn="ctr">
              <a:defRPr sz="1425" b="1">
                <a:solidFill>
                  <a:srgbClr val="102A33"/>
                </a:solidFill>
              </a:defRPr>
            </a:pPr>
            <a:r>
              <a:rPr sz="1425" b="1">
                <a:solidFill>
                  <a:srgbClr val="102A33"/>
                </a:solidFill>
              </a:rPr>
              <a:t>ML model</a:t>
            </a:r>
          </a:p>
        </p:txBody>
      </p:sp>
      <p:sp>
        <p:nvSpPr>
          <p:cNvPr id="10" name="flow-target">
            <a:extLst>
              <a:ext uri="{FF2B5EF4-FFF2-40B4-BE49-F238E27FC236}">
                <a16:creationId xmlns:a16="http://schemas.microsoft.com/office/drawing/2014/main" id="{73BD7E21-40BB-4DBC-A0AF-C3E9BD6EAE6B}"/>
              </a:ext>
            </a:extLst>
          </p:cNvPr>
          <p:cNvSpPr>
            <a:spLocks noGrp="1"/>
          </p:cNvSpPr>
          <p:nvPr/>
        </p:nvSpPr>
        <p:spPr>
          <a:xfrm>
            <a:off x="5143500" y="3067050"/>
            <a:ext cx="1638300" cy="1200150"/>
          </a:xfrm>
          <a:prstGeom prst="roundRect">
            <a:avLst>
              <a:gd name="adj" fmla="val 6349"/>
            </a:avLst>
          </a:prstGeom>
          <a:solidFill>
            <a:srgbClr val="FFF5E6"/>
          </a:solidFill>
          <a:ln w="9525">
            <a:solidFill>
              <a:srgbClr val="F2C879"/>
            </a:solidFill>
            <a:prstDash val="solid"/>
          </a:ln>
        </p:spPr>
      </p:sp>
      <p:sp>
        <p:nvSpPr>
          <p:cNvPr id="11" name="flow-target-label">
            <a:extLst>
              <a:ext uri="{FF2B5EF4-FFF2-40B4-BE49-F238E27FC236}">
                <a16:creationId xmlns:a16="http://schemas.microsoft.com/office/drawing/2014/main" id="{470EA616-4830-4BC0-A836-A7B6C6CC9279}"/>
              </a:ext>
            </a:extLst>
          </p:cNvPr>
          <p:cNvSpPr>
            <a:spLocks noGrp="1"/>
          </p:cNvSpPr>
          <p:nvPr/>
        </p:nvSpPr>
        <p:spPr>
          <a:xfrm>
            <a:off x="5257800" y="3257550"/>
            <a:ext cx="14097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Burned share</a:t>
            </a:r>
          </a:p>
          <a:p>
            <a:pPr algn="ctr">
              <a:defRPr sz="1425" b="1">
                <a:solidFill>
                  <a:srgbClr val="102A33"/>
                </a:solidFill>
              </a:defRPr>
            </a:pPr>
            <a:r>
              <a:rPr sz="1425" b="1">
                <a:solidFill>
                  <a:srgbClr val="102A33"/>
                </a:solidFill>
              </a:rPr>
              <a:t>in T+1</a:t>
            </a:r>
          </a:p>
        </p:txBody>
      </p:sp>
      <p:sp>
        <p:nvSpPr>
          <p:cNvPr id="12" name="flow-screen">
            <a:extLst>
              <a:ext uri="{FF2B5EF4-FFF2-40B4-BE49-F238E27FC236}">
                <a16:creationId xmlns:a16="http://schemas.microsoft.com/office/drawing/2014/main" id="{6BB87239-1963-4ADA-BFE3-5A8F3361477A}"/>
              </a:ext>
            </a:extLst>
          </p:cNvPr>
          <p:cNvSpPr>
            <a:spLocks noGrp="1"/>
          </p:cNvSpPr>
          <p:nvPr/>
        </p:nvSpPr>
        <p:spPr>
          <a:xfrm>
            <a:off x="7372350" y="3067050"/>
            <a:ext cx="1866900" cy="1200150"/>
          </a:xfrm>
          <a:prstGeom prst="roundRect">
            <a:avLst>
              <a:gd name="adj" fmla="val 6349"/>
            </a:avLst>
          </a:prstGeom>
          <a:solidFill>
            <a:srgbClr val="EEF8F0"/>
          </a:solidFill>
          <a:ln w="9525">
            <a:solidFill>
              <a:srgbClr val="9AC9A6"/>
            </a:solidFill>
            <a:prstDash val="solid"/>
          </a:ln>
        </p:spPr>
      </p:sp>
      <p:sp>
        <p:nvSpPr>
          <p:cNvPr id="13" name="flow-screen-label">
            <a:extLst>
              <a:ext uri="{FF2B5EF4-FFF2-40B4-BE49-F238E27FC236}">
                <a16:creationId xmlns:a16="http://schemas.microsoft.com/office/drawing/2014/main" id="{F14E0055-871D-42EF-A3FF-91F93A43EBC9}"/>
              </a:ext>
            </a:extLst>
          </p:cNvPr>
          <p:cNvSpPr>
            <a:spLocks noGrp="1"/>
          </p:cNvSpPr>
          <p:nvPr/>
        </p:nvSpPr>
        <p:spPr>
          <a:xfrm>
            <a:off x="7486650" y="3257550"/>
            <a:ext cx="1638300" cy="895350"/>
          </a:xfrm>
          <a:prstGeom prst="rect">
            <a:avLst/>
          </a:prstGeom>
          <a:noFill/>
          <a:ln w="0">
            <a:noFill/>
            <a:prstDash val="solid"/>
          </a:ln>
        </p:spPr>
        <p:txBody>
          <a:bodyPr/>
          <a:lstStyle/>
          <a:p>
            <a:pPr algn="ctr">
              <a:defRPr sz="1425" b="1">
                <a:solidFill>
                  <a:srgbClr val="102A33"/>
                </a:solidFill>
              </a:defRPr>
            </a:pPr>
            <a:r>
              <a:rPr sz="1425" b="1">
                <a:solidFill>
                  <a:srgbClr val="102A33"/>
                </a:solidFill>
              </a:rPr>
              <a:t>Low / medium / high</a:t>
            </a:r>
          </a:p>
          <a:p>
            <a:pPr algn="ctr">
              <a:defRPr sz="1425" b="1">
                <a:solidFill>
                  <a:srgbClr val="102A33"/>
                </a:solidFill>
              </a:defRPr>
            </a:pPr>
            <a:r>
              <a:rPr sz="1425" b="1">
                <a:solidFill>
                  <a:srgbClr val="102A33"/>
                </a:solidFill>
              </a:rPr>
              <a:t>screening category</a:t>
            </a:r>
          </a:p>
        </p:txBody>
      </p:sp>
      <p:cxnSp>
        <p:nvCxnSpPr>
          <p:cNvPr id="35" name="Straight Arrow Connector 34"/>
          <p:cNvCxnSpPr>
            <a:stCxn id="6" idx="3"/>
            <a:endCxn id="8" idx="1"/>
          </p:cNvCxnSpPr>
          <p:nvPr/>
        </p:nvCxnSpPr>
        <p:spPr>
          <a:xfrm>
            <a:off x="2552700" y="3667125"/>
            <a:ext cx="361950" cy="0"/>
          </a:xfrm>
          <a:prstGeom prst="straightConnector1">
            <a:avLst/>
          </a:prstGeom>
          <a:ln w="28575">
            <a:solidFill>
              <a:srgbClr val="3D8DFF"/>
            </a:solidFill>
            <a:prstDash val="solid"/>
            <a:tailEnd type="arrow" w="med" len="med"/>
          </a:ln>
        </p:spPr>
      </p:cxnSp>
      <p:cxnSp>
        <p:nvCxnSpPr>
          <p:cNvPr id="36" name="Straight Arrow Connector 35"/>
          <p:cNvCxnSpPr>
            <a:stCxn id="8" idx="3"/>
            <a:endCxn id="10" idx="1"/>
          </p:cNvCxnSpPr>
          <p:nvPr/>
        </p:nvCxnSpPr>
        <p:spPr>
          <a:xfrm>
            <a:off x="4552950" y="3667125"/>
            <a:ext cx="590550" cy="0"/>
          </a:xfrm>
          <a:prstGeom prst="straightConnector1">
            <a:avLst/>
          </a:prstGeom>
          <a:ln w="28575">
            <a:solidFill>
              <a:srgbClr val="3D8DFF"/>
            </a:solidFill>
            <a:prstDash val="solid"/>
            <a:tailEnd type="arrow" w="med" len="med"/>
          </a:ln>
        </p:spPr>
      </p:cxnSp>
      <p:cxnSp>
        <p:nvCxnSpPr>
          <p:cNvPr id="37" name="Straight Arrow Connector 36"/>
          <p:cNvCxnSpPr>
            <a:stCxn id="10" idx="3"/>
            <a:endCxn id="12" idx="1"/>
          </p:cNvCxnSpPr>
          <p:nvPr/>
        </p:nvCxnSpPr>
        <p:spPr>
          <a:xfrm>
            <a:off x="6781800" y="3667125"/>
            <a:ext cx="590550" cy="0"/>
          </a:xfrm>
          <a:prstGeom prst="straightConnector1">
            <a:avLst/>
          </a:prstGeom>
          <a:ln w="28575">
            <a:solidFill>
              <a:srgbClr val="3D8DFF"/>
            </a:solidFill>
            <a:prstDash val="solid"/>
            <a:tailEnd type="arrow" w="med" len="med"/>
          </a:ln>
        </p:spPr>
      </p:cxnSp>
      <p:sp>
        <p:nvSpPr>
          <p:cNvPr id="17" name="goal-b1-dot">
            <a:extLst>
              <a:ext uri="{FF2B5EF4-FFF2-40B4-BE49-F238E27FC236}">
                <a16:creationId xmlns:a16="http://schemas.microsoft.com/office/drawing/2014/main" id="{1415E929-718B-40FA-B093-56ADAF757D4C}"/>
              </a:ext>
            </a:extLst>
          </p:cNvPr>
          <p:cNvSpPr>
            <a:spLocks noGrp="1"/>
          </p:cNvSpPr>
          <p:nvPr/>
        </p:nvSpPr>
        <p:spPr>
          <a:xfrm>
            <a:off x="685800" y="509587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goal-b1-text">
            <a:extLst>
              <a:ext uri="{FF2B5EF4-FFF2-40B4-BE49-F238E27FC236}">
                <a16:creationId xmlns:a16="http://schemas.microsoft.com/office/drawing/2014/main" id="{CA3E6485-D408-4B75-997E-A5A8ABFE26C8}"/>
              </a:ext>
            </a:extLst>
          </p:cNvPr>
          <p:cNvSpPr>
            <a:spLocks noGrp="1"/>
          </p:cNvSpPr>
          <p:nvPr/>
        </p:nvSpPr>
        <p:spPr>
          <a:xfrm>
            <a:off x="914400" y="5105400"/>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The output is a relative area-level screening category, not a property decision.</a:t>
            </a:r>
          </a:p>
        </p:txBody>
      </p:sp>
      <p:sp>
        <p:nvSpPr>
          <p:cNvPr id="19" name="goal-b2-dot">
            <a:extLst>
              <a:ext uri="{FF2B5EF4-FFF2-40B4-BE49-F238E27FC236}">
                <a16:creationId xmlns:a16="http://schemas.microsoft.com/office/drawing/2014/main" id="{0D008236-F219-4D67-9F13-C6E425E22B21}"/>
              </a:ext>
            </a:extLst>
          </p:cNvPr>
          <p:cNvSpPr>
            <a:spLocks noGrp="1"/>
          </p:cNvSpPr>
          <p:nvPr/>
        </p:nvSpPr>
        <p:spPr>
          <a:xfrm>
            <a:off x="6191250" y="509587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20" name="goal-b2-text">
            <a:extLst>
              <a:ext uri="{FF2B5EF4-FFF2-40B4-BE49-F238E27FC236}">
                <a16:creationId xmlns:a16="http://schemas.microsoft.com/office/drawing/2014/main" id="{2BDD2209-D292-4CEB-AB39-37D3396D0A0F}"/>
              </a:ext>
            </a:extLst>
          </p:cNvPr>
          <p:cNvSpPr>
            <a:spLocks noGrp="1"/>
          </p:cNvSpPr>
          <p:nvPr/>
        </p:nvSpPr>
        <p:spPr>
          <a:xfrm>
            <a:off x="6419850" y="5105400"/>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The continuous target is the share of each 1 km cell burned in the next year.</a:t>
            </a:r>
          </a:p>
        </p:txBody>
      </p:sp>
      <p:sp>
        <p:nvSpPr>
          <p:cNvPr id="21" name="footer-2">
            <a:extLst>
              <a:ext uri="{FF2B5EF4-FFF2-40B4-BE49-F238E27FC236}">
                <a16:creationId xmlns:a16="http://schemas.microsoft.com/office/drawing/2014/main" id="{1A5DD43F-2A4F-455E-AE41-2FB1AC6E3F23}"/>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2217881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kicker-3">
            <a:extLst>
              <a:ext uri="{FF2B5EF4-FFF2-40B4-BE49-F238E27FC236}">
                <a16:creationId xmlns:a16="http://schemas.microsoft.com/office/drawing/2014/main" id="{014A494D-E612-4735-8942-EFD9FD6C222C}"/>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INPUTS</a:t>
            </a:r>
          </a:p>
        </p:txBody>
      </p:sp>
      <p:sp>
        <p:nvSpPr>
          <p:cNvPr id="2" name="title-3">
            <a:extLst>
              <a:ext uri="{FF2B5EF4-FFF2-40B4-BE49-F238E27FC236}">
                <a16:creationId xmlns:a16="http://schemas.microsoft.com/office/drawing/2014/main" id="{3E45C6D0-F8BF-415F-A894-01778A7A099E}"/>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Four public data sources describe each area</a:t>
            </a:r>
          </a:p>
        </p:txBody>
      </p:sp>
      <p:sp>
        <p:nvSpPr>
          <p:cNvPr id="3" name="rule-3">
            <a:extLst>
              <a:ext uri="{FF2B5EF4-FFF2-40B4-BE49-F238E27FC236}">
                <a16:creationId xmlns:a16="http://schemas.microsoft.com/office/drawing/2014/main" id="{FFBC8FDC-3E62-469D-BF92-FE1AB3BED49B}"/>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3">
            <a:extLst>
              <a:ext uri="{FF2B5EF4-FFF2-40B4-BE49-F238E27FC236}">
                <a16:creationId xmlns:a16="http://schemas.microsoft.com/office/drawing/2014/main" id="{8F164D61-EDAD-430C-9010-120B058C84EC}"/>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03</a:t>
            </a:r>
          </a:p>
        </p:txBody>
      </p:sp>
      <p:sp>
        <p:nvSpPr>
          <p:cNvPr id="5" name="source-card-0">
            <a:extLst>
              <a:ext uri="{FF2B5EF4-FFF2-40B4-BE49-F238E27FC236}">
                <a16:creationId xmlns:a16="http://schemas.microsoft.com/office/drawing/2014/main" id="{E5E662A2-B534-4B01-96BC-765B92887955}"/>
              </a:ext>
            </a:extLst>
          </p:cNvPr>
          <p:cNvSpPr>
            <a:spLocks noGrp="1"/>
          </p:cNvSpPr>
          <p:nvPr/>
        </p:nvSpPr>
        <p:spPr>
          <a:xfrm>
            <a:off x="685800" y="2095500"/>
            <a:ext cx="2400300" cy="2171700"/>
          </a:xfrm>
          <a:prstGeom prst="roundRect">
            <a:avLst>
              <a:gd name="adj" fmla="val 3509"/>
            </a:avLst>
          </a:prstGeom>
          <a:solidFill>
            <a:srgbClr val="EAF6FD"/>
          </a:solidFill>
          <a:ln w="9525">
            <a:solidFill>
              <a:srgbClr val="C8D2D6"/>
            </a:solidFill>
            <a:prstDash val="solid"/>
          </a:ln>
        </p:spPr>
      </p:sp>
      <p:sp>
        <p:nvSpPr>
          <p:cNvPr id="6" name="source-card-title-0">
            <a:extLst>
              <a:ext uri="{FF2B5EF4-FFF2-40B4-BE49-F238E27FC236}">
                <a16:creationId xmlns:a16="http://schemas.microsoft.com/office/drawing/2014/main" id="{C53DFDF5-0020-4FCF-90CA-2C37885D432E}"/>
              </a:ext>
            </a:extLst>
          </p:cNvPr>
          <p:cNvSpPr>
            <a:spLocks noGrp="1"/>
          </p:cNvSpPr>
          <p:nvPr/>
        </p:nvSpPr>
        <p:spPr>
          <a:xfrm>
            <a:off x="85725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ICNF burned areas</a:t>
            </a:r>
          </a:p>
        </p:txBody>
      </p:sp>
      <p:sp>
        <p:nvSpPr>
          <p:cNvPr id="7" name="source-card-body-0">
            <a:extLst>
              <a:ext uri="{FF2B5EF4-FFF2-40B4-BE49-F238E27FC236}">
                <a16:creationId xmlns:a16="http://schemas.microsoft.com/office/drawing/2014/main" id="{1063E239-CC7F-4F97-81B9-FD40D7B2A2A7}"/>
              </a:ext>
            </a:extLst>
          </p:cNvPr>
          <p:cNvSpPr>
            <a:spLocks noGrp="1"/>
          </p:cNvSpPr>
          <p:nvPr/>
        </p:nvSpPr>
        <p:spPr>
          <a:xfrm>
            <a:off x="85725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Target in T+1</a:t>
            </a:r>
          </a:p>
          <a:p>
            <a:pPr algn="l">
              <a:defRPr sz="1350" b="0">
                <a:solidFill>
                  <a:srgbClr val="48606B"/>
                </a:solidFill>
              </a:defRPr>
            </a:pPr>
            <a:r>
              <a:rPr sz="1350" b="0">
                <a:solidFill>
                  <a:srgbClr val="48606B"/>
                </a:solidFill>
              </a:rPr>
              <a:t>+10-year history: T−10 to T−1</a:t>
            </a:r>
          </a:p>
        </p:txBody>
      </p:sp>
      <p:sp>
        <p:nvSpPr>
          <p:cNvPr id="8" name="source-card-1">
            <a:extLst>
              <a:ext uri="{FF2B5EF4-FFF2-40B4-BE49-F238E27FC236}">
                <a16:creationId xmlns:a16="http://schemas.microsoft.com/office/drawing/2014/main" id="{7499B61C-7969-45A6-B32F-50C8C00D2AD0}"/>
              </a:ext>
            </a:extLst>
          </p:cNvPr>
          <p:cNvSpPr>
            <a:spLocks noGrp="1"/>
          </p:cNvSpPr>
          <p:nvPr/>
        </p:nvSpPr>
        <p:spPr>
          <a:xfrm>
            <a:off x="3409950" y="2095500"/>
            <a:ext cx="2400300" cy="2171700"/>
          </a:xfrm>
          <a:prstGeom prst="roundRect">
            <a:avLst>
              <a:gd name="adj" fmla="val 3509"/>
            </a:avLst>
          </a:prstGeom>
          <a:solidFill>
            <a:srgbClr val="F5F7F8"/>
          </a:solidFill>
          <a:ln w="9525">
            <a:solidFill>
              <a:srgbClr val="C8D2D6"/>
            </a:solidFill>
            <a:prstDash val="solid"/>
          </a:ln>
        </p:spPr>
      </p:sp>
      <p:sp>
        <p:nvSpPr>
          <p:cNvPr id="9" name="source-card-title-1">
            <a:extLst>
              <a:ext uri="{FF2B5EF4-FFF2-40B4-BE49-F238E27FC236}">
                <a16:creationId xmlns:a16="http://schemas.microsoft.com/office/drawing/2014/main" id="{39A0B77A-D34D-4796-94F1-EE33F7A13345}"/>
              </a:ext>
            </a:extLst>
          </p:cNvPr>
          <p:cNvSpPr>
            <a:spLocks noGrp="1"/>
          </p:cNvSpPr>
          <p:nvPr/>
        </p:nvSpPr>
        <p:spPr>
          <a:xfrm>
            <a:off x="358140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CORINE Land Cover</a:t>
            </a:r>
          </a:p>
        </p:txBody>
      </p:sp>
      <p:sp>
        <p:nvSpPr>
          <p:cNvPr id="10" name="source-card-body-1">
            <a:extLst>
              <a:ext uri="{FF2B5EF4-FFF2-40B4-BE49-F238E27FC236}">
                <a16:creationId xmlns:a16="http://schemas.microsoft.com/office/drawing/2014/main" id="{A329BB5E-6B8D-4683-888C-A259502DEEB9}"/>
              </a:ext>
            </a:extLst>
          </p:cNvPr>
          <p:cNvSpPr>
            <a:spLocks noGrp="1"/>
          </p:cNvSpPr>
          <p:nvPr/>
        </p:nvSpPr>
        <p:spPr>
          <a:xfrm>
            <a:off x="358140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Broad landscape shares</a:t>
            </a:r>
          </a:p>
          <a:p>
            <a:pPr algn="l">
              <a:defRPr sz="1350" b="0">
                <a:solidFill>
                  <a:srgbClr val="48606B"/>
                </a:solidFill>
              </a:defRPr>
            </a:pPr>
            <a:r>
              <a:rPr sz="1350" b="0">
                <a:solidFill>
                  <a:srgbClr val="48606B"/>
                </a:solidFill>
              </a:rPr>
              <a:t>not annual parcel data</a:t>
            </a:r>
          </a:p>
        </p:txBody>
      </p:sp>
      <p:sp>
        <p:nvSpPr>
          <p:cNvPr id="11" name="source-card-2">
            <a:extLst>
              <a:ext uri="{FF2B5EF4-FFF2-40B4-BE49-F238E27FC236}">
                <a16:creationId xmlns:a16="http://schemas.microsoft.com/office/drawing/2014/main" id="{B09566CE-BE24-4551-B656-060FA48BEE44}"/>
              </a:ext>
            </a:extLst>
          </p:cNvPr>
          <p:cNvSpPr>
            <a:spLocks noGrp="1"/>
          </p:cNvSpPr>
          <p:nvPr/>
        </p:nvSpPr>
        <p:spPr>
          <a:xfrm>
            <a:off x="6134100" y="2095500"/>
            <a:ext cx="2400300" cy="2171700"/>
          </a:xfrm>
          <a:prstGeom prst="roundRect">
            <a:avLst>
              <a:gd name="adj" fmla="val 3509"/>
            </a:avLst>
          </a:prstGeom>
          <a:solidFill>
            <a:srgbClr val="FFF5E6"/>
          </a:solidFill>
          <a:ln w="9525">
            <a:solidFill>
              <a:srgbClr val="C8D2D6"/>
            </a:solidFill>
            <a:prstDash val="solid"/>
          </a:ln>
        </p:spPr>
      </p:sp>
      <p:sp>
        <p:nvSpPr>
          <p:cNvPr id="12" name="source-card-title-2">
            <a:extLst>
              <a:ext uri="{FF2B5EF4-FFF2-40B4-BE49-F238E27FC236}">
                <a16:creationId xmlns:a16="http://schemas.microsoft.com/office/drawing/2014/main" id="{F2B9FF01-9525-4F46-832F-D5EE37D09A43}"/>
              </a:ext>
            </a:extLst>
          </p:cNvPr>
          <p:cNvSpPr>
            <a:spLocks noGrp="1"/>
          </p:cNvSpPr>
          <p:nvPr/>
        </p:nvSpPr>
        <p:spPr>
          <a:xfrm>
            <a:off x="630555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ERA5-Land</a:t>
            </a:r>
          </a:p>
        </p:txBody>
      </p:sp>
      <p:sp>
        <p:nvSpPr>
          <p:cNvPr id="13" name="source-card-body-2">
            <a:extLst>
              <a:ext uri="{FF2B5EF4-FFF2-40B4-BE49-F238E27FC236}">
                <a16:creationId xmlns:a16="http://schemas.microsoft.com/office/drawing/2014/main" id="{05A9112F-AAE1-447F-90C4-1C9A63D583C9}"/>
              </a:ext>
            </a:extLst>
          </p:cNvPr>
          <p:cNvSpPr>
            <a:spLocks noGrp="1"/>
          </p:cNvSpPr>
          <p:nvPr/>
        </p:nvSpPr>
        <p:spPr>
          <a:xfrm>
            <a:off x="630555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JJAS T-only: temperature,</a:t>
            </a:r>
          </a:p>
          <a:p>
            <a:pPr algn="l">
              <a:defRPr sz="1350" b="0">
                <a:solidFill>
                  <a:srgbClr val="48606B"/>
                </a:solidFill>
              </a:defRPr>
            </a:pPr>
            <a:r>
              <a:rPr sz="1350" b="0">
                <a:solidFill>
                  <a:srgbClr val="48606B"/>
                </a:solidFill>
              </a:rPr>
              <a:t>precipitation, shallow soil moisture</a:t>
            </a:r>
          </a:p>
        </p:txBody>
      </p:sp>
      <p:sp>
        <p:nvSpPr>
          <p:cNvPr id="14" name="source-card-3">
            <a:extLst>
              <a:ext uri="{FF2B5EF4-FFF2-40B4-BE49-F238E27FC236}">
                <a16:creationId xmlns:a16="http://schemas.microsoft.com/office/drawing/2014/main" id="{BA8C108B-79A2-4EEF-BCDD-C1A68ADD43C0}"/>
              </a:ext>
            </a:extLst>
          </p:cNvPr>
          <p:cNvSpPr>
            <a:spLocks noGrp="1"/>
          </p:cNvSpPr>
          <p:nvPr/>
        </p:nvSpPr>
        <p:spPr>
          <a:xfrm>
            <a:off x="8858250" y="2095500"/>
            <a:ext cx="2400300" cy="2171700"/>
          </a:xfrm>
          <a:prstGeom prst="roundRect">
            <a:avLst>
              <a:gd name="adj" fmla="val 3509"/>
            </a:avLst>
          </a:prstGeom>
          <a:solidFill>
            <a:srgbClr val="EEF8F0"/>
          </a:solidFill>
          <a:ln w="9525">
            <a:solidFill>
              <a:srgbClr val="C8D2D6"/>
            </a:solidFill>
            <a:prstDash val="solid"/>
          </a:ln>
        </p:spPr>
      </p:sp>
      <p:sp>
        <p:nvSpPr>
          <p:cNvPr id="15" name="source-card-title-3">
            <a:extLst>
              <a:ext uri="{FF2B5EF4-FFF2-40B4-BE49-F238E27FC236}">
                <a16:creationId xmlns:a16="http://schemas.microsoft.com/office/drawing/2014/main" id="{F7975A4C-CF98-4E23-8671-5210F8688EB2}"/>
              </a:ext>
            </a:extLst>
          </p:cNvPr>
          <p:cNvSpPr>
            <a:spLocks noGrp="1"/>
          </p:cNvSpPr>
          <p:nvPr/>
        </p:nvSpPr>
        <p:spPr>
          <a:xfrm>
            <a:off x="9029700" y="2343150"/>
            <a:ext cx="2057400" cy="419100"/>
          </a:xfrm>
          <a:prstGeom prst="rect">
            <a:avLst/>
          </a:prstGeom>
          <a:noFill/>
          <a:ln w="0">
            <a:noFill/>
            <a:prstDash val="solid"/>
          </a:ln>
        </p:spPr>
        <p:txBody>
          <a:bodyPr/>
          <a:lstStyle/>
          <a:p>
            <a:pPr algn="l">
              <a:defRPr sz="1725" b="1">
                <a:solidFill>
                  <a:srgbClr val="102A33"/>
                </a:solidFill>
              </a:defRPr>
            </a:pPr>
            <a:r>
              <a:rPr sz="1725" b="1">
                <a:solidFill>
                  <a:srgbClr val="102A33"/>
                </a:solidFill>
              </a:rPr>
              <a:t>CAOP + DEM</a:t>
            </a:r>
          </a:p>
        </p:txBody>
      </p:sp>
      <p:sp>
        <p:nvSpPr>
          <p:cNvPr id="16" name="source-card-body-3">
            <a:extLst>
              <a:ext uri="{FF2B5EF4-FFF2-40B4-BE49-F238E27FC236}">
                <a16:creationId xmlns:a16="http://schemas.microsoft.com/office/drawing/2014/main" id="{1A678FE3-BFBA-49D8-A39E-08DE7614AB37}"/>
              </a:ext>
            </a:extLst>
          </p:cNvPr>
          <p:cNvSpPr>
            <a:spLocks noGrp="1"/>
          </p:cNvSpPr>
          <p:nvPr/>
        </p:nvSpPr>
        <p:spPr>
          <a:xfrm>
            <a:off x="9029700" y="3028950"/>
            <a:ext cx="2038350" cy="742950"/>
          </a:xfrm>
          <a:prstGeom prst="rect">
            <a:avLst/>
          </a:prstGeom>
          <a:noFill/>
          <a:ln w="0">
            <a:noFill/>
            <a:prstDash val="solid"/>
          </a:ln>
        </p:spPr>
        <p:txBody>
          <a:bodyPr/>
          <a:lstStyle/>
          <a:p>
            <a:pPr algn="l">
              <a:defRPr sz="1350" b="0">
                <a:solidFill>
                  <a:srgbClr val="48606B"/>
                </a:solidFill>
              </a:defRPr>
            </a:pPr>
            <a:r>
              <a:rPr sz="1350" b="0">
                <a:solidFill>
                  <a:srgbClr val="48606B"/>
                </a:solidFill>
              </a:rPr>
              <a:t>Mainland boundary,</a:t>
            </a:r>
          </a:p>
          <a:p>
            <a:pPr algn="l">
              <a:defRPr sz="1350" b="0">
                <a:solidFill>
                  <a:srgbClr val="48606B"/>
                </a:solidFill>
              </a:defRPr>
            </a:pPr>
            <a:r>
              <a:rPr sz="1350" b="0">
                <a:solidFill>
                  <a:srgbClr val="48606B"/>
                </a:solidFill>
              </a:rPr>
              <a:t>reporting areas, terrain context</a:t>
            </a:r>
          </a:p>
        </p:txBody>
      </p:sp>
      <p:sp>
        <p:nvSpPr>
          <p:cNvPr id="17" name="input-b1-dot">
            <a:extLst>
              <a:ext uri="{FF2B5EF4-FFF2-40B4-BE49-F238E27FC236}">
                <a16:creationId xmlns:a16="http://schemas.microsoft.com/office/drawing/2014/main" id="{0346FEB4-C45D-4305-A1C7-7A33C9120C89}"/>
              </a:ext>
            </a:extLst>
          </p:cNvPr>
          <p:cNvSpPr>
            <a:spLocks noGrp="1"/>
          </p:cNvSpPr>
          <p:nvPr/>
        </p:nvSpPr>
        <p:spPr>
          <a:xfrm>
            <a:off x="685800" y="48577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input-b1-text">
            <a:extLst>
              <a:ext uri="{FF2B5EF4-FFF2-40B4-BE49-F238E27FC236}">
                <a16:creationId xmlns:a16="http://schemas.microsoft.com/office/drawing/2014/main" id="{1CF5DCB4-EEA9-42F3-90BC-2C43CE88F23C}"/>
              </a:ext>
            </a:extLst>
          </p:cNvPr>
          <p:cNvSpPr>
            <a:spLocks noGrp="1"/>
          </p:cNvSpPr>
          <p:nvPr/>
        </p:nvSpPr>
        <p:spPr>
          <a:xfrm>
            <a:off x="914400" y="4867275"/>
            <a:ext cx="4914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Already registered: CAOP 2025 boundary and ICNF 2024 burned areas.</a:t>
            </a:r>
          </a:p>
        </p:txBody>
      </p:sp>
      <p:sp>
        <p:nvSpPr>
          <p:cNvPr id="19" name="input-b2-dot">
            <a:extLst>
              <a:ext uri="{FF2B5EF4-FFF2-40B4-BE49-F238E27FC236}">
                <a16:creationId xmlns:a16="http://schemas.microsoft.com/office/drawing/2014/main" id="{5B63DF05-564B-45FA-86C6-411BF3B88F27}"/>
              </a:ext>
            </a:extLst>
          </p:cNvPr>
          <p:cNvSpPr>
            <a:spLocks noGrp="1"/>
          </p:cNvSpPr>
          <p:nvPr/>
        </p:nvSpPr>
        <p:spPr>
          <a:xfrm>
            <a:off x="6286500" y="48577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20" name="input-b2-text">
            <a:extLst>
              <a:ext uri="{FF2B5EF4-FFF2-40B4-BE49-F238E27FC236}">
                <a16:creationId xmlns:a16="http://schemas.microsoft.com/office/drawing/2014/main" id="{A14E22A4-E091-4BB2-9E70-7077B442D4AD}"/>
              </a:ext>
            </a:extLst>
          </p:cNvPr>
          <p:cNvSpPr>
            <a:spLocks noGrp="1"/>
          </p:cNvSpPr>
          <p:nvPr/>
        </p:nvSpPr>
        <p:spPr>
          <a:xfrm>
            <a:off x="6515100" y="4867275"/>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CLC and ERA5-Land are still needed; both provide broad context, not property evidence.</a:t>
            </a:r>
          </a:p>
        </p:txBody>
      </p:sp>
      <p:sp>
        <p:nvSpPr>
          <p:cNvPr id="21" name="footer-3">
            <a:extLst>
              <a:ext uri="{FF2B5EF4-FFF2-40B4-BE49-F238E27FC236}">
                <a16:creationId xmlns:a16="http://schemas.microsoft.com/office/drawing/2014/main" id="{CDB206F3-0080-4BD4-81C8-F511A144D387}"/>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1385657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kicker-4">
            <a:extLst>
              <a:ext uri="{FF2B5EF4-FFF2-40B4-BE49-F238E27FC236}">
                <a16:creationId xmlns:a16="http://schemas.microsoft.com/office/drawing/2014/main" id="{BD0EBFDC-3243-493F-9B02-A63F2EB7F8EF}"/>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METHOD</a:t>
            </a:r>
          </a:p>
        </p:txBody>
      </p:sp>
      <p:sp>
        <p:nvSpPr>
          <p:cNvPr id="2" name="title-4">
            <a:extLst>
              <a:ext uri="{FF2B5EF4-FFF2-40B4-BE49-F238E27FC236}">
                <a16:creationId xmlns:a16="http://schemas.microsoft.com/office/drawing/2014/main" id="{553D9712-F9E7-41EB-B8CB-08E942F5125F}"/>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The model is tested on future years, not random rows</a:t>
            </a:r>
          </a:p>
        </p:txBody>
      </p:sp>
      <p:sp>
        <p:nvSpPr>
          <p:cNvPr id="3" name="rule-4">
            <a:extLst>
              <a:ext uri="{FF2B5EF4-FFF2-40B4-BE49-F238E27FC236}">
                <a16:creationId xmlns:a16="http://schemas.microsoft.com/office/drawing/2014/main" id="{D299AF84-6E4B-4592-B468-EDC38226DB53}"/>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4">
            <a:extLst>
              <a:ext uri="{FF2B5EF4-FFF2-40B4-BE49-F238E27FC236}">
                <a16:creationId xmlns:a16="http://schemas.microsoft.com/office/drawing/2014/main" id="{B4C11146-55F7-4C8C-860A-627D0741A9AD}"/>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04</a:t>
            </a:r>
          </a:p>
        </p:txBody>
      </p:sp>
      <p:sp>
        <p:nvSpPr>
          <p:cNvPr id="5" name="method-lead">
            <a:extLst>
              <a:ext uri="{FF2B5EF4-FFF2-40B4-BE49-F238E27FC236}">
                <a16:creationId xmlns:a16="http://schemas.microsoft.com/office/drawing/2014/main" id="{1EDD5653-BCBE-4A1A-A134-E7227D33005D}"/>
              </a:ext>
            </a:extLst>
          </p:cNvPr>
          <p:cNvSpPr>
            <a:spLocks noGrp="1"/>
          </p:cNvSpPr>
          <p:nvPr/>
        </p:nvSpPr>
        <p:spPr>
          <a:xfrm>
            <a:off x="685800" y="1809750"/>
            <a:ext cx="9620250" cy="514350"/>
          </a:xfrm>
          <a:prstGeom prst="rect">
            <a:avLst/>
          </a:prstGeom>
          <a:noFill/>
          <a:ln w="0">
            <a:noFill/>
            <a:prstDash val="solid"/>
          </a:ln>
        </p:spPr>
        <p:txBody>
          <a:bodyPr/>
          <a:lstStyle/>
          <a:p>
            <a:pPr algn="l">
              <a:defRPr sz="1725" b="0">
                <a:solidFill>
                  <a:srgbClr val="102A33"/>
                </a:solidFill>
              </a:defRPr>
            </a:pPr>
            <a:r>
              <a:rPr sz="1725" b="0">
                <a:solidFill>
                  <a:srgbClr val="102A33"/>
                </a:solidFill>
              </a:rPr>
              <a:t>Supervised learning will be compared with a simple historical-fire baseline. A tree-based model, such as Random Forest, is evaluated only after data preparation.</a:t>
            </a:r>
          </a:p>
        </p:txBody>
      </p:sp>
      <p:sp>
        <p:nvSpPr>
          <p:cNvPr id="6" name="time-0">
            <a:extLst>
              <a:ext uri="{FF2B5EF4-FFF2-40B4-BE49-F238E27FC236}">
                <a16:creationId xmlns:a16="http://schemas.microsoft.com/office/drawing/2014/main" id="{91B18E30-5AC3-4814-9F93-8EED8787740B}"/>
              </a:ext>
            </a:extLst>
          </p:cNvPr>
          <p:cNvSpPr>
            <a:spLocks noGrp="1"/>
          </p:cNvSpPr>
          <p:nvPr/>
        </p:nvSpPr>
        <p:spPr>
          <a:xfrm>
            <a:off x="685800" y="3143250"/>
            <a:ext cx="4476750" cy="857250"/>
          </a:xfrm>
          <a:prstGeom prst="roundRect">
            <a:avLst>
              <a:gd name="adj" fmla="val 8889"/>
            </a:avLst>
          </a:prstGeom>
          <a:solidFill>
            <a:srgbClr val="3D8DFF"/>
          </a:solidFill>
          <a:ln w="9525">
            <a:solidFill>
              <a:srgbClr val="3D8DFF"/>
            </a:solidFill>
            <a:prstDash val="solid"/>
          </a:ln>
        </p:spPr>
      </p:sp>
      <p:sp>
        <p:nvSpPr>
          <p:cNvPr id="7" name="time-label-0">
            <a:extLst>
              <a:ext uri="{FF2B5EF4-FFF2-40B4-BE49-F238E27FC236}">
                <a16:creationId xmlns:a16="http://schemas.microsoft.com/office/drawing/2014/main" id="{8EB0EB9E-A492-4133-B4FC-6ACE4835A1BF}"/>
              </a:ext>
            </a:extLst>
          </p:cNvPr>
          <p:cNvSpPr>
            <a:spLocks noGrp="1"/>
          </p:cNvSpPr>
          <p:nvPr/>
        </p:nvSpPr>
        <p:spPr>
          <a:xfrm>
            <a:off x="876300" y="3314700"/>
            <a:ext cx="4095750" cy="247650"/>
          </a:xfrm>
          <a:prstGeom prst="rect">
            <a:avLst/>
          </a:prstGeom>
          <a:noFill/>
          <a:ln w="0">
            <a:noFill/>
            <a:prstDash val="solid"/>
          </a:ln>
        </p:spPr>
        <p:txBody>
          <a:bodyPr/>
          <a:lstStyle/>
          <a:p>
            <a:pPr algn="l">
              <a:defRPr sz="1500" b="1">
                <a:solidFill>
                  <a:srgbClr val="FFFFFF"/>
                </a:solidFill>
              </a:defRPr>
            </a:pPr>
            <a:r>
              <a:rPr sz="1500" b="1">
                <a:solidFill>
                  <a:srgbClr val="FFFFFF"/>
                </a:solidFill>
              </a:rPr>
              <a:t>Training</a:t>
            </a:r>
          </a:p>
        </p:txBody>
      </p:sp>
      <p:sp>
        <p:nvSpPr>
          <p:cNvPr id="8" name="time-years-0">
            <a:extLst>
              <a:ext uri="{FF2B5EF4-FFF2-40B4-BE49-F238E27FC236}">
                <a16:creationId xmlns:a16="http://schemas.microsoft.com/office/drawing/2014/main" id="{D4BB6527-1EC8-44D5-A8D6-F74372FD55A7}"/>
              </a:ext>
            </a:extLst>
          </p:cNvPr>
          <p:cNvSpPr>
            <a:spLocks noGrp="1"/>
          </p:cNvSpPr>
          <p:nvPr/>
        </p:nvSpPr>
        <p:spPr>
          <a:xfrm>
            <a:off x="876300" y="3638550"/>
            <a:ext cx="4095750" cy="228600"/>
          </a:xfrm>
          <a:prstGeom prst="rect">
            <a:avLst/>
          </a:prstGeom>
          <a:noFill/>
          <a:ln w="0">
            <a:noFill/>
            <a:prstDash val="solid"/>
          </a:ln>
        </p:spPr>
        <p:txBody>
          <a:bodyPr/>
          <a:lstStyle/>
          <a:p>
            <a:pPr algn="l">
              <a:defRPr sz="1350" b="0">
                <a:solidFill>
                  <a:srgbClr val="FFFFFF"/>
                </a:solidFill>
              </a:defRPr>
            </a:pPr>
            <a:r>
              <a:rPr sz="1350" b="0">
                <a:solidFill>
                  <a:srgbClr val="FFFFFF"/>
                </a:solidFill>
              </a:rPr>
              <a:t>2015–2019</a:t>
            </a:r>
          </a:p>
        </p:txBody>
      </p:sp>
      <p:sp>
        <p:nvSpPr>
          <p:cNvPr id="9" name="time-1">
            <a:extLst>
              <a:ext uri="{FF2B5EF4-FFF2-40B4-BE49-F238E27FC236}">
                <a16:creationId xmlns:a16="http://schemas.microsoft.com/office/drawing/2014/main" id="{75DF833B-E890-4FBB-8521-9E829CA261D9}"/>
              </a:ext>
            </a:extLst>
          </p:cNvPr>
          <p:cNvSpPr>
            <a:spLocks noGrp="1"/>
          </p:cNvSpPr>
          <p:nvPr/>
        </p:nvSpPr>
        <p:spPr>
          <a:xfrm>
            <a:off x="5295900" y="3143250"/>
            <a:ext cx="2190750" cy="857250"/>
          </a:xfrm>
          <a:prstGeom prst="roundRect">
            <a:avLst>
              <a:gd name="adj" fmla="val 8889"/>
            </a:avLst>
          </a:prstGeom>
          <a:solidFill>
            <a:srgbClr val="6DCBF4"/>
          </a:solidFill>
          <a:ln w="9525">
            <a:solidFill>
              <a:srgbClr val="6DCBF4"/>
            </a:solidFill>
            <a:prstDash val="solid"/>
          </a:ln>
        </p:spPr>
      </p:sp>
      <p:sp>
        <p:nvSpPr>
          <p:cNvPr id="10" name="time-label-1">
            <a:extLst>
              <a:ext uri="{FF2B5EF4-FFF2-40B4-BE49-F238E27FC236}">
                <a16:creationId xmlns:a16="http://schemas.microsoft.com/office/drawing/2014/main" id="{C9F37DE3-40C5-4C78-8FA3-E5CEAD5CE181}"/>
              </a:ext>
            </a:extLst>
          </p:cNvPr>
          <p:cNvSpPr>
            <a:spLocks noGrp="1"/>
          </p:cNvSpPr>
          <p:nvPr/>
        </p:nvSpPr>
        <p:spPr>
          <a:xfrm>
            <a:off x="5486400" y="3314700"/>
            <a:ext cx="1809750" cy="247650"/>
          </a:xfrm>
          <a:prstGeom prst="rect">
            <a:avLst/>
          </a:prstGeom>
          <a:noFill/>
          <a:ln w="0">
            <a:noFill/>
            <a:prstDash val="solid"/>
          </a:ln>
        </p:spPr>
        <p:txBody>
          <a:bodyPr/>
          <a:lstStyle/>
          <a:p>
            <a:pPr algn="l">
              <a:defRPr sz="1500" b="1">
                <a:solidFill>
                  <a:srgbClr val="FFFFFF"/>
                </a:solidFill>
              </a:defRPr>
            </a:pPr>
            <a:r>
              <a:rPr sz="1500" b="1">
                <a:solidFill>
                  <a:srgbClr val="FFFFFF"/>
                </a:solidFill>
              </a:rPr>
              <a:t>Validation</a:t>
            </a:r>
          </a:p>
        </p:txBody>
      </p:sp>
      <p:sp>
        <p:nvSpPr>
          <p:cNvPr id="11" name="time-years-1">
            <a:extLst>
              <a:ext uri="{FF2B5EF4-FFF2-40B4-BE49-F238E27FC236}">
                <a16:creationId xmlns:a16="http://schemas.microsoft.com/office/drawing/2014/main" id="{97259FF7-ED5A-4B5E-8C7E-CA31A1D48058}"/>
              </a:ext>
            </a:extLst>
          </p:cNvPr>
          <p:cNvSpPr>
            <a:spLocks noGrp="1"/>
          </p:cNvSpPr>
          <p:nvPr/>
        </p:nvSpPr>
        <p:spPr>
          <a:xfrm>
            <a:off x="5486400" y="3638550"/>
            <a:ext cx="1809750" cy="228600"/>
          </a:xfrm>
          <a:prstGeom prst="rect">
            <a:avLst/>
          </a:prstGeom>
          <a:noFill/>
          <a:ln w="0">
            <a:noFill/>
            <a:prstDash val="solid"/>
          </a:ln>
        </p:spPr>
        <p:txBody>
          <a:bodyPr/>
          <a:lstStyle/>
          <a:p>
            <a:pPr algn="l">
              <a:defRPr sz="1350" b="0">
                <a:solidFill>
                  <a:srgbClr val="FFFFFF"/>
                </a:solidFill>
              </a:defRPr>
            </a:pPr>
            <a:r>
              <a:rPr sz="1350" b="0">
                <a:solidFill>
                  <a:srgbClr val="FFFFFF"/>
                </a:solidFill>
              </a:rPr>
              <a:t>2020–2021</a:t>
            </a:r>
          </a:p>
        </p:txBody>
      </p:sp>
      <p:sp>
        <p:nvSpPr>
          <p:cNvPr id="12" name="time-2">
            <a:extLst>
              <a:ext uri="{FF2B5EF4-FFF2-40B4-BE49-F238E27FC236}">
                <a16:creationId xmlns:a16="http://schemas.microsoft.com/office/drawing/2014/main" id="{B202A94E-CD22-43C2-B021-9541AC28A841}"/>
              </a:ext>
            </a:extLst>
          </p:cNvPr>
          <p:cNvSpPr>
            <a:spLocks noGrp="1"/>
          </p:cNvSpPr>
          <p:nvPr/>
        </p:nvSpPr>
        <p:spPr>
          <a:xfrm>
            <a:off x="7620000" y="3143250"/>
            <a:ext cx="3905250" cy="857250"/>
          </a:xfrm>
          <a:prstGeom prst="roundRect">
            <a:avLst>
              <a:gd name="adj" fmla="val 8889"/>
            </a:avLst>
          </a:prstGeom>
          <a:solidFill>
            <a:srgbClr val="9AC9A6"/>
          </a:solidFill>
          <a:ln w="9525">
            <a:solidFill>
              <a:srgbClr val="9AC9A6"/>
            </a:solidFill>
            <a:prstDash val="solid"/>
          </a:ln>
        </p:spPr>
      </p:sp>
      <p:sp>
        <p:nvSpPr>
          <p:cNvPr id="13" name="time-label-2">
            <a:extLst>
              <a:ext uri="{FF2B5EF4-FFF2-40B4-BE49-F238E27FC236}">
                <a16:creationId xmlns:a16="http://schemas.microsoft.com/office/drawing/2014/main" id="{C0CD5935-993C-4518-9778-B3F9C0524388}"/>
              </a:ext>
            </a:extLst>
          </p:cNvPr>
          <p:cNvSpPr>
            <a:spLocks noGrp="1"/>
          </p:cNvSpPr>
          <p:nvPr/>
        </p:nvSpPr>
        <p:spPr>
          <a:xfrm>
            <a:off x="7810500" y="3314700"/>
            <a:ext cx="3524250" cy="247650"/>
          </a:xfrm>
          <a:prstGeom prst="rect">
            <a:avLst/>
          </a:prstGeom>
          <a:noFill/>
          <a:ln w="0">
            <a:noFill/>
            <a:prstDash val="solid"/>
          </a:ln>
        </p:spPr>
        <p:txBody>
          <a:bodyPr/>
          <a:lstStyle/>
          <a:p>
            <a:pPr algn="l">
              <a:defRPr sz="1500" b="1">
                <a:solidFill>
                  <a:srgbClr val="FFFFFF"/>
                </a:solidFill>
              </a:defRPr>
            </a:pPr>
            <a:r>
              <a:rPr sz="1500" b="1">
                <a:solidFill>
                  <a:srgbClr val="FFFFFF"/>
                </a:solidFill>
              </a:rPr>
              <a:t>Final temporal test</a:t>
            </a:r>
          </a:p>
        </p:txBody>
      </p:sp>
      <p:sp>
        <p:nvSpPr>
          <p:cNvPr id="14" name="time-years-2">
            <a:extLst>
              <a:ext uri="{FF2B5EF4-FFF2-40B4-BE49-F238E27FC236}">
                <a16:creationId xmlns:a16="http://schemas.microsoft.com/office/drawing/2014/main" id="{537586FF-C5E1-47B5-A183-C9E1EBC8257F}"/>
              </a:ext>
            </a:extLst>
          </p:cNvPr>
          <p:cNvSpPr>
            <a:spLocks noGrp="1"/>
          </p:cNvSpPr>
          <p:nvPr/>
        </p:nvSpPr>
        <p:spPr>
          <a:xfrm>
            <a:off x="7810500" y="3638550"/>
            <a:ext cx="3524250" cy="228600"/>
          </a:xfrm>
          <a:prstGeom prst="rect">
            <a:avLst/>
          </a:prstGeom>
          <a:noFill/>
          <a:ln w="0">
            <a:noFill/>
            <a:prstDash val="solid"/>
          </a:ln>
        </p:spPr>
        <p:txBody>
          <a:bodyPr/>
          <a:lstStyle/>
          <a:p>
            <a:pPr algn="l">
              <a:defRPr sz="1350" b="0">
                <a:solidFill>
                  <a:srgbClr val="FFFFFF"/>
                </a:solidFill>
              </a:defRPr>
            </a:pPr>
            <a:r>
              <a:rPr sz="1350" b="0">
                <a:solidFill>
                  <a:srgbClr val="FFFFFF"/>
                </a:solidFill>
              </a:rPr>
              <a:t>2022–2024</a:t>
            </a:r>
          </a:p>
        </p:txBody>
      </p:sp>
      <p:sp>
        <p:nvSpPr>
          <p:cNvPr id="15" name="method-b1-dot">
            <a:extLst>
              <a:ext uri="{FF2B5EF4-FFF2-40B4-BE49-F238E27FC236}">
                <a16:creationId xmlns:a16="http://schemas.microsoft.com/office/drawing/2014/main" id="{7715A641-F845-4442-AD8F-803C9F0312E5}"/>
              </a:ext>
            </a:extLst>
          </p:cNvPr>
          <p:cNvSpPr>
            <a:spLocks noGrp="1"/>
          </p:cNvSpPr>
          <p:nvPr/>
        </p:nvSpPr>
        <p:spPr>
          <a:xfrm>
            <a:off x="685800" y="46672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6" name="method-b1-text">
            <a:extLst>
              <a:ext uri="{FF2B5EF4-FFF2-40B4-BE49-F238E27FC236}">
                <a16:creationId xmlns:a16="http://schemas.microsoft.com/office/drawing/2014/main" id="{AA2D67E6-8B41-4CE9-8745-9EFE9EBED8E8}"/>
              </a:ext>
            </a:extLst>
          </p:cNvPr>
          <p:cNvSpPr>
            <a:spLocks noGrp="1"/>
          </p:cNvSpPr>
          <p:nvPr/>
        </p:nvSpPr>
        <p:spPr>
          <a:xfrm>
            <a:off x="914400" y="467677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Time-based splits check whether the method generalises to later wildfire years.</a:t>
            </a:r>
          </a:p>
        </p:txBody>
      </p:sp>
      <p:sp>
        <p:nvSpPr>
          <p:cNvPr id="17" name="method-b2-dot">
            <a:extLst>
              <a:ext uri="{FF2B5EF4-FFF2-40B4-BE49-F238E27FC236}">
                <a16:creationId xmlns:a16="http://schemas.microsoft.com/office/drawing/2014/main" id="{1BE4753F-EFCD-4599-BF5C-4651A86674FC}"/>
              </a:ext>
            </a:extLst>
          </p:cNvPr>
          <p:cNvSpPr>
            <a:spLocks noGrp="1"/>
          </p:cNvSpPr>
          <p:nvPr/>
        </p:nvSpPr>
        <p:spPr>
          <a:xfrm>
            <a:off x="6191250" y="46672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method-b2-text">
            <a:extLst>
              <a:ext uri="{FF2B5EF4-FFF2-40B4-BE49-F238E27FC236}">
                <a16:creationId xmlns:a16="http://schemas.microsoft.com/office/drawing/2014/main" id="{4236177B-10DC-441C-A950-EBD2186E473F}"/>
              </a:ext>
            </a:extLst>
          </p:cNvPr>
          <p:cNvSpPr>
            <a:spLocks noGrp="1"/>
          </p:cNvSpPr>
          <p:nvPr/>
        </p:nvSpPr>
        <p:spPr>
          <a:xfrm>
            <a:off x="6419850" y="467677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No final winning algorithm or performance result is claimed before training.</a:t>
            </a:r>
          </a:p>
        </p:txBody>
      </p:sp>
      <p:sp>
        <p:nvSpPr>
          <p:cNvPr id="19" name="footer-4">
            <a:extLst>
              <a:ext uri="{FF2B5EF4-FFF2-40B4-BE49-F238E27FC236}">
                <a16:creationId xmlns:a16="http://schemas.microsoft.com/office/drawing/2014/main" id="{91B2B8FD-504B-4D8F-872E-43AE46DC9030}"/>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966495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kicker-5">
            <a:extLst>
              <a:ext uri="{FF2B5EF4-FFF2-40B4-BE49-F238E27FC236}">
                <a16:creationId xmlns:a16="http://schemas.microsoft.com/office/drawing/2014/main" id="{535200F1-4390-4A7E-8EEE-D38BFCCD7AB7}"/>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VALUE AND LIMITS</a:t>
            </a:r>
          </a:p>
        </p:txBody>
      </p:sp>
      <p:sp>
        <p:nvSpPr>
          <p:cNvPr id="2" name="title-5">
            <a:extLst>
              <a:ext uri="{FF2B5EF4-FFF2-40B4-BE49-F238E27FC236}">
                <a16:creationId xmlns:a16="http://schemas.microsoft.com/office/drawing/2014/main" id="{B350DD89-FD60-4ED3-A6EB-0AD7E000A229}"/>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A transparent shortlist tool — not a fire guarantee</a:t>
            </a:r>
          </a:p>
        </p:txBody>
      </p:sp>
      <p:sp>
        <p:nvSpPr>
          <p:cNvPr id="3" name="rule-5">
            <a:extLst>
              <a:ext uri="{FF2B5EF4-FFF2-40B4-BE49-F238E27FC236}">
                <a16:creationId xmlns:a16="http://schemas.microsoft.com/office/drawing/2014/main" id="{FCA3B12E-782E-492A-AF92-A6CBDC21BEEA}"/>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5">
            <a:extLst>
              <a:ext uri="{FF2B5EF4-FFF2-40B4-BE49-F238E27FC236}">
                <a16:creationId xmlns:a16="http://schemas.microsoft.com/office/drawing/2014/main" id="{3B03F78F-45FC-4BBB-B828-A34A2BDF048E}"/>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05</a:t>
            </a:r>
          </a:p>
        </p:txBody>
      </p:sp>
      <p:sp>
        <p:nvSpPr>
          <p:cNvPr id="5" name="value-panel">
            <a:extLst>
              <a:ext uri="{FF2B5EF4-FFF2-40B4-BE49-F238E27FC236}">
                <a16:creationId xmlns:a16="http://schemas.microsoft.com/office/drawing/2014/main" id="{76A46DBF-45FE-4873-A42D-F5ED33D5775C}"/>
              </a:ext>
            </a:extLst>
          </p:cNvPr>
          <p:cNvSpPr>
            <a:spLocks noGrp="1"/>
          </p:cNvSpPr>
          <p:nvPr/>
        </p:nvSpPr>
        <p:spPr>
          <a:xfrm>
            <a:off x="685800" y="2038350"/>
            <a:ext cx="4743450" cy="3000375"/>
          </a:xfrm>
          <a:prstGeom prst="roundRect">
            <a:avLst>
              <a:gd name="adj" fmla="val 2540"/>
            </a:avLst>
          </a:prstGeom>
          <a:solidFill>
            <a:srgbClr val="EAF6FD"/>
          </a:solidFill>
          <a:ln w="9525">
            <a:solidFill>
              <a:srgbClr val="EAF6FD"/>
            </a:solidFill>
            <a:prstDash val="solid"/>
          </a:ln>
        </p:spPr>
      </p:sp>
      <p:sp>
        <p:nvSpPr>
          <p:cNvPr id="6" name="value-title">
            <a:extLst>
              <a:ext uri="{FF2B5EF4-FFF2-40B4-BE49-F238E27FC236}">
                <a16:creationId xmlns:a16="http://schemas.microsoft.com/office/drawing/2014/main" id="{6D22FC8A-9831-43A8-82A2-0317C58FC559}"/>
              </a:ext>
            </a:extLst>
          </p:cNvPr>
          <p:cNvSpPr>
            <a:spLocks noGrp="1"/>
          </p:cNvSpPr>
          <p:nvPr/>
        </p:nvSpPr>
        <p:spPr>
          <a:xfrm>
            <a:off x="971550" y="2343150"/>
            <a:ext cx="3333750" cy="304800"/>
          </a:xfrm>
          <a:prstGeom prst="rect">
            <a:avLst/>
          </a:prstGeom>
          <a:noFill/>
          <a:ln w="0">
            <a:noFill/>
            <a:prstDash val="solid"/>
          </a:ln>
        </p:spPr>
        <p:txBody>
          <a:bodyPr/>
          <a:lstStyle/>
          <a:p>
            <a:pPr algn="l">
              <a:defRPr sz="1950" b="1">
                <a:solidFill>
                  <a:srgbClr val="102A33"/>
                </a:solidFill>
              </a:defRPr>
            </a:pPr>
            <a:r>
              <a:rPr sz="1950" b="1">
                <a:solidFill>
                  <a:srgbClr val="102A33"/>
                </a:solidFill>
              </a:rPr>
              <a:t>Expected value</a:t>
            </a:r>
          </a:p>
        </p:txBody>
      </p:sp>
      <p:sp>
        <p:nvSpPr>
          <p:cNvPr id="7" name="value-b1-dot">
            <a:extLst>
              <a:ext uri="{FF2B5EF4-FFF2-40B4-BE49-F238E27FC236}">
                <a16:creationId xmlns:a16="http://schemas.microsoft.com/office/drawing/2014/main" id="{E331DA72-5982-4659-A38E-7D26847D2A57}"/>
              </a:ext>
            </a:extLst>
          </p:cNvPr>
          <p:cNvSpPr>
            <a:spLocks noGrp="1"/>
          </p:cNvSpPr>
          <p:nvPr/>
        </p:nvSpPr>
        <p:spPr>
          <a:xfrm>
            <a:off x="971550" y="28956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8" name="value-b1-text">
            <a:extLst>
              <a:ext uri="{FF2B5EF4-FFF2-40B4-BE49-F238E27FC236}">
                <a16:creationId xmlns:a16="http://schemas.microsoft.com/office/drawing/2014/main" id="{B80BE095-5E4E-4475-9223-72209371A707}"/>
              </a:ext>
            </a:extLst>
          </p:cNvPr>
          <p:cNvSpPr>
            <a:spLocks noGrp="1"/>
          </p:cNvSpPr>
          <p:nvPr/>
        </p:nvSpPr>
        <p:spPr>
          <a:xfrm>
            <a:off x="1200150" y="2905125"/>
            <a:ext cx="367665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Compare mainland locations using the same documented rules.</a:t>
            </a:r>
          </a:p>
        </p:txBody>
      </p:sp>
      <p:sp>
        <p:nvSpPr>
          <p:cNvPr id="9" name="value-b2-dot">
            <a:extLst>
              <a:ext uri="{FF2B5EF4-FFF2-40B4-BE49-F238E27FC236}">
                <a16:creationId xmlns:a16="http://schemas.microsoft.com/office/drawing/2014/main" id="{EB64A784-E121-4A75-92C6-7DC4A177916B}"/>
              </a:ext>
            </a:extLst>
          </p:cNvPr>
          <p:cNvSpPr>
            <a:spLocks noGrp="1"/>
          </p:cNvSpPr>
          <p:nvPr/>
        </p:nvSpPr>
        <p:spPr>
          <a:xfrm>
            <a:off x="971550" y="356235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0" name="value-b2-text">
            <a:extLst>
              <a:ext uri="{FF2B5EF4-FFF2-40B4-BE49-F238E27FC236}">
                <a16:creationId xmlns:a16="http://schemas.microsoft.com/office/drawing/2014/main" id="{38E4F9D8-7B34-4757-8199-0584A9CF39D4}"/>
              </a:ext>
            </a:extLst>
          </p:cNvPr>
          <p:cNvSpPr>
            <a:spLocks noGrp="1"/>
          </p:cNvSpPr>
          <p:nvPr/>
        </p:nvSpPr>
        <p:spPr>
          <a:xfrm>
            <a:off x="1200150" y="3571875"/>
            <a:ext cx="367665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Show the data sources and limitations behind each screening result.</a:t>
            </a:r>
          </a:p>
        </p:txBody>
      </p:sp>
      <p:sp>
        <p:nvSpPr>
          <p:cNvPr id="11" name="limits-panel">
            <a:extLst>
              <a:ext uri="{FF2B5EF4-FFF2-40B4-BE49-F238E27FC236}">
                <a16:creationId xmlns:a16="http://schemas.microsoft.com/office/drawing/2014/main" id="{889CCB3A-202B-4836-8512-FD7D921E7658}"/>
              </a:ext>
            </a:extLst>
          </p:cNvPr>
          <p:cNvSpPr>
            <a:spLocks noGrp="1"/>
          </p:cNvSpPr>
          <p:nvPr/>
        </p:nvSpPr>
        <p:spPr>
          <a:xfrm>
            <a:off x="5905500" y="2038350"/>
            <a:ext cx="5600700" cy="3000375"/>
          </a:xfrm>
          <a:prstGeom prst="roundRect">
            <a:avLst>
              <a:gd name="adj" fmla="val 2540"/>
            </a:avLst>
          </a:prstGeom>
          <a:solidFill>
            <a:srgbClr val="FFF5E6"/>
          </a:solidFill>
          <a:ln w="9525">
            <a:solidFill>
              <a:srgbClr val="F2C879"/>
            </a:solidFill>
            <a:prstDash val="solid"/>
          </a:ln>
        </p:spPr>
      </p:sp>
      <p:sp>
        <p:nvSpPr>
          <p:cNvPr id="12" name="limits-title">
            <a:extLst>
              <a:ext uri="{FF2B5EF4-FFF2-40B4-BE49-F238E27FC236}">
                <a16:creationId xmlns:a16="http://schemas.microsoft.com/office/drawing/2014/main" id="{EB2DC3CC-D9CD-449F-951F-67C46D3FA5D2}"/>
              </a:ext>
            </a:extLst>
          </p:cNvPr>
          <p:cNvSpPr>
            <a:spLocks noGrp="1"/>
          </p:cNvSpPr>
          <p:nvPr/>
        </p:nvSpPr>
        <p:spPr>
          <a:xfrm>
            <a:off x="6210300" y="2343150"/>
            <a:ext cx="4572000" cy="304800"/>
          </a:xfrm>
          <a:prstGeom prst="rect">
            <a:avLst/>
          </a:prstGeom>
          <a:noFill/>
          <a:ln w="0">
            <a:noFill/>
            <a:prstDash val="solid"/>
          </a:ln>
        </p:spPr>
        <p:txBody>
          <a:bodyPr/>
          <a:lstStyle/>
          <a:p>
            <a:pPr algn="l">
              <a:defRPr sz="1950" b="1">
                <a:solidFill>
                  <a:srgbClr val="102A33"/>
                </a:solidFill>
              </a:defRPr>
            </a:pPr>
            <a:r>
              <a:rPr sz="1950" b="1">
                <a:solidFill>
                  <a:srgbClr val="102A33"/>
                </a:solidFill>
              </a:rPr>
              <a:t>Important limits and next steps</a:t>
            </a:r>
          </a:p>
        </p:txBody>
      </p:sp>
      <p:sp>
        <p:nvSpPr>
          <p:cNvPr id="13" name="limits-b1-dot">
            <a:extLst>
              <a:ext uri="{FF2B5EF4-FFF2-40B4-BE49-F238E27FC236}">
                <a16:creationId xmlns:a16="http://schemas.microsoft.com/office/drawing/2014/main" id="{A10AEE7E-9F67-4DA3-B2F9-46B488A47DF0}"/>
              </a:ext>
            </a:extLst>
          </p:cNvPr>
          <p:cNvSpPr>
            <a:spLocks noGrp="1"/>
          </p:cNvSpPr>
          <p:nvPr/>
        </p:nvSpPr>
        <p:spPr>
          <a:xfrm>
            <a:off x="6210300" y="28956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4" name="limits-b1-text">
            <a:extLst>
              <a:ext uri="{FF2B5EF4-FFF2-40B4-BE49-F238E27FC236}">
                <a16:creationId xmlns:a16="http://schemas.microsoft.com/office/drawing/2014/main" id="{B3FFAA8D-CE7B-48B3-BBF4-7FF87B67D933}"/>
              </a:ext>
            </a:extLst>
          </p:cNvPr>
          <p:cNvSpPr>
            <a:spLocks noGrp="1"/>
          </p:cNvSpPr>
          <p:nvPr/>
        </p:nvSpPr>
        <p:spPr>
          <a:xfrm>
            <a:off x="6438900" y="290512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Retrospective evaluation, not an exact real-time operational forecast.</a:t>
            </a:r>
          </a:p>
        </p:txBody>
      </p:sp>
      <p:sp>
        <p:nvSpPr>
          <p:cNvPr id="15" name="limits-b2-dot">
            <a:extLst>
              <a:ext uri="{FF2B5EF4-FFF2-40B4-BE49-F238E27FC236}">
                <a16:creationId xmlns:a16="http://schemas.microsoft.com/office/drawing/2014/main" id="{55428C0C-E947-494D-83C4-A0898D000D4E}"/>
              </a:ext>
            </a:extLst>
          </p:cNvPr>
          <p:cNvSpPr>
            <a:spLocks noGrp="1"/>
          </p:cNvSpPr>
          <p:nvPr/>
        </p:nvSpPr>
        <p:spPr>
          <a:xfrm>
            <a:off x="6210300" y="35433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6" name="limits-b2-text">
            <a:extLst>
              <a:ext uri="{FF2B5EF4-FFF2-40B4-BE49-F238E27FC236}">
                <a16:creationId xmlns:a16="http://schemas.microsoft.com/office/drawing/2014/main" id="{561CE146-ABEE-4BC8-BFEC-8337313B8C9C}"/>
              </a:ext>
            </a:extLst>
          </p:cNvPr>
          <p:cNvSpPr>
            <a:spLocks noGrp="1"/>
          </p:cNvSpPr>
          <p:nvPr/>
        </p:nvSpPr>
        <p:spPr>
          <a:xfrm>
            <a:off x="6438900" y="355282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ERA5-Land is coarse regional context, not 1 km weather.</a:t>
            </a:r>
          </a:p>
        </p:txBody>
      </p:sp>
      <p:sp>
        <p:nvSpPr>
          <p:cNvPr id="17" name="limits-b3-dot">
            <a:extLst>
              <a:ext uri="{FF2B5EF4-FFF2-40B4-BE49-F238E27FC236}">
                <a16:creationId xmlns:a16="http://schemas.microsoft.com/office/drawing/2014/main" id="{CD9B9D2E-33A4-4ACF-8DDC-DC280A88FCD1}"/>
              </a:ext>
            </a:extLst>
          </p:cNvPr>
          <p:cNvSpPr>
            <a:spLocks noGrp="1"/>
          </p:cNvSpPr>
          <p:nvPr/>
        </p:nvSpPr>
        <p:spPr>
          <a:xfrm>
            <a:off x="6210300" y="4191000"/>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limits-b3-text">
            <a:extLst>
              <a:ext uri="{FF2B5EF4-FFF2-40B4-BE49-F238E27FC236}">
                <a16:creationId xmlns:a16="http://schemas.microsoft.com/office/drawing/2014/main" id="{15FEF2A0-BA39-4256-ACC6-61A962DB31A7}"/>
              </a:ext>
            </a:extLst>
          </p:cNvPr>
          <p:cNvSpPr>
            <a:spLocks noGrp="1"/>
          </p:cNvSpPr>
          <p:nvPr/>
        </p:nvSpPr>
        <p:spPr>
          <a:xfrm>
            <a:off x="6438900" y="4200525"/>
            <a:ext cx="45339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Categories are set after validation; next comes collection, preparation and testing.</a:t>
            </a:r>
          </a:p>
        </p:txBody>
      </p:sp>
      <p:sp>
        <p:nvSpPr>
          <p:cNvPr id="19" name="close">
            <a:extLst>
              <a:ext uri="{FF2B5EF4-FFF2-40B4-BE49-F238E27FC236}">
                <a16:creationId xmlns:a16="http://schemas.microsoft.com/office/drawing/2014/main" id="{7437FDF0-8EEB-4B58-BB2F-3279ADA8AE9A}"/>
              </a:ext>
            </a:extLst>
          </p:cNvPr>
          <p:cNvSpPr>
            <a:spLocks noGrp="1"/>
          </p:cNvSpPr>
          <p:nvPr/>
        </p:nvSpPr>
        <p:spPr>
          <a:xfrm>
            <a:off x="685800" y="5600700"/>
            <a:ext cx="8763000" cy="333375"/>
          </a:xfrm>
          <a:prstGeom prst="rect">
            <a:avLst/>
          </a:prstGeom>
          <a:noFill/>
          <a:ln w="0">
            <a:noFill/>
            <a:prstDash val="solid"/>
          </a:ln>
        </p:spPr>
        <p:txBody>
          <a:bodyPr/>
          <a:lstStyle/>
          <a:p>
            <a:pPr algn="l">
              <a:defRPr sz="2025" b="1">
                <a:solidFill>
                  <a:srgbClr val="102A33"/>
                </a:solidFill>
              </a:defRPr>
            </a:pPr>
            <a:r>
              <a:rPr sz="2025" b="1">
                <a:solidFill>
                  <a:srgbClr val="102A33"/>
                </a:solidFill>
              </a:rPr>
              <a:t>A useful first question: “Which areas deserve closer investigation?”</a:t>
            </a:r>
          </a:p>
        </p:txBody>
      </p:sp>
      <p:sp>
        <p:nvSpPr>
          <p:cNvPr id="20" name="footer-5">
            <a:extLst>
              <a:ext uri="{FF2B5EF4-FFF2-40B4-BE49-F238E27FC236}">
                <a16:creationId xmlns:a16="http://schemas.microsoft.com/office/drawing/2014/main" id="{FD3D9AFD-5C09-4FBC-B701-2ECFCA6DF010}"/>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117640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kicker-6">
            <a:extLst>
              <a:ext uri="{FF2B5EF4-FFF2-40B4-BE49-F238E27FC236}">
                <a16:creationId xmlns:a16="http://schemas.microsoft.com/office/drawing/2014/main" id="{7B6695F1-B263-40F7-A045-3989F79FE05F}"/>
              </a:ext>
            </a:extLst>
          </p:cNvPr>
          <p:cNvSpPr>
            <a:spLocks noGrp="1"/>
          </p:cNvSpPr>
          <p:nvPr/>
        </p:nvSpPr>
        <p:spPr>
          <a:xfrm>
            <a:off x="685800" y="457200"/>
            <a:ext cx="7620000" cy="228600"/>
          </a:xfrm>
          <a:prstGeom prst="rect">
            <a:avLst/>
          </a:prstGeom>
          <a:noFill/>
          <a:ln w="0">
            <a:noFill/>
            <a:prstDash val="solid"/>
          </a:ln>
        </p:spPr>
        <p:txBody>
          <a:bodyPr/>
          <a:lstStyle/>
          <a:p>
            <a:pPr algn="l">
              <a:defRPr sz="1125" b="1">
                <a:solidFill>
                  <a:srgbClr val="3D8DFF"/>
                </a:solidFill>
              </a:defRPr>
            </a:pPr>
            <a:r>
              <a:rPr sz="1125" b="1">
                <a:solidFill>
                  <a:srgbClr val="3D8DFF"/>
                </a:solidFill>
              </a:rPr>
              <a:t>REAL-WORLD EXAMPLE</a:t>
            </a:r>
          </a:p>
        </p:txBody>
      </p:sp>
      <p:sp>
        <p:nvSpPr>
          <p:cNvPr id="2" name="title-6">
            <a:extLst>
              <a:ext uri="{FF2B5EF4-FFF2-40B4-BE49-F238E27FC236}">
                <a16:creationId xmlns:a16="http://schemas.microsoft.com/office/drawing/2014/main" id="{1B5735F2-55F1-4F47-9CF1-D22C217178BA}"/>
              </a:ext>
            </a:extLst>
          </p:cNvPr>
          <p:cNvSpPr>
            <a:spLocks noGrp="1"/>
          </p:cNvSpPr>
          <p:nvPr/>
        </p:nvSpPr>
        <p:spPr>
          <a:xfrm>
            <a:off x="685800" y="781050"/>
            <a:ext cx="10001250" cy="552450"/>
          </a:xfrm>
          <a:prstGeom prst="rect">
            <a:avLst/>
          </a:prstGeom>
          <a:noFill/>
          <a:ln w="0">
            <a:noFill/>
            <a:prstDash val="solid"/>
          </a:ln>
        </p:spPr>
        <p:txBody>
          <a:bodyPr/>
          <a:lstStyle/>
          <a:p>
            <a:pPr algn="l">
              <a:defRPr sz="2775" b="1">
                <a:solidFill>
                  <a:srgbClr val="102A33"/>
                </a:solidFill>
              </a:defRPr>
            </a:pPr>
            <a:r>
              <a:rPr sz="2775" b="1">
                <a:solidFill>
                  <a:srgbClr val="102A33"/>
                </a:solidFill>
              </a:rPr>
              <a:t>How a buyer could use the screening model</a:t>
            </a:r>
          </a:p>
        </p:txBody>
      </p:sp>
      <p:sp>
        <p:nvSpPr>
          <p:cNvPr id="3" name="rule-6">
            <a:extLst>
              <a:ext uri="{FF2B5EF4-FFF2-40B4-BE49-F238E27FC236}">
                <a16:creationId xmlns:a16="http://schemas.microsoft.com/office/drawing/2014/main" id="{1033A23E-3D6F-449C-A0AA-3651821E02DE}"/>
              </a:ext>
            </a:extLst>
          </p:cNvPr>
          <p:cNvSpPr>
            <a:spLocks noGrp="1"/>
          </p:cNvSpPr>
          <p:nvPr/>
        </p:nvSpPr>
        <p:spPr>
          <a:xfrm>
            <a:off x="685800" y="1466850"/>
            <a:ext cx="10820400" cy="19050"/>
          </a:xfrm>
          <a:prstGeom prst="rect">
            <a:avLst/>
          </a:prstGeom>
          <a:solidFill>
            <a:srgbClr val="C8D2D6"/>
          </a:solidFill>
          <a:ln w="0">
            <a:noFill/>
            <a:prstDash val="solid"/>
          </a:ln>
        </p:spPr>
      </p:sp>
      <p:sp>
        <p:nvSpPr>
          <p:cNvPr id="4" name="page-6">
            <a:extLst>
              <a:ext uri="{FF2B5EF4-FFF2-40B4-BE49-F238E27FC236}">
                <a16:creationId xmlns:a16="http://schemas.microsoft.com/office/drawing/2014/main" id="{0284232D-9CE7-48E4-A8BF-13DBCE3DFD48}"/>
              </a:ext>
            </a:extLst>
          </p:cNvPr>
          <p:cNvSpPr>
            <a:spLocks noGrp="1"/>
          </p:cNvSpPr>
          <p:nvPr/>
        </p:nvSpPr>
        <p:spPr>
          <a:xfrm>
            <a:off x="10953750" y="457200"/>
            <a:ext cx="552450" cy="228600"/>
          </a:xfrm>
          <a:prstGeom prst="rect">
            <a:avLst/>
          </a:prstGeom>
          <a:noFill/>
          <a:ln w="0">
            <a:noFill/>
            <a:prstDash val="solid"/>
          </a:ln>
        </p:spPr>
        <p:txBody>
          <a:bodyPr/>
          <a:lstStyle/>
          <a:p>
            <a:pPr algn="r">
              <a:defRPr sz="1125" b="1">
                <a:solidFill>
                  <a:srgbClr val="48606B"/>
                </a:solidFill>
              </a:defRPr>
            </a:pPr>
            <a:r>
              <a:rPr sz="1125" b="1">
                <a:solidFill>
                  <a:srgbClr val="48606B"/>
                </a:solidFill>
              </a:rPr>
              <a:t>06</a:t>
            </a:r>
          </a:p>
        </p:txBody>
      </p:sp>
      <p:sp>
        <p:nvSpPr>
          <p:cNvPr id="5" name="example-lead">
            <a:extLst>
              <a:ext uri="{FF2B5EF4-FFF2-40B4-BE49-F238E27FC236}">
                <a16:creationId xmlns:a16="http://schemas.microsoft.com/office/drawing/2014/main" id="{9BF38FD2-DF8A-4ABD-8760-ED7585887D7F}"/>
              </a:ext>
            </a:extLst>
          </p:cNvPr>
          <p:cNvSpPr>
            <a:spLocks noGrp="1"/>
          </p:cNvSpPr>
          <p:nvPr/>
        </p:nvSpPr>
        <p:spPr>
          <a:xfrm>
            <a:off x="685800" y="1809750"/>
            <a:ext cx="10096500" cy="514350"/>
          </a:xfrm>
          <a:prstGeom prst="rect">
            <a:avLst/>
          </a:prstGeom>
          <a:noFill/>
          <a:ln w="0">
            <a:noFill/>
            <a:prstDash val="solid"/>
          </a:ln>
        </p:spPr>
        <p:txBody>
          <a:bodyPr/>
          <a:lstStyle/>
          <a:p>
            <a:pPr algn="l">
              <a:defRPr sz="1725" b="0">
                <a:solidFill>
                  <a:srgbClr val="102A33"/>
                </a:solidFill>
              </a:defRPr>
            </a:pPr>
            <a:r>
              <a:rPr sz="1725" b="0">
                <a:solidFill>
                  <a:srgbClr val="102A33"/>
                </a:solidFill>
              </a:rPr>
              <a:t>Example: a buyer is considering two towns in mainland Portugal and wants a consistent first comparison before property visits.</a:t>
            </a:r>
          </a:p>
        </p:txBody>
      </p:sp>
      <p:sp>
        <p:nvSpPr>
          <p:cNvPr id="6" name="example-a">
            <a:extLst>
              <a:ext uri="{FF2B5EF4-FFF2-40B4-BE49-F238E27FC236}">
                <a16:creationId xmlns:a16="http://schemas.microsoft.com/office/drawing/2014/main" id="{B2D854AD-E4D0-4212-9B2D-27C8941DDCE8}"/>
              </a:ext>
            </a:extLst>
          </p:cNvPr>
          <p:cNvSpPr>
            <a:spLocks noGrp="1"/>
          </p:cNvSpPr>
          <p:nvPr/>
        </p:nvSpPr>
        <p:spPr>
          <a:xfrm>
            <a:off x="685800" y="3143250"/>
            <a:ext cx="2000250" cy="1104900"/>
          </a:xfrm>
          <a:prstGeom prst="roundRect">
            <a:avLst>
              <a:gd name="adj" fmla="val 6897"/>
            </a:avLst>
          </a:prstGeom>
          <a:solidFill>
            <a:srgbClr val="EAF6FD"/>
          </a:solidFill>
          <a:ln w="9525">
            <a:solidFill>
              <a:srgbClr val="6DCBF4"/>
            </a:solidFill>
            <a:prstDash val="solid"/>
          </a:ln>
        </p:spPr>
      </p:sp>
      <p:sp>
        <p:nvSpPr>
          <p:cNvPr id="7" name="example-a-label">
            <a:extLst>
              <a:ext uri="{FF2B5EF4-FFF2-40B4-BE49-F238E27FC236}">
                <a16:creationId xmlns:a16="http://schemas.microsoft.com/office/drawing/2014/main" id="{61757AE8-9330-46EE-B0D3-DB840BC8008E}"/>
              </a:ext>
            </a:extLst>
          </p:cNvPr>
          <p:cNvSpPr>
            <a:spLocks noGrp="1"/>
          </p:cNvSpPr>
          <p:nvPr/>
        </p:nvSpPr>
        <p:spPr>
          <a:xfrm>
            <a:off x="800100" y="3333750"/>
            <a:ext cx="177165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1. Choose</a:t>
            </a:r>
          </a:p>
          <a:p>
            <a:pPr algn="ctr">
              <a:defRPr sz="1425" b="1">
                <a:solidFill>
                  <a:srgbClr val="102A33"/>
                </a:solidFill>
              </a:defRPr>
            </a:pPr>
            <a:r>
              <a:rPr sz="1425" b="1">
                <a:solidFill>
                  <a:srgbClr val="102A33"/>
                </a:solidFill>
              </a:rPr>
              <a:t>Area A and Area B</a:t>
            </a:r>
          </a:p>
        </p:txBody>
      </p:sp>
      <p:sp>
        <p:nvSpPr>
          <p:cNvPr id="8" name="example-grid">
            <a:extLst>
              <a:ext uri="{FF2B5EF4-FFF2-40B4-BE49-F238E27FC236}">
                <a16:creationId xmlns:a16="http://schemas.microsoft.com/office/drawing/2014/main" id="{334D0605-7B4C-47ED-91C7-49973AB70565}"/>
              </a:ext>
            </a:extLst>
          </p:cNvPr>
          <p:cNvSpPr>
            <a:spLocks noGrp="1"/>
          </p:cNvSpPr>
          <p:nvPr/>
        </p:nvSpPr>
        <p:spPr>
          <a:xfrm>
            <a:off x="3238500" y="3143250"/>
            <a:ext cx="1809750" cy="1104900"/>
          </a:xfrm>
          <a:prstGeom prst="roundRect">
            <a:avLst>
              <a:gd name="adj" fmla="val 6897"/>
            </a:avLst>
          </a:prstGeom>
          <a:solidFill>
            <a:srgbClr val="F3F6F7"/>
          </a:solidFill>
          <a:ln w="9525">
            <a:solidFill>
              <a:srgbClr val="C8D2D6"/>
            </a:solidFill>
            <a:prstDash val="solid"/>
          </a:ln>
        </p:spPr>
      </p:sp>
      <p:sp>
        <p:nvSpPr>
          <p:cNvPr id="9" name="example-grid-label">
            <a:extLst>
              <a:ext uri="{FF2B5EF4-FFF2-40B4-BE49-F238E27FC236}">
                <a16:creationId xmlns:a16="http://schemas.microsoft.com/office/drawing/2014/main" id="{335B4D10-577B-411F-80FC-25EBEC331CA4}"/>
              </a:ext>
            </a:extLst>
          </p:cNvPr>
          <p:cNvSpPr>
            <a:spLocks noGrp="1"/>
          </p:cNvSpPr>
          <p:nvPr/>
        </p:nvSpPr>
        <p:spPr>
          <a:xfrm>
            <a:off x="3352800" y="3333750"/>
            <a:ext cx="158115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2. Find each</a:t>
            </a:r>
          </a:p>
          <a:p>
            <a:pPr algn="ctr">
              <a:defRPr sz="1425" b="1">
                <a:solidFill>
                  <a:srgbClr val="102A33"/>
                </a:solidFill>
              </a:defRPr>
            </a:pPr>
            <a:r>
              <a:rPr sz="1425" b="1">
                <a:solidFill>
                  <a:srgbClr val="102A33"/>
                </a:solidFill>
              </a:rPr>
              <a:t>1 km grid cell</a:t>
            </a:r>
          </a:p>
        </p:txBody>
      </p:sp>
      <p:sp>
        <p:nvSpPr>
          <p:cNvPr id="10" name="example-score">
            <a:extLst>
              <a:ext uri="{FF2B5EF4-FFF2-40B4-BE49-F238E27FC236}">
                <a16:creationId xmlns:a16="http://schemas.microsoft.com/office/drawing/2014/main" id="{A8C6EF1C-6E79-4FEB-8538-2F14251E6D13}"/>
              </a:ext>
            </a:extLst>
          </p:cNvPr>
          <p:cNvSpPr>
            <a:spLocks noGrp="1"/>
          </p:cNvSpPr>
          <p:nvPr/>
        </p:nvSpPr>
        <p:spPr>
          <a:xfrm>
            <a:off x="5600700" y="3143250"/>
            <a:ext cx="1809750" cy="1104900"/>
          </a:xfrm>
          <a:prstGeom prst="roundRect">
            <a:avLst>
              <a:gd name="adj" fmla="val 6897"/>
            </a:avLst>
          </a:prstGeom>
          <a:solidFill>
            <a:srgbClr val="FFF5E6"/>
          </a:solidFill>
          <a:ln w="9525">
            <a:solidFill>
              <a:srgbClr val="F2C879"/>
            </a:solidFill>
            <a:prstDash val="solid"/>
          </a:ln>
        </p:spPr>
      </p:sp>
      <p:sp>
        <p:nvSpPr>
          <p:cNvPr id="11" name="example-score-label">
            <a:extLst>
              <a:ext uri="{FF2B5EF4-FFF2-40B4-BE49-F238E27FC236}">
                <a16:creationId xmlns:a16="http://schemas.microsoft.com/office/drawing/2014/main" id="{A596D491-876E-4688-98A1-F8CACD3A2D46}"/>
              </a:ext>
            </a:extLst>
          </p:cNvPr>
          <p:cNvSpPr>
            <a:spLocks noGrp="1"/>
          </p:cNvSpPr>
          <p:nvPr/>
        </p:nvSpPr>
        <p:spPr>
          <a:xfrm>
            <a:off x="5715000" y="3333750"/>
            <a:ext cx="158115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3. Join the</a:t>
            </a:r>
          </a:p>
          <a:p>
            <a:pPr algn="ctr">
              <a:defRPr sz="1425" b="1">
                <a:solidFill>
                  <a:srgbClr val="102A33"/>
                </a:solidFill>
              </a:defRPr>
            </a:pPr>
            <a:r>
              <a:rPr sz="1425" b="1">
                <a:solidFill>
                  <a:srgbClr val="102A33"/>
                </a:solidFill>
              </a:rPr>
              <a:t>documented data</a:t>
            </a:r>
          </a:p>
        </p:txBody>
      </p:sp>
      <p:sp>
        <p:nvSpPr>
          <p:cNvPr id="12" name="example-result">
            <a:extLst>
              <a:ext uri="{FF2B5EF4-FFF2-40B4-BE49-F238E27FC236}">
                <a16:creationId xmlns:a16="http://schemas.microsoft.com/office/drawing/2014/main" id="{DF2F9E78-3F27-4560-B523-6B648EB1E5EF}"/>
              </a:ext>
            </a:extLst>
          </p:cNvPr>
          <p:cNvSpPr>
            <a:spLocks noGrp="1"/>
          </p:cNvSpPr>
          <p:nvPr/>
        </p:nvSpPr>
        <p:spPr>
          <a:xfrm>
            <a:off x="7962900" y="3143250"/>
            <a:ext cx="2286000" cy="1104900"/>
          </a:xfrm>
          <a:prstGeom prst="roundRect">
            <a:avLst>
              <a:gd name="adj" fmla="val 6897"/>
            </a:avLst>
          </a:prstGeom>
          <a:solidFill>
            <a:srgbClr val="EEF8F0"/>
          </a:solidFill>
          <a:ln w="9525">
            <a:solidFill>
              <a:srgbClr val="9AC9A6"/>
            </a:solidFill>
            <a:prstDash val="solid"/>
          </a:ln>
        </p:spPr>
      </p:sp>
      <p:sp>
        <p:nvSpPr>
          <p:cNvPr id="13" name="example-result-label">
            <a:extLst>
              <a:ext uri="{FF2B5EF4-FFF2-40B4-BE49-F238E27FC236}">
                <a16:creationId xmlns:a16="http://schemas.microsoft.com/office/drawing/2014/main" id="{C54FBB31-ABF0-4046-B04E-3A6581EE0692}"/>
              </a:ext>
            </a:extLst>
          </p:cNvPr>
          <p:cNvSpPr>
            <a:spLocks noGrp="1"/>
          </p:cNvSpPr>
          <p:nvPr/>
        </p:nvSpPr>
        <p:spPr>
          <a:xfrm>
            <a:off x="8077200" y="3333750"/>
            <a:ext cx="2057400" cy="800100"/>
          </a:xfrm>
          <a:prstGeom prst="rect">
            <a:avLst/>
          </a:prstGeom>
          <a:noFill/>
          <a:ln w="0">
            <a:noFill/>
            <a:prstDash val="solid"/>
          </a:ln>
        </p:spPr>
        <p:txBody>
          <a:bodyPr/>
          <a:lstStyle/>
          <a:p>
            <a:pPr algn="ctr">
              <a:defRPr sz="1425" b="1">
                <a:solidFill>
                  <a:srgbClr val="102A33"/>
                </a:solidFill>
              </a:defRPr>
            </a:pPr>
            <a:r>
              <a:rPr sz="1425" b="1">
                <a:solidFill>
                  <a:srgbClr val="102A33"/>
                </a:solidFill>
              </a:rPr>
              <a:t>4. Compare</a:t>
            </a:r>
          </a:p>
          <a:p>
            <a:pPr algn="ctr">
              <a:defRPr sz="1425" b="1">
                <a:solidFill>
                  <a:srgbClr val="102A33"/>
                </a:solidFill>
              </a:defRPr>
            </a:pPr>
            <a:r>
              <a:rPr sz="1425" b="1">
                <a:solidFill>
                  <a:srgbClr val="102A33"/>
                </a:solidFill>
              </a:rPr>
              <a:t>category + caveats</a:t>
            </a:r>
          </a:p>
        </p:txBody>
      </p:sp>
      <p:cxnSp>
        <p:nvCxnSpPr>
          <p:cNvPr id="35" name="Straight Arrow Connector 34"/>
          <p:cNvCxnSpPr>
            <a:stCxn id="6" idx="3"/>
            <a:endCxn id="8" idx="1"/>
          </p:cNvCxnSpPr>
          <p:nvPr/>
        </p:nvCxnSpPr>
        <p:spPr>
          <a:xfrm>
            <a:off x="2686050" y="3695700"/>
            <a:ext cx="552450" cy="0"/>
          </a:xfrm>
          <a:prstGeom prst="straightConnector1">
            <a:avLst/>
          </a:prstGeom>
          <a:ln w="28575">
            <a:solidFill>
              <a:srgbClr val="3D8DFF"/>
            </a:solidFill>
            <a:prstDash val="solid"/>
            <a:tailEnd type="arrow" w="med" len="med"/>
          </a:ln>
        </p:spPr>
      </p:cxnSp>
      <p:cxnSp>
        <p:nvCxnSpPr>
          <p:cNvPr id="36" name="Straight Arrow Connector 35"/>
          <p:cNvCxnSpPr>
            <a:stCxn id="8" idx="3"/>
            <a:endCxn id="10" idx="1"/>
          </p:cNvCxnSpPr>
          <p:nvPr/>
        </p:nvCxnSpPr>
        <p:spPr>
          <a:xfrm>
            <a:off x="5048250" y="3695700"/>
            <a:ext cx="552450" cy="0"/>
          </a:xfrm>
          <a:prstGeom prst="straightConnector1">
            <a:avLst/>
          </a:prstGeom>
          <a:ln w="28575">
            <a:solidFill>
              <a:srgbClr val="3D8DFF"/>
            </a:solidFill>
            <a:prstDash val="solid"/>
            <a:tailEnd type="arrow" w="med" len="med"/>
          </a:ln>
        </p:spPr>
      </p:cxnSp>
      <p:cxnSp>
        <p:nvCxnSpPr>
          <p:cNvPr id="37" name="Straight Arrow Connector 36"/>
          <p:cNvCxnSpPr>
            <a:stCxn id="10" idx="3"/>
            <a:endCxn id="12" idx="1"/>
          </p:cNvCxnSpPr>
          <p:nvPr/>
        </p:nvCxnSpPr>
        <p:spPr>
          <a:xfrm>
            <a:off x="7410450" y="3695700"/>
            <a:ext cx="552450" cy="0"/>
          </a:xfrm>
          <a:prstGeom prst="straightConnector1">
            <a:avLst/>
          </a:prstGeom>
          <a:ln w="28575">
            <a:solidFill>
              <a:srgbClr val="3D8DFF"/>
            </a:solidFill>
            <a:prstDash val="solid"/>
            <a:tailEnd type="arrow" w="med" len="med"/>
          </a:ln>
        </p:spPr>
      </p:cxnSp>
      <p:sp>
        <p:nvSpPr>
          <p:cNvPr id="17" name="example-b1-dot">
            <a:extLst>
              <a:ext uri="{FF2B5EF4-FFF2-40B4-BE49-F238E27FC236}">
                <a16:creationId xmlns:a16="http://schemas.microsoft.com/office/drawing/2014/main" id="{8D930764-8BB3-478A-87CC-F272FBF6AC91}"/>
              </a:ext>
            </a:extLst>
          </p:cNvPr>
          <p:cNvSpPr>
            <a:spLocks noGrp="1"/>
          </p:cNvSpPr>
          <p:nvPr/>
        </p:nvSpPr>
        <p:spPr>
          <a:xfrm>
            <a:off x="685800" y="500062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18" name="example-b1-text">
            <a:extLst>
              <a:ext uri="{FF2B5EF4-FFF2-40B4-BE49-F238E27FC236}">
                <a16:creationId xmlns:a16="http://schemas.microsoft.com/office/drawing/2014/main" id="{C252A826-B156-482B-B9DE-0991D5FE3E3E}"/>
              </a:ext>
            </a:extLst>
          </p:cNvPr>
          <p:cNvSpPr>
            <a:spLocks noGrp="1"/>
          </p:cNvSpPr>
          <p:nvPr/>
        </p:nvSpPr>
        <p:spPr>
          <a:xfrm>
            <a:off x="914400" y="5010150"/>
            <a:ext cx="462915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Use the result to decide which areas deserve more research or a visit.</a:t>
            </a:r>
          </a:p>
        </p:txBody>
      </p:sp>
      <p:sp>
        <p:nvSpPr>
          <p:cNvPr id="19" name="example-b2-dot">
            <a:extLst>
              <a:ext uri="{FF2B5EF4-FFF2-40B4-BE49-F238E27FC236}">
                <a16:creationId xmlns:a16="http://schemas.microsoft.com/office/drawing/2014/main" id="{ECF6C0B8-48F7-41EA-BA85-2DC6E386E82B}"/>
              </a:ext>
            </a:extLst>
          </p:cNvPr>
          <p:cNvSpPr>
            <a:spLocks noGrp="1"/>
          </p:cNvSpPr>
          <p:nvPr/>
        </p:nvSpPr>
        <p:spPr>
          <a:xfrm>
            <a:off x="6191250" y="5000625"/>
            <a:ext cx="171450" cy="247650"/>
          </a:xfrm>
          <a:prstGeom prst="rect">
            <a:avLst/>
          </a:prstGeom>
          <a:noFill/>
          <a:ln w="0">
            <a:noFill/>
            <a:prstDash val="solid"/>
          </a:ln>
        </p:spPr>
        <p:txBody>
          <a:bodyPr/>
          <a:lstStyle/>
          <a:p>
            <a:pPr algn="l">
              <a:defRPr sz="1800" b="1">
                <a:solidFill>
                  <a:srgbClr val="3D8DFF"/>
                </a:solidFill>
              </a:defRPr>
            </a:pPr>
            <a:r>
              <a:rPr sz="1800" b="1">
                <a:solidFill>
                  <a:srgbClr val="3D8DFF"/>
                </a:solidFill>
              </a:rPr>
              <a:t>•</a:t>
            </a:r>
          </a:p>
        </p:txBody>
      </p:sp>
      <p:sp>
        <p:nvSpPr>
          <p:cNvPr id="20" name="example-b2-text">
            <a:extLst>
              <a:ext uri="{FF2B5EF4-FFF2-40B4-BE49-F238E27FC236}">
                <a16:creationId xmlns:a16="http://schemas.microsoft.com/office/drawing/2014/main" id="{CDC72D88-88AB-4464-B4D6-C4C598C09C7C}"/>
              </a:ext>
            </a:extLst>
          </p:cNvPr>
          <p:cNvSpPr>
            <a:spLocks noGrp="1"/>
          </p:cNvSpPr>
          <p:nvPr/>
        </p:nvSpPr>
        <p:spPr>
          <a:xfrm>
            <a:off x="6419850" y="5010150"/>
            <a:ext cx="4724400" cy="381000"/>
          </a:xfrm>
          <a:prstGeom prst="rect">
            <a:avLst/>
          </a:prstGeom>
          <a:noFill/>
          <a:ln w="0">
            <a:noFill/>
            <a:prstDash val="solid"/>
          </a:ln>
        </p:spPr>
        <p:txBody>
          <a:bodyPr/>
          <a:lstStyle/>
          <a:p>
            <a:pPr algn="l">
              <a:defRPr sz="1575" b="0">
                <a:solidFill>
                  <a:srgbClr val="102A33"/>
                </a:solidFill>
              </a:defRPr>
            </a:pPr>
            <a:r>
              <a:rPr sz="1575" b="0">
                <a:solidFill>
                  <a:srgbClr val="102A33"/>
                </a:solidFill>
              </a:rPr>
              <a:t>Then check the actual property: nearby vegetation, access routes, building condition and insurance.</a:t>
            </a:r>
          </a:p>
        </p:txBody>
      </p:sp>
      <p:sp>
        <p:nvSpPr>
          <p:cNvPr id="21" name="footer-6">
            <a:extLst>
              <a:ext uri="{FF2B5EF4-FFF2-40B4-BE49-F238E27FC236}">
                <a16:creationId xmlns:a16="http://schemas.microsoft.com/office/drawing/2014/main" id="{4A64B4A5-9753-4852-B031-167D2C5E44C7}"/>
              </a:ext>
            </a:extLst>
          </p:cNvPr>
          <p:cNvSpPr>
            <a:spLocks noGrp="1"/>
          </p:cNvSpPr>
          <p:nvPr/>
        </p:nvSpPr>
        <p:spPr>
          <a:xfrm>
            <a:off x="685800" y="6477000"/>
            <a:ext cx="5905500" cy="152400"/>
          </a:xfrm>
          <a:prstGeom prst="rect">
            <a:avLst/>
          </a:prstGeom>
          <a:noFill/>
          <a:ln w="0">
            <a:noFill/>
            <a:prstDash val="solid"/>
          </a:ln>
        </p:spPr>
        <p:txBody>
          <a:bodyPr/>
          <a:lstStyle/>
          <a:p>
            <a:pPr algn="l">
              <a:defRPr sz="900" b="0">
                <a:solidFill>
                  <a:srgbClr val="48606B"/>
                </a:solidFill>
              </a:defRPr>
            </a:pPr>
            <a:r>
              <a:rPr sz="900" b="0">
                <a:solidFill>
                  <a:srgbClr val="48606B"/>
                </a:solidFill>
              </a:rPr>
              <a:t>Wildfire exposure screening • mainland Portugal</a:t>
            </a:r>
          </a:p>
        </p:txBody>
      </p:sp>
    </p:spTree>
    <p:extLst>
      <p:ext uri="{BB962C8B-B14F-4D97-AF65-F5344CB8AC3E}">
        <p14:creationId xmlns:p14="http://schemas.microsoft.com/office/powerpoint/2010/main" val="13527387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1409</Words>
  <Application>Microsoft Office PowerPoint</Application>
  <DocSecurity>0</DocSecurity>
  <PresentationFormat>Widescreen</PresentationFormat>
  <Paragraphs>120</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1</cp:revision>
  <dcterms:created xsi:type="dcterms:W3CDTF">2026-08-03T14:35:50Z</dcterms:created>
  <dcterms:modified xsi:type="dcterms:W3CDTF">2026-08-03T14:40:22Z</dcterms:modified>
</cp:coreProperties>
</file>