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312" y="57"/>
      </p:cViewPr>
      <p:guideLst/>
    </p:cSldViewPr>
  </p:slideViewPr>
  <p:notesTextViewPr>
    <p:cViewPr>
      <p:scale>
        <a:sx n="3" d="2"/>
        <a:sy n="3" d="2"/>
      </p:scale>
      <p:origin x="0" y="-2511"/>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project is called Reproducible Wildfire Exposure Screening for Residential Location Selection in Mainland Portugal.</a:t>
            </a:r>
          </a:p>
          <a:p>
            <a:endParaRPr/>
          </a:p>
          <a:p>
            <a:r>
              <a:t>Its purpose is to help people compare areas when they are considering where to look for a home. Wildfire exposure is only one part of a property decision, but it can be an important factor in Portugal.</a:t>
            </a:r>
          </a:p>
          <a:p>
            <a:endParaRPr/>
          </a:p>
          <a:p>
            <a:r>
              <a:t>To make the comparison fair and consistent, I analyse mainland Portugal using the same small geographic areas: squares of 1 kilometre by 1 kilometre. For each square, the project combines past wildfire information, broad land-cover context, terrain, and climate data to estimate relative wildfire exposure.</a:t>
            </a:r>
          </a:p>
          <a:p>
            <a:endParaRPr/>
          </a:p>
          <a:p>
            <a:r>
              <a:t>My hypothesis is that areas with fewer previous fires, less surrounding forest and shrubland, gentler terrain, and less severe hot and dry conditions will tend to have lower future wildfire exposure.</a:t>
            </a:r>
          </a:p>
          <a:p>
            <a:endParaRPr/>
          </a:p>
          <a:p>
            <a:r>
              <a:t>This does not say that a particular house is safe or unsafe, and it is not a guarantee about future fires. It is an initial screening tool that helps identify areas which may deserve more detailed investigation before spending time on individual properties.</a:t>
            </a:r>
          </a:p>
          <a:p>
            <a:endParaRPr/>
          </a:p>
          <a:p>
            <a:r>
              <a:t>[Sources]</a:t>
            </a:r>
          </a:p>
          <a:p>
            <a:r>
              <a:t>- Repository: README.md; docs/project_brief.md; docs/source_plan.md; docs/data_dictionary.md; src/config.py.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a simple real-world example. A buyer is deciding between two areas. They first choose the locations, and the system identifies the relevant 1 kilometre cells. For each cell, it joins the same documented historical-fire, land-cover, climate and terrain features. The model gives a relative category and shows any limitations or missing data. The buyer can use this to decide which area needs closer research. It is not the final property evaluation. Before buying, the person must still inspect the actual house and local vegetation, check road and evacuation access, building condition, water availability and insurance requirements.</a:t>
            </a:r>
          </a:p>
          <a:p>
            <a:endParaRPr/>
          </a:p>
          <a:p>
            <a:r>
              <a:t>[Sources]</a:t>
            </a:r>
          </a:p>
          <a:p>
            <a:r>
              <a:t>- Repository: README.md; docs/project_brief.md; docs/source_plan.md; docs/data_dictionary.md; src/config.py.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basic logic. For one year, called T, I use information available in that year: past fires, land cover, and climate. The model then learns from the share of each 1 km by 1 km cell that burned in the next year, T+1.</a:t>
            </a:r>
          </a:p>
          <a:p>
            <a:r>
              <a:t>For example, if 25% of a cell is covered by an ICNF burned-area polygon, its burned share is 0.25. If no part of the cell burned, the value is 0. The model first estimates this continuous burned-share value.</a:t>
            </a:r>
          </a:p>
          <a:p>
            <a:r>
              <a:t>Later, after testing the results, we can convert the estimates into lower, medium, or higher relative wildfire-exposure categories. These categories support comparison between areas; they are not promises or safety guarantees. The exact category thresholds will be chosen only after inspecting the burned-share distribution and validating the model.</a:t>
            </a:r>
          </a:p>
          <a:p>
            <a:r>
              <a:t>[Sources] </a:t>
            </a:r>
          </a:p>
          <a:p>
            <a:pPr>
              <a:buFont typeface="Arial"/>
              <a:buChar char="•"/>
            </a:pPr>
            <a:r>
              <a:t>Repository: README.md; docs/project_brief.md; docs/source_plan.md; docs/data_dictionary.md; src/config.py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main data sources. ICNF gives official burned-area polygons. I use ten previous years of fire history, from T minus 10 to T minus 1, and the next year as the outcome. CORINE Land Cover gives broad shares of artificial land, forest and shrubland. ERA5-Land gives June to September temperature, rainfall and shallow soil moisture. CAOP gives the mainland boundary and reporting geography, while the DEM supports terrain context. At the moment, we already have and have validated the CAOP 2025 archive and the ICNF 2024 burned-area archive. The historical ICNF files, CLC and ERA5-Land still need to be collected and validated.</a:t>
            </a:r>
          </a:p>
          <a:p>
            <a:endParaRPr/>
          </a:p>
          <a:p>
            <a:r>
              <a:t>[Sources]</a:t>
            </a:r>
          </a:p>
          <a:p>
            <a:r>
              <a:t>- Repository: README.md; docs/project_brief.md; docs/source_plan.md; docs/data_dictionary.md; src/config.py.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how I will evaluate the model fairly. I will train it using data from 2015 to 2019. Then I will use 2020 and 2021 as validation years to tune model hyperparameters and compare modelling options. Finally, I will test the selected approach on 2022 to 2024, which the model has not seen before.</a:t>
            </a:r>
            <a:br/>
            <a:br/>
            <a:r>
              <a:t>Using three final test years is also safer than relying on one year: wildfire activity can vary strongly from year to year. Testing across 2022, 2023, and 2024 shows whether performance is reasonably stable rather than driven by one unusual fire season.</a:t>
            </a:r>
            <a:br/>
            <a:endParaRPr/>
          </a:p>
          <a:p>
            <a:r>
              <a:t>This time-based approach is more realistic than randomly mixing all rows because the task is to estimate wildfire exposure in future years using information from earlier years.</a:t>
            </a:r>
          </a:p>
          <a:p>
            <a:r>
              <a:t>I will compare a simple historical-fire baseline with a tree-based model such as Random Forest. Random Forest is a useful candidate because it can model non-linear relationships and interactions between features, such as previous fires, forest cover, and dry summer conditions. However, it is not yet the final chosen model. The final approach will depend on validation and test performance.</a:t>
            </a:r>
          </a:p>
          <a:p>
            <a:endParaRPr/>
          </a:p>
          <a:p>
            <a:r>
              <a:t>[Sources]</a:t>
            </a:r>
          </a:p>
          <a:p>
            <a:r>
              <a:t>- Repository: README.md; docs/project_brief.md; docs/source_plan.md; docs/data_dictionary.md; src/config.py.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intended value is a more transparent shortlist. A lower category means lower relative modelled exposure within this comparison; medium means in between; higher means higher relative modelled exposure. It does not mean safe, unsafe, or guaranteed to burn. The category thresholds will be documented after examining the target and validation results. The model is retrospective, so it is not an exact real-time forecast. ERA5-Land is also much coarser than 1 kilometre, so it describes regional climate context rather than the weather at one house. The next work is to collect, validate and prepare the remaining sources, then test the baseline and machine-learning models.</a:t>
            </a:r>
          </a:p>
          <a:p>
            <a:endParaRPr/>
          </a:p>
          <a:p>
            <a:r>
              <a:t>[Sources]</a:t>
            </a:r>
          </a:p>
          <a:p>
            <a:r>
              <a:t>- Repository: README.md; docs/project_brief.md; docs/source_plan.md; docs/data_dictionary.md; src/config.py.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cover-kicker">
            <a:extLst>
              <a:ext uri="{FF2B5EF4-FFF2-40B4-BE49-F238E27FC236}">
                <a16:creationId xmlns:a16="http://schemas.microsoft.com/office/drawing/2014/main" id="{A8F4523A-1645-4535-8595-EDF3B8810EC2}"/>
              </a:ext>
            </a:extLst>
          </p:cNvPr>
          <p:cNvSpPr>
            <a:spLocks noGrp="1"/>
          </p:cNvSpPr>
          <p:nvPr/>
        </p:nvSpPr>
        <p:spPr>
          <a:xfrm>
            <a:off x="685800" y="647700"/>
            <a:ext cx="3333750" cy="228600"/>
          </a:xfrm>
          <a:prstGeom prst="rect">
            <a:avLst/>
          </a:prstGeom>
          <a:noFill/>
          <a:ln w="0">
            <a:noFill/>
            <a:prstDash val="solid"/>
          </a:ln>
        </p:spPr>
        <p:txBody>
          <a:bodyPr/>
          <a:lstStyle/>
          <a:p>
            <a:pPr algn="l">
              <a:buNone/>
              <a:defRPr sz="1200" b="1">
                <a:solidFill>
                  <a:srgbClr val="3D8DFF"/>
                </a:solidFill>
              </a:defRPr>
            </a:pPr>
            <a:r>
              <a:rPr sz="1200" b="1">
                <a:solidFill>
                  <a:srgbClr val="3D8DFF"/>
                </a:solidFill>
              </a:rPr>
              <a:t>DATA SCIENCE PROJECT</a:t>
            </a:r>
          </a:p>
        </p:txBody>
      </p:sp>
      <p:sp>
        <p:nvSpPr>
          <p:cNvPr id="2" name="cover-title">
            <a:extLst>
              <a:ext uri="{FF2B5EF4-FFF2-40B4-BE49-F238E27FC236}">
                <a16:creationId xmlns:a16="http://schemas.microsoft.com/office/drawing/2014/main" id="{0879A109-C213-4F6E-85BC-64D34FE7712E}"/>
              </a:ext>
            </a:extLst>
          </p:cNvPr>
          <p:cNvSpPr>
            <a:spLocks noGrp="1"/>
          </p:cNvSpPr>
          <p:nvPr/>
        </p:nvSpPr>
        <p:spPr>
          <a:xfrm>
            <a:off x="685800" y="1200150"/>
            <a:ext cx="7143750" cy="1476375"/>
          </a:xfrm>
          <a:prstGeom prst="rect">
            <a:avLst/>
          </a:prstGeom>
          <a:noFill/>
          <a:ln w="0">
            <a:noFill/>
            <a:prstDash val="solid"/>
          </a:ln>
        </p:spPr>
        <p:txBody>
          <a:bodyPr/>
          <a:lstStyle/>
          <a:p>
            <a:pPr algn="l">
              <a:buNone/>
              <a:defRPr sz="4200" b="1">
                <a:solidFill>
                  <a:srgbClr val="102A33"/>
                </a:solidFill>
              </a:defRPr>
            </a:pPr>
            <a:r>
              <a:rPr sz="4200" b="1">
                <a:solidFill>
                  <a:srgbClr val="102A33"/>
                </a:solidFill>
              </a:rPr>
              <a:t>Reproducible Wildfire</a:t>
            </a:r>
          </a:p>
          <a:p>
            <a:pPr algn="l">
              <a:buNone/>
              <a:defRPr sz="4200" b="1">
                <a:solidFill>
                  <a:srgbClr val="102A33"/>
                </a:solidFill>
              </a:defRPr>
            </a:pPr>
            <a:r>
              <a:rPr sz="4200" b="1">
                <a:solidFill>
                  <a:srgbClr val="102A33"/>
                </a:solidFill>
              </a:rPr>
              <a:t>Exposure Screening</a:t>
            </a:r>
          </a:p>
        </p:txBody>
      </p:sp>
      <p:sp>
        <p:nvSpPr>
          <p:cNvPr id="3" name="cover-subtitle">
            <a:extLst>
              <a:ext uri="{FF2B5EF4-FFF2-40B4-BE49-F238E27FC236}">
                <a16:creationId xmlns:a16="http://schemas.microsoft.com/office/drawing/2014/main" id="{87BE8119-F2C6-488C-BB51-8B8DA0A0E781}"/>
              </a:ext>
            </a:extLst>
          </p:cNvPr>
          <p:cNvSpPr>
            <a:spLocks noGrp="1"/>
          </p:cNvSpPr>
          <p:nvPr/>
        </p:nvSpPr>
        <p:spPr>
          <a:xfrm>
            <a:off x="685800" y="2952750"/>
            <a:ext cx="6381750" cy="400050"/>
          </a:xfrm>
          <a:prstGeom prst="rect">
            <a:avLst/>
          </a:prstGeom>
          <a:noFill/>
          <a:ln w="0">
            <a:noFill/>
            <a:prstDash val="solid"/>
          </a:ln>
        </p:spPr>
        <p:txBody>
          <a:bodyPr/>
          <a:lstStyle/>
          <a:p>
            <a:pPr algn="l">
              <a:buNone/>
              <a:defRPr sz="2025" b="0">
                <a:solidFill>
                  <a:srgbClr val="48606B"/>
                </a:solidFill>
              </a:defRPr>
            </a:pPr>
            <a:r>
              <a:rPr sz="2025" b="0">
                <a:solidFill>
                  <a:srgbClr val="48606B"/>
                </a:solidFill>
              </a:rPr>
              <a:t>Residential location selection in mainland Portugal</a:t>
            </a:r>
          </a:p>
        </p:txBody>
      </p:sp>
      <p:sp>
        <p:nvSpPr>
          <p:cNvPr id="4" name="cover-message">
            <a:extLst>
              <a:ext uri="{FF2B5EF4-FFF2-40B4-BE49-F238E27FC236}">
                <a16:creationId xmlns:a16="http://schemas.microsoft.com/office/drawing/2014/main" id="{AD2631E8-3996-4D75-ADFF-4E157143D006}"/>
              </a:ext>
            </a:extLst>
          </p:cNvPr>
          <p:cNvSpPr>
            <a:spLocks noGrp="1"/>
          </p:cNvSpPr>
          <p:nvPr/>
        </p:nvSpPr>
        <p:spPr>
          <a:xfrm>
            <a:off x="685800" y="3829050"/>
            <a:ext cx="5715000" cy="857250"/>
          </a:xfrm>
          <a:prstGeom prst="rect">
            <a:avLst/>
          </a:prstGeom>
          <a:noFill/>
          <a:ln w="0">
            <a:noFill/>
            <a:prstDash val="solid"/>
          </a:ln>
        </p:spPr>
        <p:txBody>
          <a:bodyPr/>
          <a:lstStyle/>
          <a:p>
            <a:pPr algn="l">
              <a:buNone/>
              <a:defRPr sz="1800" b="0">
                <a:solidFill>
                  <a:srgbClr val="102A33"/>
                </a:solidFill>
              </a:defRPr>
            </a:pPr>
            <a:r>
              <a:rPr sz="1800" b="0">
                <a:solidFill>
                  <a:srgbClr val="102A33"/>
                </a:solidFill>
              </a:rPr>
              <a:t>Compare possible home locations using wildfire exposure as one factor.</a:t>
            </a:r>
          </a:p>
        </p:txBody>
      </p:sp>
      <p:sp>
        <p:nvSpPr>
          <p:cNvPr id="5" name="cover-panel">
            <a:extLst>
              <a:ext uri="{FF2B5EF4-FFF2-40B4-BE49-F238E27FC236}">
                <a16:creationId xmlns:a16="http://schemas.microsoft.com/office/drawing/2014/main" id="{93F2D6E4-A962-4B75-A0A2-D0004461EB74}"/>
              </a:ext>
            </a:extLst>
          </p:cNvPr>
          <p:cNvSpPr>
            <a:spLocks noGrp="1"/>
          </p:cNvSpPr>
          <p:nvPr/>
        </p:nvSpPr>
        <p:spPr>
          <a:xfrm>
            <a:off x="8191500" y="931172"/>
            <a:ext cx="2628900" cy="4948030"/>
          </a:xfrm>
          <a:prstGeom prst="roundRect">
            <a:avLst>
              <a:gd name="adj" fmla="val 2899"/>
            </a:avLst>
          </a:prstGeom>
          <a:solidFill>
            <a:srgbClr val="EAF6FD"/>
          </a:solidFill>
          <a:ln w="9525">
            <a:solidFill>
              <a:srgbClr val="EAF6FD"/>
            </a:solidFill>
            <a:prstDash val="solid"/>
          </a:ln>
        </p:spPr>
      </p:sp>
      <p:sp>
        <p:nvSpPr>
          <p:cNvPr id="6" name="cover-panel-label">
            <a:extLst>
              <a:ext uri="{FF2B5EF4-FFF2-40B4-BE49-F238E27FC236}">
                <a16:creationId xmlns:a16="http://schemas.microsoft.com/office/drawing/2014/main" id="{40DCEB20-D5B2-42DC-94B5-8D66B6D3CFA8}"/>
              </a:ext>
            </a:extLst>
          </p:cNvPr>
          <p:cNvSpPr>
            <a:spLocks noGrp="1"/>
          </p:cNvSpPr>
          <p:nvPr/>
        </p:nvSpPr>
        <p:spPr>
          <a:xfrm>
            <a:off x="8496300" y="1314450"/>
            <a:ext cx="2000250" cy="228600"/>
          </a:xfrm>
          <a:prstGeom prst="rect">
            <a:avLst/>
          </a:prstGeom>
          <a:noFill/>
          <a:ln w="0">
            <a:noFill/>
            <a:prstDash val="solid"/>
          </a:ln>
        </p:spPr>
        <p:txBody>
          <a:bodyPr/>
          <a:lstStyle/>
          <a:p>
            <a:pPr algn="ctr">
              <a:buNone/>
              <a:defRPr sz="1125" b="1">
                <a:solidFill>
                  <a:srgbClr val="3D8DFF"/>
                </a:solidFill>
              </a:defRPr>
            </a:pPr>
            <a:r>
              <a:rPr sz="1125" b="1">
                <a:solidFill>
                  <a:srgbClr val="3D8DFF"/>
                </a:solidFill>
              </a:rPr>
              <a:t>ANALYSIS UNIT</a:t>
            </a:r>
          </a:p>
        </p:txBody>
      </p:sp>
      <p:sp>
        <p:nvSpPr>
          <p:cNvPr id="7" name="cover-grid">
            <a:extLst>
              <a:ext uri="{FF2B5EF4-FFF2-40B4-BE49-F238E27FC236}">
                <a16:creationId xmlns:a16="http://schemas.microsoft.com/office/drawing/2014/main" id="{B064CF6E-18C5-4249-9124-78849B95945D}"/>
              </a:ext>
            </a:extLst>
          </p:cNvPr>
          <p:cNvSpPr>
            <a:spLocks noGrp="1"/>
          </p:cNvSpPr>
          <p:nvPr/>
        </p:nvSpPr>
        <p:spPr>
          <a:xfrm>
            <a:off x="8401050" y="2095500"/>
            <a:ext cx="2209800" cy="476250"/>
          </a:xfrm>
          <a:prstGeom prst="rect">
            <a:avLst/>
          </a:prstGeom>
          <a:noFill/>
          <a:ln w="0">
            <a:noFill/>
            <a:prstDash val="solid"/>
          </a:ln>
        </p:spPr>
        <p:txBody>
          <a:bodyPr/>
          <a:lstStyle/>
          <a:p>
            <a:pPr algn="ctr">
              <a:buNone/>
              <a:defRPr sz="2325" b="1">
                <a:solidFill>
                  <a:srgbClr val="102A33"/>
                </a:solidFill>
              </a:defRPr>
            </a:pPr>
            <a:r>
              <a:rPr sz="2325" b="1">
                <a:solidFill>
                  <a:srgbClr val="102A33"/>
                </a:solidFill>
              </a:rPr>
              <a:t>1 km × 1 km</a:t>
            </a:r>
          </a:p>
        </p:txBody>
      </p:sp>
      <p:sp>
        <p:nvSpPr>
          <p:cNvPr id="8" name="cover-crs">
            <a:extLst>
              <a:ext uri="{FF2B5EF4-FFF2-40B4-BE49-F238E27FC236}">
                <a16:creationId xmlns:a16="http://schemas.microsoft.com/office/drawing/2014/main" id="{327081FD-51A7-4047-BB0F-FCC205714D8C}"/>
              </a:ext>
            </a:extLst>
          </p:cNvPr>
          <p:cNvSpPr>
            <a:spLocks noGrp="1"/>
          </p:cNvSpPr>
          <p:nvPr/>
        </p:nvSpPr>
        <p:spPr>
          <a:xfrm>
            <a:off x="8448675" y="2838450"/>
            <a:ext cx="2000250" cy="228600"/>
          </a:xfrm>
          <a:prstGeom prst="rect">
            <a:avLst/>
          </a:prstGeom>
          <a:noFill/>
          <a:ln w="0">
            <a:noFill/>
            <a:prstDash val="solid"/>
          </a:ln>
        </p:spPr>
        <p:txBody>
          <a:bodyPr/>
          <a:lstStyle/>
          <a:p>
            <a:pPr algn="ctr">
              <a:buNone/>
              <a:defRPr sz="1350" b="1">
                <a:solidFill>
                  <a:srgbClr val="48606B"/>
                </a:solidFill>
              </a:defRPr>
            </a:pPr>
            <a:r>
              <a:rPr sz="1350" b="1" dirty="0">
                <a:solidFill>
                  <a:srgbClr val="48606B"/>
                </a:solidFill>
              </a:rPr>
              <a:t>EPSG:3763</a:t>
            </a:r>
          </a:p>
        </p:txBody>
      </p:sp>
      <p:sp>
        <p:nvSpPr>
          <p:cNvPr id="9" name="grid-0-0">
            <a:extLst>
              <a:ext uri="{FF2B5EF4-FFF2-40B4-BE49-F238E27FC236}">
                <a16:creationId xmlns:a16="http://schemas.microsoft.com/office/drawing/2014/main" id="{0609BBE5-4702-413E-A6CF-B52CB5258F16}"/>
              </a:ext>
            </a:extLst>
          </p:cNvPr>
          <p:cNvSpPr>
            <a:spLocks noGrp="1"/>
          </p:cNvSpPr>
          <p:nvPr/>
        </p:nvSpPr>
        <p:spPr>
          <a:xfrm>
            <a:off x="8686800" y="3567112"/>
            <a:ext cx="333375" cy="238125"/>
          </a:xfrm>
          <a:prstGeom prst="rect">
            <a:avLst/>
          </a:prstGeom>
          <a:solidFill>
            <a:srgbClr val="FFFFFF"/>
          </a:solidFill>
          <a:ln w="9525">
            <a:solidFill>
              <a:srgbClr val="C8D2D6"/>
            </a:solidFill>
            <a:prstDash val="solid"/>
          </a:ln>
        </p:spPr>
      </p:sp>
      <p:sp>
        <p:nvSpPr>
          <p:cNvPr id="10" name="grid-0-1">
            <a:extLst>
              <a:ext uri="{FF2B5EF4-FFF2-40B4-BE49-F238E27FC236}">
                <a16:creationId xmlns:a16="http://schemas.microsoft.com/office/drawing/2014/main" id="{162DF41A-E918-49FB-98CF-FB9101F84BE2}"/>
              </a:ext>
            </a:extLst>
          </p:cNvPr>
          <p:cNvSpPr>
            <a:spLocks noGrp="1"/>
          </p:cNvSpPr>
          <p:nvPr/>
        </p:nvSpPr>
        <p:spPr>
          <a:xfrm>
            <a:off x="9115425" y="3567112"/>
            <a:ext cx="333375" cy="238125"/>
          </a:xfrm>
          <a:prstGeom prst="rect">
            <a:avLst/>
          </a:prstGeom>
          <a:solidFill>
            <a:srgbClr val="6DCBF4"/>
          </a:solidFill>
          <a:ln w="9525">
            <a:solidFill>
              <a:srgbClr val="C8D2D6"/>
            </a:solidFill>
            <a:prstDash val="solid"/>
          </a:ln>
        </p:spPr>
      </p:sp>
      <p:sp>
        <p:nvSpPr>
          <p:cNvPr id="11" name="grid-0-2">
            <a:extLst>
              <a:ext uri="{FF2B5EF4-FFF2-40B4-BE49-F238E27FC236}">
                <a16:creationId xmlns:a16="http://schemas.microsoft.com/office/drawing/2014/main" id="{622069DF-5135-4ECA-A8AB-89E879B96A2A}"/>
              </a:ext>
            </a:extLst>
          </p:cNvPr>
          <p:cNvSpPr>
            <a:spLocks noGrp="1"/>
          </p:cNvSpPr>
          <p:nvPr/>
        </p:nvSpPr>
        <p:spPr>
          <a:xfrm>
            <a:off x="9544050" y="3567112"/>
            <a:ext cx="333375" cy="238125"/>
          </a:xfrm>
          <a:prstGeom prst="rect">
            <a:avLst/>
          </a:prstGeom>
          <a:solidFill>
            <a:srgbClr val="FFFFFF"/>
          </a:solidFill>
          <a:ln w="9525">
            <a:solidFill>
              <a:srgbClr val="C8D2D6"/>
            </a:solidFill>
            <a:prstDash val="solid"/>
          </a:ln>
        </p:spPr>
      </p:sp>
      <p:sp>
        <p:nvSpPr>
          <p:cNvPr id="12" name="grid-0-3">
            <a:extLst>
              <a:ext uri="{FF2B5EF4-FFF2-40B4-BE49-F238E27FC236}">
                <a16:creationId xmlns:a16="http://schemas.microsoft.com/office/drawing/2014/main" id="{120A4B14-AD33-4BA2-BBA5-C15384E68CAA}"/>
              </a:ext>
            </a:extLst>
          </p:cNvPr>
          <p:cNvSpPr>
            <a:spLocks noGrp="1"/>
          </p:cNvSpPr>
          <p:nvPr/>
        </p:nvSpPr>
        <p:spPr>
          <a:xfrm>
            <a:off x="9972675" y="3567112"/>
            <a:ext cx="333375" cy="238125"/>
          </a:xfrm>
          <a:prstGeom prst="rect">
            <a:avLst/>
          </a:prstGeom>
          <a:solidFill>
            <a:srgbClr val="FFFFFF"/>
          </a:solidFill>
          <a:ln w="9525">
            <a:solidFill>
              <a:srgbClr val="C8D2D6"/>
            </a:solidFill>
            <a:prstDash val="solid"/>
          </a:ln>
        </p:spPr>
      </p:sp>
      <p:sp>
        <p:nvSpPr>
          <p:cNvPr id="13" name="grid-1-0">
            <a:extLst>
              <a:ext uri="{FF2B5EF4-FFF2-40B4-BE49-F238E27FC236}">
                <a16:creationId xmlns:a16="http://schemas.microsoft.com/office/drawing/2014/main" id="{AA46D719-6758-4CF5-A53E-D14A0DA6D857}"/>
              </a:ext>
            </a:extLst>
          </p:cNvPr>
          <p:cNvSpPr>
            <a:spLocks noGrp="1"/>
          </p:cNvSpPr>
          <p:nvPr/>
        </p:nvSpPr>
        <p:spPr>
          <a:xfrm>
            <a:off x="8686800" y="3900487"/>
            <a:ext cx="333375" cy="238125"/>
          </a:xfrm>
          <a:prstGeom prst="rect">
            <a:avLst/>
          </a:prstGeom>
          <a:solidFill>
            <a:srgbClr val="6DCBF4"/>
          </a:solidFill>
          <a:ln w="9525">
            <a:solidFill>
              <a:srgbClr val="C8D2D6"/>
            </a:solidFill>
            <a:prstDash val="solid"/>
          </a:ln>
        </p:spPr>
      </p:sp>
      <p:sp>
        <p:nvSpPr>
          <p:cNvPr id="14" name="grid-1-1">
            <a:extLst>
              <a:ext uri="{FF2B5EF4-FFF2-40B4-BE49-F238E27FC236}">
                <a16:creationId xmlns:a16="http://schemas.microsoft.com/office/drawing/2014/main" id="{BE6A10C8-1F56-4CDF-BDDF-6A082452059D}"/>
              </a:ext>
            </a:extLst>
          </p:cNvPr>
          <p:cNvSpPr>
            <a:spLocks noGrp="1"/>
          </p:cNvSpPr>
          <p:nvPr/>
        </p:nvSpPr>
        <p:spPr>
          <a:xfrm>
            <a:off x="9115425" y="3900487"/>
            <a:ext cx="333375" cy="238125"/>
          </a:xfrm>
          <a:prstGeom prst="rect">
            <a:avLst/>
          </a:prstGeom>
          <a:solidFill>
            <a:srgbClr val="FFFFFF"/>
          </a:solidFill>
          <a:ln w="9525">
            <a:solidFill>
              <a:srgbClr val="C8D2D6"/>
            </a:solidFill>
            <a:prstDash val="solid"/>
          </a:ln>
        </p:spPr>
      </p:sp>
      <p:sp>
        <p:nvSpPr>
          <p:cNvPr id="15" name="grid-1-2">
            <a:extLst>
              <a:ext uri="{FF2B5EF4-FFF2-40B4-BE49-F238E27FC236}">
                <a16:creationId xmlns:a16="http://schemas.microsoft.com/office/drawing/2014/main" id="{E1F6CE9F-E827-415D-B707-DEE6EC59EA5F}"/>
              </a:ext>
            </a:extLst>
          </p:cNvPr>
          <p:cNvSpPr>
            <a:spLocks noGrp="1"/>
          </p:cNvSpPr>
          <p:nvPr/>
        </p:nvSpPr>
        <p:spPr>
          <a:xfrm>
            <a:off x="9544050" y="3900487"/>
            <a:ext cx="333375" cy="238125"/>
          </a:xfrm>
          <a:prstGeom prst="rect">
            <a:avLst/>
          </a:prstGeom>
          <a:solidFill>
            <a:srgbClr val="FFFFFF"/>
          </a:solidFill>
          <a:ln w="9525">
            <a:solidFill>
              <a:srgbClr val="C8D2D6"/>
            </a:solidFill>
            <a:prstDash val="solid"/>
          </a:ln>
        </p:spPr>
      </p:sp>
      <p:sp>
        <p:nvSpPr>
          <p:cNvPr id="16" name="grid-1-3">
            <a:extLst>
              <a:ext uri="{FF2B5EF4-FFF2-40B4-BE49-F238E27FC236}">
                <a16:creationId xmlns:a16="http://schemas.microsoft.com/office/drawing/2014/main" id="{99882DA5-931B-429E-AE45-8DFCF614BC21}"/>
              </a:ext>
            </a:extLst>
          </p:cNvPr>
          <p:cNvSpPr>
            <a:spLocks noGrp="1"/>
          </p:cNvSpPr>
          <p:nvPr/>
        </p:nvSpPr>
        <p:spPr>
          <a:xfrm>
            <a:off x="9972675" y="3900487"/>
            <a:ext cx="333375" cy="238125"/>
          </a:xfrm>
          <a:prstGeom prst="rect">
            <a:avLst/>
          </a:prstGeom>
          <a:solidFill>
            <a:srgbClr val="6DCBF4"/>
          </a:solidFill>
          <a:ln w="9525">
            <a:solidFill>
              <a:srgbClr val="C8D2D6"/>
            </a:solidFill>
            <a:prstDash val="solid"/>
          </a:ln>
        </p:spPr>
      </p:sp>
      <p:sp>
        <p:nvSpPr>
          <p:cNvPr id="17" name="grid-2-0">
            <a:extLst>
              <a:ext uri="{FF2B5EF4-FFF2-40B4-BE49-F238E27FC236}">
                <a16:creationId xmlns:a16="http://schemas.microsoft.com/office/drawing/2014/main" id="{6CCA6304-F87B-4EF5-B8FF-39621D5657E9}"/>
              </a:ext>
            </a:extLst>
          </p:cNvPr>
          <p:cNvSpPr>
            <a:spLocks noGrp="1"/>
          </p:cNvSpPr>
          <p:nvPr/>
        </p:nvSpPr>
        <p:spPr>
          <a:xfrm>
            <a:off x="8686800" y="4233862"/>
            <a:ext cx="333375" cy="238125"/>
          </a:xfrm>
          <a:prstGeom prst="rect">
            <a:avLst/>
          </a:prstGeom>
          <a:solidFill>
            <a:srgbClr val="FFFFFF"/>
          </a:solidFill>
          <a:ln w="9525">
            <a:solidFill>
              <a:srgbClr val="C8D2D6"/>
            </a:solidFill>
            <a:prstDash val="solid"/>
          </a:ln>
        </p:spPr>
      </p:sp>
      <p:sp>
        <p:nvSpPr>
          <p:cNvPr id="18" name="grid-2-1">
            <a:extLst>
              <a:ext uri="{FF2B5EF4-FFF2-40B4-BE49-F238E27FC236}">
                <a16:creationId xmlns:a16="http://schemas.microsoft.com/office/drawing/2014/main" id="{8AF23A86-05D6-4958-A929-56100AFC21B3}"/>
              </a:ext>
            </a:extLst>
          </p:cNvPr>
          <p:cNvSpPr>
            <a:spLocks noGrp="1"/>
          </p:cNvSpPr>
          <p:nvPr/>
        </p:nvSpPr>
        <p:spPr>
          <a:xfrm>
            <a:off x="9115425" y="4233862"/>
            <a:ext cx="333375" cy="238125"/>
          </a:xfrm>
          <a:prstGeom prst="rect">
            <a:avLst/>
          </a:prstGeom>
          <a:solidFill>
            <a:srgbClr val="FFFFFF"/>
          </a:solidFill>
          <a:ln w="9525">
            <a:solidFill>
              <a:srgbClr val="C8D2D6"/>
            </a:solidFill>
            <a:prstDash val="solid"/>
          </a:ln>
        </p:spPr>
      </p:sp>
      <p:sp>
        <p:nvSpPr>
          <p:cNvPr id="19" name="grid-2-2">
            <a:extLst>
              <a:ext uri="{FF2B5EF4-FFF2-40B4-BE49-F238E27FC236}">
                <a16:creationId xmlns:a16="http://schemas.microsoft.com/office/drawing/2014/main" id="{A7E448EB-2562-4F68-A053-45DAEF75E1C5}"/>
              </a:ext>
            </a:extLst>
          </p:cNvPr>
          <p:cNvSpPr>
            <a:spLocks noGrp="1"/>
          </p:cNvSpPr>
          <p:nvPr/>
        </p:nvSpPr>
        <p:spPr>
          <a:xfrm>
            <a:off x="9544050" y="4233862"/>
            <a:ext cx="333375" cy="238125"/>
          </a:xfrm>
          <a:prstGeom prst="rect">
            <a:avLst/>
          </a:prstGeom>
          <a:solidFill>
            <a:srgbClr val="6DCBF4"/>
          </a:solidFill>
          <a:ln w="9525">
            <a:solidFill>
              <a:srgbClr val="C8D2D6"/>
            </a:solidFill>
            <a:prstDash val="solid"/>
          </a:ln>
        </p:spPr>
      </p:sp>
      <p:sp>
        <p:nvSpPr>
          <p:cNvPr id="20" name="grid-2-3">
            <a:extLst>
              <a:ext uri="{FF2B5EF4-FFF2-40B4-BE49-F238E27FC236}">
                <a16:creationId xmlns:a16="http://schemas.microsoft.com/office/drawing/2014/main" id="{5D36A3AA-59B1-4B82-8628-45A0AF8F4A97}"/>
              </a:ext>
            </a:extLst>
          </p:cNvPr>
          <p:cNvSpPr>
            <a:spLocks noGrp="1"/>
          </p:cNvSpPr>
          <p:nvPr/>
        </p:nvSpPr>
        <p:spPr>
          <a:xfrm>
            <a:off x="9972675" y="4233862"/>
            <a:ext cx="333375" cy="238125"/>
          </a:xfrm>
          <a:prstGeom prst="rect">
            <a:avLst/>
          </a:prstGeom>
          <a:solidFill>
            <a:srgbClr val="FFFFFF"/>
          </a:solidFill>
          <a:ln w="9525">
            <a:solidFill>
              <a:srgbClr val="C8D2D6"/>
            </a:solidFill>
            <a:prstDash val="solid"/>
          </a:ln>
        </p:spPr>
      </p:sp>
      <p:sp>
        <p:nvSpPr>
          <p:cNvPr id="21" name="grid-3-0">
            <a:extLst>
              <a:ext uri="{FF2B5EF4-FFF2-40B4-BE49-F238E27FC236}">
                <a16:creationId xmlns:a16="http://schemas.microsoft.com/office/drawing/2014/main" id="{6238B807-5351-4C2D-86F3-24EB6CE3A01A}"/>
              </a:ext>
            </a:extLst>
          </p:cNvPr>
          <p:cNvSpPr>
            <a:spLocks noGrp="1"/>
          </p:cNvSpPr>
          <p:nvPr/>
        </p:nvSpPr>
        <p:spPr>
          <a:xfrm>
            <a:off x="8686800" y="4567237"/>
            <a:ext cx="333375" cy="238125"/>
          </a:xfrm>
          <a:prstGeom prst="rect">
            <a:avLst/>
          </a:prstGeom>
          <a:solidFill>
            <a:srgbClr val="FFFFFF"/>
          </a:solidFill>
          <a:ln w="9525">
            <a:solidFill>
              <a:srgbClr val="C8D2D6"/>
            </a:solidFill>
            <a:prstDash val="solid"/>
          </a:ln>
        </p:spPr>
      </p:sp>
      <p:sp>
        <p:nvSpPr>
          <p:cNvPr id="22" name="grid-3-1">
            <a:extLst>
              <a:ext uri="{FF2B5EF4-FFF2-40B4-BE49-F238E27FC236}">
                <a16:creationId xmlns:a16="http://schemas.microsoft.com/office/drawing/2014/main" id="{5458FAC2-484E-404C-AAD5-3EBDBECE909C}"/>
              </a:ext>
            </a:extLst>
          </p:cNvPr>
          <p:cNvSpPr>
            <a:spLocks noGrp="1"/>
          </p:cNvSpPr>
          <p:nvPr/>
        </p:nvSpPr>
        <p:spPr>
          <a:xfrm>
            <a:off x="9115425" y="4567237"/>
            <a:ext cx="333375" cy="238125"/>
          </a:xfrm>
          <a:prstGeom prst="rect">
            <a:avLst/>
          </a:prstGeom>
          <a:solidFill>
            <a:srgbClr val="6DCBF4"/>
          </a:solidFill>
          <a:ln w="9525">
            <a:solidFill>
              <a:srgbClr val="C8D2D6"/>
            </a:solidFill>
            <a:prstDash val="solid"/>
          </a:ln>
        </p:spPr>
      </p:sp>
      <p:sp>
        <p:nvSpPr>
          <p:cNvPr id="23" name="grid-3-2">
            <a:extLst>
              <a:ext uri="{FF2B5EF4-FFF2-40B4-BE49-F238E27FC236}">
                <a16:creationId xmlns:a16="http://schemas.microsoft.com/office/drawing/2014/main" id="{362527D4-D441-4E68-AD02-1FDF9B1F5E8E}"/>
              </a:ext>
            </a:extLst>
          </p:cNvPr>
          <p:cNvSpPr>
            <a:spLocks noGrp="1"/>
          </p:cNvSpPr>
          <p:nvPr/>
        </p:nvSpPr>
        <p:spPr>
          <a:xfrm>
            <a:off x="9544050" y="4567237"/>
            <a:ext cx="333375" cy="238125"/>
          </a:xfrm>
          <a:prstGeom prst="rect">
            <a:avLst/>
          </a:prstGeom>
          <a:solidFill>
            <a:srgbClr val="FFFFFF"/>
          </a:solidFill>
          <a:ln w="9525">
            <a:solidFill>
              <a:srgbClr val="C8D2D6"/>
            </a:solidFill>
            <a:prstDash val="solid"/>
          </a:ln>
        </p:spPr>
      </p:sp>
      <p:sp>
        <p:nvSpPr>
          <p:cNvPr id="24" name="grid-3-3">
            <a:extLst>
              <a:ext uri="{FF2B5EF4-FFF2-40B4-BE49-F238E27FC236}">
                <a16:creationId xmlns:a16="http://schemas.microsoft.com/office/drawing/2014/main" id="{FDC3D5CC-6EA1-4637-A125-FC8AB2C2E664}"/>
              </a:ext>
            </a:extLst>
          </p:cNvPr>
          <p:cNvSpPr>
            <a:spLocks noGrp="1"/>
          </p:cNvSpPr>
          <p:nvPr/>
        </p:nvSpPr>
        <p:spPr>
          <a:xfrm>
            <a:off x="9972675" y="4567237"/>
            <a:ext cx="333375" cy="238125"/>
          </a:xfrm>
          <a:prstGeom prst="rect">
            <a:avLst/>
          </a:prstGeom>
          <a:solidFill>
            <a:srgbClr val="FFFFFF"/>
          </a:solidFill>
          <a:ln w="9525">
            <a:solidFill>
              <a:srgbClr val="C8D2D6"/>
            </a:solidFill>
            <a:prstDash val="solid"/>
          </a:ln>
        </p:spPr>
      </p:sp>
      <p:sp>
        <p:nvSpPr>
          <p:cNvPr id="25" name="cover-author">
            <a:extLst>
              <a:ext uri="{FF2B5EF4-FFF2-40B4-BE49-F238E27FC236}">
                <a16:creationId xmlns:a16="http://schemas.microsoft.com/office/drawing/2014/main" id="{2F74F378-C5D4-412D-9705-6CF1E9FF97A6}"/>
              </a:ext>
            </a:extLst>
          </p:cNvPr>
          <p:cNvSpPr>
            <a:spLocks noGrp="1"/>
          </p:cNvSpPr>
          <p:nvPr/>
        </p:nvSpPr>
        <p:spPr>
          <a:xfrm>
            <a:off x="685800" y="6096000"/>
            <a:ext cx="4762500" cy="190500"/>
          </a:xfrm>
          <a:prstGeom prst="rect">
            <a:avLst/>
          </a:prstGeom>
          <a:noFill/>
          <a:ln w="0">
            <a:noFill/>
            <a:prstDash val="solid"/>
          </a:ln>
        </p:spPr>
        <p:txBody>
          <a:bodyPr/>
          <a:lstStyle/>
          <a:p>
            <a:pPr algn="l">
              <a:buNone/>
              <a:defRPr sz="1200" b="0">
                <a:solidFill>
                  <a:srgbClr val="48606B"/>
                </a:solidFill>
              </a:defRPr>
            </a:pPr>
            <a:r>
              <a:rPr sz="1200" b="0">
                <a:solidFill>
                  <a:srgbClr val="48606B"/>
                </a:solidFill>
              </a:rPr>
              <a:t>First presentation • Project design stage</a:t>
            </a:r>
          </a:p>
        </p:txBody>
      </p:sp>
      <p:sp>
        <p:nvSpPr>
          <p:cNvPr id="27" name="working-hypothesis-panel">
            <a:extLst>
              <a:ext uri="{FF2B5EF4-FFF2-40B4-BE49-F238E27FC236}">
                <a16:creationId xmlns:a16="http://schemas.microsoft.com/office/drawing/2014/main" id="{8268991E-5A81-417C-98D9-A066E6069D86}"/>
              </a:ext>
            </a:extLst>
          </p:cNvPr>
          <p:cNvSpPr>
            <a:spLocks noGrp="1"/>
          </p:cNvSpPr>
          <p:nvPr/>
        </p:nvSpPr>
        <p:spPr>
          <a:xfrm>
            <a:off x="685800" y="4762500"/>
            <a:ext cx="6572250" cy="1061830"/>
          </a:xfrm>
          <a:prstGeom prst="roundRect">
            <a:avLst>
              <a:gd name="adj" fmla="val 19512"/>
            </a:avLst>
          </a:prstGeom>
          <a:solidFill>
            <a:srgbClr val="EAF6FD"/>
          </a:solidFill>
          <a:ln w="9525">
            <a:solidFill>
              <a:srgbClr val="C8D2D6"/>
            </a:solidFill>
            <a:prstDash val="solid"/>
          </a:ln>
        </p:spPr>
      </p:sp>
      <p:sp>
        <p:nvSpPr>
          <p:cNvPr id="28" name="working-hypothesis-kicker">
            <a:extLst>
              <a:ext uri="{FF2B5EF4-FFF2-40B4-BE49-F238E27FC236}">
                <a16:creationId xmlns:a16="http://schemas.microsoft.com/office/drawing/2014/main" id="{D65DF84B-385F-4997-B827-D4749225DB0B}"/>
              </a:ext>
            </a:extLst>
          </p:cNvPr>
          <p:cNvSpPr>
            <a:spLocks noGrp="1"/>
          </p:cNvSpPr>
          <p:nvPr/>
        </p:nvSpPr>
        <p:spPr>
          <a:xfrm>
            <a:off x="876300" y="4914900"/>
            <a:ext cx="2095500" cy="171450"/>
          </a:xfrm>
          <a:prstGeom prst="rect">
            <a:avLst/>
          </a:prstGeom>
          <a:noFill/>
          <a:ln w="0">
            <a:noFill/>
            <a:prstDash val="solid"/>
          </a:ln>
        </p:spPr>
        <p:txBody>
          <a:bodyPr/>
          <a:lstStyle/>
          <a:p>
            <a:pPr>
              <a:defRPr sz="1050" b="1">
                <a:solidFill>
                  <a:srgbClr val="3D8DFF"/>
                </a:solidFill>
              </a:defRPr>
            </a:pPr>
            <a:r>
              <a:rPr sz="1050" b="1">
                <a:solidFill>
                  <a:srgbClr val="3D8DFF"/>
                </a:solidFill>
              </a:rPr>
              <a:t>WORKING HYPOTHESIS</a:t>
            </a:r>
          </a:p>
        </p:txBody>
      </p:sp>
      <p:sp>
        <p:nvSpPr>
          <p:cNvPr id="29" name="working-hypothesis-statement">
            <a:extLst>
              <a:ext uri="{FF2B5EF4-FFF2-40B4-BE49-F238E27FC236}">
                <a16:creationId xmlns:a16="http://schemas.microsoft.com/office/drawing/2014/main" id="{71C591C3-4425-4DFF-B375-382C46006CB8}"/>
              </a:ext>
            </a:extLst>
          </p:cNvPr>
          <p:cNvSpPr>
            <a:spLocks noGrp="1"/>
          </p:cNvSpPr>
          <p:nvPr/>
        </p:nvSpPr>
        <p:spPr>
          <a:xfrm>
            <a:off x="876300" y="5143500"/>
            <a:ext cx="6096000" cy="247650"/>
          </a:xfrm>
          <a:prstGeom prst="rect">
            <a:avLst/>
          </a:prstGeom>
          <a:noFill/>
          <a:ln w="0">
            <a:noFill/>
            <a:prstDash val="solid"/>
          </a:ln>
        </p:spPr>
        <p:txBody>
          <a:bodyPr/>
          <a:lstStyle/>
          <a:p>
            <a:pPr>
              <a:defRPr sz="1350" b="1">
                <a:solidFill>
                  <a:srgbClr val="102A33"/>
                </a:solidFill>
              </a:defRPr>
            </a:pPr>
            <a:r>
              <a:rPr sz="1350" b="1">
                <a:solidFill>
                  <a:srgbClr val="102A33"/>
                </a:solidFill>
              </a:rPr>
              <a:t>Fewer previous fires, less forest/shrubland and milder heat/dryness → lower future exposure.</a:t>
            </a:r>
          </a:p>
        </p:txBody>
      </p:sp>
    </p:spTree>
    <p:extLst>
      <p:ext uri="{BB962C8B-B14F-4D97-AF65-F5344CB8AC3E}">
        <p14:creationId xmlns:p14="http://schemas.microsoft.com/office/powerpoint/2010/main" val="1357589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kicker-6">
            <a:extLst>
              <a:ext uri="{FF2B5EF4-FFF2-40B4-BE49-F238E27FC236}">
                <a16:creationId xmlns:a16="http://schemas.microsoft.com/office/drawing/2014/main" id="{7B6695F1-B263-40F7-A045-3989F79FE05F}"/>
              </a:ext>
            </a:extLst>
          </p:cNvPr>
          <p:cNvSpPr>
            <a:spLocks noGrp="1"/>
          </p:cNvSpPr>
          <p:nvPr/>
        </p:nvSpPr>
        <p:spPr>
          <a:xfrm>
            <a:off x="685800" y="457200"/>
            <a:ext cx="7620000" cy="228600"/>
          </a:xfrm>
          <a:prstGeom prst="rect">
            <a:avLst/>
          </a:prstGeom>
          <a:noFill/>
          <a:ln w="0">
            <a:noFill/>
            <a:prstDash val="solid"/>
          </a:ln>
        </p:spPr>
        <p:txBody>
          <a:bodyPr/>
          <a:lstStyle/>
          <a:p>
            <a:pPr algn="l">
              <a:buNone/>
              <a:defRPr sz="1125" b="1">
                <a:solidFill>
                  <a:srgbClr val="3D8DFF"/>
                </a:solidFill>
              </a:defRPr>
            </a:pPr>
            <a:r>
              <a:rPr sz="1125" b="1">
                <a:solidFill>
                  <a:srgbClr val="3D8DFF"/>
                </a:solidFill>
              </a:rPr>
              <a:t>REAL-WORLD EXAMPLE</a:t>
            </a:r>
          </a:p>
        </p:txBody>
      </p:sp>
      <p:sp>
        <p:nvSpPr>
          <p:cNvPr id="2" name="title-6">
            <a:extLst>
              <a:ext uri="{FF2B5EF4-FFF2-40B4-BE49-F238E27FC236}">
                <a16:creationId xmlns:a16="http://schemas.microsoft.com/office/drawing/2014/main" id="{1B5735F2-55F1-4F47-9CF1-D22C217178BA}"/>
              </a:ext>
            </a:extLst>
          </p:cNvPr>
          <p:cNvSpPr>
            <a:spLocks noGrp="1"/>
          </p:cNvSpPr>
          <p:nvPr/>
        </p:nvSpPr>
        <p:spPr>
          <a:xfrm>
            <a:off x="685800" y="781050"/>
            <a:ext cx="10001250" cy="552450"/>
          </a:xfrm>
          <a:prstGeom prst="rect">
            <a:avLst/>
          </a:prstGeom>
          <a:noFill/>
          <a:ln w="0">
            <a:noFill/>
            <a:prstDash val="solid"/>
          </a:ln>
        </p:spPr>
        <p:txBody>
          <a:bodyPr/>
          <a:lstStyle/>
          <a:p>
            <a:pPr algn="l">
              <a:buNone/>
              <a:defRPr sz="2775" b="1">
                <a:solidFill>
                  <a:srgbClr val="102A33"/>
                </a:solidFill>
              </a:defRPr>
            </a:pPr>
            <a:r>
              <a:rPr sz="2775" b="1">
                <a:solidFill>
                  <a:srgbClr val="102A33"/>
                </a:solidFill>
              </a:rPr>
              <a:t>How a buyer could use the screening model</a:t>
            </a:r>
          </a:p>
        </p:txBody>
      </p:sp>
      <p:sp>
        <p:nvSpPr>
          <p:cNvPr id="3" name="rule-6">
            <a:extLst>
              <a:ext uri="{FF2B5EF4-FFF2-40B4-BE49-F238E27FC236}">
                <a16:creationId xmlns:a16="http://schemas.microsoft.com/office/drawing/2014/main" id="{1033A23E-3D6F-449C-A0AA-3651821E02DE}"/>
              </a:ext>
            </a:extLst>
          </p:cNvPr>
          <p:cNvSpPr>
            <a:spLocks noGrp="1"/>
          </p:cNvSpPr>
          <p:nvPr/>
        </p:nvSpPr>
        <p:spPr>
          <a:xfrm>
            <a:off x="685800" y="1466850"/>
            <a:ext cx="10820400" cy="19050"/>
          </a:xfrm>
          <a:prstGeom prst="rect">
            <a:avLst/>
          </a:prstGeom>
          <a:solidFill>
            <a:srgbClr val="C8D2D6"/>
          </a:solidFill>
          <a:ln w="0">
            <a:noFill/>
            <a:prstDash val="solid"/>
          </a:ln>
        </p:spPr>
      </p:sp>
      <p:sp>
        <p:nvSpPr>
          <p:cNvPr id="4" name="page-6">
            <a:extLst>
              <a:ext uri="{FF2B5EF4-FFF2-40B4-BE49-F238E27FC236}">
                <a16:creationId xmlns:a16="http://schemas.microsoft.com/office/drawing/2014/main" id="{0284232D-9CE7-48E4-A8BF-13DBCE3DFD48}"/>
              </a:ext>
            </a:extLst>
          </p:cNvPr>
          <p:cNvSpPr>
            <a:spLocks noGrp="1"/>
          </p:cNvSpPr>
          <p:nvPr/>
        </p:nvSpPr>
        <p:spPr>
          <a:xfrm>
            <a:off x="10953750" y="457200"/>
            <a:ext cx="552450" cy="228600"/>
          </a:xfrm>
          <a:prstGeom prst="rect">
            <a:avLst/>
          </a:prstGeom>
          <a:noFill/>
          <a:ln w="0">
            <a:noFill/>
            <a:prstDash val="solid"/>
          </a:ln>
        </p:spPr>
        <p:txBody>
          <a:bodyPr/>
          <a:lstStyle/>
          <a:p>
            <a:pPr algn="r">
              <a:buNone/>
              <a:defRPr sz="1125" b="1">
                <a:solidFill>
                  <a:srgbClr val="48606B"/>
                </a:solidFill>
              </a:defRPr>
            </a:pPr>
            <a:r>
              <a:rPr sz="1125" b="1">
                <a:solidFill>
                  <a:srgbClr val="48606B"/>
                </a:solidFill>
              </a:rPr>
              <a:t>06</a:t>
            </a:r>
          </a:p>
        </p:txBody>
      </p:sp>
      <p:sp>
        <p:nvSpPr>
          <p:cNvPr id="5" name="example-lead">
            <a:extLst>
              <a:ext uri="{FF2B5EF4-FFF2-40B4-BE49-F238E27FC236}">
                <a16:creationId xmlns:a16="http://schemas.microsoft.com/office/drawing/2014/main" id="{9BF38FD2-DF8A-4ABD-8760-ED7585887D7F}"/>
              </a:ext>
            </a:extLst>
          </p:cNvPr>
          <p:cNvSpPr>
            <a:spLocks noGrp="1"/>
          </p:cNvSpPr>
          <p:nvPr/>
        </p:nvSpPr>
        <p:spPr>
          <a:xfrm>
            <a:off x="685800" y="1809750"/>
            <a:ext cx="10096500" cy="514350"/>
          </a:xfrm>
          <a:prstGeom prst="rect">
            <a:avLst/>
          </a:prstGeom>
          <a:noFill/>
          <a:ln w="0">
            <a:noFill/>
            <a:prstDash val="solid"/>
          </a:ln>
        </p:spPr>
        <p:txBody>
          <a:bodyPr/>
          <a:lstStyle/>
          <a:p>
            <a:pPr algn="l">
              <a:buNone/>
              <a:defRPr sz="1725" b="0">
                <a:solidFill>
                  <a:srgbClr val="102A33"/>
                </a:solidFill>
              </a:defRPr>
            </a:pPr>
            <a:r>
              <a:rPr sz="1725" b="0">
                <a:solidFill>
                  <a:srgbClr val="102A33"/>
                </a:solidFill>
              </a:rPr>
              <a:t>Example: a buyer is considering two towns in mainland Portugal and wants a consistent first comparison before property visits.</a:t>
            </a:r>
          </a:p>
        </p:txBody>
      </p:sp>
      <p:sp>
        <p:nvSpPr>
          <p:cNvPr id="6" name="example-a">
            <a:extLst>
              <a:ext uri="{FF2B5EF4-FFF2-40B4-BE49-F238E27FC236}">
                <a16:creationId xmlns:a16="http://schemas.microsoft.com/office/drawing/2014/main" id="{B2D854AD-E4D0-4212-9B2D-27C8941DDCE8}"/>
              </a:ext>
            </a:extLst>
          </p:cNvPr>
          <p:cNvSpPr>
            <a:spLocks noGrp="1"/>
          </p:cNvSpPr>
          <p:nvPr/>
        </p:nvSpPr>
        <p:spPr>
          <a:xfrm>
            <a:off x="685800" y="3143250"/>
            <a:ext cx="2000250" cy="1104900"/>
          </a:xfrm>
          <a:prstGeom prst="roundRect">
            <a:avLst>
              <a:gd name="adj" fmla="val 6897"/>
            </a:avLst>
          </a:prstGeom>
          <a:solidFill>
            <a:srgbClr val="EAF6FD"/>
          </a:solidFill>
          <a:ln w="9525">
            <a:solidFill>
              <a:srgbClr val="6DCBF4"/>
            </a:solidFill>
            <a:prstDash val="solid"/>
          </a:ln>
        </p:spPr>
      </p:sp>
      <p:sp>
        <p:nvSpPr>
          <p:cNvPr id="7" name="example-a-label">
            <a:extLst>
              <a:ext uri="{FF2B5EF4-FFF2-40B4-BE49-F238E27FC236}">
                <a16:creationId xmlns:a16="http://schemas.microsoft.com/office/drawing/2014/main" id="{61757AE8-9330-46EE-B0D3-DB840BC8008E}"/>
              </a:ext>
            </a:extLst>
          </p:cNvPr>
          <p:cNvSpPr>
            <a:spLocks noGrp="1"/>
          </p:cNvSpPr>
          <p:nvPr/>
        </p:nvSpPr>
        <p:spPr>
          <a:xfrm>
            <a:off x="800100" y="3333750"/>
            <a:ext cx="1771650" cy="800100"/>
          </a:xfrm>
          <a:prstGeom prst="rect">
            <a:avLst/>
          </a:prstGeom>
          <a:noFill/>
          <a:ln w="0">
            <a:noFill/>
            <a:prstDash val="solid"/>
          </a:ln>
        </p:spPr>
        <p:txBody>
          <a:bodyPr/>
          <a:lstStyle/>
          <a:p>
            <a:pPr algn="ctr">
              <a:buNone/>
              <a:defRPr sz="1425" b="1">
                <a:solidFill>
                  <a:srgbClr val="102A33"/>
                </a:solidFill>
              </a:defRPr>
            </a:pPr>
            <a:r>
              <a:rPr sz="1425" b="1">
                <a:solidFill>
                  <a:srgbClr val="102A33"/>
                </a:solidFill>
              </a:rPr>
              <a:t>1. Choose</a:t>
            </a:r>
          </a:p>
          <a:p>
            <a:pPr algn="ctr">
              <a:buNone/>
              <a:defRPr sz="1425" b="1">
                <a:solidFill>
                  <a:srgbClr val="102A33"/>
                </a:solidFill>
              </a:defRPr>
            </a:pPr>
            <a:r>
              <a:rPr sz="1425" b="1">
                <a:solidFill>
                  <a:srgbClr val="102A33"/>
                </a:solidFill>
              </a:rPr>
              <a:t>Area A and Area B</a:t>
            </a:r>
          </a:p>
        </p:txBody>
      </p:sp>
      <p:sp>
        <p:nvSpPr>
          <p:cNvPr id="8" name="example-grid">
            <a:extLst>
              <a:ext uri="{FF2B5EF4-FFF2-40B4-BE49-F238E27FC236}">
                <a16:creationId xmlns:a16="http://schemas.microsoft.com/office/drawing/2014/main" id="{334D0605-7B4C-47ED-91C7-49973AB70565}"/>
              </a:ext>
            </a:extLst>
          </p:cNvPr>
          <p:cNvSpPr>
            <a:spLocks noGrp="1"/>
          </p:cNvSpPr>
          <p:nvPr/>
        </p:nvSpPr>
        <p:spPr>
          <a:xfrm>
            <a:off x="3238500" y="3143250"/>
            <a:ext cx="1809750" cy="1104900"/>
          </a:xfrm>
          <a:prstGeom prst="roundRect">
            <a:avLst>
              <a:gd name="adj" fmla="val 6897"/>
            </a:avLst>
          </a:prstGeom>
          <a:solidFill>
            <a:srgbClr val="F3F6F7"/>
          </a:solidFill>
          <a:ln w="9525">
            <a:solidFill>
              <a:srgbClr val="C8D2D6"/>
            </a:solidFill>
            <a:prstDash val="solid"/>
          </a:ln>
        </p:spPr>
      </p:sp>
      <p:sp>
        <p:nvSpPr>
          <p:cNvPr id="9" name="example-grid-label">
            <a:extLst>
              <a:ext uri="{FF2B5EF4-FFF2-40B4-BE49-F238E27FC236}">
                <a16:creationId xmlns:a16="http://schemas.microsoft.com/office/drawing/2014/main" id="{335B4D10-577B-411F-80FC-25EBEC331CA4}"/>
              </a:ext>
            </a:extLst>
          </p:cNvPr>
          <p:cNvSpPr>
            <a:spLocks noGrp="1"/>
          </p:cNvSpPr>
          <p:nvPr/>
        </p:nvSpPr>
        <p:spPr>
          <a:xfrm>
            <a:off x="3352800" y="3333750"/>
            <a:ext cx="1581150" cy="800100"/>
          </a:xfrm>
          <a:prstGeom prst="rect">
            <a:avLst/>
          </a:prstGeom>
          <a:noFill/>
          <a:ln w="0">
            <a:noFill/>
            <a:prstDash val="solid"/>
          </a:ln>
        </p:spPr>
        <p:txBody>
          <a:bodyPr/>
          <a:lstStyle/>
          <a:p>
            <a:pPr algn="ctr">
              <a:buNone/>
              <a:defRPr sz="1425" b="1">
                <a:solidFill>
                  <a:srgbClr val="102A33"/>
                </a:solidFill>
              </a:defRPr>
            </a:pPr>
            <a:r>
              <a:rPr sz="1425" b="1">
                <a:solidFill>
                  <a:srgbClr val="102A33"/>
                </a:solidFill>
              </a:rPr>
              <a:t>2. Find each</a:t>
            </a:r>
          </a:p>
          <a:p>
            <a:pPr algn="ctr">
              <a:buNone/>
              <a:defRPr sz="1425" b="1">
                <a:solidFill>
                  <a:srgbClr val="102A33"/>
                </a:solidFill>
              </a:defRPr>
            </a:pPr>
            <a:r>
              <a:rPr sz="1425" b="1">
                <a:solidFill>
                  <a:srgbClr val="102A33"/>
                </a:solidFill>
              </a:rPr>
              <a:t>1 km grid cell</a:t>
            </a:r>
          </a:p>
        </p:txBody>
      </p:sp>
      <p:sp>
        <p:nvSpPr>
          <p:cNvPr id="10" name="example-score">
            <a:extLst>
              <a:ext uri="{FF2B5EF4-FFF2-40B4-BE49-F238E27FC236}">
                <a16:creationId xmlns:a16="http://schemas.microsoft.com/office/drawing/2014/main" id="{A8C6EF1C-6E79-4FEB-8538-2F14251E6D13}"/>
              </a:ext>
            </a:extLst>
          </p:cNvPr>
          <p:cNvSpPr>
            <a:spLocks noGrp="1"/>
          </p:cNvSpPr>
          <p:nvPr/>
        </p:nvSpPr>
        <p:spPr>
          <a:xfrm>
            <a:off x="5600700" y="3143250"/>
            <a:ext cx="1809750" cy="1104900"/>
          </a:xfrm>
          <a:prstGeom prst="roundRect">
            <a:avLst>
              <a:gd name="adj" fmla="val 6897"/>
            </a:avLst>
          </a:prstGeom>
          <a:solidFill>
            <a:srgbClr val="FFF5E6"/>
          </a:solidFill>
          <a:ln w="9525">
            <a:solidFill>
              <a:srgbClr val="F2C879"/>
            </a:solidFill>
            <a:prstDash val="solid"/>
          </a:ln>
        </p:spPr>
      </p:sp>
      <p:sp>
        <p:nvSpPr>
          <p:cNvPr id="11" name="example-score-label">
            <a:extLst>
              <a:ext uri="{FF2B5EF4-FFF2-40B4-BE49-F238E27FC236}">
                <a16:creationId xmlns:a16="http://schemas.microsoft.com/office/drawing/2014/main" id="{A596D491-876E-4688-98A1-F8CACD3A2D46}"/>
              </a:ext>
            </a:extLst>
          </p:cNvPr>
          <p:cNvSpPr>
            <a:spLocks noGrp="1"/>
          </p:cNvSpPr>
          <p:nvPr/>
        </p:nvSpPr>
        <p:spPr>
          <a:xfrm>
            <a:off x="5715000" y="3333750"/>
            <a:ext cx="1581150" cy="800100"/>
          </a:xfrm>
          <a:prstGeom prst="rect">
            <a:avLst/>
          </a:prstGeom>
          <a:noFill/>
          <a:ln w="0">
            <a:noFill/>
            <a:prstDash val="solid"/>
          </a:ln>
        </p:spPr>
        <p:txBody>
          <a:bodyPr/>
          <a:lstStyle/>
          <a:p>
            <a:pPr algn="ctr">
              <a:buNone/>
              <a:defRPr sz="1425" b="1">
                <a:solidFill>
                  <a:srgbClr val="102A33"/>
                </a:solidFill>
              </a:defRPr>
            </a:pPr>
            <a:r>
              <a:rPr sz="1425" b="1">
                <a:solidFill>
                  <a:srgbClr val="102A33"/>
                </a:solidFill>
              </a:rPr>
              <a:t>3. Join the</a:t>
            </a:r>
          </a:p>
          <a:p>
            <a:pPr algn="ctr">
              <a:buNone/>
              <a:defRPr sz="1425" b="1">
                <a:solidFill>
                  <a:srgbClr val="102A33"/>
                </a:solidFill>
              </a:defRPr>
            </a:pPr>
            <a:r>
              <a:rPr sz="1425" b="1">
                <a:solidFill>
                  <a:srgbClr val="102A33"/>
                </a:solidFill>
              </a:rPr>
              <a:t>documented data</a:t>
            </a:r>
          </a:p>
        </p:txBody>
      </p:sp>
      <p:sp>
        <p:nvSpPr>
          <p:cNvPr id="12" name="example-result">
            <a:extLst>
              <a:ext uri="{FF2B5EF4-FFF2-40B4-BE49-F238E27FC236}">
                <a16:creationId xmlns:a16="http://schemas.microsoft.com/office/drawing/2014/main" id="{DF2F9E78-3F27-4560-B523-6B648EB1E5EF}"/>
              </a:ext>
            </a:extLst>
          </p:cNvPr>
          <p:cNvSpPr>
            <a:spLocks noGrp="1"/>
          </p:cNvSpPr>
          <p:nvPr/>
        </p:nvSpPr>
        <p:spPr>
          <a:xfrm>
            <a:off x="7962900" y="3143250"/>
            <a:ext cx="2286000" cy="1104900"/>
          </a:xfrm>
          <a:prstGeom prst="roundRect">
            <a:avLst>
              <a:gd name="adj" fmla="val 6897"/>
            </a:avLst>
          </a:prstGeom>
          <a:solidFill>
            <a:srgbClr val="EEF8F0"/>
          </a:solidFill>
          <a:ln w="9525">
            <a:solidFill>
              <a:srgbClr val="9AC9A6"/>
            </a:solidFill>
            <a:prstDash val="solid"/>
          </a:ln>
        </p:spPr>
      </p:sp>
      <p:sp>
        <p:nvSpPr>
          <p:cNvPr id="13" name="example-result-label">
            <a:extLst>
              <a:ext uri="{FF2B5EF4-FFF2-40B4-BE49-F238E27FC236}">
                <a16:creationId xmlns:a16="http://schemas.microsoft.com/office/drawing/2014/main" id="{C54FBB31-ABF0-4046-B04E-3A6581EE0692}"/>
              </a:ext>
            </a:extLst>
          </p:cNvPr>
          <p:cNvSpPr>
            <a:spLocks noGrp="1"/>
          </p:cNvSpPr>
          <p:nvPr/>
        </p:nvSpPr>
        <p:spPr>
          <a:xfrm>
            <a:off x="8077200" y="3333750"/>
            <a:ext cx="2057400" cy="800100"/>
          </a:xfrm>
          <a:prstGeom prst="rect">
            <a:avLst/>
          </a:prstGeom>
          <a:noFill/>
          <a:ln w="0">
            <a:noFill/>
            <a:prstDash val="solid"/>
          </a:ln>
        </p:spPr>
        <p:txBody>
          <a:bodyPr/>
          <a:lstStyle/>
          <a:p>
            <a:pPr algn="ctr">
              <a:buNone/>
              <a:defRPr sz="1425" b="1">
                <a:solidFill>
                  <a:srgbClr val="102A33"/>
                </a:solidFill>
              </a:defRPr>
            </a:pPr>
            <a:r>
              <a:rPr sz="1425" b="1">
                <a:solidFill>
                  <a:srgbClr val="102A33"/>
                </a:solidFill>
              </a:rPr>
              <a:t>4. Compare</a:t>
            </a:r>
          </a:p>
          <a:p>
            <a:pPr algn="ctr">
              <a:buNone/>
              <a:defRPr sz="1425" b="1">
                <a:solidFill>
                  <a:srgbClr val="102A33"/>
                </a:solidFill>
              </a:defRPr>
            </a:pPr>
            <a:r>
              <a:rPr sz="1425" b="1">
                <a:solidFill>
                  <a:srgbClr val="102A33"/>
                </a:solidFill>
              </a:rPr>
              <a:t>category + caveats</a:t>
            </a:r>
          </a:p>
        </p:txBody>
      </p:sp>
      <p:cxnSp>
        <p:nvCxnSpPr>
          <p:cNvPr id="51" name="Straight Arrow Connector 34"/>
          <p:cNvCxnSpPr>
            <a:stCxn id="6" idx="3"/>
            <a:endCxn id="8" idx="1"/>
          </p:cNvCxnSpPr>
          <p:nvPr/>
        </p:nvCxnSpPr>
        <p:spPr>
          <a:xfrm>
            <a:off x="2686050" y="3695700"/>
            <a:ext cx="552450" cy="0"/>
          </a:xfrm>
          <a:prstGeom prst="straightConnector1">
            <a:avLst/>
          </a:prstGeom>
          <a:ln w="28575">
            <a:solidFill>
              <a:srgbClr val="3D8DFF"/>
            </a:solidFill>
            <a:prstDash val="solid"/>
            <a:tailEnd type="arrow" w="med" len="med"/>
          </a:ln>
        </p:spPr>
      </p:cxnSp>
      <p:cxnSp>
        <p:nvCxnSpPr>
          <p:cNvPr id="52" name="Straight Arrow Connector 35"/>
          <p:cNvCxnSpPr>
            <a:stCxn id="8" idx="3"/>
            <a:endCxn id="10" idx="1"/>
          </p:cNvCxnSpPr>
          <p:nvPr/>
        </p:nvCxnSpPr>
        <p:spPr>
          <a:xfrm>
            <a:off x="5048250" y="3695700"/>
            <a:ext cx="552450" cy="0"/>
          </a:xfrm>
          <a:prstGeom prst="straightConnector1">
            <a:avLst/>
          </a:prstGeom>
          <a:ln w="28575">
            <a:solidFill>
              <a:srgbClr val="3D8DFF"/>
            </a:solidFill>
            <a:prstDash val="solid"/>
            <a:tailEnd type="arrow" w="med" len="med"/>
          </a:ln>
        </p:spPr>
      </p:cxnSp>
      <p:cxnSp>
        <p:nvCxnSpPr>
          <p:cNvPr id="53" name="Straight Arrow Connector 36"/>
          <p:cNvCxnSpPr>
            <a:stCxn id="10" idx="3"/>
            <a:endCxn id="12" idx="1"/>
          </p:cNvCxnSpPr>
          <p:nvPr/>
        </p:nvCxnSpPr>
        <p:spPr>
          <a:xfrm>
            <a:off x="7410450" y="3695700"/>
            <a:ext cx="552450" cy="0"/>
          </a:xfrm>
          <a:prstGeom prst="straightConnector1">
            <a:avLst/>
          </a:prstGeom>
          <a:ln w="28575">
            <a:solidFill>
              <a:srgbClr val="3D8DFF"/>
            </a:solidFill>
            <a:prstDash val="solid"/>
            <a:tailEnd type="arrow" w="med" len="med"/>
          </a:ln>
        </p:spPr>
      </p:cxnSp>
      <p:sp>
        <p:nvSpPr>
          <p:cNvPr id="17" name="example-b1-dot">
            <a:extLst>
              <a:ext uri="{FF2B5EF4-FFF2-40B4-BE49-F238E27FC236}">
                <a16:creationId xmlns:a16="http://schemas.microsoft.com/office/drawing/2014/main" id="{8D930764-8BB3-478A-87CC-F272FBF6AC91}"/>
              </a:ext>
            </a:extLst>
          </p:cNvPr>
          <p:cNvSpPr>
            <a:spLocks noGrp="1"/>
          </p:cNvSpPr>
          <p:nvPr/>
        </p:nvSpPr>
        <p:spPr>
          <a:xfrm>
            <a:off x="685800" y="5000625"/>
            <a:ext cx="171450" cy="247650"/>
          </a:xfrm>
          <a:prstGeom prst="rect">
            <a:avLst/>
          </a:prstGeom>
          <a:noFill/>
          <a:ln w="0">
            <a:noFill/>
            <a:prstDash val="solid"/>
          </a:ln>
        </p:spPr>
        <p:txBody>
          <a:bodyPr/>
          <a:lstStyle/>
          <a:p>
            <a:pPr algn="l">
              <a:buNone/>
              <a:defRPr sz="1800" b="1">
                <a:solidFill>
                  <a:srgbClr val="3D8DFF"/>
                </a:solidFill>
              </a:defRPr>
            </a:pPr>
            <a:r>
              <a:rPr sz="1800" b="1">
                <a:solidFill>
                  <a:srgbClr val="3D8DFF"/>
                </a:solidFill>
              </a:rPr>
              <a:t>•</a:t>
            </a:r>
          </a:p>
        </p:txBody>
      </p:sp>
      <p:sp>
        <p:nvSpPr>
          <p:cNvPr id="18" name="example-b1-text">
            <a:extLst>
              <a:ext uri="{FF2B5EF4-FFF2-40B4-BE49-F238E27FC236}">
                <a16:creationId xmlns:a16="http://schemas.microsoft.com/office/drawing/2014/main" id="{C252A826-B156-482B-B9DE-0991D5FE3E3E}"/>
              </a:ext>
            </a:extLst>
          </p:cNvPr>
          <p:cNvSpPr>
            <a:spLocks noGrp="1"/>
          </p:cNvSpPr>
          <p:nvPr/>
        </p:nvSpPr>
        <p:spPr>
          <a:xfrm>
            <a:off x="914400" y="5010150"/>
            <a:ext cx="4629150" cy="381000"/>
          </a:xfrm>
          <a:prstGeom prst="rect">
            <a:avLst/>
          </a:prstGeom>
          <a:noFill/>
          <a:ln w="0">
            <a:noFill/>
            <a:prstDash val="solid"/>
          </a:ln>
        </p:spPr>
        <p:txBody>
          <a:bodyPr/>
          <a:lstStyle/>
          <a:p>
            <a:pPr algn="l">
              <a:buNone/>
              <a:defRPr sz="1575" b="0">
                <a:solidFill>
                  <a:srgbClr val="102A33"/>
                </a:solidFill>
              </a:defRPr>
            </a:pPr>
            <a:r>
              <a:rPr sz="1575" b="0">
                <a:solidFill>
                  <a:srgbClr val="102A33"/>
                </a:solidFill>
              </a:rPr>
              <a:t>Use the result to decide which areas deserve more research or a visit.</a:t>
            </a:r>
          </a:p>
        </p:txBody>
      </p:sp>
      <p:sp>
        <p:nvSpPr>
          <p:cNvPr id="19" name="example-b2-dot">
            <a:extLst>
              <a:ext uri="{FF2B5EF4-FFF2-40B4-BE49-F238E27FC236}">
                <a16:creationId xmlns:a16="http://schemas.microsoft.com/office/drawing/2014/main" id="{ECF6C0B8-48F7-41EA-BA85-2DC6E386E82B}"/>
              </a:ext>
            </a:extLst>
          </p:cNvPr>
          <p:cNvSpPr>
            <a:spLocks noGrp="1"/>
          </p:cNvSpPr>
          <p:nvPr/>
        </p:nvSpPr>
        <p:spPr>
          <a:xfrm>
            <a:off x="6191250" y="5000625"/>
            <a:ext cx="171450" cy="247650"/>
          </a:xfrm>
          <a:prstGeom prst="rect">
            <a:avLst/>
          </a:prstGeom>
          <a:noFill/>
          <a:ln w="0">
            <a:noFill/>
            <a:prstDash val="solid"/>
          </a:ln>
        </p:spPr>
        <p:txBody>
          <a:bodyPr/>
          <a:lstStyle/>
          <a:p>
            <a:pPr algn="l">
              <a:buNone/>
              <a:defRPr sz="1800" b="1">
                <a:solidFill>
                  <a:srgbClr val="3D8DFF"/>
                </a:solidFill>
              </a:defRPr>
            </a:pPr>
            <a:r>
              <a:rPr sz="1800" b="1">
                <a:solidFill>
                  <a:srgbClr val="3D8DFF"/>
                </a:solidFill>
              </a:rPr>
              <a:t>•</a:t>
            </a:r>
          </a:p>
        </p:txBody>
      </p:sp>
      <p:sp>
        <p:nvSpPr>
          <p:cNvPr id="20" name="example-b2-text">
            <a:extLst>
              <a:ext uri="{FF2B5EF4-FFF2-40B4-BE49-F238E27FC236}">
                <a16:creationId xmlns:a16="http://schemas.microsoft.com/office/drawing/2014/main" id="{CDC72D88-88AB-4464-B4D6-C4C598C09C7C}"/>
              </a:ext>
            </a:extLst>
          </p:cNvPr>
          <p:cNvSpPr>
            <a:spLocks noGrp="1"/>
          </p:cNvSpPr>
          <p:nvPr/>
        </p:nvSpPr>
        <p:spPr>
          <a:xfrm>
            <a:off x="6419850" y="5010150"/>
            <a:ext cx="4724400" cy="381000"/>
          </a:xfrm>
          <a:prstGeom prst="rect">
            <a:avLst/>
          </a:prstGeom>
          <a:noFill/>
          <a:ln w="0">
            <a:noFill/>
            <a:prstDash val="solid"/>
          </a:ln>
        </p:spPr>
        <p:txBody>
          <a:bodyPr/>
          <a:lstStyle/>
          <a:p>
            <a:pPr algn="l">
              <a:buNone/>
              <a:defRPr sz="1575" b="0">
                <a:solidFill>
                  <a:srgbClr val="102A33"/>
                </a:solidFill>
              </a:defRPr>
            </a:pPr>
            <a:r>
              <a:rPr sz="1575" b="0">
                <a:solidFill>
                  <a:srgbClr val="102A33"/>
                </a:solidFill>
              </a:rPr>
              <a:t>Then check the actual property: nearby vegetation, access routes, building condition and insurance.</a:t>
            </a:r>
          </a:p>
        </p:txBody>
      </p:sp>
      <p:sp>
        <p:nvSpPr>
          <p:cNvPr id="21" name="footer-6">
            <a:extLst>
              <a:ext uri="{FF2B5EF4-FFF2-40B4-BE49-F238E27FC236}">
                <a16:creationId xmlns:a16="http://schemas.microsoft.com/office/drawing/2014/main" id="{4A64B4A5-9753-4852-B031-167D2C5E44C7}"/>
              </a:ext>
            </a:extLst>
          </p:cNvPr>
          <p:cNvSpPr>
            <a:spLocks noGrp="1"/>
          </p:cNvSpPr>
          <p:nvPr/>
        </p:nvSpPr>
        <p:spPr>
          <a:xfrm>
            <a:off x="685800" y="6477000"/>
            <a:ext cx="5905500" cy="152400"/>
          </a:xfrm>
          <a:prstGeom prst="rect">
            <a:avLst/>
          </a:prstGeom>
          <a:noFill/>
          <a:ln w="0">
            <a:noFill/>
            <a:prstDash val="solid"/>
          </a:ln>
        </p:spPr>
        <p:txBody>
          <a:bodyPr/>
          <a:lstStyle/>
          <a:p>
            <a:pPr algn="l">
              <a:buNone/>
              <a:defRPr sz="900" b="0">
                <a:solidFill>
                  <a:srgbClr val="48606B"/>
                </a:solidFill>
              </a:defRPr>
            </a:pPr>
            <a:r>
              <a:rPr sz="900" b="0">
                <a:solidFill>
                  <a:srgbClr val="48606B"/>
                </a:solidFill>
              </a:rPr>
              <a:t>Wildfire exposure screening • mainland Portugal</a:t>
            </a:r>
          </a:p>
        </p:txBody>
      </p:sp>
    </p:spTree>
    <p:extLst>
      <p:ext uri="{BB962C8B-B14F-4D97-AF65-F5344CB8AC3E}">
        <p14:creationId xmlns:p14="http://schemas.microsoft.com/office/powerpoint/2010/main" val="1352738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kicker-2">
            <a:extLst>
              <a:ext uri="{FF2B5EF4-FFF2-40B4-BE49-F238E27FC236}">
                <a16:creationId xmlns:a16="http://schemas.microsoft.com/office/drawing/2014/main" id="{AE6D7BB9-C064-4B4B-9C43-EC73FB3B2F15}"/>
              </a:ext>
            </a:extLst>
          </p:cNvPr>
          <p:cNvSpPr>
            <a:spLocks noGrp="1"/>
          </p:cNvSpPr>
          <p:nvPr/>
        </p:nvSpPr>
        <p:spPr>
          <a:xfrm>
            <a:off x="685800" y="457200"/>
            <a:ext cx="7620000" cy="228600"/>
          </a:xfrm>
          <a:prstGeom prst="rect">
            <a:avLst/>
          </a:prstGeom>
          <a:noFill/>
          <a:ln w="0">
            <a:noFill/>
            <a:prstDash val="solid"/>
          </a:ln>
        </p:spPr>
        <p:txBody>
          <a:bodyPr/>
          <a:lstStyle/>
          <a:p>
            <a:pPr algn="l">
              <a:buNone/>
              <a:defRPr sz="1125" b="1">
                <a:solidFill>
                  <a:srgbClr val="3D8DFF"/>
                </a:solidFill>
              </a:defRPr>
            </a:pPr>
            <a:r>
              <a:rPr sz="1125" b="1">
                <a:solidFill>
                  <a:srgbClr val="3D8DFF"/>
                </a:solidFill>
              </a:rPr>
              <a:t>PURPOSE</a:t>
            </a:r>
          </a:p>
        </p:txBody>
      </p:sp>
      <p:sp>
        <p:nvSpPr>
          <p:cNvPr id="2" name="title-2">
            <a:extLst>
              <a:ext uri="{FF2B5EF4-FFF2-40B4-BE49-F238E27FC236}">
                <a16:creationId xmlns:a16="http://schemas.microsoft.com/office/drawing/2014/main" id="{87936CEA-52D6-40DD-A804-CE265976C15A}"/>
              </a:ext>
            </a:extLst>
          </p:cNvPr>
          <p:cNvSpPr>
            <a:spLocks noGrp="1"/>
          </p:cNvSpPr>
          <p:nvPr/>
        </p:nvSpPr>
        <p:spPr>
          <a:xfrm>
            <a:off x="685800" y="781050"/>
            <a:ext cx="10001250" cy="552450"/>
          </a:xfrm>
          <a:prstGeom prst="rect">
            <a:avLst/>
          </a:prstGeom>
          <a:noFill/>
          <a:ln w="0">
            <a:noFill/>
            <a:prstDash val="solid"/>
          </a:ln>
        </p:spPr>
        <p:txBody>
          <a:bodyPr/>
          <a:lstStyle/>
          <a:p>
            <a:pPr algn="l">
              <a:buNone/>
              <a:defRPr sz="2775" b="1">
                <a:solidFill>
                  <a:srgbClr val="102A33"/>
                </a:solidFill>
              </a:defRPr>
            </a:pPr>
            <a:r>
              <a:rPr sz="2775" b="1">
                <a:solidFill>
                  <a:srgbClr val="102A33"/>
                </a:solidFill>
              </a:rPr>
              <a:t>Turn public data into a clear screening signal</a:t>
            </a:r>
          </a:p>
        </p:txBody>
      </p:sp>
      <p:sp>
        <p:nvSpPr>
          <p:cNvPr id="3" name="rule-2">
            <a:extLst>
              <a:ext uri="{FF2B5EF4-FFF2-40B4-BE49-F238E27FC236}">
                <a16:creationId xmlns:a16="http://schemas.microsoft.com/office/drawing/2014/main" id="{DC6E43CA-6949-4222-AFCA-DD1FFDCA4A2D}"/>
              </a:ext>
            </a:extLst>
          </p:cNvPr>
          <p:cNvSpPr>
            <a:spLocks noGrp="1"/>
          </p:cNvSpPr>
          <p:nvPr/>
        </p:nvSpPr>
        <p:spPr>
          <a:xfrm>
            <a:off x="685800" y="1466850"/>
            <a:ext cx="10820400" cy="19050"/>
          </a:xfrm>
          <a:prstGeom prst="rect">
            <a:avLst/>
          </a:prstGeom>
          <a:solidFill>
            <a:srgbClr val="C8D2D6"/>
          </a:solidFill>
          <a:ln w="0">
            <a:noFill/>
            <a:prstDash val="solid"/>
          </a:ln>
        </p:spPr>
      </p:sp>
      <p:sp>
        <p:nvSpPr>
          <p:cNvPr id="4" name="page-2">
            <a:extLst>
              <a:ext uri="{FF2B5EF4-FFF2-40B4-BE49-F238E27FC236}">
                <a16:creationId xmlns:a16="http://schemas.microsoft.com/office/drawing/2014/main" id="{7F37C806-0A3A-4E44-9CB4-0C28A562084A}"/>
              </a:ext>
            </a:extLst>
          </p:cNvPr>
          <p:cNvSpPr>
            <a:spLocks noGrp="1"/>
          </p:cNvSpPr>
          <p:nvPr/>
        </p:nvSpPr>
        <p:spPr>
          <a:xfrm>
            <a:off x="10953750" y="457200"/>
            <a:ext cx="552450" cy="228600"/>
          </a:xfrm>
          <a:prstGeom prst="rect">
            <a:avLst/>
          </a:prstGeom>
          <a:noFill/>
          <a:ln w="0">
            <a:noFill/>
            <a:prstDash val="solid"/>
          </a:ln>
        </p:spPr>
        <p:txBody>
          <a:bodyPr/>
          <a:lstStyle/>
          <a:p>
            <a:pPr algn="r">
              <a:buNone/>
              <a:defRPr sz="1125" b="1">
                <a:solidFill>
                  <a:srgbClr val="48606B"/>
                </a:solidFill>
              </a:defRPr>
            </a:pPr>
            <a:r>
              <a:rPr sz="1125" b="1">
                <a:solidFill>
                  <a:srgbClr val="48606B"/>
                </a:solidFill>
              </a:rPr>
              <a:t>02</a:t>
            </a:r>
          </a:p>
        </p:txBody>
      </p:sp>
      <p:sp>
        <p:nvSpPr>
          <p:cNvPr id="5" name="goal-lead">
            <a:extLst>
              <a:ext uri="{FF2B5EF4-FFF2-40B4-BE49-F238E27FC236}">
                <a16:creationId xmlns:a16="http://schemas.microsoft.com/office/drawing/2014/main" id="{A885D827-9367-4772-930A-F19244DC5575}"/>
              </a:ext>
            </a:extLst>
          </p:cNvPr>
          <p:cNvSpPr>
            <a:spLocks noGrp="1"/>
          </p:cNvSpPr>
          <p:nvPr/>
        </p:nvSpPr>
        <p:spPr>
          <a:xfrm>
            <a:off x="685800" y="1809750"/>
            <a:ext cx="9715500" cy="495300"/>
          </a:xfrm>
          <a:prstGeom prst="rect">
            <a:avLst/>
          </a:prstGeom>
          <a:noFill/>
          <a:ln w="0">
            <a:noFill/>
            <a:prstDash val="solid"/>
          </a:ln>
        </p:spPr>
        <p:txBody>
          <a:bodyPr/>
          <a:lstStyle/>
          <a:p>
            <a:pPr algn="l">
              <a:buNone/>
              <a:defRPr sz="1875" b="1">
                <a:solidFill>
                  <a:srgbClr val="102A33"/>
                </a:solidFill>
              </a:defRPr>
            </a:pPr>
            <a:r>
              <a:rPr sz="1875" b="1">
                <a:solidFill>
                  <a:srgbClr val="102A33"/>
                </a:solidFill>
              </a:rPr>
              <a:t>Goal: classify areas as lower, medium, or higher relative wildfire exposure — as one input to location shortlisting.</a:t>
            </a:r>
          </a:p>
        </p:txBody>
      </p:sp>
      <p:sp>
        <p:nvSpPr>
          <p:cNvPr id="6" name="flow-inputs">
            <a:extLst>
              <a:ext uri="{FF2B5EF4-FFF2-40B4-BE49-F238E27FC236}">
                <a16:creationId xmlns:a16="http://schemas.microsoft.com/office/drawing/2014/main" id="{9F4817BC-9A6B-4918-9472-F7D7770C406C}"/>
              </a:ext>
            </a:extLst>
          </p:cNvPr>
          <p:cNvSpPr>
            <a:spLocks noGrp="1"/>
          </p:cNvSpPr>
          <p:nvPr/>
        </p:nvSpPr>
        <p:spPr>
          <a:xfrm>
            <a:off x="685800" y="3067050"/>
            <a:ext cx="1866900" cy="1200150"/>
          </a:xfrm>
          <a:prstGeom prst="roundRect">
            <a:avLst>
              <a:gd name="adj" fmla="val 6349"/>
            </a:avLst>
          </a:prstGeom>
          <a:solidFill>
            <a:srgbClr val="EAF6FD"/>
          </a:solidFill>
          <a:ln w="9525">
            <a:solidFill>
              <a:srgbClr val="6DCBF4"/>
            </a:solidFill>
            <a:prstDash val="solid"/>
          </a:ln>
        </p:spPr>
      </p:sp>
      <p:sp>
        <p:nvSpPr>
          <p:cNvPr id="7" name="flow-inputs-label">
            <a:extLst>
              <a:ext uri="{FF2B5EF4-FFF2-40B4-BE49-F238E27FC236}">
                <a16:creationId xmlns:a16="http://schemas.microsoft.com/office/drawing/2014/main" id="{194BED44-8B48-4F8A-AB79-E8E0417A4B30}"/>
              </a:ext>
            </a:extLst>
          </p:cNvPr>
          <p:cNvSpPr>
            <a:spLocks noGrp="1"/>
          </p:cNvSpPr>
          <p:nvPr/>
        </p:nvSpPr>
        <p:spPr>
          <a:xfrm>
            <a:off x="800100" y="3257550"/>
            <a:ext cx="1638300" cy="895350"/>
          </a:xfrm>
          <a:prstGeom prst="rect">
            <a:avLst/>
          </a:prstGeom>
          <a:noFill/>
          <a:ln w="0">
            <a:noFill/>
            <a:prstDash val="solid"/>
          </a:ln>
        </p:spPr>
        <p:txBody>
          <a:bodyPr/>
          <a:lstStyle/>
          <a:p>
            <a:pPr algn="ctr">
              <a:buNone/>
              <a:defRPr sz="1425" b="1">
                <a:solidFill>
                  <a:srgbClr val="102A33"/>
                </a:solidFill>
              </a:defRPr>
            </a:pPr>
            <a:r>
              <a:rPr sz="1425" b="1">
                <a:solidFill>
                  <a:srgbClr val="102A33"/>
                </a:solidFill>
              </a:rPr>
              <a:t>Historical fires +</a:t>
            </a:r>
          </a:p>
          <a:p>
            <a:pPr algn="ctr">
              <a:buNone/>
              <a:defRPr sz="1425" b="1">
                <a:solidFill>
                  <a:srgbClr val="102A33"/>
                </a:solidFill>
              </a:defRPr>
            </a:pPr>
            <a:r>
              <a:rPr sz="1425" b="1">
                <a:solidFill>
                  <a:srgbClr val="102A33"/>
                </a:solidFill>
              </a:rPr>
              <a:t>land cover + climate</a:t>
            </a:r>
          </a:p>
          <a:p>
            <a:pPr algn="ctr">
              <a:buNone/>
              <a:defRPr sz="1425" b="1">
                <a:solidFill>
                  <a:srgbClr val="102A33"/>
                </a:solidFill>
              </a:defRPr>
            </a:pPr>
            <a:r>
              <a:rPr sz="1425" b="1">
                <a:solidFill>
                  <a:srgbClr val="102A33"/>
                </a:solidFill>
              </a:rPr>
              <a:t>in predictor year T</a:t>
            </a:r>
          </a:p>
        </p:txBody>
      </p:sp>
      <p:sp>
        <p:nvSpPr>
          <p:cNvPr id="8" name="flow-model">
            <a:extLst>
              <a:ext uri="{FF2B5EF4-FFF2-40B4-BE49-F238E27FC236}">
                <a16:creationId xmlns:a16="http://schemas.microsoft.com/office/drawing/2014/main" id="{7CF62065-E389-4EC5-BF62-13A3D8201038}"/>
              </a:ext>
            </a:extLst>
          </p:cNvPr>
          <p:cNvSpPr>
            <a:spLocks noGrp="1"/>
          </p:cNvSpPr>
          <p:nvPr/>
        </p:nvSpPr>
        <p:spPr>
          <a:xfrm>
            <a:off x="2914650" y="3067050"/>
            <a:ext cx="1638300" cy="1200150"/>
          </a:xfrm>
          <a:prstGeom prst="roundRect">
            <a:avLst>
              <a:gd name="adj" fmla="val 6349"/>
            </a:avLst>
          </a:prstGeom>
          <a:solidFill>
            <a:srgbClr val="F3F6F7"/>
          </a:solidFill>
          <a:ln w="9525">
            <a:solidFill>
              <a:srgbClr val="C8D2D6"/>
            </a:solidFill>
            <a:prstDash val="solid"/>
          </a:ln>
        </p:spPr>
      </p:sp>
      <p:sp>
        <p:nvSpPr>
          <p:cNvPr id="9" name="flow-model-label">
            <a:extLst>
              <a:ext uri="{FF2B5EF4-FFF2-40B4-BE49-F238E27FC236}">
                <a16:creationId xmlns:a16="http://schemas.microsoft.com/office/drawing/2014/main" id="{E21C7A7F-23BF-4A9D-90E8-2496E88607AC}"/>
              </a:ext>
            </a:extLst>
          </p:cNvPr>
          <p:cNvSpPr>
            <a:spLocks noGrp="1"/>
          </p:cNvSpPr>
          <p:nvPr/>
        </p:nvSpPr>
        <p:spPr>
          <a:xfrm>
            <a:off x="3028950" y="3257550"/>
            <a:ext cx="1409700" cy="895350"/>
          </a:xfrm>
          <a:prstGeom prst="rect">
            <a:avLst/>
          </a:prstGeom>
          <a:noFill/>
          <a:ln w="0">
            <a:noFill/>
            <a:prstDash val="solid"/>
          </a:ln>
        </p:spPr>
        <p:txBody>
          <a:bodyPr/>
          <a:lstStyle/>
          <a:p>
            <a:pPr algn="ctr">
              <a:buNone/>
              <a:defRPr sz="1425" b="1">
                <a:solidFill>
                  <a:srgbClr val="102A33"/>
                </a:solidFill>
              </a:defRPr>
            </a:pPr>
            <a:r>
              <a:rPr sz="1425" b="1">
                <a:solidFill>
                  <a:srgbClr val="102A33"/>
                </a:solidFill>
              </a:rPr>
              <a:t>Supervised</a:t>
            </a:r>
          </a:p>
          <a:p>
            <a:pPr algn="ctr">
              <a:buNone/>
              <a:defRPr sz="1425" b="1">
                <a:solidFill>
                  <a:srgbClr val="102A33"/>
                </a:solidFill>
              </a:defRPr>
            </a:pPr>
            <a:r>
              <a:rPr sz="1425" b="1">
                <a:solidFill>
                  <a:srgbClr val="102A33"/>
                </a:solidFill>
              </a:rPr>
              <a:t>ML model</a:t>
            </a:r>
          </a:p>
        </p:txBody>
      </p:sp>
      <p:sp>
        <p:nvSpPr>
          <p:cNvPr id="10" name="flow-target">
            <a:extLst>
              <a:ext uri="{FF2B5EF4-FFF2-40B4-BE49-F238E27FC236}">
                <a16:creationId xmlns:a16="http://schemas.microsoft.com/office/drawing/2014/main" id="{73BD7E21-40BB-4DBC-A0AF-C3E9BD6EAE6B}"/>
              </a:ext>
            </a:extLst>
          </p:cNvPr>
          <p:cNvSpPr>
            <a:spLocks noGrp="1"/>
          </p:cNvSpPr>
          <p:nvPr/>
        </p:nvSpPr>
        <p:spPr>
          <a:xfrm>
            <a:off x="5143500" y="3067050"/>
            <a:ext cx="1638300" cy="1200150"/>
          </a:xfrm>
          <a:prstGeom prst="roundRect">
            <a:avLst>
              <a:gd name="adj" fmla="val 6349"/>
            </a:avLst>
          </a:prstGeom>
          <a:solidFill>
            <a:srgbClr val="FFF5E6"/>
          </a:solidFill>
          <a:ln w="9525">
            <a:solidFill>
              <a:srgbClr val="F2C879"/>
            </a:solidFill>
            <a:prstDash val="solid"/>
          </a:ln>
        </p:spPr>
      </p:sp>
      <p:sp>
        <p:nvSpPr>
          <p:cNvPr id="11" name="flow-target-label">
            <a:extLst>
              <a:ext uri="{FF2B5EF4-FFF2-40B4-BE49-F238E27FC236}">
                <a16:creationId xmlns:a16="http://schemas.microsoft.com/office/drawing/2014/main" id="{470EA616-4830-4BC0-A836-A7B6C6CC9279}"/>
              </a:ext>
            </a:extLst>
          </p:cNvPr>
          <p:cNvSpPr>
            <a:spLocks noGrp="1"/>
          </p:cNvSpPr>
          <p:nvPr/>
        </p:nvSpPr>
        <p:spPr>
          <a:xfrm>
            <a:off x="5257800" y="3257550"/>
            <a:ext cx="1409700" cy="895350"/>
          </a:xfrm>
          <a:prstGeom prst="rect">
            <a:avLst/>
          </a:prstGeom>
          <a:noFill/>
          <a:ln w="0">
            <a:noFill/>
            <a:prstDash val="solid"/>
          </a:ln>
        </p:spPr>
        <p:txBody>
          <a:bodyPr/>
          <a:lstStyle/>
          <a:p>
            <a:pPr algn="ctr">
              <a:buNone/>
              <a:defRPr sz="1425" b="1">
                <a:solidFill>
                  <a:srgbClr val="102A33"/>
                </a:solidFill>
              </a:defRPr>
            </a:pPr>
            <a:r>
              <a:rPr sz="1425" b="1">
                <a:solidFill>
                  <a:srgbClr val="102A33"/>
                </a:solidFill>
              </a:rPr>
              <a:t>Burned share</a:t>
            </a:r>
          </a:p>
          <a:p>
            <a:pPr algn="ctr">
              <a:buNone/>
              <a:defRPr sz="1425" b="1">
                <a:solidFill>
                  <a:srgbClr val="102A33"/>
                </a:solidFill>
              </a:defRPr>
            </a:pPr>
            <a:r>
              <a:rPr sz="1425" b="1">
                <a:solidFill>
                  <a:srgbClr val="102A33"/>
                </a:solidFill>
              </a:rPr>
              <a:t>in T+1</a:t>
            </a:r>
          </a:p>
        </p:txBody>
      </p:sp>
      <p:sp>
        <p:nvSpPr>
          <p:cNvPr id="12" name="flow-screen">
            <a:extLst>
              <a:ext uri="{FF2B5EF4-FFF2-40B4-BE49-F238E27FC236}">
                <a16:creationId xmlns:a16="http://schemas.microsoft.com/office/drawing/2014/main" id="{6BB87239-1963-4ADA-BFE3-5A8F3361477A}"/>
              </a:ext>
            </a:extLst>
          </p:cNvPr>
          <p:cNvSpPr>
            <a:spLocks noGrp="1"/>
          </p:cNvSpPr>
          <p:nvPr/>
        </p:nvSpPr>
        <p:spPr>
          <a:xfrm>
            <a:off x="7372350" y="3067050"/>
            <a:ext cx="1866900" cy="1200150"/>
          </a:xfrm>
          <a:prstGeom prst="roundRect">
            <a:avLst>
              <a:gd name="adj" fmla="val 6349"/>
            </a:avLst>
          </a:prstGeom>
          <a:solidFill>
            <a:srgbClr val="EEF8F0"/>
          </a:solidFill>
          <a:ln w="9525">
            <a:solidFill>
              <a:srgbClr val="9AC9A6"/>
            </a:solidFill>
            <a:prstDash val="solid"/>
          </a:ln>
        </p:spPr>
      </p:sp>
      <p:sp>
        <p:nvSpPr>
          <p:cNvPr id="13" name="flow-screen-label">
            <a:extLst>
              <a:ext uri="{FF2B5EF4-FFF2-40B4-BE49-F238E27FC236}">
                <a16:creationId xmlns:a16="http://schemas.microsoft.com/office/drawing/2014/main" id="{F14E0055-871D-42EF-A3FF-91F93A43EBC9}"/>
              </a:ext>
            </a:extLst>
          </p:cNvPr>
          <p:cNvSpPr>
            <a:spLocks noGrp="1"/>
          </p:cNvSpPr>
          <p:nvPr/>
        </p:nvSpPr>
        <p:spPr>
          <a:xfrm>
            <a:off x="7486650" y="3257550"/>
            <a:ext cx="1638300" cy="895350"/>
          </a:xfrm>
          <a:prstGeom prst="rect">
            <a:avLst/>
          </a:prstGeom>
          <a:noFill/>
          <a:ln w="0">
            <a:noFill/>
            <a:prstDash val="solid"/>
          </a:ln>
        </p:spPr>
        <p:txBody>
          <a:bodyPr/>
          <a:lstStyle/>
          <a:p>
            <a:pPr algn="ctr">
              <a:buNone/>
              <a:defRPr sz="1425" b="1">
                <a:solidFill>
                  <a:srgbClr val="102A33"/>
                </a:solidFill>
              </a:defRPr>
            </a:pPr>
            <a:r>
              <a:rPr sz="1425" b="1">
                <a:solidFill>
                  <a:srgbClr val="102A33"/>
                </a:solidFill>
              </a:rPr>
              <a:t>Low / medium / high</a:t>
            </a:r>
          </a:p>
          <a:p>
            <a:pPr algn="ctr">
              <a:buNone/>
              <a:defRPr sz="1425" b="1">
                <a:solidFill>
                  <a:srgbClr val="102A33"/>
                </a:solidFill>
              </a:defRPr>
            </a:pPr>
            <a:r>
              <a:rPr sz="1425" b="1">
                <a:solidFill>
                  <a:srgbClr val="102A33"/>
                </a:solidFill>
              </a:rPr>
              <a:t>screening category</a:t>
            </a:r>
          </a:p>
        </p:txBody>
      </p:sp>
      <p:cxnSp>
        <p:nvCxnSpPr>
          <p:cNvPr id="51" name="Straight Arrow Connector 34"/>
          <p:cNvCxnSpPr>
            <a:stCxn id="6" idx="3"/>
            <a:endCxn id="8" idx="1"/>
          </p:cNvCxnSpPr>
          <p:nvPr/>
        </p:nvCxnSpPr>
        <p:spPr>
          <a:xfrm>
            <a:off x="2552700" y="3667125"/>
            <a:ext cx="361950" cy="0"/>
          </a:xfrm>
          <a:prstGeom prst="straightConnector1">
            <a:avLst/>
          </a:prstGeom>
          <a:ln w="28575">
            <a:solidFill>
              <a:srgbClr val="3D8DFF"/>
            </a:solidFill>
            <a:prstDash val="solid"/>
            <a:tailEnd type="arrow" w="med" len="med"/>
          </a:ln>
        </p:spPr>
      </p:cxnSp>
      <p:cxnSp>
        <p:nvCxnSpPr>
          <p:cNvPr id="52" name="Straight Arrow Connector 35"/>
          <p:cNvCxnSpPr>
            <a:stCxn id="8" idx="3"/>
            <a:endCxn id="10" idx="1"/>
          </p:cNvCxnSpPr>
          <p:nvPr/>
        </p:nvCxnSpPr>
        <p:spPr>
          <a:xfrm>
            <a:off x="4552950" y="3667125"/>
            <a:ext cx="590550" cy="0"/>
          </a:xfrm>
          <a:prstGeom prst="straightConnector1">
            <a:avLst/>
          </a:prstGeom>
          <a:ln w="28575">
            <a:solidFill>
              <a:srgbClr val="3D8DFF"/>
            </a:solidFill>
            <a:prstDash val="solid"/>
            <a:tailEnd type="arrow" w="med" len="med"/>
          </a:ln>
        </p:spPr>
      </p:cxnSp>
      <p:cxnSp>
        <p:nvCxnSpPr>
          <p:cNvPr id="53" name="Straight Arrow Connector 36"/>
          <p:cNvCxnSpPr>
            <a:stCxn id="10" idx="3"/>
            <a:endCxn id="12" idx="1"/>
          </p:cNvCxnSpPr>
          <p:nvPr/>
        </p:nvCxnSpPr>
        <p:spPr>
          <a:xfrm>
            <a:off x="6781800" y="3667125"/>
            <a:ext cx="590550" cy="0"/>
          </a:xfrm>
          <a:prstGeom prst="straightConnector1">
            <a:avLst/>
          </a:prstGeom>
          <a:ln w="28575">
            <a:solidFill>
              <a:srgbClr val="3D8DFF"/>
            </a:solidFill>
            <a:prstDash val="solid"/>
            <a:tailEnd type="arrow" w="med" len="med"/>
          </a:ln>
        </p:spPr>
      </p:cxnSp>
      <p:sp>
        <p:nvSpPr>
          <p:cNvPr id="17" name="goal-b1-dot">
            <a:extLst>
              <a:ext uri="{FF2B5EF4-FFF2-40B4-BE49-F238E27FC236}">
                <a16:creationId xmlns:a16="http://schemas.microsoft.com/office/drawing/2014/main" id="{1415E929-718B-40FA-B093-56ADAF757D4C}"/>
              </a:ext>
            </a:extLst>
          </p:cNvPr>
          <p:cNvSpPr>
            <a:spLocks noGrp="1"/>
          </p:cNvSpPr>
          <p:nvPr/>
        </p:nvSpPr>
        <p:spPr>
          <a:xfrm>
            <a:off x="685800" y="5095875"/>
            <a:ext cx="171450" cy="247650"/>
          </a:xfrm>
          <a:prstGeom prst="rect">
            <a:avLst/>
          </a:prstGeom>
          <a:noFill/>
          <a:ln w="0">
            <a:noFill/>
            <a:prstDash val="solid"/>
          </a:ln>
        </p:spPr>
        <p:txBody>
          <a:bodyPr/>
          <a:lstStyle/>
          <a:p>
            <a:pPr algn="l">
              <a:buNone/>
              <a:defRPr sz="1800" b="1">
                <a:solidFill>
                  <a:srgbClr val="3D8DFF"/>
                </a:solidFill>
              </a:defRPr>
            </a:pPr>
            <a:r>
              <a:rPr sz="1800" b="1">
                <a:solidFill>
                  <a:srgbClr val="3D8DFF"/>
                </a:solidFill>
              </a:rPr>
              <a:t>•</a:t>
            </a:r>
          </a:p>
        </p:txBody>
      </p:sp>
      <p:sp>
        <p:nvSpPr>
          <p:cNvPr id="18" name="goal-b1-text">
            <a:extLst>
              <a:ext uri="{FF2B5EF4-FFF2-40B4-BE49-F238E27FC236}">
                <a16:creationId xmlns:a16="http://schemas.microsoft.com/office/drawing/2014/main" id="{CA3E6485-D408-4B75-997E-A5A8ABFE26C8}"/>
              </a:ext>
            </a:extLst>
          </p:cNvPr>
          <p:cNvSpPr>
            <a:spLocks noGrp="1"/>
          </p:cNvSpPr>
          <p:nvPr/>
        </p:nvSpPr>
        <p:spPr>
          <a:xfrm>
            <a:off x="914400" y="5105400"/>
            <a:ext cx="4724400" cy="381000"/>
          </a:xfrm>
          <a:prstGeom prst="rect">
            <a:avLst/>
          </a:prstGeom>
          <a:noFill/>
          <a:ln w="0">
            <a:noFill/>
            <a:prstDash val="solid"/>
          </a:ln>
        </p:spPr>
        <p:txBody>
          <a:bodyPr/>
          <a:lstStyle/>
          <a:p>
            <a:pPr algn="l">
              <a:buNone/>
              <a:defRPr sz="1575" b="0">
                <a:solidFill>
                  <a:srgbClr val="102A33"/>
                </a:solidFill>
              </a:defRPr>
            </a:pPr>
            <a:r>
              <a:rPr sz="1575" b="0">
                <a:solidFill>
                  <a:srgbClr val="102A33"/>
                </a:solidFill>
              </a:rPr>
              <a:t>The output is a relative area-level screening category, not a property decision.</a:t>
            </a:r>
          </a:p>
        </p:txBody>
      </p:sp>
      <p:sp>
        <p:nvSpPr>
          <p:cNvPr id="19" name="goal-b2-dot">
            <a:extLst>
              <a:ext uri="{FF2B5EF4-FFF2-40B4-BE49-F238E27FC236}">
                <a16:creationId xmlns:a16="http://schemas.microsoft.com/office/drawing/2014/main" id="{0D008236-F219-4D67-9F13-C6E425E22B21}"/>
              </a:ext>
            </a:extLst>
          </p:cNvPr>
          <p:cNvSpPr>
            <a:spLocks noGrp="1"/>
          </p:cNvSpPr>
          <p:nvPr/>
        </p:nvSpPr>
        <p:spPr>
          <a:xfrm>
            <a:off x="6191250" y="5095875"/>
            <a:ext cx="171450" cy="247650"/>
          </a:xfrm>
          <a:prstGeom prst="rect">
            <a:avLst/>
          </a:prstGeom>
          <a:noFill/>
          <a:ln w="0">
            <a:noFill/>
            <a:prstDash val="solid"/>
          </a:ln>
        </p:spPr>
        <p:txBody>
          <a:bodyPr/>
          <a:lstStyle/>
          <a:p>
            <a:pPr algn="l">
              <a:buNone/>
              <a:defRPr sz="1800" b="1">
                <a:solidFill>
                  <a:srgbClr val="3D8DFF"/>
                </a:solidFill>
              </a:defRPr>
            </a:pPr>
            <a:r>
              <a:rPr sz="1800" b="1">
                <a:solidFill>
                  <a:srgbClr val="3D8DFF"/>
                </a:solidFill>
              </a:rPr>
              <a:t>•</a:t>
            </a:r>
          </a:p>
        </p:txBody>
      </p:sp>
      <p:sp>
        <p:nvSpPr>
          <p:cNvPr id="20" name="goal-b2-text">
            <a:extLst>
              <a:ext uri="{FF2B5EF4-FFF2-40B4-BE49-F238E27FC236}">
                <a16:creationId xmlns:a16="http://schemas.microsoft.com/office/drawing/2014/main" id="{2BDD2209-D292-4CEB-AB39-37D3396D0A0F}"/>
              </a:ext>
            </a:extLst>
          </p:cNvPr>
          <p:cNvSpPr>
            <a:spLocks noGrp="1"/>
          </p:cNvSpPr>
          <p:nvPr/>
        </p:nvSpPr>
        <p:spPr>
          <a:xfrm>
            <a:off x="6419850" y="5105400"/>
            <a:ext cx="4724400" cy="381000"/>
          </a:xfrm>
          <a:prstGeom prst="rect">
            <a:avLst/>
          </a:prstGeom>
          <a:noFill/>
          <a:ln w="0">
            <a:noFill/>
            <a:prstDash val="solid"/>
          </a:ln>
        </p:spPr>
        <p:txBody>
          <a:bodyPr/>
          <a:lstStyle/>
          <a:p>
            <a:pPr algn="l">
              <a:buNone/>
              <a:defRPr sz="1575" b="0">
                <a:solidFill>
                  <a:srgbClr val="102A33"/>
                </a:solidFill>
              </a:defRPr>
            </a:pPr>
            <a:r>
              <a:rPr sz="1575" b="0">
                <a:solidFill>
                  <a:srgbClr val="102A33"/>
                </a:solidFill>
              </a:rPr>
              <a:t>The continuous target is the share of each 1 km cell burned in the next year.</a:t>
            </a:r>
          </a:p>
        </p:txBody>
      </p:sp>
      <p:sp>
        <p:nvSpPr>
          <p:cNvPr id="21" name="footer-2">
            <a:extLst>
              <a:ext uri="{FF2B5EF4-FFF2-40B4-BE49-F238E27FC236}">
                <a16:creationId xmlns:a16="http://schemas.microsoft.com/office/drawing/2014/main" id="{1A5DD43F-2A4F-455E-AE41-2FB1AC6E3F23}"/>
              </a:ext>
            </a:extLst>
          </p:cNvPr>
          <p:cNvSpPr>
            <a:spLocks noGrp="1"/>
          </p:cNvSpPr>
          <p:nvPr/>
        </p:nvSpPr>
        <p:spPr>
          <a:xfrm>
            <a:off x="685800" y="6477000"/>
            <a:ext cx="5905500" cy="152400"/>
          </a:xfrm>
          <a:prstGeom prst="rect">
            <a:avLst/>
          </a:prstGeom>
          <a:noFill/>
          <a:ln w="0">
            <a:noFill/>
            <a:prstDash val="solid"/>
          </a:ln>
        </p:spPr>
        <p:txBody>
          <a:bodyPr/>
          <a:lstStyle/>
          <a:p>
            <a:pPr algn="l">
              <a:buNone/>
              <a:defRPr sz="900" b="0">
                <a:solidFill>
                  <a:srgbClr val="48606B"/>
                </a:solidFill>
              </a:defRPr>
            </a:pPr>
            <a:r>
              <a:rPr sz="900" b="0">
                <a:solidFill>
                  <a:srgbClr val="48606B"/>
                </a:solidFill>
              </a:rPr>
              <a:t>Wildfire exposure screening • mainland Portugal</a:t>
            </a:r>
          </a:p>
        </p:txBody>
      </p:sp>
    </p:spTree>
    <p:extLst>
      <p:ext uri="{BB962C8B-B14F-4D97-AF65-F5344CB8AC3E}">
        <p14:creationId xmlns:p14="http://schemas.microsoft.com/office/powerpoint/2010/main" val="221788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kicker-3">
            <a:extLst>
              <a:ext uri="{FF2B5EF4-FFF2-40B4-BE49-F238E27FC236}">
                <a16:creationId xmlns:a16="http://schemas.microsoft.com/office/drawing/2014/main" id="{014A494D-E612-4735-8942-EFD9FD6C222C}"/>
              </a:ext>
            </a:extLst>
          </p:cNvPr>
          <p:cNvSpPr>
            <a:spLocks noGrp="1"/>
          </p:cNvSpPr>
          <p:nvPr/>
        </p:nvSpPr>
        <p:spPr>
          <a:xfrm>
            <a:off x="685800" y="457200"/>
            <a:ext cx="7620000" cy="228600"/>
          </a:xfrm>
          <a:prstGeom prst="rect">
            <a:avLst/>
          </a:prstGeom>
          <a:noFill/>
          <a:ln w="0">
            <a:noFill/>
            <a:prstDash val="solid"/>
          </a:ln>
        </p:spPr>
        <p:txBody>
          <a:bodyPr/>
          <a:lstStyle/>
          <a:p>
            <a:pPr algn="l">
              <a:buNone/>
              <a:defRPr sz="1125" b="1">
                <a:solidFill>
                  <a:srgbClr val="3D8DFF"/>
                </a:solidFill>
              </a:defRPr>
            </a:pPr>
            <a:r>
              <a:rPr sz="1125" b="1">
                <a:solidFill>
                  <a:srgbClr val="3D8DFF"/>
                </a:solidFill>
              </a:rPr>
              <a:t>INPUTS</a:t>
            </a:r>
          </a:p>
        </p:txBody>
      </p:sp>
      <p:sp>
        <p:nvSpPr>
          <p:cNvPr id="2" name="title-3">
            <a:extLst>
              <a:ext uri="{FF2B5EF4-FFF2-40B4-BE49-F238E27FC236}">
                <a16:creationId xmlns:a16="http://schemas.microsoft.com/office/drawing/2014/main" id="{3E45C6D0-F8BF-415F-A894-01778A7A099E}"/>
              </a:ext>
            </a:extLst>
          </p:cNvPr>
          <p:cNvSpPr>
            <a:spLocks noGrp="1"/>
          </p:cNvSpPr>
          <p:nvPr/>
        </p:nvSpPr>
        <p:spPr>
          <a:xfrm>
            <a:off x="685800" y="781050"/>
            <a:ext cx="10001250" cy="552450"/>
          </a:xfrm>
          <a:prstGeom prst="rect">
            <a:avLst/>
          </a:prstGeom>
          <a:noFill/>
          <a:ln w="0">
            <a:noFill/>
            <a:prstDash val="solid"/>
          </a:ln>
        </p:spPr>
        <p:txBody>
          <a:bodyPr/>
          <a:lstStyle/>
          <a:p>
            <a:pPr algn="l">
              <a:buNone/>
              <a:defRPr sz="2775" b="1">
                <a:solidFill>
                  <a:srgbClr val="102A33"/>
                </a:solidFill>
              </a:defRPr>
            </a:pPr>
            <a:r>
              <a:rPr sz="2775" b="1">
                <a:solidFill>
                  <a:srgbClr val="102A33"/>
                </a:solidFill>
              </a:rPr>
              <a:t>Four public data sources describe each area</a:t>
            </a:r>
          </a:p>
        </p:txBody>
      </p:sp>
      <p:sp>
        <p:nvSpPr>
          <p:cNvPr id="3" name="rule-3">
            <a:extLst>
              <a:ext uri="{FF2B5EF4-FFF2-40B4-BE49-F238E27FC236}">
                <a16:creationId xmlns:a16="http://schemas.microsoft.com/office/drawing/2014/main" id="{FFBC8FDC-3E62-469D-BF92-FE1AB3BED49B}"/>
              </a:ext>
            </a:extLst>
          </p:cNvPr>
          <p:cNvSpPr>
            <a:spLocks noGrp="1"/>
          </p:cNvSpPr>
          <p:nvPr/>
        </p:nvSpPr>
        <p:spPr>
          <a:xfrm>
            <a:off x="685800" y="1466850"/>
            <a:ext cx="10820400" cy="19050"/>
          </a:xfrm>
          <a:prstGeom prst="rect">
            <a:avLst/>
          </a:prstGeom>
          <a:solidFill>
            <a:srgbClr val="C8D2D6"/>
          </a:solidFill>
          <a:ln w="0">
            <a:noFill/>
            <a:prstDash val="solid"/>
          </a:ln>
        </p:spPr>
      </p:sp>
      <p:sp>
        <p:nvSpPr>
          <p:cNvPr id="4" name="page-3">
            <a:extLst>
              <a:ext uri="{FF2B5EF4-FFF2-40B4-BE49-F238E27FC236}">
                <a16:creationId xmlns:a16="http://schemas.microsoft.com/office/drawing/2014/main" id="{8F164D61-EDAD-430C-9010-120B058C84EC}"/>
              </a:ext>
            </a:extLst>
          </p:cNvPr>
          <p:cNvSpPr>
            <a:spLocks noGrp="1"/>
          </p:cNvSpPr>
          <p:nvPr/>
        </p:nvSpPr>
        <p:spPr>
          <a:xfrm>
            <a:off x="10953750" y="457200"/>
            <a:ext cx="552450" cy="228600"/>
          </a:xfrm>
          <a:prstGeom prst="rect">
            <a:avLst/>
          </a:prstGeom>
          <a:noFill/>
          <a:ln w="0">
            <a:noFill/>
            <a:prstDash val="solid"/>
          </a:ln>
        </p:spPr>
        <p:txBody>
          <a:bodyPr/>
          <a:lstStyle/>
          <a:p>
            <a:pPr algn="r">
              <a:buNone/>
              <a:defRPr sz="1125" b="1">
                <a:solidFill>
                  <a:srgbClr val="48606B"/>
                </a:solidFill>
              </a:defRPr>
            </a:pPr>
            <a:r>
              <a:rPr sz="1125" b="1">
                <a:solidFill>
                  <a:srgbClr val="48606B"/>
                </a:solidFill>
              </a:rPr>
              <a:t>03</a:t>
            </a:r>
          </a:p>
        </p:txBody>
      </p:sp>
      <p:sp>
        <p:nvSpPr>
          <p:cNvPr id="5" name="source-card-0">
            <a:extLst>
              <a:ext uri="{FF2B5EF4-FFF2-40B4-BE49-F238E27FC236}">
                <a16:creationId xmlns:a16="http://schemas.microsoft.com/office/drawing/2014/main" id="{E5E662A2-B534-4B01-96BC-765B92887955}"/>
              </a:ext>
            </a:extLst>
          </p:cNvPr>
          <p:cNvSpPr>
            <a:spLocks noGrp="1"/>
          </p:cNvSpPr>
          <p:nvPr/>
        </p:nvSpPr>
        <p:spPr>
          <a:xfrm>
            <a:off x="685800" y="2095500"/>
            <a:ext cx="2400300" cy="2171700"/>
          </a:xfrm>
          <a:prstGeom prst="roundRect">
            <a:avLst>
              <a:gd name="adj" fmla="val 3509"/>
            </a:avLst>
          </a:prstGeom>
          <a:solidFill>
            <a:srgbClr val="EAF6FD"/>
          </a:solidFill>
          <a:ln w="9525">
            <a:solidFill>
              <a:srgbClr val="C8D2D6"/>
            </a:solidFill>
            <a:prstDash val="solid"/>
          </a:ln>
        </p:spPr>
      </p:sp>
      <p:sp>
        <p:nvSpPr>
          <p:cNvPr id="6" name="source-card-title-0">
            <a:extLst>
              <a:ext uri="{FF2B5EF4-FFF2-40B4-BE49-F238E27FC236}">
                <a16:creationId xmlns:a16="http://schemas.microsoft.com/office/drawing/2014/main" id="{C53DFDF5-0020-4FCF-90CA-2C37885D432E}"/>
              </a:ext>
            </a:extLst>
          </p:cNvPr>
          <p:cNvSpPr>
            <a:spLocks noGrp="1"/>
          </p:cNvSpPr>
          <p:nvPr/>
        </p:nvSpPr>
        <p:spPr>
          <a:xfrm>
            <a:off x="857250" y="2343150"/>
            <a:ext cx="2057400" cy="419100"/>
          </a:xfrm>
          <a:prstGeom prst="rect">
            <a:avLst/>
          </a:prstGeom>
          <a:noFill/>
          <a:ln w="0">
            <a:noFill/>
            <a:prstDash val="solid"/>
          </a:ln>
        </p:spPr>
        <p:txBody>
          <a:bodyPr/>
          <a:lstStyle/>
          <a:p>
            <a:pPr algn="l">
              <a:buNone/>
              <a:defRPr sz="1725" b="1">
                <a:solidFill>
                  <a:srgbClr val="102A33"/>
                </a:solidFill>
              </a:defRPr>
            </a:pPr>
            <a:r>
              <a:rPr sz="1725" b="1">
                <a:solidFill>
                  <a:srgbClr val="102A33"/>
                </a:solidFill>
              </a:rPr>
              <a:t>ICNF burned areas</a:t>
            </a:r>
          </a:p>
        </p:txBody>
      </p:sp>
      <p:sp>
        <p:nvSpPr>
          <p:cNvPr id="7" name="source-card-body-0">
            <a:extLst>
              <a:ext uri="{FF2B5EF4-FFF2-40B4-BE49-F238E27FC236}">
                <a16:creationId xmlns:a16="http://schemas.microsoft.com/office/drawing/2014/main" id="{1063E239-CC7F-4F97-81B9-FD40D7B2A2A7}"/>
              </a:ext>
            </a:extLst>
          </p:cNvPr>
          <p:cNvSpPr>
            <a:spLocks noGrp="1"/>
          </p:cNvSpPr>
          <p:nvPr/>
        </p:nvSpPr>
        <p:spPr>
          <a:xfrm>
            <a:off x="857250" y="3028950"/>
            <a:ext cx="2038350" cy="742950"/>
          </a:xfrm>
          <a:prstGeom prst="rect">
            <a:avLst/>
          </a:prstGeom>
          <a:noFill/>
          <a:ln w="0">
            <a:noFill/>
            <a:prstDash val="solid"/>
          </a:ln>
        </p:spPr>
        <p:txBody>
          <a:bodyPr/>
          <a:lstStyle/>
          <a:p>
            <a:pPr algn="l">
              <a:buNone/>
              <a:defRPr sz="1350" b="0">
                <a:solidFill>
                  <a:srgbClr val="48606B"/>
                </a:solidFill>
              </a:defRPr>
            </a:pPr>
            <a:r>
              <a:rPr sz="1350" b="0">
                <a:solidFill>
                  <a:srgbClr val="48606B"/>
                </a:solidFill>
              </a:rPr>
              <a:t>Target in T+1</a:t>
            </a:r>
          </a:p>
          <a:p>
            <a:pPr algn="l">
              <a:buNone/>
              <a:defRPr sz="1350" b="0">
                <a:solidFill>
                  <a:srgbClr val="48606B"/>
                </a:solidFill>
              </a:defRPr>
            </a:pPr>
            <a:r>
              <a:rPr sz="1350" b="0">
                <a:solidFill>
                  <a:srgbClr val="48606B"/>
                </a:solidFill>
              </a:rPr>
              <a:t>+10-year history: T−10 to T−1</a:t>
            </a:r>
          </a:p>
        </p:txBody>
      </p:sp>
      <p:sp>
        <p:nvSpPr>
          <p:cNvPr id="8" name="source-card-1">
            <a:extLst>
              <a:ext uri="{FF2B5EF4-FFF2-40B4-BE49-F238E27FC236}">
                <a16:creationId xmlns:a16="http://schemas.microsoft.com/office/drawing/2014/main" id="{7499B61C-7969-45A6-B32F-50C8C00D2AD0}"/>
              </a:ext>
            </a:extLst>
          </p:cNvPr>
          <p:cNvSpPr>
            <a:spLocks noGrp="1"/>
          </p:cNvSpPr>
          <p:nvPr/>
        </p:nvSpPr>
        <p:spPr>
          <a:xfrm>
            <a:off x="3409950" y="2095500"/>
            <a:ext cx="2400300" cy="2171700"/>
          </a:xfrm>
          <a:prstGeom prst="roundRect">
            <a:avLst>
              <a:gd name="adj" fmla="val 3509"/>
            </a:avLst>
          </a:prstGeom>
          <a:solidFill>
            <a:srgbClr val="F5F7F8"/>
          </a:solidFill>
          <a:ln w="9525">
            <a:solidFill>
              <a:srgbClr val="C8D2D6"/>
            </a:solidFill>
            <a:prstDash val="solid"/>
          </a:ln>
        </p:spPr>
      </p:sp>
      <p:sp>
        <p:nvSpPr>
          <p:cNvPr id="9" name="source-card-title-1">
            <a:extLst>
              <a:ext uri="{FF2B5EF4-FFF2-40B4-BE49-F238E27FC236}">
                <a16:creationId xmlns:a16="http://schemas.microsoft.com/office/drawing/2014/main" id="{39A0B77A-D34D-4796-94F1-EE33F7A13345}"/>
              </a:ext>
            </a:extLst>
          </p:cNvPr>
          <p:cNvSpPr>
            <a:spLocks noGrp="1"/>
          </p:cNvSpPr>
          <p:nvPr/>
        </p:nvSpPr>
        <p:spPr>
          <a:xfrm>
            <a:off x="3581400" y="2343150"/>
            <a:ext cx="2057400" cy="419100"/>
          </a:xfrm>
          <a:prstGeom prst="rect">
            <a:avLst/>
          </a:prstGeom>
          <a:noFill/>
          <a:ln w="0">
            <a:noFill/>
            <a:prstDash val="solid"/>
          </a:ln>
        </p:spPr>
        <p:txBody>
          <a:bodyPr/>
          <a:lstStyle/>
          <a:p>
            <a:pPr algn="l">
              <a:buNone/>
              <a:defRPr sz="1725" b="1">
                <a:solidFill>
                  <a:srgbClr val="102A33"/>
                </a:solidFill>
              </a:defRPr>
            </a:pPr>
            <a:r>
              <a:rPr sz="1725" b="1">
                <a:solidFill>
                  <a:srgbClr val="102A33"/>
                </a:solidFill>
              </a:rPr>
              <a:t>CORINE Land Cover</a:t>
            </a:r>
          </a:p>
        </p:txBody>
      </p:sp>
      <p:sp>
        <p:nvSpPr>
          <p:cNvPr id="10" name="source-card-body-1">
            <a:extLst>
              <a:ext uri="{FF2B5EF4-FFF2-40B4-BE49-F238E27FC236}">
                <a16:creationId xmlns:a16="http://schemas.microsoft.com/office/drawing/2014/main" id="{A329BB5E-6B8D-4683-888C-A259502DEEB9}"/>
              </a:ext>
            </a:extLst>
          </p:cNvPr>
          <p:cNvSpPr>
            <a:spLocks noGrp="1"/>
          </p:cNvSpPr>
          <p:nvPr/>
        </p:nvSpPr>
        <p:spPr>
          <a:xfrm>
            <a:off x="3581400" y="3028950"/>
            <a:ext cx="2038350" cy="742950"/>
          </a:xfrm>
          <a:prstGeom prst="rect">
            <a:avLst/>
          </a:prstGeom>
          <a:noFill/>
          <a:ln w="0">
            <a:noFill/>
            <a:prstDash val="solid"/>
          </a:ln>
        </p:spPr>
        <p:txBody>
          <a:bodyPr/>
          <a:lstStyle/>
          <a:p>
            <a:pPr algn="l">
              <a:buNone/>
              <a:defRPr sz="1350" b="0">
                <a:solidFill>
                  <a:srgbClr val="48606B"/>
                </a:solidFill>
              </a:defRPr>
            </a:pPr>
            <a:r>
              <a:rPr sz="1350" b="0">
                <a:solidFill>
                  <a:srgbClr val="48606B"/>
                </a:solidFill>
              </a:rPr>
              <a:t>Broad landscape shares</a:t>
            </a:r>
          </a:p>
          <a:p>
            <a:pPr algn="l">
              <a:buNone/>
              <a:defRPr sz="1350" b="0">
                <a:solidFill>
                  <a:srgbClr val="48606B"/>
                </a:solidFill>
              </a:defRPr>
            </a:pPr>
            <a:r>
              <a:rPr sz="1350" b="0">
                <a:solidFill>
                  <a:srgbClr val="48606B"/>
                </a:solidFill>
              </a:rPr>
              <a:t>not annual parcel data</a:t>
            </a:r>
          </a:p>
        </p:txBody>
      </p:sp>
      <p:sp>
        <p:nvSpPr>
          <p:cNvPr id="11" name="source-card-2">
            <a:extLst>
              <a:ext uri="{FF2B5EF4-FFF2-40B4-BE49-F238E27FC236}">
                <a16:creationId xmlns:a16="http://schemas.microsoft.com/office/drawing/2014/main" id="{B09566CE-BE24-4551-B656-060FA48BEE44}"/>
              </a:ext>
            </a:extLst>
          </p:cNvPr>
          <p:cNvSpPr>
            <a:spLocks noGrp="1"/>
          </p:cNvSpPr>
          <p:nvPr/>
        </p:nvSpPr>
        <p:spPr>
          <a:xfrm>
            <a:off x="6134100" y="2095500"/>
            <a:ext cx="2400300" cy="2171700"/>
          </a:xfrm>
          <a:prstGeom prst="roundRect">
            <a:avLst>
              <a:gd name="adj" fmla="val 3509"/>
            </a:avLst>
          </a:prstGeom>
          <a:solidFill>
            <a:srgbClr val="FFF5E6"/>
          </a:solidFill>
          <a:ln w="9525">
            <a:solidFill>
              <a:srgbClr val="C8D2D6"/>
            </a:solidFill>
            <a:prstDash val="solid"/>
          </a:ln>
        </p:spPr>
      </p:sp>
      <p:sp>
        <p:nvSpPr>
          <p:cNvPr id="12" name="source-card-title-2">
            <a:extLst>
              <a:ext uri="{FF2B5EF4-FFF2-40B4-BE49-F238E27FC236}">
                <a16:creationId xmlns:a16="http://schemas.microsoft.com/office/drawing/2014/main" id="{F2B9FF01-9525-4F46-832F-D5EE37D09A43}"/>
              </a:ext>
            </a:extLst>
          </p:cNvPr>
          <p:cNvSpPr>
            <a:spLocks noGrp="1"/>
          </p:cNvSpPr>
          <p:nvPr/>
        </p:nvSpPr>
        <p:spPr>
          <a:xfrm>
            <a:off x="6305550" y="2343150"/>
            <a:ext cx="2057400" cy="419100"/>
          </a:xfrm>
          <a:prstGeom prst="rect">
            <a:avLst/>
          </a:prstGeom>
          <a:noFill/>
          <a:ln w="0">
            <a:noFill/>
            <a:prstDash val="solid"/>
          </a:ln>
        </p:spPr>
        <p:txBody>
          <a:bodyPr/>
          <a:lstStyle/>
          <a:p>
            <a:pPr algn="l">
              <a:buNone/>
              <a:defRPr sz="1725" b="1">
                <a:solidFill>
                  <a:srgbClr val="102A33"/>
                </a:solidFill>
              </a:defRPr>
            </a:pPr>
            <a:r>
              <a:rPr sz="1725" b="1">
                <a:solidFill>
                  <a:srgbClr val="102A33"/>
                </a:solidFill>
              </a:rPr>
              <a:t>ERA5-Land</a:t>
            </a:r>
          </a:p>
        </p:txBody>
      </p:sp>
      <p:sp>
        <p:nvSpPr>
          <p:cNvPr id="13" name="source-card-body-2">
            <a:extLst>
              <a:ext uri="{FF2B5EF4-FFF2-40B4-BE49-F238E27FC236}">
                <a16:creationId xmlns:a16="http://schemas.microsoft.com/office/drawing/2014/main" id="{05A9112F-AAE1-447F-90C4-1C9A63D583C9}"/>
              </a:ext>
            </a:extLst>
          </p:cNvPr>
          <p:cNvSpPr>
            <a:spLocks noGrp="1"/>
          </p:cNvSpPr>
          <p:nvPr/>
        </p:nvSpPr>
        <p:spPr>
          <a:xfrm>
            <a:off x="6305550" y="3028950"/>
            <a:ext cx="2038350" cy="742950"/>
          </a:xfrm>
          <a:prstGeom prst="rect">
            <a:avLst/>
          </a:prstGeom>
          <a:noFill/>
          <a:ln w="0">
            <a:noFill/>
            <a:prstDash val="solid"/>
          </a:ln>
        </p:spPr>
        <p:txBody>
          <a:bodyPr/>
          <a:lstStyle/>
          <a:p>
            <a:pPr algn="l">
              <a:buNone/>
              <a:defRPr sz="1350" b="0">
                <a:solidFill>
                  <a:srgbClr val="48606B"/>
                </a:solidFill>
              </a:defRPr>
            </a:pPr>
            <a:r>
              <a:rPr sz="1350" b="0">
                <a:solidFill>
                  <a:srgbClr val="48606B"/>
                </a:solidFill>
              </a:rPr>
              <a:t>JJAS T-only: temperature,</a:t>
            </a:r>
          </a:p>
          <a:p>
            <a:pPr algn="l">
              <a:buNone/>
              <a:defRPr sz="1350" b="0">
                <a:solidFill>
                  <a:srgbClr val="48606B"/>
                </a:solidFill>
              </a:defRPr>
            </a:pPr>
            <a:r>
              <a:rPr sz="1350" b="0">
                <a:solidFill>
                  <a:srgbClr val="48606B"/>
                </a:solidFill>
              </a:rPr>
              <a:t>precipitation, shallow soil moisture</a:t>
            </a:r>
          </a:p>
        </p:txBody>
      </p:sp>
      <p:sp>
        <p:nvSpPr>
          <p:cNvPr id="14" name="source-card-3">
            <a:extLst>
              <a:ext uri="{FF2B5EF4-FFF2-40B4-BE49-F238E27FC236}">
                <a16:creationId xmlns:a16="http://schemas.microsoft.com/office/drawing/2014/main" id="{BA8C108B-79A2-4EEF-BCDD-C1A68ADD43C0}"/>
              </a:ext>
            </a:extLst>
          </p:cNvPr>
          <p:cNvSpPr>
            <a:spLocks noGrp="1"/>
          </p:cNvSpPr>
          <p:nvPr/>
        </p:nvSpPr>
        <p:spPr>
          <a:xfrm>
            <a:off x="8858250" y="2095500"/>
            <a:ext cx="2400300" cy="2171700"/>
          </a:xfrm>
          <a:prstGeom prst="roundRect">
            <a:avLst>
              <a:gd name="adj" fmla="val 3509"/>
            </a:avLst>
          </a:prstGeom>
          <a:solidFill>
            <a:srgbClr val="EEF8F0"/>
          </a:solidFill>
          <a:ln w="9525">
            <a:solidFill>
              <a:srgbClr val="C8D2D6"/>
            </a:solidFill>
            <a:prstDash val="solid"/>
          </a:ln>
        </p:spPr>
      </p:sp>
      <p:sp>
        <p:nvSpPr>
          <p:cNvPr id="15" name="source-card-title-3">
            <a:extLst>
              <a:ext uri="{FF2B5EF4-FFF2-40B4-BE49-F238E27FC236}">
                <a16:creationId xmlns:a16="http://schemas.microsoft.com/office/drawing/2014/main" id="{F7975A4C-CF98-4E23-8671-5210F8688EB2}"/>
              </a:ext>
            </a:extLst>
          </p:cNvPr>
          <p:cNvSpPr>
            <a:spLocks noGrp="1"/>
          </p:cNvSpPr>
          <p:nvPr/>
        </p:nvSpPr>
        <p:spPr>
          <a:xfrm>
            <a:off x="9029700" y="2343150"/>
            <a:ext cx="2057400" cy="419100"/>
          </a:xfrm>
          <a:prstGeom prst="rect">
            <a:avLst/>
          </a:prstGeom>
          <a:noFill/>
          <a:ln w="0">
            <a:noFill/>
            <a:prstDash val="solid"/>
          </a:ln>
        </p:spPr>
        <p:txBody>
          <a:bodyPr/>
          <a:lstStyle/>
          <a:p>
            <a:pPr algn="l">
              <a:buNone/>
              <a:defRPr sz="1725" b="1">
                <a:solidFill>
                  <a:srgbClr val="102A33"/>
                </a:solidFill>
              </a:defRPr>
            </a:pPr>
            <a:r>
              <a:rPr sz="1725" b="1">
                <a:solidFill>
                  <a:srgbClr val="102A33"/>
                </a:solidFill>
              </a:rPr>
              <a:t>CAOP + DEM</a:t>
            </a:r>
          </a:p>
        </p:txBody>
      </p:sp>
      <p:sp>
        <p:nvSpPr>
          <p:cNvPr id="16" name="source-card-body-3">
            <a:extLst>
              <a:ext uri="{FF2B5EF4-FFF2-40B4-BE49-F238E27FC236}">
                <a16:creationId xmlns:a16="http://schemas.microsoft.com/office/drawing/2014/main" id="{1A678FE3-BFBA-49D8-A39E-08DE7614AB37}"/>
              </a:ext>
            </a:extLst>
          </p:cNvPr>
          <p:cNvSpPr>
            <a:spLocks noGrp="1"/>
          </p:cNvSpPr>
          <p:nvPr/>
        </p:nvSpPr>
        <p:spPr>
          <a:xfrm>
            <a:off x="9029700" y="3028950"/>
            <a:ext cx="2038350" cy="742950"/>
          </a:xfrm>
          <a:prstGeom prst="rect">
            <a:avLst/>
          </a:prstGeom>
          <a:noFill/>
          <a:ln w="0">
            <a:noFill/>
            <a:prstDash val="solid"/>
          </a:ln>
        </p:spPr>
        <p:txBody>
          <a:bodyPr/>
          <a:lstStyle/>
          <a:p>
            <a:pPr algn="l">
              <a:buNone/>
              <a:defRPr sz="1350" b="0">
                <a:solidFill>
                  <a:srgbClr val="48606B"/>
                </a:solidFill>
              </a:defRPr>
            </a:pPr>
            <a:r>
              <a:rPr sz="1350" b="0">
                <a:solidFill>
                  <a:srgbClr val="48606B"/>
                </a:solidFill>
              </a:rPr>
              <a:t>Mainland boundary,</a:t>
            </a:r>
          </a:p>
          <a:p>
            <a:pPr algn="l">
              <a:buNone/>
              <a:defRPr sz="1350" b="0">
                <a:solidFill>
                  <a:srgbClr val="48606B"/>
                </a:solidFill>
              </a:defRPr>
            </a:pPr>
            <a:r>
              <a:rPr sz="1350" b="0">
                <a:solidFill>
                  <a:srgbClr val="48606B"/>
                </a:solidFill>
              </a:rPr>
              <a:t>reporting areas, terrain context</a:t>
            </a:r>
          </a:p>
        </p:txBody>
      </p:sp>
      <p:sp>
        <p:nvSpPr>
          <p:cNvPr id="17" name="input-b1-dot">
            <a:extLst>
              <a:ext uri="{FF2B5EF4-FFF2-40B4-BE49-F238E27FC236}">
                <a16:creationId xmlns:a16="http://schemas.microsoft.com/office/drawing/2014/main" id="{0346FEB4-C45D-4305-A1C7-7A33C9120C89}"/>
              </a:ext>
            </a:extLst>
          </p:cNvPr>
          <p:cNvSpPr>
            <a:spLocks noGrp="1"/>
          </p:cNvSpPr>
          <p:nvPr/>
        </p:nvSpPr>
        <p:spPr>
          <a:xfrm>
            <a:off x="685800" y="4857750"/>
            <a:ext cx="171450" cy="247650"/>
          </a:xfrm>
          <a:prstGeom prst="rect">
            <a:avLst/>
          </a:prstGeom>
          <a:noFill/>
          <a:ln w="0">
            <a:noFill/>
            <a:prstDash val="solid"/>
          </a:ln>
        </p:spPr>
        <p:txBody>
          <a:bodyPr/>
          <a:lstStyle/>
          <a:p>
            <a:pPr algn="l">
              <a:buNone/>
              <a:defRPr sz="1800" b="1">
                <a:solidFill>
                  <a:srgbClr val="3D8DFF"/>
                </a:solidFill>
              </a:defRPr>
            </a:pPr>
            <a:r>
              <a:rPr sz="1800" b="1">
                <a:solidFill>
                  <a:srgbClr val="3D8DFF"/>
                </a:solidFill>
              </a:rPr>
              <a:t>•</a:t>
            </a:r>
          </a:p>
        </p:txBody>
      </p:sp>
      <p:sp>
        <p:nvSpPr>
          <p:cNvPr id="18" name="input-b1-text">
            <a:extLst>
              <a:ext uri="{FF2B5EF4-FFF2-40B4-BE49-F238E27FC236}">
                <a16:creationId xmlns:a16="http://schemas.microsoft.com/office/drawing/2014/main" id="{1CF5DCB4-EEA9-42F3-90BC-2C43CE88F23C}"/>
              </a:ext>
            </a:extLst>
          </p:cNvPr>
          <p:cNvSpPr>
            <a:spLocks noGrp="1"/>
          </p:cNvSpPr>
          <p:nvPr/>
        </p:nvSpPr>
        <p:spPr>
          <a:xfrm>
            <a:off x="914400" y="4867275"/>
            <a:ext cx="4914900" cy="381000"/>
          </a:xfrm>
          <a:prstGeom prst="rect">
            <a:avLst/>
          </a:prstGeom>
          <a:noFill/>
          <a:ln w="0">
            <a:noFill/>
            <a:prstDash val="solid"/>
          </a:ln>
        </p:spPr>
        <p:txBody>
          <a:bodyPr/>
          <a:lstStyle/>
          <a:p>
            <a:pPr algn="l">
              <a:buNone/>
              <a:defRPr sz="1575" b="0">
                <a:solidFill>
                  <a:srgbClr val="102A33"/>
                </a:solidFill>
              </a:defRPr>
            </a:pPr>
            <a:r>
              <a:rPr sz="1575" b="0">
                <a:solidFill>
                  <a:srgbClr val="102A33"/>
                </a:solidFill>
              </a:rPr>
              <a:t>Already registered: CAOP 2025 boundary and ICNF 2024 burned areas.</a:t>
            </a:r>
          </a:p>
        </p:txBody>
      </p:sp>
      <p:sp>
        <p:nvSpPr>
          <p:cNvPr id="19" name="input-b2-dot">
            <a:extLst>
              <a:ext uri="{FF2B5EF4-FFF2-40B4-BE49-F238E27FC236}">
                <a16:creationId xmlns:a16="http://schemas.microsoft.com/office/drawing/2014/main" id="{5B63DF05-564B-45FA-86C6-411BF3B88F27}"/>
              </a:ext>
            </a:extLst>
          </p:cNvPr>
          <p:cNvSpPr>
            <a:spLocks noGrp="1"/>
          </p:cNvSpPr>
          <p:nvPr/>
        </p:nvSpPr>
        <p:spPr>
          <a:xfrm>
            <a:off x="6286500" y="4857750"/>
            <a:ext cx="171450" cy="247650"/>
          </a:xfrm>
          <a:prstGeom prst="rect">
            <a:avLst/>
          </a:prstGeom>
          <a:noFill/>
          <a:ln w="0">
            <a:noFill/>
            <a:prstDash val="solid"/>
          </a:ln>
        </p:spPr>
        <p:txBody>
          <a:bodyPr/>
          <a:lstStyle/>
          <a:p>
            <a:pPr algn="l">
              <a:buNone/>
              <a:defRPr sz="1800" b="1">
                <a:solidFill>
                  <a:srgbClr val="3D8DFF"/>
                </a:solidFill>
              </a:defRPr>
            </a:pPr>
            <a:r>
              <a:rPr sz="1800" b="1">
                <a:solidFill>
                  <a:srgbClr val="3D8DFF"/>
                </a:solidFill>
              </a:rPr>
              <a:t>•</a:t>
            </a:r>
          </a:p>
        </p:txBody>
      </p:sp>
      <p:sp>
        <p:nvSpPr>
          <p:cNvPr id="20" name="input-b2-text">
            <a:extLst>
              <a:ext uri="{FF2B5EF4-FFF2-40B4-BE49-F238E27FC236}">
                <a16:creationId xmlns:a16="http://schemas.microsoft.com/office/drawing/2014/main" id="{A14E22A4-E091-4BB2-9E70-7077B442D4AD}"/>
              </a:ext>
            </a:extLst>
          </p:cNvPr>
          <p:cNvSpPr>
            <a:spLocks noGrp="1"/>
          </p:cNvSpPr>
          <p:nvPr/>
        </p:nvSpPr>
        <p:spPr>
          <a:xfrm>
            <a:off x="6515100" y="4867275"/>
            <a:ext cx="4724400" cy="381000"/>
          </a:xfrm>
          <a:prstGeom prst="rect">
            <a:avLst/>
          </a:prstGeom>
          <a:noFill/>
          <a:ln w="0">
            <a:noFill/>
            <a:prstDash val="solid"/>
          </a:ln>
        </p:spPr>
        <p:txBody>
          <a:bodyPr/>
          <a:lstStyle/>
          <a:p>
            <a:pPr algn="l">
              <a:buNone/>
              <a:defRPr sz="1575" b="0">
                <a:solidFill>
                  <a:srgbClr val="102A33"/>
                </a:solidFill>
              </a:defRPr>
            </a:pPr>
            <a:r>
              <a:rPr sz="1575" b="0">
                <a:solidFill>
                  <a:srgbClr val="102A33"/>
                </a:solidFill>
              </a:rPr>
              <a:t>CLC and ERA5-Land are still needed; both provide broad context, not property evidence.</a:t>
            </a:r>
          </a:p>
        </p:txBody>
      </p:sp>
      <p:sp>
        <p:nvSpPr>
          <p:cNvPr id="21" name="footer-3">
            <a:extLst>
              <a:ext uri="{FF2B5EF4-FFF2-40B4-BE49-F238E27FC236}">
                <a16:creationId xmlns:a16="http://schemas.microsoft.com/office/drawing/2014/main" id="{CDB206F3-0080-4BD4-81C8-F511A144D387}"/>
              </a:ext>
            </a:extLst>
          </p:cNvPr>
          <p:cNvSpPr>
            <a:spLocks noGrp="1"/>
          </p:cNvSpPr>
          <p:nvPr/>
        </p:nvSpPr>
        <p:spPr>
          <a:xfrm>
            <a:off x="685800" y="6477000"/>
            <a:ext cx="5905500" cy="152400"/>
          </a:xfrm>
          <a:prstGeom prst="rect">
            <a:avLst/>
          </a:prstGeom>
          <a:noFill/>
          <a:ln w="0">
            <a:noFill/>
            <a:prstDash val="solid"/>
          </a:ln>
        </p:spPr>
        <p:txBody>
          <a:bodyPr/>
          <a:lstStyle/>
          <a:p>
            <a:pPr algn="l">
              <a:buNone/>
              <a:defRPr sz="900" b="0">
                <a:solidFill>
                  <a:srgbClr val="48606B"/>
                </a:solidFill>
              </a:defRPr>
            </a:pPr>
            <a:r>
              <a:rPr sz="900" b="0">
                <a:solidFill>
                  <a:srgbClr val="48606B"/>
                </a:solidFill>
              </a:rPr>
              <a:t>Wildfire exposure screening • mainland Portugal</a:t>
            </a:r>
          </a:p>
        </p:txBody>
      </p:sp>
    </p:spTree>
    <p:extLst>
      <p:ext uri="{BB962C8B-B14F-4D97-AF65-F5344CB8AC3E}">
        <p14:creationId xmlns:p14="http://schemas.microsoft.com/office/powerpoint/2010/main" val="1385657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kicker-4">
            <a:extLst>
              <a:ext uri="{FF2B5EF4-FFF2-40B4-BE49-F238E27FC236}">
                <a16:creationId xmlns:a16="http://schemas.microsoft.com/office/drawing/2014/main" id="{BD0EBFDC-3243-493F-9B02-A63F2EB7F8EF}"/>
              </a:ext>
            </a:extLst>
          </p:cNvPr>
          <p:cNvSpPr>
            <a:spLocks noGrp="1"/>
          </p:cNvSpPr>
          <p:nvPr/>
        </p:nvSpPr>
        <p:spPr>
          <a:xfrm>
            <a:off x="685800" y="457200"/>
            <a:ext cx="7620000" cy="228600"/>
          </a:xfrm>
          <a:prstGeom prst="rect">
            <a:avLst/>
          </a:prstGeom>
          <a:noFill/>
          <a:ln w="0">
            <a:noFill/>
            <a:prstDash val="solid"/>
          </a:ln>
        </p:spPr>
        <p:txBody>
          <a:bodyPr/>
          <a:lstStyle/>
          <a:p>
            <a:pPr algn="l">
              <a:buNone/>
              <a:defRPr sz="1125" b="1">
                <a:solidFill>
                  <a:srgbClr val="3D8DFF"/>
                </a:solidFill>
              </a:defRPr>
            </a:pPr>
            <a:r>
              <a:rPr sz="1125" b="1">
                <a:solidFill>
                  <a:srgbClr val="3D8DFF"/>
                </a:solidFill>
              </a:rPr>
              <a:t>METHOD</a:t>
            </a:r>
          </a:p>
        </p:txBody>
      </p:sp>
      <p:sp>
        <p:nvSpPr>
          <p:cNvPr id="2" name="title-4">
            <a:extLst>
              <a:ext uri="{FF2B5EF4-FFF2-40B4-BE49-F238E27FC236}">
                <a16:creationId xmlns:a16="http://schemas.microsoft.com/office/drawing/2014/main" id="{553D9712-F9E7-41EB-B8CB-08E942F5125F}"/>
              </a:ext>
            </a:extLst>
          </p:cNvPr>
          <p:cNvSpPr>
            <a:spLocks noGrp="1"/>
          </p:cNvSpPr>
          <p:nvPr/>
        </p:nvSpPr>
        <p:spPr>
          <a:xfrm>
            <a:off x="685800" y="781050"/>
            <a:ext cx="10001250" cy="552450"/>
          </a:xfrm>
          <a:prstGeom prst="rect">
            <a:avLst/>
          </a:prstGeom>
          <a:noFill/>
          <a:ln w="0">
            <a:noFill/>
            <a:prstDash val="solid"/>
          </a:ln>
        </p:spPr>
        <p:txBody>
          <a:bodyPr/>
          <a:lstStyle/>
          <a:p>
            <a:pPr algn="l">
              <a:buNone/>
              <a:defRPr sz="2775" b="1">
                <a:solidFill>
                  <a:srgbClr val="102A33"/>
                </a:solidFill>
              </a:defRPr>
            </a:pPr>
            <a:r>
              <a:rPr sz="2775" b="1">
                <a:solidFill>
                  <a:srgbClr val="102A33"/>
                </a:solidFill>
              </a:rPr>
              <a:t>The model is tested on future years, not random rows</a:t>
            </a:r>
          </a:p>
        </p:txBody>
      </p:sp>
      <p:sp>
        <p:nvSpPr>
          <p:cNvPr id="3" name="rule-4">
            <a:extLst>
              <a:ext uri="{FF2B5EF4-FFF2-40B4-BE49-F238E27FC236}">
                <a16:creationId xmlns:a16="http://schemas.microsoft.com/office/drawing/2014/main" id="{D299AF84-6E4B-4592-B468-EDC38226DB53}"/>
              </a:ext>
            </a:extLst>
          </p:cNvPr>
          <p:cNvSpPr>
            <a:spLocks noGrp="1"/>
          </p:cNvSpPr>
          <p:nvPr/>
        </p:nvSpPr>
        <p:spPr>
          <a:xfrm>
            <a:off x="685800" y="1466850"/>
            <a:ext cx="10820400" cy="19050"/>
          </a:xfrm>
          <a:prstGeom prst="rect">
            <a:avLst/>
          </a:prstGeom>
          <a:solidFill>
            <a:srgbClr val="C8D2D6"/>
          </a:solidFill>
          <a:ln w="0">
            <a:noFill/>
            <a:prstDash val="solid"/>
          </a:ln>
        </p:spPr>
      </p:sp>
      <p:sp>
        <p:nvSpPr>
          <p:cNvPr id="4" name="page-4">
            <a:extLst>
              <a:ext uri="{FF2B5EF4-FFF2-40B4-BE49-F238E27FC236}">
                <a16:creationId xmlns:a16="http://schemas.microsoft.com/office/drawing/2014/main" id="{B4C11146-55F7-4C8C-860A-627D0741A9AD}"/>
              </a:ext>
            </a:extLst>
          </p:cNvPr>
          <p:cNvSpPr>
            <a:spLocks noGrp="1"/>
          </p:cNvSpPr>
          <p:nvPr/>
        </p:nvSpPr>
        <p:spPr>
          <a:xfrm>
            <a:off x="10953750" y="457200"/>
            <a:ext cx="552450" cy="228600"/>
          </a:xfrm>
          <a:prstGeom prst="rect">
            <a:avLst/>
          </a:prstGeom>
          <a:noFill/>
          <a:ln w="0">
            <a:noFill/>
            <a:prstDash val="solid"/>
          </a:ln>
        </p:spPr>
        <p:txBody>
          <a:bodyPr/>
          <a:lstStyle/>
          <a:p>
            <a:pPr algn="r">
              <a:buNone/>
              <a:defRPr sz="1125" b="1">
                <a:solidFill>
                  <a:srgbClr val="48606B"/>
                </a:solidFill>
              </a:defRPr>
            </a:pPr>
            <a:r>
              <a:rPr sz="1125" b="1">
                <a:solidFill>
                  <a:srgbClr val="48606B"/>
                </a:solidFill>
              </a:rPr>
              <a:t>04</a:t>
            </a:r>
          </a:p>
        </p:txBody>
      </p:sp>
      <p:sp>
        <p:nvSpPr>
          <p:cNvPr id="5" name="method-lead">
            <a:extLst>
              <a:ext uri="{FF2B5EF4-FFF2-40B4-BE49-F238E27FC236}">
                <a16:creationId xmlns:a16="http://schemas.microsoft.com/office/drawing/2014/main" id="{1EDD5653-BCBE-4A1A-A134-E7227D33005D}"/>
              </a:ext>
            </a:extLst>
          </p:cNvPr>
          <p:cNvSpPr>
            <a:spLocks noGrp="1"/>
          </p:cNvSpPr>
          <p:nvPr/>
        </p:nvSpPr>
        <p:spPr>
          <a:xfrm>
            <a:off x="685800" y="1809750"/>
            <a:ext cx="9620250" cy="514350"/>
          </a:xfrm>
          <a:prstGeom prst="rect">
            <a:avLst/>
          </a:prstGeom>
          <a:noFill/>
          <a:ln w="0">
            <a:noFill/>
            <a:prstDash val="solid"/>
          </a:ln>
        </p:spPr>
        <p:txBody>
          <a:bodyPr/>
          <a:lstStyle/>
          <a:p>
            <a:pPr algn="l">
              <a:buNone/>
              <a:defRPr sz="1725" b="0">
                <a:solidFill>
                  <a:srgbClr val="102A33"/>
                </a:solidFill>
              </a:defRPr>
            </a:pPr>
            <a:r>
              <a:rPr sz="1725" b="0">
                <a:solidFill>
                  <a:srgbClr val="102A33"/>
                </a:solidFill>
              </a:rPr>
              <a:t>Supervised learning will be compared with a simple historical-fire baseline. A tree-based model, such as Random Forest, is evaluated only after data preparation.</a:t>
            </a:r>
          </a:p>
        </p:txBody>
      </p:sp>
      <p:sp>
        <p:nvSpPr>
          <p:cNvPr id="6" name="time-0">
            <a:extLst>
              <a:ext uri="{FF2B5EF4-FFF2-40B4-BE49-F238E27FC236}">
                <a16:creationId xmlns:a16="http://schemas.microsoft.com/office/drawing/2014/main" id="{91B18E30-5AC3-4814-9F93-8EED8787740B}"/>
              </a:ext>
            </a:extLst>
          </p:cNvPr>
          <p:cNvSpPr>
            <a:spLocks noGrp="1"/>
          </p:cNvSpPr>
          <p:nvPr/>
        </p:nvSpPr>
        <p:spPr>
          <a:xfrm>
            <a:off x="685800" y="3143250"/>
            <a:ext cx="4476750" cy="857250"/>
          </a:xfrm>
          <a:prstGeom prst="roundRect">
            <a:avLst>
              <a:gd name="adj" fmla="val 8889"/>
            </a:avLst>
          </a:prstGeom>
          <a:solidFill>
            <a:srgbClr val="3D8DFF"/>
          </a:solidFill>
          <a:ln w="9525">
            <a:solidFill>
              <a:srgbClr val="3D8DFF"/>
            </a:solidFill>
            <a:prstDash val="solid"/>
          </a:ln>
        </p:spPr>
      </p:sp>
      <p:sp>
        <p:nvSpPr>
          <p:cNvPr id="7" name="time-label-0">
            <a:extLst>
              <a:ext uri="{FF2B5EF4-FFF2-40B4-BE49-F238E27FC236}">
                <a16:creationId xmlns:a16="http://schemas.microsoft.com/office/drawing/2014/main" id="{8EB0EB9E-A492-4133-B4FC-6ACE4835A1BF}"/>
              </a:ext>
            </a:extLst>
          </p:cNvPr>
          <p:cNvSpPr>
            <a:spLocks noGrp="1"/>
          </p:cNvSpPr>
          <p:nvPr/>
        </p:nvSpPr>
        <p:spPr>
          <a:xfrm>
            <a:off x="876300" y="3314700"/>
            <a:ext cx="4095750" cy="247650"/>
          </a:xfrm>
          <a:prstGeom prst="rect">
            <a:avLst/>
          </a:prstGeom>
          <a:noFill/>
          <a:ln w="0">
            <a:noFill/>
            <a:prstDash val="solid"/>
          </a:ln>
        </p:spPr>
        <p:txBody>
          <a:bodyPr/>
          <a:lstStyle/>
          <a:p>
            <a:pPr algn="l">
              <a:buNone/>
              <a:defRPr sz="1500" b="1">
                <a:solidFill>
                  <a:srgbClr val="FFFFFF"/>
                </a:solidFill>
              </a:defRPr>
            </a:pPr>
            <a:r>
              <a:rPr sz="1500" b="1">
                <a:solidFill>
                  <a:srgbClr val="FFFFFF"/>
                </a:solidFill>
              </a:rPr>
              <a:t>Training</a:t>
            </a:r>
          </a:p>
        </p:txBody>
      </p:sp>
      <p:sp>
        <p:nvSpPr>
          <p:cNvPr id="8" name="time-years-0">
            <a:extLst>
              <a:ext uri="{FF2B5EF4-FFF2-40B4-BE49-F238E27FC236}">
                <a16:creationId xmlns:a16="http://schemas.microsoft.com/office/drawing/2014/main" id="{D4BB6527-1EC8-44D5-A8D6-F74372FD55A7}"/>
              </a:ext>
            </a:extLst>
          </p:cNvPr>
          <p:cNvSpPr>
            <a:spLocks noGrp="1"/>
          </p:cNvSpPr>
          <p:nvPr/>
        </p:nvSpPr>
        <p:spPr>
          <a:xfrm>
            <a:off x="876300" y="3638550"/>
            <a:ext cx="4095750" cy="228600"/>
          </a:xfrm>
          <a:prstGeom prst="rect">
            <a:avLst/>
          </a:prstGeom>
          <a:noFill/>
          <a:ln w="0">
            <a:noFill/>
            <a:prstDash val="solid"/>
          </a:ln>
        </p:spPr>
        <p:txBody>
          <a:bodyPr/>
          <a:lstStyle/>
          <a:p>
            <a:pPr algn="l">
              <a:buNone/>
              <a:defRPr sz="1350" b="0">
                <a:solidFill>
                  <a:srgbClr val="FFFFFF"/>
                </a:solidFill>
              </a:defRPr>
            </a:pPr>
            <a:r>
              <a:rPr sz="1350" b="0">
                <a:solidFill>
                  <a:srgbClr val="FFFFFF"/>
                </a:solidFill>
              </a:rPr>
              <a:t>2015–2019</a:t>
            </a:r>
          </a:p>
        </p:txBody>
      </p:sp>
      <p:sp>
        <p:nvSpPr>
          <p:cNvPr id="9" name="time-1">
            <a:extLst>
              <a:ext uri="{FF2B5EF4-FFF2-40B4-BE49-F238E27FC236}">
                <a16:creationId xmlns:a16="http://schemas.microsoft.com/office/drawing/2014/main" id="{75DF833B-E890-4FBB-8521-9E829CA261D9}"/>
              </a:ext>
            </a:extLst>
          </p:cNvPr>
          <p:cNvSpPr>
            <a:spLocks noGrp="1"/>
          </p:cNvSpPr>
          <p:nvPr/>
        </p:nvSpPr>
        <p:spPr>
          <a:xfrm>
            <a:off x="5295900" y="3143250"/>
            <a:ext cx="2190750" cy="857250"/>
          </a:xfrm>
          <a:prstGeom prst="roundRect">
            <a:avLst>
              <a:gd name="adj" fmla="val 8889"/>
            </a:avLst>
          </a:prstGeom>
          <a:solidFill>
            <a:srgbClr val="6DCBF4"/>
          </a:solidFill>
          <a:ln w="9525">
            <a:solidFill>
              <a:srgbClr val="6DCBF4"/>
            </a:solidFill>
            <a:prstDash val="solid"/>
          </a:ln>
        </p:spPr>
      </p:sp>
      <p:sp>
        <p:nvSpPr>
          <p:cNvPr id="10" name="time-label-1">
            <a:extLst>
              <a:ext uri="{FF2B5EF4-FFF2-40B4-BE49-F238E27FC236}">
                <a16:creationId xmlns:a16="http://schemas.microsoft.com/office/drawing/2014/main" id="{C9F37DE3-40C5-4C78-8FA3-E5CEAD5CE181}"/>
              </a:ext>
            </a:extLst>
          </p:cNvPr>
          <p:cNvSpPr>
            <a:spLocks noGrp="1"/>
          </p:cNvSpPr>
          <p:nvPr/>
        </p:nvSpPr>
        <p:spPr>
          <a:xfrm>
            <a:off x="5486400" y="3314700"/>
            <a:ext cx="1809750" cy="247650"/>
          </a:xfrm>
          <a:prstGeom prst="rect">
            <a:avLst/>
          </a:prstGeom>
          <a:noFill/>
          <a:ln w="0">
            <a:noFill/>
            <a:prstDash val="solid"/>
          </a:ln>
        </p:spPr>
        <p:txBody>
          <a:bodyPr/>
          <a:lstStyle/>
          <a:p>
            <a:pPr algn="l">
              <a:buNone/>
              <a:defRPr sz="1500" b="1">
                <a:solidFill>
                  <a:srgbClr val="FFFFFF"/>
                </a:solidFill>
              </a:defRPr>
            </a:pPr>
            <a:r>
              <a:rPr sz="1500" b="1">
                <a:solidFill>
                  <a:srgbClr val="FFFFFF"/>
                </a:solidFill>
              </a:rPr>
              <a:t>Validation</a:t>
            </a:r>
          </a:p>
        </p:txBody>
      </p:sp>
      <p:sp>
        <p:nvSpPr>
          <p:cNvPr id="11" name="time-years-1">
            <a:extLst>
              <a:ext uri="{FF2B5EF4-FFF2-40B4-BE49-F238E27FC236}">
                <a16:creationId xmlns:a16="http://schemas.microsoft.com/office/drawing/2014/main" id="{97259FF7-ED5A-4B5E-8C7E-CA31A1D48058}"/>
              </a:ext>
            </a:extLst>
          </p:cNvPr>
          <p:cNvSpPr>
            <a:spLocks noGrp="1"/>
          </p:cNvSpPr>
          <p:nvPr/>
        </p:nvSpPr>
        <p:spPr>
          <a:xfrm>
            <a:off x="5486400" y="3638550"/>
            <a:ext cx="1809750" cy="228600"/>
          </a:xfrm>
          <a:prstGeom prst="rect">
            <a:avLst/>
          </a:prstGeom>
          <a:noFill/>
          <a:ln w="0">
            <a:noFill/>
            <a:prstDash val="solid"/>
          </a:ln>
        </p:spPr>
        <p:txBody>
          <a:bodyPr/>
          <a:lstStyle/>
          <a:p>
            <a:pPr algn="l">
              <a:buNone/>
              <a:defRPr sz="1350" b="0">
                <a:solidFill>
                  <a:srgbClr val="FFFFFF"/>
                </a:solidFill>
              </a:defRPr>
            </a:pPr>
            <a:r>
              <a:rPr sz="1350" b="0">
                <a:solidFill>
                  <a:srgbClr val="FFFFFF"/>
                </a:solidFill>
              </a:rPr>
              <a:t>2020–2021</a:t>
            </a:r>
          </a:p>
        </p:txBody>
      </p:sp>
      <p:sp>
        <p:nvSpPr>
          <p:cNvPr id="12" name="time-2">
            <a:extLst>
              <a:ext uri="{FF2B5EF4-FFF2-40B4-BE49-F238E27FC236}">
                <a16:creationId xmlns:a16="http://schemas.microsoft.com/office/drawing/2014/main" id="{B202A94E-CD22-43C2-B021-9541AC28A841}"/>
              </a:ext>
            </a:extLst>
          </p:cNvPr>
          <p:cNvSpPr>
            <a:spLocks noGrp="1"/>
          </p:cNvSpPr>
          <p:nvPr/>
        </p:nvSpPr>
        <p:spPr>
          <a:xfrm>
            <a:off x="7620000" y="3143250"/>
            <a:ext cx="3905250" cy="857250"/>
          </a:xfrm>
          <a:prstGeom prst="roundRect">
            <a:avLst>
              <a:gd name="adj" fmla="val 8889"/>
            </a:avLst>
          </a:prstGeom>
          <a:solidFill>
            <a:srgbClr val="9AC9A6"/>
          </a:solidFill>
          <a:ln w="9525">
            <a:solidFill>
              <a:srgbClr val="9AC9A6"/>
            </a:solidFill>
            <a:prstDash val="solid"/>
          </a:ln>
        </p:spPr>
      </p:sp>
      <p:sp>
        <p:nvSpPr>
          <p:cNvPr id="13" name="time-label-2">
            <a:extLst>
              <a:ext uri="{FF2B5EF4-FFF2-40B4-BE49-F238E27FC236}">
                <a16:creationId xmlns:a16="http://schemas.microsoft.com/office/drawing/2014/main" id="{C0CD5935-993C-4518-9778-B3F9C0524388}"/>
              </a:ext>
            </a:extLst>
          </p:cNvPr>
          <p:cNvSpPr>
            <a:spLocks noGrp="1"/>
          </p:cNvSpPr>
          <p:nvPr/>
        </p:nvSpPr>
        <p:spPr>
          <a:xfrm>
            <a:off x="7810500" y="3314700"/>
            <a:ext cx="3524250" cy="247650"/>
          </a:xfrm>
          <a:prstGeom prst="rect">
            <a:avLst/>
          </a:prstGeom>
          <a:noFill/>
          <a:ln w="0">
            <a:noFill/>
            <a:prstDash val="solid"/>
          </a:ln>
        </p:spPr>
        <p:txBody>
          <a:bodyPr/>
          <a:lstStyle/>
          <a:p>
            <a:pPr algn="l">
              <a:buNone/>
              <a:defRPr sz="1500" b="1">
                <a:solidFill>
                  <a:srgbClr val="FFFFFF"/>
                </a:solidFill>
              </a:defRPr>
            </a:pPr>
            <a:r>
              <a:rPr sz="1500" b="1">
                <a:solidFill>
                  <a:srgbClr val="FFFFFF"/>
                </a:solidFill>
              </a:rPr>
              <a:t>Final temporal test</a:t>
            </a:r>
          </a:p>
        </p:txBody>
      </p:sp>
      <p:sp>
        <p:nvSpPr>
          <p:cNvPr id="14" name="time-years-2">
            <a:extLst>
              <a:ext uri="{FF2B5EF4-FFF2-40B4-BE49-F238E27FC236}">
                <a16:creationId xmlns:a16="http://schemas.microsoft.com/office/drawing/2014/main" id="{537586FF-C5E1-47B5-A183-C9E1EBC8257F}"/>
              </a:ext>
            </a:extLst>
          </p:cNvPr>
          <p:cNvSpPr>
            <a:spLocks noGrp="1"/>
          </p:cNvSpPr>
          <p:nvPr/>
        </p:nvSpPr>
        <p:spPr>
          <a:xfrm>
            <a:off x="7810500" y="3638550"/>
            <a:ext cx="3524250" cy="228600"/>
          </a:xfrm>
          <a:prstGeom prst="rect">
            <a:avLst/>
          </a:prstGeom>
          <a:noFill/>
          <a:ln w="0">
            <a:noFill/>
            <a:prstDash val="solid"/>
          </a:ln>
        </p:spPr>
        <p:txBody>
          <a:bodyPr/>
          <a:lstStyle/>
          <a:p>
            <a:pPr algn="l">
              <a:buNone/>
              <a:defRPr sz="1350" b="0">
                <a:solidFill>
                  <a:srgbClr val="FFFFFF"/>
                </a:solidFill>
              </a:defRPr>
            </a:pPr>
            <a:r>
              <a:rPr sz="1350" b="0">
                <a:solidFill>
                  <a:srgbClr val="FFFFFF"/>
                </a:solidFill>
              </a:rPr>
              <a:t>2022–2024</a:t>
            </a:r>
          </a:p>
        </p:txBody>
      </p:sp>
      <p:sp>
        <p:nvSpPr>
          <p:cNvPr id="15" name="method-b1-dot">
            <a:extLst>
              <a:ext uri="{FF2B5EF4-FFF2-40B4-BE49-F238E27FC236}">
                <a16:creationId xmlns:a16="http://schemas.microsoft.com/office/drawing/2014/main" id="{7715A641-F845-4442-AD8F-803C9F0312E5}"/>
              </a:ext>
            </a:extLst>
          </p:cNvPr>
          <p:cNvSpPr>
            <a:spLocks noGrp="1"/>
          </p:cNvSpPr>
          <p:nvPr/>
        </p:nvSpPr>
        <p:spPr>
          <a:xfrm>
            <a:off x="685800" y="4667250"/>
            <a:ext cx="171450" cy="247650"/>
          </a:xfrm>
          <a:prstGeom prst="rect">
            <a:avLst/>
          </a:prstGeom>
          <a:noFill/>
          <a:ln w="0">
            <a:noFill/>
            <a:prstDash val="solid"/>
          </a:ln>
        </p:spPr>
        <p:txBody>
          <a:bodyPr/>
          <a:lstStyle/>
          <a:p>
            <a:pPr algn="l">
              <a:buNone/>
              <a:defRPr sz="1800" b="1">
                <a:solidFill>
                  <a:srgbClr val="3D8DFF"/>
                </a:solidFill>
              </a:defRPr>
            </a:pPr>
            <a:r>
              <a:rPr sz="1800" b="1">
                <a:solidFill>
                  <a:srgbClr val="3D8DFF"/>
                </a:solidFill>
              </a:rPr>
              <a:t>•</a:t>
            </a:r>
          </a:p>
        </p:txBody>
      </p:sp>
      <p:sp>
        <p:nvSpPr>
          <p:cNvPr id="16" name="method-b1-text">
            <a:extLst>
              <a:ext uri="{FF2B5EF4-FFF2-40B4-BE49-F238E27FC236}">
                <a16:creationId xmlns:a16="http://schemas.microsoft.com/office/drawing/2014/main" id="{AA2D67E6-8B41-4CE9-8745-9EFE9EBED8E8}"/>
              </a:ext>
            </a:extLst>
          </p:cNvPr>
          <p:cNvSpPr>
            <a:spLocks noGrp="1"/>
          </p:cNvSpPr>
          <p:nvPr/>
        </p:nvSpPr>
        <p:spPr>
          <a:xfrm>
            <a:off x="914400" y="4676775"/>
            <a:ext cx="4533900" cy="381000"/>
          </a:xfrm>
          <a:prstGeom prst="rect">
            <a:avLst/>
          </a:prstGeom>
          <a:noFill/>
          <a:ln w="0">
            <a:noFill/>
            <a:prstDash val="solid"/>
          </a:ln>
        </p:spPr>
        <p:txBody>
          <a:bodyPr/>
          <a:lstStyle/>
          <a:p>
            <a:pPr algn="l">
              <a:buNone/>
              <a:defRPr sz="1575" b="0">
                <a:solidFill>
                  <a:srgbClr val="102A33"/>
                </a:solidFill>
              </a:defRPr>
            </a:pPr>
            <a:r>
              <a:rPr sz="1575" b="0">
                <a:solidFill>
                  <a:srgbClr val="102A33"/>
                </a:solidFill>
              </a:rPr>
              <a:t>Time-based splits check whether the method generalises to later wildfire years.</a:t>
            </a:r>
          </a:p>
        </p:txBody>
      </p:sp>
      <p:sp>
        <p:nvSpPr>
          <p:cNvPr id="17" name="method-b2-dot">
            <a:extLst>
              <a:ext uri="{FF2B5EF4-FFF2-40B4-BE49-F238E27FC236}">
                <a16:creationId xmlns:a16="http://schemas.microsoft.com/office/drawing/2014/main" id="{1BE4753F-EFCD-4599-BF5C-4651A86674FC}"/>
              </a:ext>
            </a:extLst>
          </p:cNvPr>
          <p:cNvSpPr>
            <a:spLocks noGrp="1"/>
          </p:cNvSpPr>
          <p:nvPr/>
        </p:nvSpPr>
        <p:spPr>
          <a:xfrm>
            <a:off x="6191250" y="4667250"/>
            <a:ext cx="171450" cy="247650"/>
          </a:xfrm>
          <a:prstGeom prst="rect">
            <a:avLst/>
          </a:prstGeom>
          <a:noFill/>
          <a:ln w="0">
            <a:noFill/>
            <a:prstDash val="solid"/>
          </a:ln>
        </p:spPr>
        <p:txBody>
          <a:bodyPr/>
          <a:lstStyle/>
          <a:p>
            <a:pPr algn="l">
              <a:buNone/>
              <a:defRPr sz="1800" b="1">
                <a:solidFill>
                  <a:srgbClr val="3D8DFF"/>
                </a:solidFill>
              </a:defRPr>
            </a:pPr>
            <a:r>
              <a:rPr sz="1800" b="1">
                <a:solidFill>
                  <a:srgbClr val="3D8DFF"/>
                </a:solidFill>
              </a:rPr>
              <a:t>•</a:t>
            </a:r>
          </a:p>
        </p:txBody>
      </p:sp>
      <p:sp>
        <p:nvSpPr>
          <p:cNvPr id="18" name="method-b2-text">
            <a:extLst>
              <a:ext uri="{FF2B5EF4-FFF2-40B4-BE49-F238E27FC236}">
                <a16:creationId xmlns:a16="http://schemas.microsoft.com/office/drawing/2014/main" id="{4236177B-10DC-441C-A950-EBD2186E473F}"/>
              </a:ext>
            </a:extLst>
          </p:cNvPr>
          <p:cNvSpPr>
            <a:spLocks noGrp="1"/>
          </p:cNvSpPr>
          <p:nvPr/>
        </p:nvSpPr>
        <p:spPr>
          <a:xfrm>
            <a:off x="6419850" y="4676775"/>
            <a:ext cx="4533900" cy="381000"/>
          </a:xfrm>
          <a:prstGeom prst="rect">
            <a:avLst/>
          </a:prstGeom>
          <a:noFill/>
          <a:ln w="0">
            <a:noFill/>
            <a:prstDash val="solid"/>
          </a:ln>
        </p:spPr>
        <p:txBody>
          <a:bodyPr/>
          <a:lstStyle/>
          <a:p>
            <a:pPr algn="l">
              <a:buNone/>
              <a:defRPr sz="1575" b="0">
                <a:solidFill>
                  <a:srgbClr val="102A33"/>
                </a:solidFill>
              </a:defRPr>
            </a:pPr>
            <a:r>
              <a:rPr sz="1575" b="0">
                <a:solidFill>
                  <a:srgbClr val="102A33"/>
                </a:solidFill>
              </a:rPr>
              <a:t>No final winning algorithm or performance result is claimed before training.</a:t>
            </a:r>
          </a:p>
        </p:txBody>
      </p:sp>
      <p:sp>
        <p:nvSpPr>
          <p:cNvPr id="19" name="footer-4">
            <a:extLst>
              <a:ext uri="{FF2B5EF4-FFF2-40B4-BE49-F238E27FC236}">
                <a16:creationId xmlns:a16="http://schemas.microsoft.com/office/drawing/2014/main" id="{91B2B8FD-504B-4D8F-872E-43AE46DC9030}"/>
              </a:ext>
            </a:extLst>
          </p:cNvPr>
          <p:cNvSpPr>
            <a:spLocks noGrp="1"/>
          </p:cNvSpPr>
          <p:nvPr/>
        </p:nvSpPr>
        <p:spPr>
          <a:xfrm>
            <a:off x="685800" y="6477000"/>
            <a:ext cx="5905500" cy="152400"/>
          </a:xfrm>
          <a:prstGeom prst="rect">
            <a:avLst/>
          </a:prstGeom>
          <a:noFill/>
          <a:ln w="0">
            <a:noFill/>
            <a:prstDash val="solid"/>
          </a:ln>
        </p:spPr>
        <p:txBody>
          <a:bodyPr/>
          <a:lstStyle/>
          <a:p>
            <a:pPr algn="l">
              <a:buNone/>
              <a:defRPr sz="900" b="0">
                <a:solidFill>
                  <a:srgbClr val="48606B"/>
                </a:solidFill>
              </a:defRPr>
            </a:pPr>
            <a:r>
              <a:rPr sz="900" b="0">
                <a:solidFill>
                  <a:srgbClr val="48606B"/>
                </a:solidFill>
              </a:rPr>
              <a:t>Wildfire exposure screening • mainland Portugal</a:t>
            </a:r>
          </a:p>
        </p:txBody>
      </p:sp>
    </p:spTree>
    <p:extLst>
      <p:ext uri="{BB962C8B-B14F-4D97-AF65-F5344CB8AC3E}">
        <p14:creationId xmlns:p14="http://schemas.microsoft.com/office/powerpoint/2010/main" val="966495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kicker-5">
            <a:extLst>
              <a:ext uri="{FF2B5EF4-FFF2-40B4-BE49-F238E27FC236}">
                <a16:creationId xmlns:a16="http://schemas.microsoft.com/office/drawing/2014/main" id="{535200F1-4390-4A7E-8EEE-D38BFCCD7AB7}"/>
              </a:ext>
            </a:extLst>
          </p:cNvPr>
          <p:cNvSpPr>
            <a:spLocks noGrp="1"/>
          </p:cNvSpPr>
          <p:nvPr/>
        </p:nvSpPr>
        <p:spPr>
          <a:xfrm>
            <a:off x="685800" y="457200"/>
            <a:ext cx="7620000" cy="228600"/>
          </a:xfrm>
          <a:prstGeom prst="rect">
            <a:avLst/>
          </a:prstGeom>
          <a:noFill/>
          <a:ln w="0">
            <a:noFill/>
            <a:prstDash val="solid"/>
          </a:ln>
        </p:spPr>
        <p:txBody>
          <a:bodyPr/>
          <a:lstStyle/>
          <a:p>
            <a:pPr algn="l">
              <a:buNone/>
              <a:defRPr sz="1125" b="1">
                <a:solidFill>
                  <a:srgbClr val="3D8DFF"/>
                </a:solidFill>
              </a:defRPr>
            </a:pPr>
            <a:r>
              <a:rPr sz="1125" b="1">
                <a:solidFill>
                  <a:srgbClr val="3D8DFF"/>
                </a:solidFill>
              </a:rPr>
              <a:t>VALUE AND LIMITS</a:t>
            </a:r>
          </a:p>
        </p:txBody>
      </p:sp>
      <p:sp>
        <p:nvSpPr>
          <p:cNvPr id="2" name="title-5">
            <a:extLst>
              <a:ext uri="{FF2B5EF4-FFF2-40B4-BE49-F238E27FC236}">
                <a16:creationId xmlns:a16="http://schemas.microsoft.com/office/drawing/2014/main" id="{B350DD89-FD60-4ED3-A6EB-0AD7E000A229}"/>
              </a:ext>
            </a:extLst>
          </p:cNvPr>
          <p:cNvSpPr>
            <a:spLocks noGrp="1"/>
          </p:cNvSpPr>
          <p:nvPr/>
        </p:nvSpPr>
        <p:spPr>
          <a:xfrm>
            <a:off x="685800" y="781050"/>
            <a:ext cx="10001250" cy="552450"/>
          </a:xfrm>
          <a:prstGeom prst="rect">
            <a:avLst/>
          </a:prstGeom>
          <a:noFill/>
          <a:ln w="0">
            <a:noFill/>
            <a:prstDash val="solid"/>
          </a:ln>
        </p:spPr>
        <p:txBody>
          <a:bodyPr/>
          <a:lstStyle/>
          <a:p>
            <a:pPr algn="l">
              <a:buNone/>
              <a:defRPr sz="2775" b="1">
                <a:solidFill>
                  <a:srgbClr val="102A33"/>
                </a:solidFill>
              </a:defRPr>
            </a:pPr>
            <a:r>
              <a:rPr sz="2775" b="1">
                <a:solidFill>
                  <a:srgbClr val="102A33"/>
                </a:solidFill>
              </a:rPr>
              <a:t>A transparent shortlist tool — not a fire guarantee</a:t>
            </a:r>
          </a:p>
        </p:txBody>
      </p:sp>
      <p:sp>
        <p:nvSpPr>
          <p:cNvPr id="3" name="rule-5">
            <a:extLst>
              <a:ext uri="{FF2B5EF4-FFF2-40B4-BE49-F238E27FC236}">
                <a16:creationId xmlns:a16="http://schemas.microsoft.com/office/drawing/2014/main" id="{FCA3B12E-782E-492A-AF92-A6CBDC21BEEA}"/>
              </a:ext>
            </a:extLst>
          </p:cNvPr>
          <p:cNvSpPr>
            <a:spLocks noGrp="1"/>
          </p:cNvSpPr>
          <p:nvPr/>
        </p:nvSpPr>
        <p:spPr>
          <a:xfrm>
            <a:off x="685800" y="1466850"/>
            <a:ext cx="10820400" cy="19050"/>
          </a:xfrm>
          <a:prstGeom prst="rect">
            <a:avLst/>
          </a:prstGeom>
          <a:solidFill>
            <a:srgbClr val="C8D2D6"/>
          </a:solidFill>
          <a:ln w="0">
            <a:noFill/>
            <a:prstDash val="solid"/>
          </a:ln>
        </p:spPr>
      </p:sp>
      <p:sp>
        <p:nvSpPr>
          <p:cNvPr id="4" name="page-5">
            <a:extLst>
              <a:ext uri="{FF2B5EF4-FFF2-40B4-BE49-F238E27FC236}">
                <a16:creationId xmlns:a16="http://schemas.microsoft.com/office/drawing/2014/main" id="{3B03F78F-45FC-4BBB-B828-A34A2BDF048E}"/>
              </a:ext>
            </a:extLst>
          </p:cNvPr>
          <p:cNvSpPr>
            <a:spLocks noGrp="1"/>
          </p:cNvSpPr>
          <p:nvPr/>
        </p:nvSpPr>
        <p:spPr>
          <a:xfrm>
            <a:off x="10953750" y="457200"/>
            <a:ext cx="552450" cy="228600"/>
          </a:xfrm>
          <a:prstGeom prst="rect">
            <a:avLst/>
          </a:prstGeom>
          <a:noFill/>
          <a:ln w="0">
            <a:noFill/>
            <a:prstDash val="solid"/>
          </a:ln>
        </p:spPr>
        <p:txBody>
          <a:bodyPr/>
          <a:lstStyle/>
          <a:p>
            <a:pPr algn="r">
              <a:buNone/>
              <a:defRPr sz="1125" b="1">
                <a:solidFill>
                  <a:srgbClr val="48606B"/>
                </a:solidFill>
              </a:defRPr>
            </a:pPr>
            <a:r>
              <a:rPr sz="1125" b="1">
                <a:solidFill>
                  <a:srgbClr val="48606B"/>
                </a:solidFill>
              </a:rPr>
              <a:t>05</a:t>
            </a:r>
          </a:p>
        </p:txBody>
      </p:sp>
      <p:sp>
        <p:nvSpPr>
          <p:cNvPr id="5" name="value-panel">
            <a:extLst>
              <a:ext uri="{FF2B5EF4-FFF2-40B4-BE49-F238E27FC236}">
                <a16:creationId xmlns:a16="http://schemas.microsoft.com/office/drawing/2014/main" id="{76A46DBF-45FE-4873-A42D-F5ED33D5775C}"/>
              </a:ext>
            </a:extLst>
          </p:cNvPr>
          <p:cNvSpPr>
            <a:spLocks noGrp="1"/>
          </p:cNvSpPr>
          <p:nvPr/>
        </p:nvSpPr>
        <p:spPr>
          <a:xfrm>
            <a:off x="685800" y="2038350"/>
            <a:ext cx="4743450" cy="3000375"/>
          </a:xfrm>
          <a:prstGeom prst="roundRect">
            <a:avLst>
              <a:gd name="adj" fmla="val 2540"/>
            </a:avLst>
          </a:prstGeom>
          <a:solidFill>
            <a:srgbClr val="EAF6FD"/>
          </a:solidFill>
          <a:ln w="9525">
            <a:solidFill>
              <a:srgbClr val="EAF6FD"/>
            </a:solidFill>
            <a:prstDash val="solid"/>
          </a:ln>
        </p:spPr>
      </p:sp>
      <p:sp>
        <p:nvSpPr>
          <p:cNvPr id="6" name="value-title">
            <a:extLst>
              <a:ext uri="{FF2B5EF4-FFF2-40B4-BE49-F238E27FC236}">
                <a16:creationId xmlns:a16="http://schemas.microsoft.com/office/drawing/2014/main" id="{6D22FC8A-9831-43A8-82A2-0317C58FC559}"/>
              </a:ext>
            </a:extLst>
          </p:cNvPr>
          <p:cNvSpPr>
            <a:spLocks noGrp="1"/>
          </p:cNvSpPr>
          <p:nvPr/>
        </p:nvSpPr>
        <p:spPr>
          <a:xfrm>
            <a:off x="971550" y="2343150"/>
            <a:ext cx="3333750" cy="304800"/>
          </a:xfrm>
          <a:prstGeom prst="rect">
            <a:avLst/>
          </a:prstGeom>
          <a:noFill/>
          <a:ln w="0">
            <a:noFill/>
            <a:prstDash val="solid"/>
          </a:ln>
        </p:spPr>
        <p:txBody>
          <a:bodyPr/>
          <a:lstStyle/>
          <a:p>
            <a:pPr algn="l">
              <a:buNone/>
              <a:defRPr sz="1950" b="1">
                <a:solidFill>
                  <a:srgbClr val="102A33"/>
                </a:solidFill>
              </a:defRPr>
            </a:pPr>
            <a:r>
              <a:rPr sz="1950" b="1">
                <a:solidFill>
                  <a:srgbClr val="102A33"/>
                </a:solidFill>
              </a:rPr>
              <a:t>Expected value</a:t>
            </a:r>
          </a:p>
        </p:txBody>
      </p:sp>
      <p:sp>
        <p:nvSpPr>
          <p:cNvPr id="7" name="value-b1-dot">
            <a:extLst>
              <a:ext uri="{FF2B5EF4-FFF2-40B4-BE49-F238E27FC236}">
                <a16:creationId xmlns:a16="http://schemas.microsoft.com/office/drawing/2014/main" id="{E331DA72-5982-4659-A38E-7D26847D2A57}"/>
              </a:ext>
            </a:extLst>
          </p:cNvPr>
          <p:cNvSpPr>
            <a:spLocks noGrp="1"/>
          </p:cNvSpPr>
          <p:nvPr/>
        </p:nvSpPr>
        <p:spPr>
          <a:xfrm>
            <a:off x="971550" y="2895600"/>
            <a:ext cx="171450" cy="247650"/>
          </a:xfrm>
          <a:prstGeom prst="rect">
            <a:avLst/>
          </a:prstGeom>
          <a:noFill/>
          <a:ln w="0">
            <a:noFill/>
            <a:prstDash val="solid"/>
          </a:ln>
        </p:spPr>
        <p:txBody>
          <a:bodyPr/>
          <a:lstStyle/>
          <a:p>
            <a:pPr algn="l">
              <a:buNone/>
              <a:defRPr sz="1800" b="1">
                <a:solidFill>
                  <a:srgbClr val="3D8DFF"/>
                </a:solidFill>
              </a:defRPr>
            </a:pPr>
            <a:r>
              <a:rPr sz="1800" b="1">
                <a:solidFill>
                  <a:srgbClr val="3D8DFF"/>
                </a:solidFill>
              </a:rPr>
              <a:t>•</a:t>
            </a:r>
          </a:p>
        </p:txBody>
      </p:sp>
      <p:sp>
        <p:nvSpPr>
          <p:cNvPr id="8" name="value-b1-text">
            <a:extLst>
              <a:ext uri="{FF2B5EF4-FFF2-40B4-BE49-F238E27FC236}">
                <a16:creationId xmlns:a16="http://schemas.microsoft.com/office/drawing/2014/main" id="{B80BE095-5E4E-4475-9223-72209371A707}"/>
              </a:ext>
            </a:extLst>
          </p:cNvPr>
          <p:cNvSpPr>
            <a:spLocks noGrp="1"/>
          </p:cNvSpPr>
          <p:nvPr/>
        </p:nvSpPr>
        <p:spPr>
          <a:xfrm>
            <a:off x="1200150" y="2905125"/>
            <a:ext cx="3676650" cy="381000"/>
          </a:xfrm>
          <a:prstGeom prst="rect">
            <a:avLst/>
          </a:prstGeom>
          <a:noFill/>
          <a:ln w="0">
            <a:noFill/>
            <a:prstDash val="solid"/>
          </a:ln>
        </p:spPr>
        <p:txBody>
          <a:bodyPr/>
          <a:lstStyle/>
          <a:p>
            <a:pPr algn="l">
              <a:buNone/>
              <a:defRPr sz="1575" b="0">
                <a:solidFill>
                  <a:srgbClr val="102A33"/>
                </a:solidFill>
              </a:defRPr>
            </a:pPr>
            <a:r>
              <a:rPr sz="1575" b="0">
                <a:solidFill>
                  <a:srgbClr val="102A33"/>
                </a:solidFill>
              </a:rPr>
              <a:t>Compare mainland locations using the same documented rules.</a:t>
            </a:r>
          </a:p>
        </p:txBody>
      </p:sp>
      <p:sp>
        <p:nvSpPr>
          <p:cNvPr id="9" name="value-b2-dot">
            <a:extLst>
              <a:ext uri="{FF2B5EF4-FFF2-40B4-BE49-F238E27FC236}">
                <a16:creationId xmlns:a16="http://schemas.microsoft.com/office/drawing/2014/main" id="{EB64A784-E121-4A75-92C6-7DC4A177916B}"/>
              </a:ext>
            </a:extLst>
          </p:cNvPr>
          <p:cNvSpPr>
            <a:spLocks noGrp="1"/>
          </p:cNvSpPr>
          <p:nvPr/>
        </p:nvSpPr>
        <p:spPr>
          <a:xfrm>
            <a:off x="971550" y="3562350"/>
            <a:ext cx="171450" cy="247650"/>
          </a:xfrm>
          <a:prstGeom prst="rect">
            <a:avLst/>
          </a:prstGeom>
          <a:noFill/>
          <a:ln w="0">
            <a:noFill/>
            <a:prstDash val="solid"/>
          </a:ln>
        </p:spPr>
        <p:txBody>
          <a:bodyPr/>
          <a:lstStyle/>
          <a:p>
            <a:pPr algn="l">
              <a:buNone/>
              <a:defRPr sz="1800" b="1">
                <a:solidFill>
                  <a:srgbClr val="3D8DFF"/>
                </a:solidFill>
              </a:defRPr>
            </a:pPr>
            <a:r>
              <a:rPr sz="1800" b="1">
                <a:solidFill>
                  <a:srgbClr val="3D8DFF"/>
                </a:solidFill>
              </a:rPr>
              <a:t>•</a:t>
            </a:r>
          </a:p>
        </p:txBody>
      </p:sp>
      <p:sp>
        <p:nvSpPr>
          <p:cNvPr id="10" name="value-b2-text">
            <a:extLst>
              <a:ext uri="{FF2B5EF4-FFF2-40B4-BE49-F238E27FC236}">
                <a16:creationId xmlns:a16="http://schemas.microsoft.com/office/drawing/2014/main" id="{38E4F9D8-7B34-4757-8199-0584A9CF39D4}"/>
              </a:ext>
            </a:extLst>
          </p:cNvPr>
          <p:cNvSpPr>
            <a:spLocks noGrp="1"/>
          </p:cNvSpPr>
          <p:nvPr/>
        </p:nvSpPr>
        <p:spPr>
          <a:xfrm>
            <a:off x="1200150" y="3571875"/>
            <a:ext cx="3676650" cy="381000"/>
          </a:xfrm>
          <a:prstGeom prst="rect">
            <a:avLst/>
          </a:prstGeom>
          <a:noFill/>
          <a:ln w="0">
            <a:noFill/>
            <a:prstDash val="solid"/>
          </a:ln>
        </p:spPr>
        <p:txBody>
          <a:bodyPr/>
          <a:lstStyle/>
          <a:p>
            <a:pPr algn="l">
              <a:buNone/>
              <a:defRPr sz="1575" b="0">
                <a:solidFill>
                  <a:srgbClr val="102A33"/>
                </a:solidFill>
              </a:defRPr>
            </a:pPr>
            <a:r>
              <a:rPr sz="1575" b="0">
                <a:solidFill>
                  <a:srgbClr val="102A33"/>
                </a:solidFill>
              </a:rPr>
              <a:t>Show the data sources and limitations behind each screening result.</a:t>
            </a:r>
          </a:p>
        </p:txBody>
      </p:sp>
      <p:sp>
        <p:nvSpPr>
          <p:cNvPr id="11" name="limits-panel">
            <a:extLst>
              <a:ext uri="{FF2B5EF4-FFF2-40B4-BE49-F238E27FC236}">
                <a16:creationId xmlns:a16="http://schemas.microsoft.com/office/drawing/2014/main" id="{889CCB3A-202B-4836-8512-FD7D921E7658}"/>
              </a:ext>
            </a:extLst>
          </p:cNvPr>
          <p:cNvSpPr>
            <a:spLocks noGrp="1"/>
          </p:cNvSpPr>
          <p:nvPr/>
        </p:nvSpPr>
        <p:spPr>
          <a:xfrm>
            <a:off x="5905500" y="2038350"/>
            <a:ext cx="5600700" cy="3000375"/>
          </a:xfrm>
          <a:prstGeom prst="roundRect">
            <a:avLst>
              <a:gd name="adj" fmla="val 2540"/>
            </a:avLst>
          </a:prstGeom>
          <a:solidFill>
            <a:srgbClr val="FFF5E6"/>
          </a:solidFill>
          <a:ln w="9525">
            <a:solidFill>
              <a:srgbClr val="F2C879"/>
            </a:solidFill>
            <a:prstDash val="solid"/>
          </a:ln>
        </p:spPr>
      </p:sp>
      <p:sp>
        <p:nvSpPr>
          <p:cNvPr id="12" name="limits-title">
            <a:extLst>
              <a:ext uri="{FF2B5EF4-FFF2-40B4-BE49-F238E27FC236}">
                <a16:creationId xmlns:a16="http://schemas.microsoft.com/office/drawing/2014/main" id="{EB2DC3CC-D9CD-449F-951F-67C46D3FA5D2}"/>
              </a:ext>
            </a:extLst>
          </p:cNvPr>
          <p:cNvSpPr>
            <a:spLocks noGrp="1"/>
          </p:cNvSpPr>
          <p:nvPr/>
        </p:nvSpPr>
        <p:spPr>
          <a:xfrm>
            <a:off x="6210300" y="2343150"/>
            <a:ext cx="4572000" cy="304800"/>
          </a:xfrm>
          <a:prstGeom prst="rect">
            <a:avLst/>
          </a:prstGeom>
          <a:noFill/>
          <a:ln w="0">
            <a:noFill/>
            <a:prstDash val="solid"/>
          </a:ln>
        </p:spPr>
        <p:txBody>
          <a:bodyPr/>
          <a:lstStyle/>
          <a:p>
            <a:pPr algn="l">
              <a:buNone/>
              <a:defRPr sz="1950" b="1">
                <a:solidFill>
                  <a:srgbClr val="102A33"/>
                </a:solidFill>
              </a:defRPr>
            </a:pPr>
            <a:r>
              <a:rPr sz="1950" b="1">
                <a:solidFill>
                  <a:srgbClr val="102A33"/>
                </a:solidFill>
              </a:rPr>
              <a:t>Important limits and next steps</a:t>
            </a:r>
          </a:p>
        </p:txBody>
      </p:sp>
      <p:sp>
        <p:nvSpPr>
          <p:cNvPr id="13" name="limits-b1-dot">
            <a:extLst>
              <a:ext uri="{FF2B5EF4-FFF2-40B4-BE49-F238E27FC236}">
                <a16:creationId xmlns:a16="http://schemas.microsoft.com/office/drawing/2014/main" id="{A10AEE7E-9F67-4DA3-B2F9-46B488A47DF0}"/>
              </a:ext>
            </a:extLst>
          </p:cNvPr>
          <p:cNvSpPr>
            <a:spLocks noGrp="1"/>
          </p:cNvSpPr>
          <p:nvPr/>
        </p:nvSpPr>
        <p:spPr>
          <a:xfrm>
            <a:off x="6210300" y="2895600"/>
            <a:ext cx="171450" cy="247650"/>
          </a:xfrm>
          <a:prstGeom prst="rect">
            <a:avLst/>
          </a:prstGeom>
          <a:noFill/>
          <a:ln w="0">
            <a:noFill/>
            <a:prstDash val="solid"/>
          </a:ln>
        </p:spPr>
        <p:txBody>
          <a:bodyPr/>
          <a:lstStyle/>
          <a:p>
            <a:pPr algn="l">
              <a:buNone/>
              <a:defRPr sz="1800" b="1">
                <a:solidFill>
                  <a:srgbClr val="3D8DFF"/>
                </a:solidFill>
              </a:defRPr>
            </a:pPr>
            <a:r>
              <a:rPr sz="1800" b="1">
                <a:solidFill>
                  <a:srgbClr val="3D8DFF"/>
                </a:solidFill>
              </a:rPr>
              <a:t>•</a:t>
            </a:r>
          </a:p>
        </p:txBody>
      </p:sp>
      <p:sp>
        <p:nvSpPr>
          <p:cNvPr id="14" name="limits-b1-text">
            <a:extLst>
              <a:ext uri="{FF2B5EF4-FFF2-40B4-BE49-F238E27FC236}">
                <a16:creationId xmlns:a16="http://schemas.microsoft.com/office/drawing/2014/main" id="{B3FFAA8D-CE7B-48B3-BBF4-7FF87B67D933}"/>
              </a:ext>
            </a:extLst>
          </p:cNvPr>
          <p:cNvSpPr>
            <a:spLocks noGrp="1"/>
          </p:cNvSpPr>
          <p:nvPr/>
        </p:nvSpPr>
        <p:spPr>
          <a:xfrm>
            <a:off x="6438900" y="2905125"/>
            <a:ext cx="4533900" cy="381000"/>
          </a:xfrm>
          <a:prstGeom prst="rect">
            <a:avLst/>
          </a:prstGeom>
          <a:noFill/>
          <a:ln w="0">
            <a:noFill/>
            <a:prstDash val="solid"/>
          </a:ln>
        </p:spPr>
        <p:txBody>
          <a:bodyPr/>
          <a:lstStyle/>
          <a:p>
            <a:pPr algn="l">
              <a:buNone/>
              <a:defRPr sz="1575" b="0">
                <a:solidFill>
                  <a:srgbClr val="102A33"/>
                </a:solidFill>
              </a:defRPr>
            </a:pPr>
            <a:r>
              <a:rPr sz="1575" b="0">
                <a:solidFill>
                  <a:srgbClr val="102A33"/>
                </a:solidFill>
              </a:rPr>
              <a:t>Retrospective evaluation, not an exact real-time operational forecast.</a:t>
            </a:r>
          </a:p>
        </p:txBody>
      </p:sp>
      <p:sp>
        <p:nvSpPr>
          <p:cNvPr id="15" name="limits-b2-dot">
            <a:extLst>
              <a:ext uri="{FF2B5EF4-FFF2-40B4-BE49-F238E27FC236}">
                <a16:creationId xmlns:a16="http://schemas.microsoft.com/office/drawing/2014/main" id="{55428C0C-E947-494D-83C4-A0898D000D4E}"/>
              </a:ext>
            </a:extLst>
          </p:cNvPr>
          <p:cNvSpPr>
            <a:spLocks noGrp="1"/>
          </p:cNvSpPr>
          <p:nvPr/>
        </p:nvSpPr>
        <p:spPr>
          <a:xfrm>
            <a:off x="6210300" y="3543300"/>
            <a:ext cx="171450" cy="247650"/>
          </a:xfrm>
          <a:prstGeom prst="rect">
            <a:avLst/>
          </a:prstGeom>
          <a:noFill/>
          <a:ln w="0">
            <a:noFill/>
            <a:prstDash val="solid"/>
          </a:ln>
        </p:spPr>
        <p:txBody>
          <a:bodyPr/>
          <a:lstStyle/>
          <a:p>
            <a:pPr algn="l">
              <a:buNone/>
              <a:defRPr sz="1800" b="1">
                <a:solidFill>
                  <a:srgbClr val="3D8DFF"/>
                </a:solidFill>
              </a:defRPr>
            </a:pPr>
            <a:r>
              <a:rPr sz="1800" b="1">
                <a:solidFill>
                  <a:srgbClr val="3D8DFF"/>
                </a:solidFill>
              </a:rPr>
              <a:t>•</a:t>
            </a:r>
          </a:p>
        </p:txBody>
      </p:sp>
      <p:sp>
        <p:nvSpPr>
          <p:cNvPr id="16" name="limits-b2-text">
            <a:extLst>
              <a:ext uri="{FF2B5EF4-FFF2-40B4-BE49-F238E27FC236}">
                <a16:creationId xmlns:a16="http://schemas.microsoft.com/office/drawing/2014/main" id="{561CE146-ABEE-4BC8-BFEC-8337313B8C9C}"/>
              </a:ext>
            </a:extLst>
          </p:cNvPr>
          <p:cNvSpPr>
            <a:spLocks noGrp="1"/>
          </p:cNvSpPr>
          <p:nvPr/>
        </p:nvSpPr>
        <p:spPr>
          <a:xfrm>
            <a:off x="6438900" y="3552825"/>
            <a:ext cx="4533900" cy="381000"/>
          </a:xfrm>
          <a:prstGeom prst="rect">
            <a:avLst/>
          </a:prstGeom>
          <a:noFill/>
          <a:ln w="0">
            <a:noFill/>
            <a:prstDash val="solid"/>
          </a:ln>
        </p:spPr>
        <p:txBody>
          <a:bodyPr/>
          <a:lstStyle/>
          <a:p>
            <a:pPr algn="l">
              <a:buNone/>
              <a:defRPr sz="1575" b="0">
                <a:solidFill>
                  <a:srgbClr val="102A33"/>
                </a:solidFill>
              </a:defRPr>
            </a:pPr>
            <a:r>
              <a:rPr sz="1575" b="0">
                <a:solidFill>
                  <a:srgbClr val="102A33"/>
                </a:solidFill>
              </a:rPr>
              <a:t>ERA5-Land is coarse regional context, not 1 km weather.</a:t>
            </a:r>
          </a:p>
        </p:txBody>
      </p:sp>
      <p:sp>
        <p:nvSpPr>
          <p:cNvPr id="17" name="limits-b3-dot">
            <a:extLst>
              <a:ext uri="{FF2B5EF4-FFF2-40B4-BE49-F238E27FC236}">
                <a16:creationId xmlns:a16="http://schemas.microsoft.com/office/drawing/2014/main" id="{CD9B9D2E-33A4-4ACF-8DDC-DC280A88FCD1}"/>
              </a:ext>
            </a:extLst>
          </p:cNvPr>
          <p:cNvSpPr>
            <a:spLocks noGrp="1"/>
          </p:cNvSpPr>
          <p:nvPr/>
        </p:nvSpPr>
        <p:spPr>
          <a:xfrm>
            <a:off x="6210300" y="4191000"/>
            <a:ext cx="171450" cy="247650"/>
          </a:xfrm>
          <a:prstGeom prst="rect">
            <a:avLst/>
          </a:prstGeom>
          <a:noFill/>
          <a:ln w="0">
            <a:noFill/>
            <a:prstDash val="solid"/>
          </a:ln>
        </p:spPr>
        <p:txBody>
          <a:bodyPr/>
          <a:lstStyle/>
          <a:p>
            <a:pPr algn="l">
              <a:buNone/>
              <a:defRPr sz="1800" b="1">
                <a:solidFill>
                  <a:srgbClr val="3D8DFF"/>
                </a:solidFill>
              </a:defRPr>
            </a:pPr>
            <a:r>
              <a:rPr sz="1800" b="1">
                <a:solidFill>
                  <a:srgbClr val="3D8DFF"/>
                </a:solidFill>
              </a:rPr>
              <a:t>•</a:t>
            </a:r>
          </a:p>
        </p:txBody>
      </p:sp>
      <p:sp>
        <p:nvSpPr>
          <p:cNvPr id="18" name="limits-b3-text">
            <a:extLst>
              <a:ext uri="{FF2B5EF4-FFF2-40B4-BE49-F238E27FC236}">
                <a16:creationId xmlns:a16="http://schemas.microsoft.com/office/drawing/2014/main" id="{15FEF2A0-BA39-4256-ACC6-61A962DB31A7}"/>
              </a:ext>
            </a:extLst>
          </p:cNvPr>
          <p:cNvSpPr>
            <a:spLocks noGrp="1"/>
          </p:cNvSpPr>
          <p:nvPr/>
        </p:nvSpPr>
        <p:spPr>
          <a:xfrm>
            <a:off x="6438900" y="4200525"/>
            <a:ext cx="4533900" cy="381000"/>
          </a:xfrm>
          <a:prstGeom prst="rect">
            <a:avLst/>
          </a:prstGeom>
          <a:noFill/>
          <a:ln w="0">
            <a:noFill/>
            <a:prstDash val="solid"/>
          </a:ln>
        </p:spPr>
        <p:txBody>
          <a:bodyPr/>
          <a:lstStyle/>
          <a:p>
            <a:pPr algn="l">
              <a:buNone/>
              <a:defRPr sz="1575" b="0">
                <a:solidFill>
                  <a:srgbClr val="102A33"/>
                </a:solidFill>
              </a:defRPr>
            </a:pPr>
            <a:r>
              <a:rPr sz="1575" b="0">
                <a:solidFill>
                  <a:srgbClr val="102A33"/>
                </a:solidFill>
              </a:rPr>
              <a:t>Categories are set after validation; next comes collection, preparation and testing.</a:t>
            </a:r>
          </a:p>
        </p:txBody>
      </p:sp>
      <p:sp>
        <p:nvSpPr>
          <p:cNvPr id="19" name="close">
            <a:extLst>
              <a:ext uri="{FF2B5EF4-FFF2-40B4-BE49-F238E27FC236}">
                <a16:creationId xmlns:a16="http://schemas.microsoft.com/office/drawing/2014/main" id="{7437FDF0-8EEB-4B58-BB2F-3279ADA8AE9A}"/>
              </a:ext>
            </a:extLst>
          </p:cNvPr>
          <p:cNvSpPr>
            <a:spLocks noGrp="1"/>
          </p:cNvSpPr>
          <p:nvPr/>
        </p:nvSpPr>
        <p:spPr>
          <a:xfrm>
            <a:off x="685800" y="5600700"/>
            <a:ext cx="8763000" cy="333375"/>
          </a:xfrm>
          <a:prstGeom prst="rect">
            <a:avLst/>
          </a:prstGeom>
          <a:noFill/>
          <a:ln w="0">
            <a:noFill/>
            <a:prstDash val="solid"/>
          </a:ln>
        </p:spPr>
        <p:txBody>
          <a:bodyPr/>
          <a:lstStyle/>
          <a:p>
            <a:pPr algn="l">
              <a:buNone/>
              <a:defRPr sz="2025" b="1">
                <a:solidFill>
                  <a:srgbClr val="102A33"/>
                </a:solidFill>
              </a:defRPr>
            </a:pPr>
            <a:r>
              <a:rPr sz="2025" b="1">
                <a:solidFill>
                  <a:srgbClr val="102A33"/>
                </a:solidFill>
              </a:rPr>
              <a:t>A useful first question: “Which areas deserve closer investigation?”</a:t>
            </a:r>
          </a:p>
        </p:txBody>
      </p:sp>
      <p:sp>
        <p:nvSpPr>
          <p:cNvPr id="20" name="footer-5">
            <a:extLst>
              <a:ext uri="{FF2B5EF4-FFF2-40B4-BE49-F238E27FC236}">
                <a16:creationId xmlns:a16="http://schemas.microsoft.com/office/drawing/2014/main" id="{FD3D9AFD-5C09-4FBC-B701-2ECFCA6DF010}"/>
              </a:ext>
            </a:extLst>
          </p:cNvPr>
          <p:cNvSpPr>
            <a:spLocks noGrp="1"/>
          </p:cNvSpPr>
          <p:nvPr/>
        </p:nvSpPr>
        <p:spPr>
          <a:xfrm>
            <a:off x="685800" y="6477000"/>
            <a:ext cx="5905500" cy="152400"/>
          </a:xfrm>
          <a:prstGeom prst="rect">
            <a:avLst/>
          </a:prstGeom>
          <a:noFill/>
          <a:ln w="0">
            <a:noFill/>
            <a:prstDash val="solid"/>
          </a:ln>
        </p:spPr>
        <p:txBody>
          <a:bodyPr/>
          <a:lstStyle/>
          <a:p>
            <a:pPr algn="l">
              <a:buNone/>
              <a:defRPr sz="900" b="0">
                <a:solidFill>
                  <a:srgbClr val="48606B"/>
                </a:solidFill>
              </a:defRPr>
            </a:pPr>
            <a:r>
              <a:rPr sz="900" b="0">
                <a:solidFill>
                  <a:srgbClr val="48606B"/>
                </a:solidFill>
              </a:rPr>
              <a:t>Wildfire exposure screening • mainland Portugal</a:t>
            </a:r>
          </a:p>
        </p:txBody>
      </p:sp>
    </p:spTree>
    <p:extLst>
      <p:ext uri="{BB962C8B-B14F-4D97-AF65-F5344CB8AC3E}">
        <p14:creationId xmlns:p14="http://schemas.microsoft.com/office/powerpoint/2010/main" val="117640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FAFBA0-6F55-177B-8696-768F8271FD25}"/>
              </a:ext>
            </a:extLst>
          </p:cNvPr>
          <p:cNvSpPr>
            <a:spLocks noGrp="1"/>
          </p:cNvSpPr>
          <p:nvPr/>
        </p:nvSpPr>
        <p:spPr>
          <a:xfrm>
            <a:off x="1781490" y="2967335"/>
            <a:ext cx="8629029" cy="923330"/>
          </a:xfrm>
          <a:prstGeom prst="rect">
            <a:avLst/>
          </a:prstGeom>
          <a:noFill/>
        </p:spPr>
        <p:txBody>
          <a:bodyPr wrap="none" lIns="91440" tIns="45720" rIns="91440" bIns="45720">
            <a:spAutoFit/>
          </a:bodyPr>
          <a:lstStyle/>
          <a:p>
            <a:pPr algn="ctr">
              <a:buNone/>
            </a:pPr>
            <a:r>
              <a:rPr sz="5400" b="1">
                <a:ln w="9525">
                  <a:solidFill>
                    <a:schemeClr val="bg1"/>
                  </a:solidFill>
                  <a:prstDash val="solid"/>
                </a:ln>
                <a:effectLst>
                  <a:outerShdw blurRad="12700" dist="38100" dir="2700000" algn="tl" rotWithShape="0">
                    <a:schemeClr val="bg1">
                      <a:lumMod val="50000"/>
                    </a:schemeClr>
                  </a:outerShdw>
                </a:effectLst>
              </a:rPr>
              <a:t>Thank you for your attention.</a:t>
            </a:r>
          </a:p>
        </p:txBody>
      </p:sp>
    </p:spTree>
    <p:extLst>
      <p:ext uri="{BB962C8B-B14F-4D97-AF65-F5344CB8AC3E}">
        <p14:creationId xmlns:p14="http://schemas.microsoft.com/office/powerpoint/2010/main" val="120115154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1683</Words>
  <Application>Microsoft Office PowerPoint</Application>
  <DocSecurity>0</DocSecurity>
  <PresentationFormat>Widescreen</PresentationFormat>
  <Paragraphs>134</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Sergey Dyadechko</cp:lastModifiedBy>
  <cp:revision>1</cp:revision>
  <dcterms:created xsi:type="dcterms:W3CDTF">2026-08-03T15:24:37Z</dcterms:created>
  <dcterms:modified xsi:type="dcterms:W3CDTF">2026-08-03T15:27:51Z</dcterms:modified>
</cp:coreProperties>
</file>