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667" autoAdjust="0"/>
  </p:normalViewPr>
  <p:slideViewPr>
    <p:cSldViewPr snapToGrid="0" snapToObjects="1">
      <p:cViewPr>
        <p:scale>
          <a:sx n="125" d="100"/>
          <a:sy n="125" d="100"/>
        </p:scale>
        <p:origin x="2820" y="352"/>
      </p:cViewPr>
      <p:guideLst/>
    </p:cSldViewPr>
  </p:slideViewPr>
  <p:notesTextViewPr>
    <p:cViewPr>
      <p:scale>
        <a:sx n="1" d="1"/>
        <a:sy n="1" d="1"/>
      </p:scale>
      <p:origin x="0" y="-32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message:</a:t>
            </a:r>
            <a:endParaRPr lang="en-US" b="1" dirty="0"/>
          </a:p>
          <a:p>
            <a:r>
              <a:rPr lang="en-US" dirty="0"/>
              <a:t>This capstone combines data science, machine learning, and GIS to help narrow broad location-search areas in mainland Portugal.</a:t>
            </a:r>
          </a:p>
          <a:p>
            <a:endParaRPr dirty="0"/>
          </a:p>
          <a:p>
            <a:r>
              <a:rPr b="1" dirty="0"/>
              <a:t>What to say:</a:t>
            </a:r>
          </a:p>
          <a:p>
            <a:r>
              <a:rPr lang="en-US" dirty="0"/>
              <a:t>This project investigates whether wildfire history, landscape, terrain, and climate can help compare broad areas across mainland Portugal.</a:t>
            </a:r>
          </a:p>
          <a:p>
            <a:r>
              <a:rPr lang="en-US" dirty="0"/>
              <a:t>It uses a reproducible data-science and machine-learning workflow built around consistent 1 km grid cells. GIS turns the analytical results into maps that are easier to explore and compare.</a:t>
            </a:r>
          </a:p>
          <a:p>
            <a:r>
              <a:rPr lang="en-US" dirty="0"/>
              <a:t>The current output is a comparative estimate for 2026, supported by separate historical and official hazard evidence. Its purpose is to reduce a national search to a smaller set of broad areas for further investigation.</a:t>
            </a:r>
          </a:p>
          <a:p>
            <a:r>
              <a:rPr lang="en-US" dirty="0"/>
              <a:t>It does not identify a guaranteed safe property or make a purchase decision. Local and property-specific evidence is still required.</a:t>
            </a:r>
          </a:p>
          <a:p>
            <a:endParaRPr dirty="0"/>
          </a:p>
          <a:p>
            <a:r>
              <a:rPr b="1" dirty="0"/>
              <a:t>Transition:</a:t>
            </a:r>
            <a:endParaRPr lang="en-US" b="1" dirty="0"/>
          </a:p>
          <a:p>
            <a:r>
              <a:rPr lang="en-US" dirty="0"/>
              <a:t>Next, I will explain what one analytical record represents and how each data source contributes to the project.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b="0" dirty="0"/>
              <a:t>README.md; docs/project_brief.md; docs/data_dictionary.md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message:</a:t>
            </a:r>
            <a:endParaRPr lang="en-US" b="1" dirty="0"/>
          </a:p>
          <a:p>
            <a:r>
              <a:rPr lang="en-US" dirty="0"/>
              <a:t>Every analytical record represents the same unit: one mainland Portugal 1 km cell in one predictor year.</a:t>
            </a:r>
            <a:r>
              <a:rPr b="0" dirty="0"/>
              <a:t>.</a:t>
            </a:r>
          </a:p>
          <a:p>
            <a:endParaRPr dirty="0"/>
          </a:p>
          <a:p>
            <a:r>
              <a:rPr b="1" dirty="0"/>
              <a:t>What to say:</a:t>
            </a:r>
            <a:endParaRPr lang="en-US" b="1" dirty="0"/>
          </a:p>
          <a:p>
            <a:r>
              <a:rPr lang="en-US" dirty="0"/>
              <a:t>The project divides mainland Portugal into 89,112 consistent 1 km cells. Each analytical row represents one of these cells in one predictor year. This allows the same locations to be compared over time.</a:t>
            </a:r>
          </a:p>
          <a:p>
            <a:r>
              <a:rPr lang="en-US" dirty="0"/>
              <a:t>The data are </a:t>
            </a:r>
            <a:r>
              <a:rPr lang="en-US" dirty="0" err="1"/>
              <a:t>organised</a:t>
            </a:r>
            <a:r>
              <a:rPr lang="en-US" dirty="0"/>
              <a:t> into three roles.</a:t>
            </a:r>
          </a:p>
          <a:p>
            <a:endParaRPr lang="en-US" dirty="0"/>
          </a:p>
          <a:p>
            <a:r>
              <a:rPr lang="en-US" dirty="0"/>
              <a:t>First, ICNF burned-area records provide observed fire history and the following-year burned-share outcome. Burned share means the proportion of a cell’s land area that burned.</a:t>
            </a:r>
          </a:p>
          <a:p>
            <a:r>
              <a:rPr lang="en-US" dirty="0"/>
              <a:t>The ICNF archive covers 2000–2025. This is the complete source coverage, not one training period. Earlier years are needed to calculate the previous ten years of fire history.</a:t>
            </a:r>
          </a:p>
          <a:p>
            <a:endParaRPr lang="en-US" dirty="0"/>
          </a:p>
          <a:p>
            <a:r>
              <a:rPr lang="en-US" dirty="0"/>
              <a:t>Second, CLC land cover and the Copernicus DEM describe the surrounding landscape and terrain, including built-up land, forest and shrubland, and slope.</a:t>
            </a:r>
          </a:p>
          <a:p>
            <a:endParaRPr lang="en-US" dirty="0"/>
          </a:p>
          <a:p>
            <a:r>
              <a:rPr lang="en-US" dirty="0"/>
              <a:t>Third, ERA5-Land provides warm-season temperature, precipitation, and shallow soil-water conditions from the predictor year. These are coarse regional climate values, not downscaled 1 km weather.</a:t>
            </a:r>
          </a:p>
          <a:p>
            <a:r>
              <a:rPr lang="en-US" dirty="0"/>
              <a:t>Some features use a 2 km context around each cell. This is only a surrounding measurement area - the 1 km cell remains the analytical unit.</a:t>
            </a:r>
          </a:p>
          <a:p>
            <a:endParaRPr dirty="0"/>
          </a:p>
          <a:p>
            <a:r>
              <a:rPr b="1" dirty="0"/>
              <a:t>Transition:</a:t>
            </a:r>
            <a:endParaRPr lang="en-US" b="1" dirty="0"/>
          </a:p>
          <a:p>
            <a:r>
              <a:rPr lang="en-US" dirty="0"/>
              <a:t>Next, I will show the exact training, validation, final-evaluation, refit, and current-estimate periods.</a:t>
            </a:r>
          </a:p>
          <a:p>
            <a:endParaRPr lang="en-US" dirty="0"/>
          </a:p>
          <a:p>
            <a:r>
              <a:rPr dirty="0"/>
              <a:t>[Sources]</a:t>
            </a:r>
          </a:p>
          <a:p>
            <a:r>
              <a:rPr dirty="0"/>
              <a:t>docs/data_dictionary.md; docs/source_plan.md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message:</a:t>
            </a:r>
            <a:endParaRPr lang="en-US" b="1" dirty="0"/>
          </a:p>
          <a:p>
            <a:r>
              <a:rPr lang="en-US" dirty="0"/>
              <a:t>Validated historical records are used to fit, select, and check the model before the unchanged selected model is rebuilt for the 2026 estimate.</a:t>
            </a:r>
            <a:endParaRPr lang="en-US" b="1" dirty="0"/>
          </a:p>
          <a:p>
            <a:endParaRPr dirty="0"/>
          </a:p>
          <a:p>
            <a:r>
              <a:rPr b="1" dirty="0"/>
              <a:t>What to say:</a:t>
            </a:r>
          </a:p>
          <a:p>
            <a:r>
              <a:rPr lang="en-US" dirty="0"/>
              <a:t>This slide shows how historical data becomes the 2026 estimate.</a:t>
            </a:r>
          </a:p>
          <a:p>
            <a:endParaRPr lang="en-US" dirty="0"/>
          </a:p>
          <a:p>
            <a:r>
              <a:rPr lang="en-US" dirty="0"/>
              <a:t>First, the validated source data are converted into consistent cell-year records. Each record contains nine predictors from year T and the observed burned-share outcome from the following year.</a:t>
            </a:r>
          </a:p>
          <a:p>
            <a:r>
              <a:rPr lang="en-US" dirty="0"/>
              <a:t>Candidate models are fitted using predictor years 2010–2019.</a:t>
            </a:r>
          </a:p>
          <a:p>
            <a:endParaRPr lang="en-US" dirty="0"/>
          </a:p>
          <a:p>
            <a:r>
              <a:rPr lang="en-US" dirty="0"/>
              <a:t>The later 2020–2021 records are used to select the final model, while 2022–2024 are used once for the final temporal evaluation.</a:t>
            </a:r>
          </a:p>
          <a:p>
            <a:r>
              <a:rPr lang="en-US" dirty="0"/>
              <a:t>During this development process, validation and final-evaluation records remain outside model fitting.</a:t>
            </a:r>
          </a:p>
          <a:p>
            <a:endParaRPr lang="en-US" dirty="0"/>
          </a:p>
          <a:p>
            <a:r>
              <a:rPr lang="en-US" dirty="0"/>
              <a:t>After the final evaluation is complete, the same selected model is rebuilt using all available labelled records from 2010–2024. This does not select a different model; it gives the chosen model access to the newest completed evidence.</a:t>
            </a:r>
          </a:p>
          <a:p>
            <a:r>
              <a:rPr lang="en-US" dirty="0"/>
              <a:t>Finally, the rebuilt model uses 2025 predictors to estimate burned share for 2026. The observed 2026 burned areas are not yet available, so this estimate cannot yet be evaluated.</a:t>
            </a:r>
          </a:p>
          <a:p>
            <a:endParaRPr dirty="0"/>
          </a:p>
          <a:p>
            <a:r>
              <a:rPr b="1" dirty="0"/>
              <a:t>Transition:</a:t>
            </a:r>
            <a:endParaRPr lang="en-US" b="1" dirty="0"/>
          </a:p>
          <a:p>
            <a:r>
              <a:rPr lang="en-US" dirty="0"/>
              <a:t>The next slides compare the observed historical evidence, the official ICNF reference, and the separate model estimate for 2026.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docs/data_dictionary.md; docs/model_learning_and_2026_estimate.md; docs/model_v2_validation_selection.md; docs/operational_forecast_cycle.md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message:</a:t>
            </a:r>
            <a:endParaRPr lang="en-US" b="1" dirty="0"/>
          </a:p>
          <a:p>
            <a:r>
              <a:rPr lang="en-US" dirty="0"/>
              <a:t>Historical recurrence is geographically uneven, while the three maps provide different and complementary evidence about the same 1 km cells.</a:t>
            </a:r>
            <a:endParaRPr lang="ru-RU" dirty="0"/>
          </a:p>
          <a:p>
            <a:endParaRPr dirty="0"/>
          </a:p>
          <a:p>
            <a:r>
              <a:rPr b="1" dirty="0"/>
              <a:t>What to say:</a:t>
            </a:r>
          </a:p>
          <a:p>
            <a:r>
              <a:rPr lang="en-US" dirty="0"/>
              <a:t>This slide shows three different views of mainland Portugal.</a:t>
            </a:r>
          </a:p>
          <a:p>
            <a:endParaRPr lang="en-US" dirty="0"/>
          </a:p>
          <a:p>
            <a:r>
              <a:rPr lang="en-US" dirty="0"/>
              <a:t>The left map shows observed historical recurrence from 2016–2025. Darker areas experienced burned-area evidence in more years within the 2 km context.</a:t>
            </a:r>
            <a:endParaRPr lang="ru-RU" dirty="0"/>
          </a:p>
          <a:p>
            <a:r>
              <a:rPr lang="en-US" dirty="0"/>
              <a:t>Higher recurrence is concentrated mainly across northern and central Portugal, while much of the south shows lower recurrence during this particular period.</a:t>
            </a:r>
          </a:p>
          <a:p>
            <a:endParaRPr lang="en-US" b="1" dirty="0"/>
          </a:p>
          <a:p>
            <a:r>
              <a:rPr lang="en-US" dirty="0"/>
              <a:t>This fixed historical map is descriptive evidence. It is not the exact model input. The model uses a rolling ten-year fire-history period ending before each predictor year.</a:t>
            </a:r>
          </a:p>
          <a:p>
            <a:r>
              <a:rPr lang="en-US" dirty="0"/>
              <a:t>For the 2026 estimate, that model feature uses 2015–2024.</a:t>
            </a:r>
          </a:p>
          <a:p>
            <a:endParaRPr lang="en-US" dirty="0"/>
          </a:p>
          <a:p>
            <a:r>
              <a:rPr lang="en-US" dirty="0"/>
              <a:t>The middle map shows the official ICNF structural-hazard classification. It describes underlying landscape conditions and is not this project’s prediction.</a:t>
            </a:r>
          </a:p>
          <a:p>
            <a:endParaRPr lang="en-US" dirty="0"/>
          </a:p>
          <a:p>
            <a:r>
              <a:rPr lang="en-US" dirty="0"/>
              <a:t>The right map shows the project’s comparative estimate for 2026, produced from 2025 predictors. Its three bands represent national relative percentiles, not physical-risk thresholds.</a:t>
            </a:r>
          </a:p>
          <a:p>
            <a:r>
              <a:rPr lang="en-US" dirty="0"/>
              <a:t>The observed 2026 burned area is not yet available, so the estimate cannot yet be evaluated.</a:t>
            </a:r>
          </a:p>
          <a:p>
            <a:r>
              <a:rPr lang="en-US" dirty="0"/>
              <a:t>The maps answer different questions. They should be compared separately and not added together into one score.</a:t>
            </a:r>
          </a:p>
          <a:p>
            <a:endParaRPr b="1" dirty="0"/>
          </a:p>
          <a:p>
            <a:r>
              <a:rPr b="1" dirty="0"/>
              <a:t>Transition</a:t>
            </a:r>
            <a:r>
              <a:rPr dirty="0"/>
              <a:t>: </a:t>
            </a:r>
            <a:endParaRPr lang="en-US" dirty="0"/>
          </a:p>
          <a:p>
            <a:r>
              <a:rPr lang="en-US" dirty="0"/>
              <a:t>The next slide explains why observed historical recurrence and official structural hazard provide useful but different forms of context.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reports/figures/historical_wildfire_exposure_screening_mainland_portugal.png; reports/validation/historical_exposure_screening_and_icnf_comparison.md; </a:t>
            </a:r>
            <a:r>
              <a:rPr dirty="0" err="1"/>
              <a:t>qgis</a:t>
            </a:r>
            <a:r>
              <a:rPr dirty="0"/>
              <a:t>/README.md; reports/validation/operational_forecast_2026_validation.md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message:</a:t>
            </a:r>
            <a:endParaRPr lang="en-US" b="1" dirty="0"/>
          </a:p>
          <a:p>
            <a:r>
              <a:rPr lang="en-US" dirty="0"/>
              <a:t>Observed recurrence and official structural hazard provide complementary - but different - evidence for broad-area screening.</a:t>
            </a:r>
          </a:p>
          <a:p>
            <a:endParaRPr dirty="0"/>
          </a:p>
          <a:p>
            <a:r>
              <a:rPr b="1" dirty="0"/>
              <a:t>What to say:</a:t>
            </a:r>
            <a:endParaRPr dirty="0"/>
          </a:p>
          <a:p>
            <a:r>
              <a:rPr lang="en-US" dirty="0"/>
              <a:t>This slide compares two evidence sources.</a:t>
            </a:r>
          </a:p>
          <a:p>
            <a:endParaRPr lang="en-US" dirty="0"/>
          </a:p>
          <a:p>
            <a:r>
              <a:rPr lang="en-US" dirty="0"/>
              <a:t>Historical recurrence counts the distinct years from 2016 to 2025 in which burned-area evidence occurred within the 2 km context around each 1 km cell.</a:t>
            </a:r>
          </a:p>
          <a:p>
            <a:r>
              <a:rPr lang="en-US" dirty="0"/>
              <a:t>It describes what was observed during this recent ten-year period.</a:t>
            </a:r>
          </a:p>
          <a:p>
            <a:endParaRPr lang="en-US" dirty="0"/>
          </a:p>
          <a:p>
            <a:r>
              <a:rPr lang="en-US" dirty="0"/>
              <a:t>Official ICNF structural hazard describes persistent landscape conditions associated with wildfire hazard.</a:t>
            </a:r>
          </a:p>
          <a:p>
            <a:r>
              <a:rPr lang="en-US" dirty="0"/>
              <a:t>The original official 25 m classification is summarized as the predominant valid class within each 1 km cell.</a:t>
            </a:r>
          </a:p>
          <a:p>
            <a:endParaRPr lang="en-US" dirty="0"/>
          </a:p>
          <a:p>
            <a:r>
              <a:rPr lang="en-US" dirty="0"/>
              <a:t>The layers use different data, methods and time perspectives.</a:t>
            </a:r>
          </a:p>
          <a:p>
            <a:r>
              <a:rPr lang="en-US" dirty="0"/>
              <a:t>Where they show similar patterns, they provide consistent broad-area context.</a:t>
            </a:r>
          </a:p>
          <a:p>
            <a:r>
              <a:rPr lang="en-US" dirty="0"/>
              <a:t>Where they differ, they indicate locations that may require closer investigation. Agreement does not prove that either layer is correct, and this comparison is not a model-accuracy test.</a:t>
            </a:r>
          </a:p>
          <a:p>
            <a:endParaRPr lang="en-US" dirty="0"/>
          </a:p>
          <a:p>
            <a:r>
              <a:rPr lang="en-US" dirty="0"/>
              <a:t>Neither layer is a buyer threshold or property certification. They support broad-area screening and must be followed by local verification.</a:t>
            </a:r>
          </a:p>
          <a:p>
            <a:endParaRPr lang="en-US" dirty="0"/>
          </a:p>
          <a:p>
            <a:r>
              <a:rPr lang="en-US" b="1" dirty="0"/>
              <a:t>Transition:</a:t>
            </a:r>
          </a:p>
          <a:p>
            <a:r>
              <a:rPr lang="en-US" dirty="0"/>
              <a:t>The next slide compares the nine-feature model with a separate recurrence-only benchmark used for model </a:t>
            </a:r>
            <a:r>
              <a:rPr lang="en-US"/>
              <a:t>evaluation.</a:t>
            </a:r>
          </a:p>
          <a:p>
            <a:r>
              <a:rPr lang="en-US"/>
              <a:t>That </a:t>
            </a:r>
            <a:r>
              <a:rPr lang="en-US" dirty="0"/>
              <a:t>benchmark uses a rolling ten-year fire-history feature and is not the fixed 2016–2025 map shown here.</a:t>
            </a:r>
          </a:p>
          <a:p>
            <a:endParaRPr dirty="0"/>
          </a:p>
          <a:p>
            <a:r>
              <a:rPr dirty="0"/>
              <a:t>[Sources]</a:t>
            </a:r>
            <a:br>
              <a:rPr dirty="0"/>
            </a:br>
            <a:r>
              <a:rPr dirty="0" err="1"/>
              <a:t>qgis</a:t>
            </a:r>
            <a:r>
              <a:rPr dirty="0"/>
              <a:t>/README.md; docs/data_dictionary.md; reports/figures/historical_exposure_by_icnf_structural_hazard_crosstab.png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message:</a:t>
            </a:r>
            <a:endParaRPr lang="en-US" b="1" dirty="0"/>
          </a:p>
          <a:p>
            <a:r>
              <a:rPr lang="en-US" dirty="0"/>
              <a:t>The nine-feature model is compared with a simple recurrence-only benchmark. It reduces average error and improves ranking, although large-fire outcomes remain difficult.</a:t>
            </a:r>
            <a:endParaRPr lang="en-US" b="1" dirty="0"/>
          </a:p>
          <a:p>
            <a:endParaRPr b="1" dirty="0"/>
          </a:p>
          <a:p>
            <a:r>
              <a:rPr b="1" dirty="0"/>
              <a:t>What to say:</a:t>
            </a:r>
          </a:p>
          <a:p>
            <a:r>
              <a:rPr lang="en-US" dirty="0"/>
              <a:t>This slide compares the nine-feature model with a deliberately simple recurrence-only reference.</a:t>
            </a:r>
          </a:p>
          <a:p>
            <a:r>
              <a:rPr lang="en-US" dirty="0"/>
              <a:t>The reference is important because it establishes the minimum performance that a more complex model should beat. It also tests whether land cover, terrain, and climate add useful information beyond previous fire history.</a:t>
            </a:r>
          </a:p>
          <a:p>
            <a:br>
              <a:rPr lang="en-US" dirty="0"/>
            </a:br>
            <a:r>
              <a:rPr lang="en-US" dirty="0"/>
              <a:t>The reference uses one input: how many of the previous ten years had burned-area evidence within the 2 km context. The nine-feature model combines this fire-history information with land cover, terrain, and climate.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target contains many zero values, so the nine-feature model uses two gradient-boosting components. One estimates whether the next-year outcome is non-zero, and the other estimates the burned share for positive outcomes. These are combined into one continuous burned-share estimate.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In the final temporal evaluation, MAE decreased from 0.0292 to 0.0209. This is approximately a 28% reduction in average absolute error.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RMSE remained almost unchanged and was slightly higher. This tells us that the model improved typical estimates but did not solve the problem of rare, large-fire outcomes.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Capture@20% also improved from 40.2% to 57.2%. This means that the highest-ranked one-fifth of cell-year records contained a larger share of the burned area that was later observed.</a:t>
            </a:r>
            <a:br>
              <a:rPr lang="en-US" dirty="0"/>
            </a:br>
            <a:endParaRPr dirty="0"/>
          </a:p>
          <a:p>
            <a:r>
              <a:rPr dirty="0"/>
              <a:t>Transition: </a:t>
            </a:r>
            <a:r>
              <a:rPr lang="en-US" dirty="0"/>
              <a:t>The next slide explains how the 2026 comparative estimate can be used to narrow broad areas for further research.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The result therefore provides partial support for the model.</a:t>
            </a:r>
          </a:p>
          <a:p>
            <a:r>
              <a:rPr lang="en-US" b="1" dirty="0"/>
              <a:t>It improves average error and broad-area ranking, but it is not a precise local forecast and remains uncertain during extreme fire years.</a:t>
            </a:r>
            <a:br>
              <a:rPr lang="en-US" dirty="0"/>
            </a:br>
            <a:endParaRPr dirty="0"/>
          </a:p>
          <a:p>
            <a:r>
              <a:rPr dirty="0"/>
              <a:t>[Sources]</a:t>
            </a:r>
            <a:endParaRPr b="1" dirty="0"/>
          </a:p>
          <a:p>
            <a:r>
              <a:rPr b="1" dirty="0"/>
              <a:t>reports/validation/model_final_decision.md; reports/validation/final_temporal_test_2022_2024.md; reports/figures/model_final_test_metric_comparison.png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</a:t>
            </a:r>
            <a:r>
              <a:rPr lang="en-US" b="1" dirty="0"/>
              <a:t>:</a:t>
            </a:r>
            <a:br>
              <a:rPr lang="en-US" b="1" dirty="0"/>
            </a:br>
            <a:r>
              <a:rPr lang="en-US" dirty="0"/>
              <a:t>The project helps reduce a national search to a smaller set of broad areas for detailed local investigation. It does not select a property.</a:t>
            </a:r>
            <a:endParaRPr dirty="0"/>
          </a:p>
          <a:p>
            <a:endParaRPr dirty="0"/>
          </a:p>
          <a:p>
            <a:r>
              <a:rPr b="1" dirty="0"/>
              <a:t>What to say:</a:t>
            </a:r>
            <a:endParaRPr dirty="0"/>
          </a:p>
          <a:p>
            <a:r>
              <a:rPr lang="en-US" dirty="0"/>
              <a:t>Imagine a buyer beginning with many possible locations across mainland Portugal.</a:t>
            </a:r>
          </a:p>
          <a:p>
            <a:r>
              <a:rPr lang="en-US" dirty="0"/>
              <a:t>First, they use the 2026 comparative estimate to compare broad 1 km areas. This estimate uses 2025 predictor data, and the observed 2026 outcome is not yet available.</a:t>
            </a:r>
          </a:p>
          <a:p>
            <a:r>
              <a:rPr lang="en-US" dirty="0"/>
              <a:t>Before shortlisting areas, they compare the estimate with the separate historical-recurrence and official ICNF structural-hazard layers. The three maps provide different evidence and are not combined into one score.</a:t>
            </a:r>
          </a:p>
          <a:p>
            <a:endParaRPr lang="en-US" dirty="0"/>
          </a:p>
          <a:p>
            <a:r>
              <a:rPr lang="en-US" dirty="0"/>
              <a:t>The result is a smaller and more </a:t>
            </a:r>
            <a:r>
              <a:rPr lang="en-US" dirty="0" err="1"/>
              <a:t>organised</a:t>
            </a:r>
            <a:r>
              <a:rPr lang="en-US" dirty="0"/>
              <a:t> search area—not a property decision.</a:t>
            </a:r>
          </a:p>
          <a:p>
            <a:r>
              <a:rPr lang="en-US" dirty="0"/>
              <a:t>The buyer must then visit shortlisted areas and check local planning, access, insurance, terrain, vegetation management, and property-specific evidence.</a:t>
            </a:r>
          </a:p>
          <a:p>
            <a:endParaRPr dirty="0"/>
          </a:p>
          <a:p>
            <a:r>
              <a:rPr b="1" dirty="0"/>
              <a:t>Transition:</a:t>
            </a:r>
            <a:br>
              <a:rPr lang="en-US" b="1" dirty="0"/>
            </a:br>
            <a:r>
              <a:rPr lang="en-US" dirty="0"/>
              <a:t>The next slide explains the two safeguards: compare the evidence layers separately and always verify shortlisted areas locally.</a:t>
            </a:r>
            <a:br>
              <a:rPr lang="en-US" dirty="0"/>
            </a:br>
            <a:endParaRPr dirty="0"/>
          </a:p>
          <a:p>
            <a:r>
              <a:rPr dirty="0"/>
              <a:t>[Sources]</a:t>
            </a:r>
          </a:p>
          <a:p>
            <a:r>
              <a:rPr dirty="0" err="1"/>
              <a:t>qgis</a:t>
            </a:r>
            <a:r>
              <a:rPr dirty="0"/>
              <a:t>/wildfire_exposure_screening_portugal_2026.qgz; </a:t>
            </a:r>
            <a:r>
              <a:rPr dirty="0" err="1"/>
              <a:t>qgis</a:t>
            </a:r>
            <a:r>
              <a:rPr dirty="0"/>
              <a:t>/README.md; reports/validation/operational_forecast_2026_validation.md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</a:t>
            </a:r>
            <a:r>
              <a:rPr lang="en-US" b="1" dirty="0"/>
              <a:t>:</a:t>
            </a:r>
          </a:p>
          <a:p>
            <a:r>
              <a:rPr lang="en-US" dirty="0"/>
              <a:t>Compare the three evidence layers before shortlisting broad areas. Then use local and property-specific evidence before making any decision.</a:t>
            </a:r>
            <a:endParaRPr dirty="0"/>
          </a:p>
          <a:p>
            <a:endParaRPr dirty="0"/>
          </a:p>
          <a:p>
            <a:r>
              <a:rPr b="1" dirty="0"/>
              <a:t>What to say:</a:t>
            </a:r>
            <a:endParaRPr dirty="0"/>
          </a:p>
          <a:p>
            <a:r>
              <a:rPr lang="en-US" dirty="0"/>
              <a:t>This slide presents two recommendations.</a:t>
            </a:r>
          </a:p>
          <a:p>
            <a:endParaRPr lang="en-US" dirty="0"/>
          </a:p>
          <a:p>
            <a:r>
              <a:rPr lang="en-US" dirty="0"/>
              <a:t>The first is to compare the three layers before shortlisting areas.</a:t>
            </a:r>
          </a:p>
          <a:p>
            <a:r>
              <a:rPr lang="en-US" dirty="0"/>
              <a:t>The 2026 estimate shows the model’s comparative next-year result. Historical recurrence shows where burning was observed repeatedly during 2016–2025. Official ICNF structural hazard describes underlying landscape conditions.</a:t>
            </a:r>
          </a:p>
          <a:p>
            <a:endParaRPr lang="en-US" dirty="0"/>
          </a:p>
          <a:p>
            <a:r>
              <a:rPr lang="en-US" dirty="0"/>
              <a:t>Because these layers answer different questions, they should not be merged into one score. Agreement and disagreement between them provide useful context for deciding which broad areas need closer investigation.</a:t>
            </a:r>
          </a:p>
          <a:p>
            <a:endParaRPr lang="en-US" dirty="0"/>
          </a:p>
          <a:p>
            <a:r>
              <a:rPr lang="en-US" dirty="0"/>
              <a:t>The second recommendation is to verify locally.</a:t>
            </a:r>
          </a:p>
          <a:p>
            <a:r>
              <a:rPr lang="en-US" dirty="0"/>
              <a:t>The project works with 1 km cells and cannot describe the conditions of an individual property.</a:t>
            </a:r>
          </a:p>
          <a:p>
            <a:r>
              <a:rPr lang="en-US" dirty="0"/>
              <a:t>After shortlisting an area, the buyer should investigate planning restrictions, road access, evacuation conditions, insurance, terrain, vegetation management, infrastructure, and property-specific evidence.</a:t>
            </a:r>
          </a:p>
          <a:p>
            <a:r>
              <a:rPr lang="en-US" dirty="0"/>
              <a:t>The model helps </a:t>
            </a:r>
            <a:r>
              <a:rPr lang="en-US" dirty="0" err="1"/>
              <a:t>organise</a:t>
            </a:r>
            <a:r>
              <a:rPr lang="en-US" dirty="0"/>
              <a:t> the research process. It does not replace local investigation or certify a location.</a:t>
            </a:r>
          </a:p>
          <a:p>
            <a:endParaRPr dirty="0"/>
          </a:p>
          <a:p>
            <a:r>
              <a:rPr b="1" dirty="0"/>
              <a:t>Transition:</a:t>
            </a:r>
            <a:endParaRPr lang="en-US" b="1" dirty="0"/>
          </a:p>
          <a:p>
            <a:r>
              <a:rPr lang="en-US" dirty="0"/>
              <a:t>The final slide explains why the project’s value is not limited to one 2026 estimate: the same controlled workflow can be updated when new annual data become available.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 err="1"/>
              <a:t>qgis</a:t>
            </a:r>
            <a:r>
              <a:rPr dirty="0"/>
              <a:t>/README.md; docs/data_dictionary.md; reports/validation/historical_exposure_screening_and_icnf_comparison.md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Main message:</a:t>
            </a:r>
            <a:endParaRPr lang="en-US" b="1" dirty="0"/>
          </a:p>
          <a:p>
            <a:r>
              <a:rPr lang="en-US" dirty="0"/>
              <a:t>The project delivers a reproducible broad-area screening workflow.</a:t>
            </a:r>
          </a:p>
          <a:p>
            <a:r>
              <a:rPr lang="en-US" dirty="0"/>
              <a:t>The model improves some evaluation measures, but local evidence and annual re-evaluation remain essential.</a:t>
            </a:r>
            <a:endParaRPr lang="en-US" b="1" dirty="0"/>
          </a:p>
          <a:p>
            <a:endParaRPr dirty="0"/>
          </a:p>
          <a:p>
            <a:r>
              <a:rPr b="1" dirty="0"/>
              <a:t>What to say:</a:t>
            </a:r>
            <a:endParaRPr dirty="0"/>
          </a:p>
          <a:p>
            <a:r>
              <a:rPr lang="en-US" dirty="0"/>
              <a:t>This final slide summarizes what the project delivered, what the model achieved, and what happens next.</a:t>
            </a:r>
          </a:p>
          <a:p>
            <a:r>
              <a:rPr lang="en-US" dirty="0"/>
              <a:t>First, the project delivered a reproducible national workflow: validated data sources, one consistent 1 km grid, a tested nine-feature model, QGIS outputs, observed historical recurrence, and the official ICNF structural-hazard reference.</a:t>
            </a:r>
          </a:p>
          <a:p>
            <a:endParaRPr lang="en-US" dirty="0"/>
          </a:p>
          <a:p>
            <a:r>
              <a:rPr lang="en-US" dirty="0"/>
              <a:t>Second, the model improved average error and comparative ranking over the recurrence-only reference.</a:t>
            </a:r>
          </a:p>
          <a:p>
            <a:r>
              <a:rPr lang="en-US" dirty="0"/>
              <a:t>However, it did not improve errors for large and extreme fire outcomes.</a:t>
            </a:r>
          </a:p>
          <a:p>
            <a:r>
              <a:rPr lang="en-US" dirty="0"/>
              <a:t>The model is therefore useful for narrowing broad search areas, but not for making a property decision.</a:t>
            </a:r>
          </a:p>
          <a:p>
            <a:endParaRPr lang="en-US" dirty="0"/>
          </a:p>
          <a:p>
            <a:r>
              <a:rPr lang="en-US" b="1" dirty="0"/>
              <a:t>Third, the project has an annual update process.</a:t>
            </a:r>
          </a:p>
          <a:p>
            <a:r>
              <a:rPr lang="en-US" dirty="0"/>
              <a:t>When the observed ICNF burned areas for 2026 become available, the existing 2026 estimate can be evaluated.</a:t>
            </a:r>
          </a:p>
          <a:p>
            <a:r>
              <a:rPr lang="en-US" dirty="0"/>
              <a:t>After the required 2026 predictor data are validated, the same selected model can be updated with the new completed evidence and used to produce the next annual estimate.</a:t>
            </a:r>
          </a:p>
          <a:p>
            <a:r>
              <a:rPr lang="en-US" dirty="0"/>
              <a:t>The final result is a more focused location search supported by traceable evidence. Local planning, access, insurance, terrain, vegetation, infrastructure, and property-specific checks still complete the decision.</a:t>
            </a:r>
          </a:p>
          <a:p>
            <a:endParaRPr lang="en-US" dirty="0"/>
          </a:p>
          <a:p>
            <a:r>
              <a:rPr lang="en-US" b="1" dirty="0"/>
              <a:t>Closing statement</a:t>
            </a:r>
          </a:p>
          <a:p>
            <a:r>
              <a:rPr lang="en-US" dirty="0"/>
              <a:t>The project does not identify a guaranteed safe property.</a:t>
            </a:r>
          </a:p>
          <a:p>
            <a:r>
              <a:rPr lang="en-US" dirty="0"/>
              <a:t>It provides a repeatable way to compare broad areas and focus further research where it is most useful.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README.md; reports/validation/model_final_decision.md; reports/validation/operational_forecast_readiness.md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271A54-A21F-461B-81FE-9352EC032E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DACC1B4-1154-4329-A73F-48B1DC5827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1EBCE3-53B5-467C-8E29-72B844CA38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017F92D-E245-4025-90D8-8EDF916CA9EF}"/>
              </a:ext>
            </a:extLst>
          </p:cNvPr>
          <p:cNvSpPr>
            <a:spLocks noGrp="1"/>
          </p:cNvSpPr>
          <p:nvPr/>
        </p:nvSpPr>
        <p:spPr>
          <a:xfrm>
            <a:off x="320040" y="137160"/>
            <a:ext cx="1417320" cy="29260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0F063B7-97FC-4057-91C5-01147213D4BB}"/>
              </a:ext>
            </a:extLst>
          </p:cNvPr>
          <p:cNvSpPr>
            <a:spLocks noGrp="1"/>
          </p:cNvSpPr>
          <p:nvPr/>
        </p:nvSpPr>
        <p:spPr>
          <a:xfrm>
            <a:off x="320040" y="137160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>
                <a:solidFill>
                  <a:srgbClr val="E1E8EF"/>
                </a:solidFill>
              </a:rPr>
              <a:t>DATA SCIENCE · ML · GIS</a:t>
            </a:r>
            <a:endParaRPr sz="7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0C36328-C5D1-4010-B8F0-E622D0A879DF}"/>
              </a:ext>
            </a:extLst>
          </p:cNvPr>
          <p:cNvSpPr>
            <a:spLocks noGrp="1"/>
          </p:cNvSpPr>
          <p:nvPr/>
        </p:nvSpPr>
        <p:spPr>
          <a:xfrm>
            <a:off x="7498080" y="137160"/>
            <a:ext cx="1417320" cy="2926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A06437-0A3C-43F1-8C4D-8B11B9E4BD63}"/>
              </a:ext>
            </a:extLst>
          </p:cNvPr>
          <p:cNvSpPr>
            <a:spLocks noGrp="1"/>
          </p:cNvSpPr>
          <p:nvPr/>
        </p:nvSpPr>
        <p:spPr>
          <a:xfrm>
            <a:off x="7498080" y="137160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>
                <a:solidFill>
                  <a:srgbClr val="0D1F2D"/>
                </a:solidFill>
              </a:rPr>
              <a:t>2026</a:t>
            </a:r>
            <a:endParaRPr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BC5597E-259F-4375-AD7E-442DC35DA9BA}"/>
              </a:ext>
            </a:extLst>
          </p:cNvPr>
          <p:cNvSpPr>
            <a:spLocks noGrp="1"/>
          </p:cNvSpPr>
          <p:nvPr/>
        </p:nvSpPr>
        <p:spPr>
          <a:xfrm>
            <a:off x="365760" y="56692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E8A020"/>
                </a:solidFill>
              </a:rPr>
              <a:t>WILDFIRE EXPOSURE SCREENING</a:t>
            </a:r>
            <a:endParaRPr sz="1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04374D4-53B8-40B4-AD27-574FDD973E4D}"/>
              </a:ext>
            </a:extLst>
          </p:cNvPr>
          <p:cNvSpPr>
            <a:spLocks noGrp="1"/>
          </p:cNvSpPr>
          <p:nvPr/>
        </p:nvSpPr>
        <p:spPr>
          <a:xfrm>
            <a:off x="365760" y="914400"/>
            <a:ext cx="5577840" cy="182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5200" b="1" dirty="0">
                <a:solidFill>
                  <a:srgbClr val="FFFFFF"/>
                </a:solidFill>
              </a:rPr>
              <a:t>Wildfire Exposure</a:t>
            </a:r>
            <a:endParaRPr sz="5200" dirty="0"/>
          </a:p>
          <a:p>
            <a:pPr marL="0" indent="0">
              <a:buNone/>
            </a:pPr>
            <a:r>
              <a:rPr sz="5200" b="1" dirty="0">
                <a:solidFill>
                  <a:srgbClr val="FFFFFF"/>
                </a:solidFill>
              </a:rPr>
              <a:t>Location Screening</a:t>
            </a:r>
            <a:endParaRPr sz="5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0E7387F-C7E0-45B4-95FC-3980C4673C6B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C4D8"/>
                </a:solidFill>
              </a:rPr>
              <a:t>A reproducible data-science, machine-learning, and GIS workflow for broad-area location research.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4D7FAF1-5834-4AFE-87A0-3EB7DF4F1C96}"/>
              </a:ext>
            </a:extLst>
          </p:cNvPr>
          <p:cNvSpPr>
            <a:spLocks noGrp="1"/>
          </p:cNvSpPr>
          <p:nvPr/>
        </p:nvSpPr>
        <p:spPr>
          <a:xfrm>
            <a:off x="365760" y="3310128"/>
            <a:ext cx="5303520" cy="228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5AB15B4-F408-4652-B072-3916646D6B7A}"/>
              </a:ext>
            </a:extLst>
          </p:cNvPr>
          <p:cNvSpPr>
            <a:spLocks noGrp="1"/>
          </p:cNvSpPr>
          <p:nvPr/>
        </p:nvSpPr>
        <p:spPr>
          <a:xfrm>
            <a:off x="365760" y="338328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E1E8EF"/>
                </a:solidFill>
              </a:rPr>
              <a:t>Serhii Diadechko</a:t>
            </a:r>
            <a:endParaRPr sz="11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BEE0D39-8F48-47D0-AC97-A5C1383B7E0E}"/>
              </a:ext>
            </a:extLst>
          </p:cNvPr>
          <p:cNvSpPr>
            <a:spLocks noGrp="1"/>
          </p:cNvSpPr>
          <p:nvPr/>
        </p:nvSpPr>
        <p:spPr>
          <a:xfrm>
            <a:off x="6080760" y="777240"/>
            <a:ext cx="2834640" cy="3931920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9DF6536-1C4E-4314-9CB6-ABE7AFD6C0A3}"/>
              </a:ext>
            </a:extLst>
          </p:cNvPr>
          <p:cNvSpPr>
            <a:spLocks noGrp="1"/>
          </p:cNvSpPr>
          <p:nvPr/>
        </p:nvSpPr>
        <p:spPr>
          <a:xfrm>
            <a:off x="6080760" y="82296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8A020"/>
                </a:solidFill>
              </a:rPr>
              <a:t>Purpose</a:t>
            </a:r>
            <a:endParaRPr sz="90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B21C9E4-9D51-47F8-A634-86927AA3DBCF}"/>
              </a:ext>
            </a:extLst>
          </p:cNvPr>
          <p:cNvSpPr>
            <a:spLocks noGrp="1"/>
          </p:cNvSpPr>
          <p:nvPr/>
        </p:nvSpPr>
        <p:spPr>
          <a:xfrm>
            <a:off x="6217920" y="1170432"/>
            <a:ext cx="2560320" cy="228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36FA1E7-8AA0-4F97-BCC4-F9EF38BF02CA}"/>
              </a:ext>
            </a:extLst>
          </p:cNvPr>
          <p:cNvSpPr>
            <a:spLocks noGrp="1"/>
          </p:cNvSpPr>
          <p:nvPr/>
        </p:nvSpPr>
        <p:spPr>
          <a:xfrm>
            <a:off x="6217920" y="1261872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Observed history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78B0B14-0C2A-4376-A31F-8BD2A8320B1B}"/>
              </a:ext>
            </a:extLst>
          </p:cNvPr>
          <p:cNvSpPr>
            <a:spLocks noGrp="1"/>
          </p:cNvSpPr>
          <p:nvPr/>
        </p:nvSpPr>
        <p:spPr>
          <a:xfrm>
            <a:off x="6217920" y="179222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Landscape, terrain and climate</a:t>
            </a:r>
            <a:endParaRPr sz="10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E7E2DF4-82FF-4297-BC2B-22C484A80CC8}"/>
              </a:ext>
            </a:extLst>
          </p:cNvPr>
          <p:cNvSpPr>
            <a:spLocks noGrp="1"/>
          </p:cNvSpPr>
          <p:nvPr/>
        </p:nvSpPr>
        <p:spPr>
          <a:xfrm>
            <a:off x="6217920" y="2322576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Comparative 2026 estimate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D6F7EF9-033D-4506-9EBE-BFE18477DBE8}"/>
              </a:ext>
            </a:extLst>
          </p:cNvPr>
          <p:cNvSpPr>
            <a:spLocks noGrp="1"/>
          </p:cNvSpPr>
          <p:nvPr/>
        </p:nvSpPr>
        <p:spPr>
          <a:xfrm>
            <a:off x="6217920" y="2852928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Narrow broad search areas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8932156-3970-4237-A76D-30F8D26A7793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Then continue with local evidence</a:t>
            </a:r>
            <a:endParaRPr sz="105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0B28163-A49C-4C75-B149-473B24134259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759CE5D-7A30-48C4-B49F-00835A05CFBA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1596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A86A1C8-DB06-4DCE-9DAF-693B7C7794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197F66D-6C57-4707-8514-4D78C9DEF8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99481-8AFC-45E5-8E41-5D92798EEDD0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EB6717-FD6D-4B81-81A9-77D30FCEDB7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DATASET OVERVIEW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101844-9940-49BE-8B17-716FB787513D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2 / 9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121B0D7-68D2-4F3B-B4D9-855405D8279A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One 1 km mainland cell per year makes the evidence comparable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015B360-BBBA-4DE0-9795-57F031507AC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C07B9EA-88EE-49EE-B7D4-7BDB797C5482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9484D15-B5B7-461A-BAA9-47327A4B212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OBSERVED FIRE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C6A5B0-CECC-4ACC-9832-24A59DDB136C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ICNF annual burned areas</a:t>
            </a:r>
            <a:endParaRPr sz="8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2DC359E-9E6E-4E9F-BF48-BEF9690E6A70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Historical occurrence and next-year burned-share outcomes. Fire recurrence is measured in a 2 km context buffer.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CD4E307-F1DC-41BD-A2A0-EF4229C67E73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C8DE72-7721-45D6-B469-D1F7820E4A35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ICNF source coverage: 2000–2025</a:t>
            </a:r>
            <a:endParaRPr sz="8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0536C49-BFED-466A-8A4F-1AF9F8838334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observed history and outcome labels</a:t>
            </a:r>
            <a:endParaRPr sz="7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61C0752-DC49-4F35-AFC7-AB88C79FAF0D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Burned share = burned land area / cell land area.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724BAC-EE83-433E-87E5-BC0E996BDFFC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-&gt;</a:t>
            </a:r>
            <a:endParaRPr sz="20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8BDC9BD-5FAD-4BBE-B51A-B021702F2F4D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FE4F804-F3B6-4684-BFCD-653595482E22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823FAC1-C9B5-4631-81A0-0779D0A744E5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PLACE CONTEXT</a:t>
            </a:r>
            <a:endParaRPr sz="11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DF192D1-D9B3-4618-B786-9A11E17D0DE9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CLC and Copernicus DEM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B99BF9-D34E-45F7-A42A-E1EE7420E18A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Built-up share, forest/shrub context and mean slope describe the surrounding landscape.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F886BEF-D149-4B22-AB28-BF3F16160D69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0A0214D-E33A-4BF0-8D70-726CFE0375AB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Static or governed historical layers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DB0DD6E-990A-42DB-9875-F090FBA9738B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landscape and terrain predictors</a:t>
            </a:r>
            <a:endParaRPr sz="7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7AC1FC5-9639-4DA9-B51C-80DD5E469942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parcel-level claim.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4357DB5-05F8-4CF5-8D21-E89F0DFA12F8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-&gt;</a:t>
            </a:r>
            <a:endParaRPr sz="20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1EB402B-5D07-41FD-A88B-C668B3092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B31566B-19C9-48AC-A726-E822C5985068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6FE3D7-10A4-4179-9328-3F34C913B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CLIMATE CONTEXT</a:t>
            </a:r>
            <a:endParaRPr sz="11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88C263C-A0CB-4982-A338-F3A1BB2F9F95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ERA5-Land JJAS</a:t>
            </a:r>
            <a:endParaRPr sz="8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591A679-B15E-406C-86A0-00F6CAE7220A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Warm-season temperature, precipitation and shallow soil-water conditions from predictor year T only.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21F582AF-C78B-4E58-9B57-6833B74F7712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468880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31D7657-5536-4C80-9B52-926E19C32495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0.1° regional climate cells</a:t>
            </a:r>
            <a:endParaRPr sz="8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55C2D91-F1C0-4C81-A522-273CE805D265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predictor-year climate context</a:t>
            </a:r>
            <a:endParaRPr sz="7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348B69A9-A889-4CDD-892E-2DD982669C0A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interpolation or downscaling.</a:t>
            </a:r>
            <a:endParaRPr sz="75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CF7DD12-EEE0-44CF-90BD-A5A6555384C9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37652F4-0A68-4E8D-8FB1-0D1F3BBDF796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89,112 mainland cells; one EPSG:3763 1 km cell × predictor year record.</a:t>
            </a:r>
            <a:endParaRPr sz="85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49A759C5-57AB-43DF-B3F0-A2B8CCABD533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0C3C7AC-0669-4B0F-BD8F-AB88AC487A35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A86A1C8-DB06-4DCE-9DAF-693B7C7794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197F66D-6C57-4707-8514-4D78C9DEF8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99481-8AFC-45E5-8E41-5D92798EEDD0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EB6717-FD6D-4B81-81A9-77D30FCEDB7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MODEL DEVELOPMENT FLOW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101844-9940-49BE-8B17-716FB787513D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3 / 9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121B0D7-68D2-4F3B-B4D9-855405D8279A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How historical data becomes the 2026 estimate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015B360-BBBA-4DE0-9795-57F031507AC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C07B9EA-88EE-49EE-B7D4-7BDB797C5482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9484D15-B5B7-461A-BAA9-47327A4B212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COLLECT + PREPARE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C6A5B0-CECC-4ACC-9832-24A59DDB136C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Validated source inputs</a:t>
            </a:r>
            <a:endParaRPr sz="8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2DC359E-9E6E-4E9F-BF48-BEF9690E6A70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CAOP grid; ICNF burned areas; CLC; DEM; ERA5-Land.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CD4E307-F1DC-41BD-A2A0-EF4229C67E73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C8DE72-7721-45D6-B469-D1F7820E4A35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One 1 km cell × predictor year</a:t>
            </a:r>
            <a:endParaRPr sz="8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0536C49-BFED-466A-8A4F-1AF9F8838334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Nine predictors from year T</a:t>
            </a:r>
            <a:endParaRPr sz="7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61C0752-DC49-4F35-AFC7-AB88C79FAF0D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Observed target from year T+1 only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724BAC-EE83-433E-87E5-BC0E996BDFFC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-&gt;</a:t>
            </a:r>
            <a:endParaRPr sz="20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8BDC9BD-5FAD-4BBE-B51A-B021702F2F4D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FE4F804-F3B6-4684-BFCD-653595482E22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823FAC1-C9B5-4631-81A0-0779D0A744E5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TRAIN</a:t>
            </a:r>
            <a:endParaRPr sz="11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DF192D1-D9B3-4618-B786-9A11E17D0DE9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Fit historical relationships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B99BF9-D34E-45F7-A42A-E1EE7420E18A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dirty="0">
                <a:solidFill>
                  <a:srgbClr val="1A2638"/>
                </a:solidFill>
              </a:rPr>
              <a:t>Training: T=2010–2019 </a:t>
            </a:r>
            <a:r>
              <a:rPr lang="en-US" sz="850" dirty="0">
                <a:solidFill>
                  <a:srgbClr val="1A2638"/>
                </a:solidFill>
              </a:rPr>
              <a:t>-&gt;</a:t>
            </a:r>
            <a:r>
              <a:rPr sz="850" dirty="0">
                <a:solidFill>
                  <a:srgbClr val="1A2638"/>
                </a:solidFill>
              </a:rPr>
              <a:t> outcomes 2011–2020.</a:t>
            </a:r>
            <a:endParaRPr sz="8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F886BEF-D149-4B22-AB28-BF3F16160D69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0A0214D-E33A-4BF0-8D70-726CFE0375AB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Baseline + candidate models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DB0DD6E-990A-42DB-9875-F090FBA9738B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Learn from training years only</a:t>
            </a:r>
            <a:endParaRPr sz="7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7AC1FC5-9639-4DA9-B51C-80DD5E469942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Validation and final years stay outside fitting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4357DB5-05F8-4CF5-8D21-E89F0DFA12F8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-&gt;</a:t>
            </a:r>
            <a:endParaRPr sz="20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1EB402B-5D07-41FD-A88B-C668B3092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B31566B-19C9-48AC-A726-E822C5985068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6FE3D7-10A4-4179-9328-3F34C913B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SELECT + CHECK</a:t>
            </a:r>
            <a:endParaRPr sz="11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88C263C-A0CB-4982-A338-F3A1BB2F9F95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Validation and final evaluation</a:t>
            </a:r>
            <a:endParaRPr sz="8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591A679-B15E-406C-86A0-00F6CAE7220A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dirty="0">
                <a:solidFill>
                  <a:srgbClr val="1A2638"/>
                </a:solidFill>
              </a:rPr>
              <a:t>Validation: T=2020–2021</a:t>
            </a:r>
            <a:r>
              <a:rPr lang="en-US" sz="850" dirty="0">
                <a:solidFill>
                  <a:srgbClr val="1A2638"/>
                </a:solidFill>
              </a:rPr>
              <a:t> -&gt; </a:t>
            </a:r>
            <a:r>
              <a:rPr sz="850" dirty="0">
                <a:solidFill>
                  <a:srgbClr val="1A2638"/>
                </a:solidFill>
              </a:rPr>
              <a:t> outcomes 2021–2022.</a:t>
            </a:r>
            <a:endParaRPr sz="85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21F582AF-C78B-4E58-9B57-6833B74F7712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468880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31D7657-5536-4C80-9B52-926E19C32495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 dirty="0">
                <a:solidFill>
                  <a:srgbClr val="1A2638"/>
                </a:solidFill>
              </a:rPr>
              <a:t>Final: T=2022–2024 </a:t>
            </a:r>
            <a:r>
              <a:rPr lang="en-US" sz="800" i="1" dirty="0">
                <a:solidFill>
                  <a:srgbClr val="1A2638"/>
                </a:solidFill>
              </a:rPr>
              <a:t>-&gt;</a:t>
            </a:r>
            <a:r>
              <a:rPr sz="800" i="1" dirty="0">
                <a:solidFill>
                  <a:srgbClr val="1A2638"/>
                </a:solidFill>
              </a:rPr>
              <a:t> outcomes 2023–2025</a:t>
            </a:r>
            <a:endParaRPr sz="8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55C2D91-F1C0-4C81-A522-273CE805D265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Select on validation; evaluate final once</a:t>
            </a:r>
            <a:endParaRPr sz="7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348B69A9-A889-4CDD-892E-2DD982669C0A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↓ Refit the selected specification</a:t>
            </a:r>
            <a:endParaRPr sz="75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CF7DD12-EEE0-44CF-90BD-A5A6555384C9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37652F4-0A68-4E8D-8FB1-0D1F3BBDF796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 dirty="0">
                <a:solidFill>
                  <a:srgbClr val="E8A020"/>
                </a:solidFill>
              </a:rPr>
              <a:t>REFIT + 2026 ESTIMATE | T=2010–2024 </a:t>
            </a:r>
            <a:r>
              <a:rPr lang="en-US" sz="850" b="1" dirty="0">
                <a:solidFill>
                  <a:srgbClr val="E8A020"/>
                </a:solidFill>
              </a:rPr>
              <a:t>-&gt;</a:t>
            </a:r>
            <a:r>
              <a:rPr sz="850" b="1" dirty="0">
                <a:solidFill>
                  <a:srgbClr val="E8A020"/>
                </a:solidFill>
              </a:rPr>
              <a:t>outcomes 2011–2025; T=2025 inputs </a:t>
            </a:r>
            <a:r>
              <a:rPr lang="en-US" sz="850" b="1" dirty="0">
                <a:solidFill>
                  <a:srgbClr val="E8A020"/>
                </a:solidFill>
              </a:rPr>
              <a:t>-&gt;</a:t>
            </a:r>
            <a:r>
              <a:rPr sz="850" b="1" dirty="0">
                <a:solidFill>
                  <a:srgbClr val="E8A020"/>
                </a:solidFill>
              </a:rPr>
              <a:t> 2026 estimate (outcome pending).</a:t>
            </a:r>
            <a:endParaRPr sz="85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49A759C5-57AB-43DF-B3F0-A2B8CCABD533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0C3C7AC-0669-4B0F-BD8F-AB88AC487A35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16D61E-8D80-4696-BE48-571111EE6D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197073-0349-496C-B731-E02726BC0F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344C750-A1AC-4D96-B5ED-2E59EAB552A3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BCF9260-F9BB-427A-A715-0CA619DDD669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1</a:t>
            </a:r>
          </a:p>
          <a:p>
            <a:pPr marL="0" indent="0">
              <a:buNone/>
            </a:pPr>
            <a:r>
              <a:rPr sz="1000">
                <a:solidFill>
                  <a:schemeClr val="accent6"/>
                </a:solidFill>
              </a:rPr>
              <a:t>observed history and 2026 comparative estimate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C069EAE-F0EA-403F-93EC-4D5FAD01EDA4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4 / 9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66943B0-65A2-4E8E-A093-55763EACAA06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Historical wildfire recurrence is uneven across mainland Portugal (left map)</a:t>
            </a:r>
            <a:endParaRPr sz="160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35375F54-2542-44E4-9AE4-25E5F5E7CCD6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11C9A05-ACCC-4E9D-9690-B5C3213DD01B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  <p:pic>
        <p:nvPicPr>
          <p:cNvPr id="44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1107383"/>
            <a:ext cx="7581900" cy="381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534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2</a:t>
            </a:r>
          </a:p>
          <a:p>
            <a:pPr marL="0" indent="0">
              <a:buNone/>
            </a:pPr>
            <a:r>
              <a:rPr sz="1000">
                <a:solidFill>
                  <a:schemeClr val="accent6"/>
                </a:solidFill>
              </a:rPr>
              <a:t>complementary context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5 / 9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Historical recurrence and structural hazard provide complementary context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Evidence layers</a:t>
            </a:r>
            <a:endParaRPr sz="1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noGrp="1"/>
          </p:cNvSpPr>
          <p:nvPr/>
        </p:nvSpPr>
        <p:spPr>
          <a:xfrm>
            <a:off x="713232" y="177393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Counts 2016–2025 burned years in the 2 km context around each 1 km cell.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noGrp="1"/>
          </p:cNvSpPr>
          <p:nvPr/>
        </p:nvSpPr>
        <p:spPr>
          <a:xfrm>
            <a:off x="713232" y="217627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Official structural hazard</a:t>
            </a:r>
            <a:endParaRPr sz="8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noGrp="1"/>
          </p:cNvSpPr>
          <p:nvPr/>
        </p:nvSpPr>
        <p:spPr>
          <a:xfrm>
            <a:off x="713232" y="257860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An official ICNF classification of underlying landscape hazard conditions, summarised from 25 m classes to the predominant 1 km class.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noGrp="1"/>
          </p:cNvSpPr>
          <p:nvPr/>
        </p:nvSpPr>
        <p:spPr>
          <a:xfrm>
            <a:off x="713232" y="29809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Why compare both?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They use different methods and time frames, so agreement or disagreement adds context.</a:t>
            </a:r>
            <a:endParaRPr sz="8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noGrp="1"/>
          </p:cNvSpPr>
          <p:nvPr/>
        </p:nvSpPr>
        <p:spPr>
          <a:xfrm>
            <a:off x="713232" y="378561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Interpretation</a:t>
            </a:r>
            <a:endParaRPr sz="85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noGrp="1"/>
          </p:cNvSpPr>
          <p:nvPr/>
        </p:nvSpPr>
        <p:spPr>
          <a:xfrm>
            <a:off x="713232" y="418795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Structural hazard is not this project’s prediction and does not describe one particular year’s burned area.</a:t>
            </a:r>
            <a:endParaRPr sz="85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noGrp="1"/>
          </p:cNvSpPr>
          <p:nvPr/>
        </p:nvSpPr>
        <p:spPr>
          <a:xfrm>
            <a:off x="4764024" y="1554480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noGrp="1"/>
          </p:cNvSpPr>
          <p:nvPr/>
        </p:nvSpPr>
        <p:spPr>
          <a:xfrm>
            <a:off x="4764024" y="1280160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One comparison, two sources</a:t>
            </a:r>
            <a:endParaRPr sz="10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noGrp="1"/>
          </p:cNvSpPr>
          <p:nvPr/>
        </p:nvSpPr>
        <p:spPr>
          <a:xfrm>
            <a:off x="4873752" y="17556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Technical</a:t>
            </a:r>
            <a:endParaRPr sz="8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noGrp="1"/>
          </p:cNvSpPr>
          <p:nvPr/>
        </p:nvSpPr>
        <p:spPr>
          <a:xfrm>
            <a:off x="5111496" y="2048256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Use the layers together to understand patterns; neither layer is a buyer threshold.</a:t>
            </a:r>
            <a:endParaRPr sz="80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noGrp="1"/>
          </p:cNvSpPr>
          <p:nvPr/>
        </p:nvSpPr>
        <p:spPr>
          <a:xfrm>
            <a:off x="5111496" y="2395728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Maps describe evidence; they do not certify a location.</a:t>
            </a:r>
            <a:endParaRPr sz="8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noGrp="1"/>
          </p:cNvSpPr>
          <p:nvPr/>
        </p:nvSpPr>
        <p:spPr>
          <a:xfrm>
            <a:off x="5111496" y="2743200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Both layers still require local verification.</a:t>
            </a:r>
            <a:endParaRPr sz="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noGrp="1"/>
          </p:cNvSpPr>
          <p:nvPr/>
        </p:nvSpPr>
        <p:spPr>
          <a:xfrm>
            <a:off x="4873752" y="3364992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Delivery Tips</a:t>
            </a:r>
            <a:endParaRPr sz="80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noGrp="1"/>
          </p:cNvSpPr>
          <p:nvPr/>
        </p:nvSpPr>
        <p:spPr>
          <a:xfrm>
            <a:off x="4873752" y="34015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noGrp="1"/>
          </p:cNvSpPr>
          <p:nvPr/>
        </p:nvSpPr>
        <p:spPr>
          <a:xfrm>
            <a:off x="4873752" y="36301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Observed recurrence = what burned.</a:t>
            </a:r>
            <a:endParaRPr sz="7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noGrp="1"/>
          </p:cNvSpPr>
          <p:nvPr/>
        </p:nvSpPr>
        <p:spPr>
          <a:xfrm>
            <a:off x="4873752" y="38587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Structural hazard = underlying landscape classification.</a:t>
            </a:r>
            <a:endParaRPr sz="75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noGrp="1"/>
          </p:cNvSpPr>
          <p:nvPr/>
        </p:nvSpPr>
        <p:spPr>
          <a:xfrm>
            <a:off x="4873752" y="40873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Together = broader screening context.</a:t>
            </a:r>
            <a:endParaRPr sz="75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noGrp="1"/>
          </p:cNvSpPr>
          <p:nvPr/>
        </p:nvSpPr>
        <p:spPr>
          <a:xfrm>
            <a:off x="4873752" y="43159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No model-accuracy claim is made from this comparison.</a:t>
            </a:r>
            <a:endParaRPr sz="75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noGrp="1"/>
          </p:cNvSpPr>
          <p:nvPr/>
        </p:nvSpPr>
        <p:spPr>
          <a:xfrm>
            <a:off x="274320" y="4663440"/>
            <a:ext cx="8595360" cy="2926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noGrp="1"/>
          </p:cNvSpPr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The official ICNF layer is a reference, not the project’s ML output.</a:t>
            </a:r>
            <a:endParaRPr sz="85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1781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3 — MODEL</a:t>
            </a:r>
          </a:p>
          <a:p>
            <a:pPr marL="0" indent="0">
              <a:buNone/>
            </a:pPr>
            <a:r>
              <a:rPr sz="1000">
                <a:solidFill>
                  <a:schemeClr val="accent6"/>
                </a:solidFill>
              </a:rPr>
              <a:t>model comparison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6 / 9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The nine-feature model improves selected comparative diagnostics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MODEL COMPARISON</a:t>
            </a:r>
            <a:endParaRPr sz="1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noGrp="1"/>
          </p:cNvSpPr>
          <p:nvPr/>
        </p:nvSpPr>
        <p:spPr>
          <a:xfrm>
            <a:off x="713232" y="1801368"/>
            <a:ext cx="3611880" cy="2468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800"/>
              <a:t>Historical </a:t>
            </a:r>
            <a:r>
              <a:rPr sz="800" b="1"/>
              <a:t>recurrence</a:t>
            </a:r>
            <a:r>
              <a:rPr sz="800"/>
              <a:t> benchmark </a:t>
            </a:r>
            <a:r>
              <a:rPr sz="850">
                <a:solidFill>
                  <a:srgbClr val="1A2638"/>
                </a:solidFill>
              </a:rPr>
              <a:t> -&gt; </a:t>
            </a:r>
            <a:r>
              <a:rPr sz="800" b="1"/>
              <a:t>Nine-feature</a:t>
            </a:r>
            <a:r>
              <a:rPr sz="800"/>
              <a:t> Model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noGrp="1"/>
          </p:cNvSpPr>
          <p:nvPr/>
        </p:nvSpPr>
        <p:spPr>
          <a:xfrm>
            <a:off x="713232" y="217627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dirty="0">
                <a:solidFill>
                  <a:srgbClr val="1A2638"/>
                </a:solidFill>
              </a:rPr>
              <a:t>Historical recurrence baseline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i="1" dirty="0">
                <a:solidFill>
                  <a:schemeClr val="bg1">
                    <a:lumMod val="50000"/>
                  </a:schemeClr>
                </a:solidFill>
              </a:rPr>
              <a:t>the custom </a:t>
            </a:r>
            <a:r>
              <a:rPr lang="en-US" sz="700" b="1" i="1" dirty="0" err="1">
                <a:solidFill>
                  <a:schemeClr val="bg1">
                    <a:lumMod val="50000"/>
                  </a:schemeClr>
                </a:solidFill>
              </a:rPr>
              <a:t>HistoricalFireMeanRegressor</a:t>
            </a:r>
            <a:r>
              <a:rPr lang="en-US" sz="600" i="1" dirty="0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sz="7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 simple reference based only on previous burned-year counts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noGrp="1"/>
          </p:cNvSpPr>
          <p:nvPr/>
        </p:nvSpPr>
        <p:spPr>
          <a:xfrm>
            <a:off x="713232" y="257860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850">
                <a:solidFill>
                  <a:srgbClr val="1A2638"/>
                </a:solidFill>
              </a:rPr>
              <a:t>Nine-feature two-stage regression model:</a:t>
            </a:r>
          </a:p>
          <a:p>
            <a:pPr marL="171450" indent="-171450">
              <a:buFont typeface="Arial"/>
              <a:buChar char="•"/>
            </a:pPr>
            <a:r>
              <a:rPr sz="700" b="1" i="1">
                <a:solidFill>
                  <a:schemeClr val="tx1">
                    <a:lumMod val="50000"/>
                    <a:lumOff val="50000"/>
                  </a:schemeClr>
                </a:solidFill>
              </a:rPr>
              <a:t>HistGradientBoostingClassifier</a:t>
            </a:r>
            <a:r>
              <a:rPr sz="700" i="1">
                <a:solidFill>
                  <a:schemeClr val="tx1">
                    <a:lumMod val="50000"/>
                    <a:lumOff val="50000"/>
                  </a:schemeClr>
                </a:solidFill>
              </a:rPr>
              <a:t> for occurrence</a:t>
            </a:r>
          </a:p>
          <a:p>
            <a:pPr marL="171450" indent="-171450">
              <a:buFont typeface="Arial"/>
              <a:buChar char="•"/>
            </a:pPr>
            <a:r>
              <a:rPr sz="700" b="1" i="1">
                <a:solidFill>
                  <a:schemeClr val="tx1">
                    <a:lumMod val="50000"/>
                    <a:lumOff val="50000"/>
                  </a:schemeClr>
                </a:solidFill>
              </a:rPr>
              <a:t>HistGradientBoostingRegressor</a:t>
            </a:r>
            <a:r>
              <a:rPr sz="700" i="1">
                <a:solidFill>
                  <a:schemeClr val="tx1">
                    <a:lumMod val="50000"/>
                    <a:lumOff val="50000"/>
                  </a:schemeClr>
                </a:solidFill>
              </a:rPr>
              <a:t> for positive burned share</a:t>
            </a:r>
          </a:p>
          <a:p>
            <a:r>
              <a:rPr sz="700" i="1">
                <a:solidFill>
                  <a:schemeClr val="tx1">
                    <a:lumMod val="50000"/>
                    <a:lumOff val="50000"/>
                  </a:schemeClr>
                </a:solidFill>
              </a:rPr>
              <a:t>the accepted model using fire history, land cover, terrain, and climate predictors</a:t>
            </a:r>
            <a:endParaRPr sz="800"/>
          </a:p>
          <a:p>
            <a:pPr marL="0" indent="0">
              <a:buNone/>
            </a:pPr>
            <a:endParaRPr sz="850" b="1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noGrp="1"/>
          </p:cNvSpPr>
          <p:nvPr/>
        </p:nvSpPr>
        <p:spPr>
          <a:xfrm>
            <a:off x="713232" y="29809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MAE: 0.0292  -&gt;  0.0209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RMSE: 0.1106  -&gt;  0.1110</a:t>
            </a:r>
            <a:endParaRPr sz="8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noGrp="1"/>
          </p:cNvSpPr>
          <p:nvPr/>
        </p:nvSpPr>
        <p:spPr>
          <a:xfrm>
            <a:off x="713232" y="378561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Capture@20%: 40.2%  -&gt;  57.2%</a:t>
            </a:r>
          </a:p>
          <a:p>
            <a:r>
              <a:rPr sz="700" i="1">
                <a:solidFill>
                  <a:schemeClr val="tx1">
                    <a:lumMod val="50000"/>
                    <a:lumOff val="50000"/>
                  </a:schemeClr>
                </a:solidFill>
              </a:rPr>
              <a:t>how much observed burned share occurred within the highest-ranked 20% of cells</a:t>
            </a: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noGrp="1"/>
          </p:cNvSpPr>
          <p:nvPr/>
        </p:nvSpPr>
        <p:spPr>
          <a:xfrm>
            <a:off x="713232" y="416509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800" dirty="0"/>
              <a:t>Final temporal evaluation: T=2022–2024 </a:t>
            </a:r>
            <a:r>
              <a:rPr lang="en-US" sz="800" dirty="0"/>
              <a:t>-&gt;</a:t>
            </a:r>
            <a:r>
              <a:rPr sz="800" dirty="0"/>
              <a:t> observed outcomes 2023–2025</a:t>
            </a: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HOW TO READ IT</a:t>
            </a:r>
            <a:endParaRPr sz="10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noGrp="1"/>
          </p:cNvSpPr>
          <p:nvPr/>
        </p:nvSpPr>
        <p:spPr>
          <a:xfrm>
            <a:off x="4873752" y="17556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Technical</a:t>
            </a:r>
            <a:endParaRPr sz="8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noGrp="1"/>
          </p:cNvSpPr>
          <p:nvPr/>
        </p:nvSpPr>
        <p:spPr>
          <a:xfrm>
            <a:off x="5111496" y="2048256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MAE is average error in burned-share units; lower is better.</a:t>
            </a:r>
            <a:endParaRPr sz="80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noGrp="1"/>
          </p:cNvSpPr>
          <p:nvPr/>
        </p:nvSpPr>
        <p:spPr>
          <a:xfrm>
            <a:off x="5111496" y="2395728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RMSE gives more weight to larger errors; lower is better.</a:t>
            </a:r>
            <a:endParaRPr sz="8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noGrp="1"/>
          </p:cNvSpPr>
          <p:nvPr/>
        </p:nvSpPr>
        <p:spPr>
          <a:xfrm>
            <a:off x="5111496" y="2743200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Capture@20% is the share of observed burned share found among the 20% highest-scored cells.</a:t>
            </a:r>
            <a:endParaRPr sz="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noGrp="1"/>
          </p:cNvSpPr>
          <p:nvPr/>
        </p:nvSpPr>
        <p:spPr>
          <a:xfrm>
            <a:off x="4873752" y="31272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Delivery Tips</a:t>
            </a:r>
            <a:endParaRPr sz="80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noGrp="1"/>
          </p:cNvSpPr>
          <p:nvPr/>
        </p:nvSpPr>
        <p:spPr>
          <a:xfrm>
            <a:off x="4873752" y="34015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It is a ranking diagnostic, not a buyer threshold.</a:t>
            </a: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noGrp="1"/>
          </p:cNvSpPr>
          <p:nvPr/>
        </p:nvSpPr>
        <p:spPr>
          <a:xfrm>
            <a:off x="4873752" y="36301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model improves selected comparisons, but extreme fire years remain difficult.</a:t>
            </a:r>
            <a:endParaRPr sz="7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noGrp="1"/>
          </p:cNvSpPr>
          <p:nvPr/>
        </p:nvSpPr>
        <p:spPr>
          <a:xfrm>
            <a:off x="4873752" y="38587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dirty="0">
                <a:solidFill>
                  <a:srgbClr val="E8A020"/>
                </a:solidFill>
              </a:rPr>
              <a:t>The target is </a:t>
            </a:r>
            <a:r>
              <a:rPr sz="800" b="1" u="sng" dirty="0">
                <a:solidFill>
                  <a:srgbClr val="E8A020"/>
                </a:solidFill>
              </a:rPr>
              <a:t>continuous</a:t>
            </a:r>
            <a:r>
              <a:rPr sz="750" b="1" u="sng" dirty="0">
                <a:solidFill>
                  <a:srgbClr val="E8A020"/>
                </a:solidFill>
              </a:rPr>
              <a:t> </a:t>
            </a:r>
            <a:r>
              <a:rPr sz="800" b="1" u="sng" dirty="0">
                <a:solidFill>
                  <a:srgbClr val="E8A020"/>
                </a:solidFill>
              </a:rPr>
              <a:t>burned share</a:t>
            </a:r>
            <a:r>
              <a:rPr sz="750" b="1" dirty="0">
                <a:solidFill>
                  <a:srgbClr val="E8A020"/>
                </a:solidFill>
              </a:rPr>
              <a:t>: burned land area divided by cell land area.</a:t>
            </a:r>
            <a:endParaRPr sz="75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noGrp="1"/>
          </p:cNvSpPr>
          <p:nvPr/>
        </p:nvSpPr>
        <p:spPr>
          <a:xfrm>
            <a:off x="4873752" y="40873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dirty="0">
                <a:solidFill>
                  <a:srgbClr val="E8A020"/>
                </a:solidFill>
              </a:rPr>
              <a:t>The nine-feature model uses a two-part regression for the zero-heavy target.</a:t>
            </a:r>
            <a:endParaRPr sz="75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noGrp="1"/>
          </p:cNvSpPr>
          <p:nvPr/>
        </p:nvSpPr>
        <p:spPr>
          <a:xfrm>
            <a:off x="4873752" y="43159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No final-evaluation result is used to claim a property-level forecast.</a:t>
            </a:r>
            <a:endParaRPr sz="75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noGrp="1"/>
          </p:cNvSpPr>
          <p:nvPr/>
        </p:nvSpPr>
        <p:spPr>
          <a:xfrm>
            <a:off x="274320" y="4663440"/>
            <a:ext cx="8595360" cy="2926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noGrp="1"/>
          </p:cNvSpPr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Conclusion: useful comparative improvement with visible uncertainty.</a:t>
            </a:r>
            <a:endParaRPr sz="85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1781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>
            <a:extLst>
              <a:ext uri="{FF2B5EF4-FFF2-40B4-BE49-F238E27FC236}">
                <a16:creationId xmlns:a16="http://schemas.microsoft.com/office/drawing/2014/main" id="{9E3B76F2-BCC7-BBF0-1273-7B2C877F93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2" name="Shape 1">
            <a:extLst>
              <a:ext uri="{FF2B5EF4-FFF2-40B4-BE49-F238E27FC236}">
                <a16:creationId xmlns:a16="http://schemas.microsoft.com/office/drawing/2014/main" id="{4EF0D36C-C357-E332-9FBF-445832165D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3" name="Shape 2">
            <a:extLst>
              <a:ext uri="{FF2B5EF4-FFF2-40B4-BE49-F238E27FC236}">
                <a16:creationId xmlns:a16="http://schemas.microsoft.com/office/drawing/2014/main" id="{1CFE74E3-3462-A34A-4A20-31F9DE9FBFCB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44" name="Text 3">
            <a:extLst>
              <a:ext uri="{FF2B5EF4-FFF2-40B4-BE49-F238E27FC236}">
                <a16:creationId xmlns:a16="http://schemas.microsoft.com/office/drawing/2014/main" id="{0D45B056-7786-F6DB-DB67-68872420F5BA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RECOMMENDED USE CASE</a:t>
            </a:r>
            <a:endParaRPr sz="1100"/>
          </a:p>
        </p:txBody>
      </p:sp>
      <p:sp>
        <p:nvSpPr>
          <p:cNvPr id="45" name="Text 4">
            <a:extLst>
              <a:ext uri="{FF2B5EF4-FFF2-40B4-BE49-F238E27FC236}">
                <a16:creationId xmlns:a16="http://schemas.microsoft.com/office/drawing/2014/main" id="{41DC7F03-CAB9-6A42-265A-C46904C8AFD1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7 / 9</a:t>
            </a:r>
            <a:endParaRPr sz="1100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D847301C-C927-7FAC-A769-4C641A7B5D35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A prospective buyer narrows a Portugal location search</a:t>
            </a:r>
            <a:endParaRPr sz="1600"/>
          </a:p>
        </p:txBody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F70699D7-5B53-2C77-0175-B3B78E7EF30C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Shape 7">
            <a:extLst>
              <a:ext uri="{FF2B5EF4-FFF2-40B4-BE49-F238E27FC236}">
                <a16:creationId xmlns:a16="http://schemas.microsoft.com/office/drawing/2014/main" id="{111BE822-2C18-0A11-F129-F8D5751595BB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F7C43176-6DA9-3BA7-4DE8-A4C84CEC076C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START WITH</a:t>
            </a:r>
            <a:endParaRPr sz="1100"/>
          </a:p>
        </p:txBody>
      </p:sp>
      <p:sp>
        <p:nvSpPr>
          <p:cNvPr id="50" name="Text 9">
            <a:extLst>
              <a:ext uri="{FF2B5EF4-FFF2-40B4-BE49-F238E27FC236}">
                <a16:creationId xmlns:a16="http://schemas.microsoft.com/office/drawing/2014/main" id="{25E0079F-7E52-BCD6-436F-A2013D60831A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2026 comparative estimate</a:t>
            </a:r>
            <a:endParaRPr sz="800"/>
          </a:p>
        </p:txBody>
      </p:sp>
      <p:sp>
        <p:nvSpPr>
          <p:cNvPr id="51" name="Text 10">
            <a:extLst>
              <a:ext uri="{FF2B5EF4-FFF2-40B4-BE49-F238E27FC236}">
                <a16:creationId xmlns:a16="http://schemas.microsoft.com/office/drawing/2014/main" id="{35DCCB06-55A6-7118-8D80-0423179BFA58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Compare broad 1 km areas using 2025 predictor inputs.</a:t>
            </a:r>
            <a:endParaRPr sz="850"/>
          </a:p>
        </p:txBody>
      </p:sp>
      <p:sp>
        <p:nvSpPr>
          <p:cNvPr id="52" name="Shape 11">
            <a:extLst>
              <a:ext uri="{FF2B5EF4-FFF2-40B4-BE49-F238E27FC236}">
                <a16:creationId xmlns:a16="http://schemas.microsoft.com/office/drawing/2014/main" id="{48892306-CBC7-1476-476D-AF940872013E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53" name="Text 12">
            <a:extLst>
              <a:ext uri="{FF2B5EF4-FFF2-40B4-BE49-F238E27FC236}">
                <a16:creationId xmlns:a16="http://schemas.microsoft.com/office/drawing/2014/main" id="{524E6A7B-8390-A7C3-5810-F79BE56CA145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COMPARE CONTEXT</a:t>
            </a:r>
            <a:endParaRPr sz="800"/>
          </a:p>
        </p:txBody>
      </p:sp>
      <p:sp>
        <p:nvSpPr>
          <p:cNvPr id="54" name="Text 13">
            <a:extLst>
              <a:ext uri="{FF2B5EF4-FFF2-40B4-BE49-F238E27FC236}">
                <a16:creationId xmlns:a16="http://schemas.microsoft.com/office/drawing/2014/main" id="{D813BEB0-AB29-1201-6C98-83ED8F0166C5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Historical recurrence + official ICNF structural hazard</a:t>
            </a:r>
            <a:endParaRPr sz="750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1640E6C2-2736-6C47-08A7-E76229CD60DE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Read these layers alongside the estimate before shortlisting areas.</a:t>
            </a:r>
            <a:endParaRPr sz="750"/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E7998FAA-1292-DEE4-FBBA-DA72F51BBE8F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-&gt;</a:t>
            </a:r>
            <a:endParaRPr sz="2000"/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AA16804A-52B3-003F-850D-E763525EBF82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Shape 17">
            <a:extLst>
              <a:ext uri="{FF2B5EF4-FFF2-40B4-BE49-F238E27FC236}">
                <a16:creationId xmlns:a16="http://schemas.microsoft.com/office/drawing/2014/main" id="{A132002A-B816-4B27-A659-A2A2193BD4C4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E937C9EB-5EC4-4BED-DCC0-EEB4268C59F9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SHORTLIST AREAS</a:t>
            </a:r>
            <a:endParaRPr sz="1100"/>
          </a:p>
        </p:txBody>
      </p:sp>
      <p:sp>
        <p:nvSpPr>
          <p:cNvPr id="60" name="Text 19">
            <a:extLst>
              <a:ext uri="{FF2B5EF4-FFF2-40B4-BE49-F238E27FC236}">
                <a16:creationId xmlns:a16="http://schemas.microsoft.com/office/drawing/2014/main" id="{922D1C3D-92F4-7A52-D254-13F805D6760C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Focus local research</a:t>
            </a:r>
            <a:endParaRPr sz="800"/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DD31154A-7340-6BA1-B58C-EB0C128FA94A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Use the three maps to decide which broad areas deserve a closer look.</a:t>
            </a:r>
            <a:endParaRPr sz="850"/>
          </a:p>
        </p:txBody>
      </p:sp>
      <p:sp>
        <p:nvSpPr>
          <p:cNvPr id="62" name="Shape 21">
            <a:extLst>
              <a:ext uri="{FF2B5EF4-FFF2-40B4-BE49-F238E27FC236}">
                <a16:creationId xmlns:a16="http://schemas.microsoft.com/office/drawing/2014/main" id="{E3A1950C-3E98-2A41-9F7B-763C1A1EFE02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63" name="Text 22">
            <a:extLst>
              <a:ext uri="{FF2B5EF4-FFF2-40B4-BE49-F238E27FC236}">
                <a16:creationId xmlns:a16="http://schemas.microsoft.com/office/drawing/2014/main" id="{E3161D18-B8A1-E487-12AB-44CC4A732529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VISIT AND INVESTIGATE</a:t>
            </a:r>
            <a:endParaRPr sz="800"/>
          </a:p>
        </p:txBody>
      </p:sp>
      <p:sp>
        <p:nvSpPr>
          <p:cNvPr id="64" name="Text 23">
            <a:extLst>
              <a:ext uri="{FF2B5EF4-FFF2-40B4-BE49-F238E27FC236}">
                <a16:creationId xmlns:a16="http://schemas.microsoft.com/office/drawing/2014/main" id="{5C353123-8232-42F8-D273-5CB954BA4BBD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Deepen the research</a:t>
            </a:r>
            <a:endParaRPr sz="750"/>
          </a:p>
        </p:txBody>
      </p:sp>
      <p:sp>
        <p:nvSpPr>
          <p:cNvPr id="65" name="Text 24">
            <a:extLst>
              <a:ext uri="{FF2B5EF4-FFF2-40B4-BE49-F238E27FC236}">
                <a16:creationId xmlns:a16="http://schemas.microsoft.com/office/drawing/2014/main" id="{825EE7D9-0624-FD50-1A14-73D146D6F995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Spend time on site visits and detailed research in shortlisted areas.</a:t>
            </a:r>
            <a:endParaRPr sz="750"/>
          </a:p>
        </p:txBody>
      </p:sp>
      <p:sp>
        <p:nvSpPr>
          <p:cNvPr id="66" name="Text 25">
            <a:extLst>
              <a:ext uri="{FF2B5EF4-FFF2-40B4-BE49-F238E27FC236}">
                <a16:creationId xmlns:a16="http://schemas.microsoft.com/office/drawing/2014/main" id="{2A24E586-B737-43CD-9410-9B7B599DB5E6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-&gt;</a:t>
            </a:r>
            <a:endParaRPr sz="200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E767105C-FE7D-D361-1E75-7B266D4ED118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514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8" name="Shape 27">
            <a:extLst>
              <a:ext uri="{FF2B5EF4-FFF2-40B4-BE49-F238E27FC236}">
                <a16:creationId xmlns:a16="http://schemas.microsoft.com/office/drawing/2014/main" id="{B5487368-1117-220F-0E2A-5055BCFA807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514600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69" name="Text 28">
            <a:extLst>
              <a:ext uri="{FF2B5EF4-FFF2-40B4-BE49-F238E27FC236}">
                <a16:creationId xmlns:a16="http://schemas.microsoft.com/office/drawing/2014/main" id="{018CC755-0E76-B3F1-F302-F5429326FAFF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USE CASE OUTCOME</a:t>
            </a:r>
            <a:endParaRPr sz="1100"/>
          </a:p>
        </p:txBody>
      </p:sp>
      <p:sp>
        <p:nvSpPr>
          <p:cNvPr id="70" name="Text 29">
            <a:extLst>
              <a:ext uri="{FF2B5EF4-FFF2-40B4-BE49-F238E27FC236}">
                <a16:creationId xmlns:a16="http://schemas.microsoft.com/office/drawing/2014/main" id="{7D4F3FEA-36B1-CD37-33EC-8AFF9A2B185B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A smaller search area</a:t>
            </a:r>
            <a:endParaRPr sz="800"/>
          </a:p>
        </p:txBody>
      </p:sp>
      <p:sp>
        <p:nvSpPr>
          <p:cNvPr id="71" name="Text 30">
            <a:extLst>
              <a:ext uri="{FF2B5EF4-FFF2-40B4-BE49-F238E27FC236}">
                <a16:creationId xmlns:a16="http://schemas.microsoft.com/office/drawing/2014/main" id="{AEF56BD3-A919-2AB3-B917-DDF115F5DA1D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341179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 QGIS layers help organise a national search.</a:t>
            </a:r>
            <a:endParaRPr sz="850"/>
          </a:p>
        </p:txBody>
      </p:sp>
      <p:sp>
        <p:nvSpPr>
          <p:cNvPr id="72" name="Shape 31">
            <a:extLst>
              <a:ext uri="{FF2B5EF4-FFF2-40B4-BE49-F238E27FC236}">
                <a16:creationId xmlns:a16="http://schemas.microsoft.com/office/drawing/2014/main" id="{B21EFAC5-18BF-7EC7-FCA7-6D5743FCEF9F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341179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73" name="Text 32">
            <a:extLst>
              <a:ext uri="{FF2B5EF4-FFF2-40B4-BE49-F238E27FC236}">
                <a16:creationId xmlns:a16="http://schemas.microsoft.com/office/drawing/2014/main" id="{B56BD828-01DF-272F-8543-67D8E7206C89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LOCAL EVIDENCE</a:t>
            </a:r>
            <a:endParaRPr sz="800"/>
          </a:p>
        </p:txBody>
      </p:sp>
      <p:sp>
        <p:nvSpPr>
          <p:cNvPr id="74" name="Text 33">
            <a:extLst>
              <a:ext uri="{FF2B5EF4-FFF2-40B4-BE49-F238E27FC236}">
                <a16:creationId xmlns:a16="http://schemas.microsoft.com/office/drawing/2014/main" id="{7C7E5895-F34D-DA1E-E30A-C36D5D6775D9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Verify before deciding</a:t>
            </a:r>
            <a:endParaRPr sz="750"/>
          </a:p>
        </p:txBody>
      </p:sp>
      <p:sp>
        <p:nvSpPr>
          <p:cNvPr id="75" name="Text 34">
            <a:extLst>
              <a:ext uri="{FF2B5EF4-FFF2-40B4-BE49-F238E27FC236}">
                <a16:creationId xmlns:a16="http://schemas.microsoft.com/office/drawing/2014/main" id="{91730462-287D-DD99-AC73-8CDB97A5A7BD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Check planning, access, insurance, terrain and property-specific evidence.</a:t>
            </a:r>
            <a:endParaRPr sz="750"/>
          </a:p>
        </p:txBody>
      </p:sp>
      <p:sp>
        <p:nvSpPr>
          <p:cNvPr id="76" name="Shape 35">
            <a:extLst>
              <a:ext uri="{FF2B5EF4-FFF2-40B4-BE49-F238E27FC236}">
                <a16:creationId xmlns:a16="http://schemas.microsoft.com/office/drawing/2014/main" id="{EE052AFC-8FB4-ECF7-88CC-4487AE42F56C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77" name="Text 36">
            <a:extLst>
              <a:ext uri="{FF2B5EF4-FFF2-40B4-BE49-F238E27FC236}">
                <a16:creationId xmlns:a16="http://schemas.microsoft.com/office/drawing/2014/main" id="{C306DBE1-591D-91A0-2800-8563622FC938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The output helps organise the search; local evidence supports the final choice.</a:t>
            </a:r>
            <a:endParaRPr sz="850"/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453F1B67-702E-243E-FB47-4CA2B5119EA1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A5F23304-A068-58EC-920B-B28883DF7C8D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RECOMMENDATIONS 2 + 3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8 / 9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Compare the evidence layers, then verify locally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RECOMMENDATION 2 — COMPARE FIRST</a:t>
            </a:r>
            <a:endParaRPr sz="1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noGrp="1"/>
          </p:cNvSpPr>
          <p:nvPr/>
        </p:nvSpPr>
        <p:spPr>
          <a:xfrm>
            <a:off x="713232" y="177393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Use the 2026 comparative estimate to narrow broad areas.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noGrp="1"/>
          </p:cNvSpPr>
          <p:nvPr/>
        </p:nvSpPr>
        <p:spPr>
          <a:xfrm>
            <a:off x="713232" y="217627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Check 2016–2025 observed recurrence in the 2 km context.</a:t>
            </a:r>
            <a:endParaRPr sz="8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noGrp="1"/>
          </p:cNvSpPr>
          <p:nvPr/>
        </p:nvSpPr>
        <p:spPr>
          <a:xfrm>
            <a:off x="713232" y="257860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Compare the official ICNF structural-hazard class.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noGrp="1"/>
          </p:cNvSpPr>
          <p:nvPr/>
        </p:nvSpPr>
        <p:spPr>
          <a:xfrm>
            <a:off x="713232" y="29809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Read the three layers together before shortlisting areas.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Do not merge the layers into one score.</a:t>
            </a:r>
            <a:endParaRPr sz="8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noGrp="1"/>
          </p:cNvSpPr>
          <p:nvPr/>
        </p:nvSpPr>
        <p:spPr>
          <a:xfrm>
            <a:off x="713232" y="378561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They answer different questions and provide complementary context.</a:t>
            </a:r>
            <a:endParaRPr sz="85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noGrp="1"/>
          </p:cNvSpPr>
          <p:nvPr/>
        </p:nvSpPr>
        <p:spPr>
          <a:xfrm>
            <a:off x="713232" y="418795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Shortlist only after comparing them.</a:t>
            </a:r>
            <a:endParaRPr sz="85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RECOMMENDATION 3 — VERIFY LOCALLY</a:t>
            </a:r>
            <a:endParaRPr sz="10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noGrp="1"/>
          </p:cNvSpPr>
          <p:nvPr/>
        </p:nvSpPr>
        <p:spPr>
          <a:xfrm>
            <a:off x="4873752" y="17556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Local evidence</a:t>
            </a:r>
            <a:endParaRPr sz="8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noGrp="1"/>
          </p:cNvSpPr>
          <p:nvPr/>
        </p:nvSpPr>
        <p:spPr>
          <a:xfrm>
            <a:off x="5111496" y="2048256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Review planning, access, insurance, terrain and site conditions.</a:t>
            </a:r>
            <a:endParaRPr sz="80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noGrp="1"/>
          </p:cNvSpPr>
          <p:nvPr/>
        </p:nvSpPr>
        <p:spPr>
          <a:xfrm>
            <a:off x="5111496" y="2395728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Use property-specific evidence before deciding.</a:t>
            </a:r>
            <a:endParaRPr sz="8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noGrp="1"/>
          </p:cNvSpPr>
          <p:nvPr/>
        </p:nvSpPr>
        <p:spPr>
          <a:xfrm>
            <a:off x="5111496" y="2743200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The model directs research effort; it does not replace local investigation.</a:t>
            </a:r>
            <a:endParaRPr sz="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noGrp="1"/>
          </p:cNvSpPr>
          <p:nvPr/>
        </p:nvSpPr>
        <p:spPr>
          <a:xfrm>
            <a:off x="4873752" y="31272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endParaRPr sz="80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noGrp="1"/>
          </p:cNvSpPr>
          <p:nvPr/>
        </p:nvSpPr>
        <p:spPr>
          <a:xfrm>
            <a:off x="4873752" y="34015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KEY MESSAGE</a:t>
            </a: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noGrp="1"/>
          </p:cNvSpPr>
          <p:nvPr/>
        </p:nvSpPr>
        <p:spPr>
          <a:xfrm>
            <a:off x="4873752" y="36301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Compare layers.</a:t>
            </a:r>
            <a:endParaRPr sz="7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noGrp="1"/>
          </p:cNvSpPr>
          <p:nvPr/>
        </p:nvSpPr>
        <p:spPr>
          <a:xfrm>
            <a:off x="4873752" y="38587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Shortlist areas.</a:t>
            </a:r>
            <a:endParaRPr sz="75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noGrp="1"/>
          </p:cNvSpPr>
          <p:nvPr/>
        </p:nvSpPr>
        <p:spPr>
          <a:xfrm>
            <a:off x="4873752" y="40873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Verify locally.</a:t>
            </a:r>
            <a:endParaRPr sz="75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noGrp="1"/>
          </p:cNvSpPr>
          <p:nvPr/>
        </p:nvSpPr>
        <p:spPr>
          <a:xfrm>
            <a:off x="4873752" y="43159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Use evidence before deciding.</a:t>
            </a:r>
            <a:endParaRPr sz="75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noGrp="1"/>
          </p:cNvSpPr>
          <p:nvPr/>
        </p:nvSpPr>
        <p:spPr>
          <a:xfrm>
            <a:off x="274320" y="4663440"/>
            <a:ext cx="8595360" cy="2926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noGrp="1"/>
          </p:cNvSpPr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Use the model to direct research effort, not to replace local investigation.</a:t>
            </a:r>
            <a:endParaRPr sz="85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  <p:sp>
        <p:nvSpPr>
          <p:cNvPr id="55" name="hide-delivery-tips">
            <a:extLst>
              <a:ext uri="{FF2B5EF4-FFF2-40B4-BE49-F238E27FC236}">
                <a16:creationId xmlns:a16="http://schemas.microsoft.com/office/drawing/2014/main" id="{EB287470-0350-4395-9139-4FFB77AD54F0}"/>
              </a:ext>
            </a:extLst>
          </p:cNvPr>
          <p:cNvSpPr>
            <a:spLocks noGrp="1"/>
          </p:cNvSpPr>
          <p:nvPr/>
        </p:nvSpPr>
        <p:spPr>
          <a:xfrm>
            <a:off x="4733925" y="3133725"/>
            <a:ext cx="1333500" cy="2095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1781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A86A1C8-DB06-4DCE-9DAF-693B7C7794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197F66D-6C57-4707-8514-4D78C9DEF8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99481-8AFC-45E5-8E41-5D92798EEDD0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EB6717-FD6D-4B81-81A9-77D30FCEDB7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CONCLUSION AND NEXT STEP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101844-9940-49BE-8B17-716FB787513D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9 / 9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121B0D7-68D2-4F3B-B4D9-855405D8279A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The project narrows the search area and keeps evidence traceable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015B360-BBBA-4DE0-9795-57F031507AC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C07B9EA-88EE-49EE-B7D4-7BDB797C5482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9484D15-B5B7-461A-BAA9-47327A4B212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DELIVERED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C6A5B0-CECC-4ACC-9832-24A59DDB136C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Reproducible national workflow</a:t>
            </a:r>
            <a:endParaRPr sz="8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2DC359E-9E6E-4E9F-BF48-BEF9690E6A70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One 1 km grid, validated sources, a nine-feature model and QGIS layers.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CD4E307-F1DC-41BD-A2A0-EF4229C67E73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C8DE72-7721-45D6-B469-D1F7820E4A35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HISTORICAL + GIS CONTEXT</a:t>
            </a:r>
            <a:endParaRPr sz="8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0536C49-BFED-466A-8A4F-1AF9F8838334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Observed 2016–2025 recurrence + official ICNF structural-hazard reference.</a:t>
            </a:r>
            <a:endParaRPr sz="7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61C0752-DC49-4F35-AFC7-AB88C79FAF0D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Together they provide context for broad-area comparison.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724BAC-EE83-433E-87E5-BC0E996BDFFC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-&gt;</a:t>
            </a:r>
            <a:endParaRPr sz="20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8BDC9BD-5FAD-4BBE-B51A-B021702F2F4D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FE4F804-F3B6-4684-BFCD-653595482E22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823FAC1-C9B5-4631-81A0-0779D0A744E5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MODEL RESULT</a:t>
            </a:r>
            <a:endParaRPr sz="11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DF192D1-D9B3-4618-B786-9A11E17D0DE9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Modest improvement over the baseline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B99BF9-D34E-45F7-A42A-E1EE7420E18A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 nine-feature model improves selected diagnostics; extreme fire outcomes remain difficult.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F886BEF-D149-4B22-AB28-BF3F16160D69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0A0214D-E33A-4BF0-8D70-726CFE0375AB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PRACTICAL USE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DB0DD6E-990A-42DB-9875-F090FBA9738B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Narrow broad search areas</a:t>
            </a:r>
            <a:endParaRPr sz="7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7AC1FC5-9639-4DA9-B51C-80DD5E469942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Use the maps to organise local research before detailed investigation.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4357DB5-05F8-4CF5-8D21-E89F0DFA12F8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-&gt;</a:t>
            </a:r>
            <a:endParaRPr sz="20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1EB402B-5D07-41FD-A88B-C668B3092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514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B31566B-19C9-48AC-A726-E822C5985068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523744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6FE3D7-10A4-4179-9328-3F34C913B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NEXT PROJECT STEP</a:t>
            </a:r>
            <a:endParaRPr sz="11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88C263C-A0CB-4982-A338-F3A1BB2F9F95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Refresh and evaluate</a:t>
            </a:r>
            <a:endParaRPr sz="8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591A679-B15E-406C-86A0-00F6CAE7220A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340864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When new completed-year data and the 2026 outcome are available, rerun the fixed workflow and evaluate the 2026 estimate.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21F582AF-C78B-4E58-9B57-6833B74F7712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340864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31D7657-5536-4C80-9B52-926E19C32495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PRACTICAL RESULT</a:t>
            </a:r>
            <a:endParaRPr sz="8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55C2D91-F1C0-4C81-A522-273CE805D265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A focused location search</a:t>
            </a:r>
            <a:endParaRPr sz="7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348B69A9-A889-4CDD-892E-2DD982669C0A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Local planning, access, insurance, terrain and property evidence complete the decision.</a:t>
            </a:r>
            <a:endParaRPr sz="75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CF7DD12-EEE0-44CF-90BD-A5A6555384C9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37652F4-0A68-4E8D-8FB1-0D1F3BBDF796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The model makes the first stage of location research more focused.</a:t>
            </a:r>
            <a:endParaRPr sz="85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49A759C5-57AB-43DF-B3F0-A2B8CCABD533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0C3C7AC-0669-4B0F-BD8F-AB88AC487A35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3700</Words>
  <Application>Microsoft Office PowerPoint</Application>
  <DocSecurity>0</DocSecurity>
  <PresentationFormat>On-screen Show (16:9)</PresentationFormat>
  <Paragraphs>394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lastModifiedBy>Sergey Dyadechko</cp:lastModifiedBy>
  <cp:revision>27</cp:revision>
  <dcterms:created xsi:type="dcterms:W3CDTF">2026-08-15T11:30:04Z</dcterms:created>
  <dcterms:modified xsi:type="dcterms:W3CDTF">2026-08-16T11:41:28Z</dcterms:modified>
</cp:coreProperties>
</file>