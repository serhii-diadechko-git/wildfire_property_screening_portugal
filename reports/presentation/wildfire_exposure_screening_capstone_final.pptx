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021" autoAdjust="0"/>
  </p:normalViewPr>
  <p:slideViewPr>
    <p:cSldViewPr snapToGrid="0" snapToObjects="1">
      <p:cViewPr varScale="1">
        <p:scale>
          <a:sx n="89" d="100"/>
          <a:sy n="89" d="100"/>
        </p:scale>
        <p:origin x="1443" y="5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Main message: This capstone uses reproducible wildfire-exposure evidence to help narrow broad location-search areas in mainland Portugal.</a:t>
            </a:r>
          </a:p>
          <a:p>
            <a:endParaRPr dirty="0"/>
          </a:p>
          <a:p>
            <a:r>
              <a:rPr b="1" dirty="0"/>
              <a:t>What to say:</a:t>
            </a:r>
          </a:p>
          <a:p>
            <a:r>
              <a:rPr b="0" dirty="0"/>
              <a:t>“The project does not identify a safe property or tell someone to buy or not buy. It combines observed wildfire history, landscape, terrain, climate, machine learning and GIS to compare broad areas consistently. The practical output is a shortlist for deeper local research before a property decision.”</a:t>
            </a:r>
          </a:p>
          <a:p>
            <a:endParaRPr dirty="0"/>
          </a:p>
          <a:p>
            <a:r>
              <a:rPr dirty="0"/>
              <a:t>Transition: “Next, I will show what one consistent national record represents and how the source data are used.”</a:t>
            </a:r>
          </a:p>
          <a:p>
            <a:endParaRPr dirty="0"/>
          </a:p>
          <a:p>
            <a:r>
              <a:rPr dirty="0"/>
              <a:t>[Sources]</a:t>
            </a:r>
          </a:p>
          <a:p>
            <a:r>
              <a:rPr b="0" dirty="0"/>
              <a:t>README.md; docs/project_brief.md; docs/data_dictionary.md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dirty="0"/>
              <a:t> Every record has the same geographical meaning: one 1 km mainland cell in one predictor year.</a:t>
            </a:r>
            <a:br>
              <a:rPr dirty="0"/>
            </a:br>
            <a:endParaRPr dirty="0"/>
          </a:p>
          <a:p>
            <a:r>
              <a:rPr b="1" dirty="0"/>
              <a:t>What to say:</a:t>
            </a:r>
            <a:endParaRPr dirty="0"/>
          </a:p>
          <a:p>
            <a:r>
              <a:rPr dirty="0"/>
              <a:t>“Each row in the analytical dataset represents one 1 km by 1 km mainland Portugal cell in a predictor year, T. This makes it possible to compare the same geographical unit over time.</a:t>
            </a:r>
          </a:p>
          <a:p>
            <a:r>
              <a:rPr dirty="0"/>
              <a:t>ICNF annual burned-area data provides two roles: historical fire recurrence and the observed next-year outcome. The outcome is continuous burned share: the proportion of the cell’s land area that burned in the following year.</a:t>
            </a:r>
          </a:p>
          <a:p>
            <a:r>
              <a:rPr dirty="0"/>
              <a:t>CLC land cover and Copernicus DEM provide landscape and terrain context. ERA5-Land provides warm-season temperature, precipitation, and shallow soil-water conditions from the predictor year only.</a:t>
            </a:r>
          </a:p>
          <a:p>
            <a:r>
              <a:rPr dirty="0"/>
              <a:t>The 2 km area is not a second grid. It is an outward context buffer around each 1 km cell, used to measure nearby forest/shrub, slope, and historical fire recurrence.”</a:t>
            </a:r>
            <a:br>
              <a:rPr dirty="0"/>
            </a:br>
            <a:endParaRPr dirty="0"/>
          </a:p>
          <a:p>
            <a:r>
              <a:rPr b="1" dirty="0"/>
              <a:t>Transition:</a:t>
            </a:r>
            <a:r>
              <a:rPr dirty="0"/>
              <a:t> “With that common structure, the first result is that wildfire history is not evenly distributed across the country.”</a:t>
            </a:r>
            <a:br>
              <a:rPr dirty="0"/>
            </a:br>
            <a:endParaRPr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Main message:</a:t>
            </a:r>
            <a:r>
              <a:t> Wildfire exposure patterns vary geographically, so a national location search can be narrowed using comparative evidence.</a:t>
            </a:r>
          </a:p>
          <a:p>
            <a:r>
              <a:t>These layers provide different types of evidence and should not be added together or interpreted as one score. The comparison helps identify broad areas for further investigation; it does not certify a location.</a:t>
            </a:r>
            <a:br/>
            <a:br/>
            <a:r>
              <a:rPr b="1"/>
              <a:t>What to say:</a:t>
            </a:r>
            <a:endParaRPr/>
          </a:p>
          <a:p>
            <a:r>
              <a:t>“This slide shows three different views of the same national geography.</a:t>
            </a:r>
          </a:p>
          <a:p>
            <a:r>
              <a:t>The first map shows observed historical recurrence: how many distinct years had burned-area evidence between 2016 and 2025 within the 2 km context around each 1 km cell.</a:t>
            </a:r>
          </a:p>
          <a:p>
            <a:r>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t>The third map is the project’s 2026 comparative estimate. It uses information available through 2025 to rank 1 km cells by estimated next-year burned share.</a:t>
            </a:r>
          </a:p>
          <a:p>
            <a:r>
              <a:t>These maps should not be added together into one score. They provide different evidence for comparing broad areas and deciding where additional research is worthwhile.”</a:t>
            </a:r>
          </a:p>
          <a:p>
            <a:endParaRPr/>
          </a:p>
          <a:p>
            <a:r>
              <a:rPr b="1"/>
              <a:t>Transition:</a:t>
            </a:r>
            <a:r>
              <a:t> “Because historical recurrence and official structural hazard measure different things, the next question is why it is useful to compare them.”</a:t>
            </a:r>
          </a:p>
          <a:p>
            <a:endParaRPr/>
          </a:p>
          <a:p>
            <a:r>
              <a:t>[Sources]</a:t>
            </a:r>
            <a:br/>
            <a:r>
              <a:t>reports/figures/historical_wildfire_exposure_screening_mainland_portugal.png; reports/validation/historical_exposure_screening_and_icnf_comparison.md; qgis/README.md;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Main message:</a:t>
            </a:r>
            <a:r>
              <a:t> Observed recurrence and official structural hazard are complementary, not competing, evidence layers.</a:t>
            </a:r>
          </a:p>
          <a:p>
            <a:endParaRPr/>
          </a:p>
          <a:p>
            <a:r>
              <a:rPr b="1"/>
              <a:t>What to say:</a:t>
            </a:r>
            <a:endParaRPr/>
          </a:p>
          <a:p>
            <a:r>
              <a:t>“Historical recurrence answers: ‘What burned repeatedly in the observed 2016–2025 period?’ It is based on annual burned-area records.</a:t>
            </a:r>
          </a:p>
          <a:p>
            <a:r>
              <a:t>Official ICNF structural hazard answers a different question: ‘What persistent landscape conditions are associated with wildfire hazard?’ Its source is an official 25 m classification, summarized here to the predominant class for each 1 km cell.</a:t>
            </a:r>
          </a:p>
          <a:p>
            <a:r>
              <a:t>Where the layers agree, they provide consistent broad-area context. Where they differ, they identify areas where the historical record and structural landscape conditions tell a more nuanced story.</a:t>
            </a:r>
          </a:p>
          <a:p>
            <a:r>
              <a:t>This comparison is descriptive. It is not a model-accuracy test, and neither layer is a threshold for deciding whether a particular property is acceptable.”</a:t>
            </a:r>
          </a:p>
          <a:p>
            <a:endParaRPr/>
          </a:p>
          <a:p>
            <a:r>
              <a:rPr b="1"/>
              <a:t>Transition:</a:t>
            </a:r>
            <a:r>
              <a:t> “Historical context is useful, but I also tested whether a data-driven model could improve next-year comparative estimates.”</a:t>
            </a:r>
          </a:p>
          <a:p>
            <a:endParaRPr/>
          </a:p>
          <a:p>
            <a:r>
              <a:t>[Sources]</a:t>
            </a:r>
            <a:br/>
            <a:r>
              <a:t>qgis/README.md;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Main message:</a:t>
            </a:r>
            <a:r>
              <a:t> The nine-feature two-stage regression improves average comparative error and burned-share ranking over historical recurrence alone, while extreme fire outcomes remain difficult.</a:t>
            </a:r>
          </a:p>
          <a:p>
            <a:endParaRPr b="1"/>
          </a:p>
          <a:p>
            <a:r>
              <a:rPr b="1"/>
              <a:t>What to say:</a:t>
            </a:r>
            <a:br/>
            <a:r>
              <a:t>“This slide compares two approaches using the held-out final period: predictor years </a:t>
            </a:r>
            <a:r>
              <a:rPr b="1"/>
              <a:t>2022 - 2024</a:t>
            </a:r>
            <a:r>
              <a:t> and observed outcomes </a:t>
            </a:r>
            <a:r>
              <a:rPr b="1"/>
              <a:t>2023 - 2025</a:t>
            </a:r>
            <a:r>
              <a:t>.</a:t>
            </a:r>
          </a:p>
          <a:p>
            <a:r>
              <a:t>The historical-recurrence baseline is a transparent project benchmark. It groups training records by the number of previously burned years in the 2 km context and uses the training-period average next-year burned share for each group. It is an empirical project benchmark, not a library model.</a:t>
            </a:r>
          </a:p>
          <a:p>
            <a:r>
              <a:t>The nine-feature Model V2 uses two HistGradientBoosting components. The first estimates whether burning is likely in a cell. The second estimates how much of the cell’s land area may burn when burning occurs. These two parts are combined into one continuous estimated burned share.</a:t>
            </a:r>
          </a:p>
          <a:p>
            <a:r>
              <a:t>On the final test, Model V2 lowers MAE from </a:t>
            </a:r>
            <a:r>
              <a:rPr b="1"/>
              <a:t>0.0292 to 0.0209</a:t>
            </a:r>
            <a:r>
              <a:t>. RMSE is almost unchanged but slightly higher, from </a:t>
            </a:r>
            <a:r>
              <a:rPr b="1"/>
              <a:t>0.1106 to 0.1110</a:t>
            </a:r>
            <a:r>
              <a:t>, showing that larger and more extreme fire outcomes remain difficult.”</a:t>
            </a:r>
          </a:p>
          <a:p>
            <a:endParaRPr/>
          </a:p>
          <a:p>
            <a:r>
              <a:rPr b="1"/>
              <a:t>Capture@20% is a validation test of the ranking.</a:t>
            </a:r>
            <a:r>
              <a:t> For each predictor year, the model ranks cells using information from year </a:t>
            </a:r>
            <a:r>
              <a:rPr b="1"/>
              <a:t>T</a:t>
            </a:r>
            <a:r>
              <a:t> and estimates burned share for </a:t>
            </a:r>
            <a:r>
              <a:rPr b="1"/>
              <a:t>T+1</a:t>
            </a:r>
            <a:r>
              <a:t>. For example, for </a:t>
            </a:r>
            <a:r>
              <a:rPr b="1"/>
              <a:t>2024 -&gt; 2025</a:t>
            </a:r>
            <a:r>
              <a:t>, it ranks cells using 2024 predictor data and is later checked against observed ICNF burned areas from 2025.</a:t>
            </a:r>
          </a:p>
          <a:p>
            <a:r>
              <a:t>The final evaluation covers </a:t>
            </a:r>
            <a:r>
              <a:rPr b="1"/>
              <a:t>2022 -&gt; 2023, 2023 -&gt; 2024, and 2024 -&gt; 2025</a:t>
            </a:r>
            <a:r>
              <a:t>. We select the highest-scored 20% of cells and measure how much of the total observed burned-share mass occurred within those cells.</a:t>
            </a:r>
          </a:p>
          <a:p>
            <a:r>
              <a:t>Across the final test, the historical baseline captured </a:t>
            </a:r>
            <a:r>
              <a:rPr b="1"/>
              <a:t>40.2%</a:t>
            </a:r>
            <a:r>
              <a:t> of observed burned-share mass in its top-ranked 20% of cells. Model V2 captured </a:t>
            </a:r>
            <a:r>
              <a:rPr b="1"/>
              <a:t>57.2%</a:t>
            </a:r>
            <a:r>
              <a:t>.</a:t>
            </a:r>
          </a:p>
          <a:p>
            <a:r>
              <a:t>This does not mean that 20% of the land burned. It is a retrospective ranking diagnostic, not a buyer threshold or a property-level forecast. The same logic could later be applied to </a:t>
            </a:r>
            <a:r>
              <a:rPr b="1"/>
              <a:t>2035 -&gt; 2036</a:t>
            </a:r>
            <a:r>
              <a:t>, but only after the 2036 outcome data become available.”</a:t>
            </a:r>
          </a:p>
          <a:p>
            <a:endParaRPr/>
          </a:p>
          <a:p>
            <a:r>
              <a:rPr b="1"/>
              <a:t>Transition:</a:t>
            </a:r>
            <a:r>
              <a:t> “The practical question is whether the model provides a useful ranking for broad-area screening.”</a:t>
            </a:r>
          </a:p>
          <a:p>
            <a:endParaRPr b="1"/>
          </a:p>
          <a:p>
            <a:r>
              <a:rPr b="1"/>
              <a:t>[Sources]</a:t>
            </a:r>
            <a:br/>
            <a:r>
              <a:t>reports/validation/model_final_decision.md</a:t>
            </a:r>
            <a:br/>
            <a:r>
              <a:t>reports/validation/final_temporal_test_2022_2024.md</a:t>
            </a:r>
            <a:br/>
            <a:r>
              <a:t>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Main message:</a:t>
            </a:r>
            <a:r>
              <a:t> The output supports shortlisting broad areas, not choosing a property.</a:t>
            </a:r>
          </a:p>
          <a:p>
            <a:endParaRPr/>
          </a:p>
          <a:p>
            <a:r>
              <a:rPr b="1"/>
              <a:t>What to say:</a:t>
            </a:r>
            <a:endParaRPr/>
          </a:p>
          <a:p>
            <a:r>
              <a:t>“Imagine a buyer considering multiple regions across mainland Portugal.</a:t>
            </a:r>
          </a:p>
          <a:p>
            <a:r>
              <a:t>They begin with the 2026 comparative estimate to compare broad 1 km areas using 2025 predictor inputs. They then look alongside it at observed historical recurrence and the official ICNF structural-hazard layer.</a:t>
            </a:r>
          </a:p>
          <a:p>
            <a:r>
              <a:t>The result is not a chosen property. It is a smaller, more structured set of broad areas for further research, site visits, and local checks.”</a:t>
            </a:r>
          </a:p>
          <a:p>
            <a:endParaRPr/>
          </a:p>
          <a:p>
            <a:r>
              <a:rPr b="1"/>
              <a:t>Transition:</a:t>
            </a:r>
            <a:r>
              <a:t> “The next slide explains the two safeguards that keep this use case responsible.”</a:t>
            </a:r>
          </a:p>
          <a:p>
            <a:endParaRPr/>
          </a:p>
          <a:p>
            <a:r>
              <a:t>[Sources]</a:t>
            </a:r>
          </a:p>
          <a:p>
            <a:r>
              <a:t>qgis/wildfire_exposure_screening_portugal_2026.qgz; qgis/README.md;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Main message:</a:t>
            </a:r>
            <a:r>
              <a:t> Compare layers first; then replace broad evidence with local evidence.</a:t>
            </a:r>
          </a:p>
          <a:p>
            <a:endParaRPr/>
          </a:p>
          <a:p>
            <a:r>
              <a:rPr b="1"/>
              <a:t>What to say:</a:t>
            </a:r>
            <a:endParaRPr/>
          </a:p>
          <a:p>
            <a:r>
              <a:t>“The first recommendation is to compare the three layers separately: the 2026 comparative estimate, observed historical recurrence, and official ICNF structural hazard. They answer different questions, so they should not be merged into a single score.</a:t>
            </a:r>
          </a:p>
          <a:p>
            <a:r>
              <a:t>The second recommendation is local verification. Once an area is shortlisted, the decision should use planning restrictions, access and evacuation conditions, insurance, vegetation management, terrain, infrastructure, and property-specific information.</a:t>
            </a:r>
          </a:p>
          <a:p>
            <a:r>
              <a:t>The model helps direct research effort. It does not replace local investigation or certify a location.”</a:t>
            </a:r>
          </a:p>
          <a:p>
            <a:endParaRPr/>
          </a:p>
          <a:p>
            <a:r>
              <a:rPr b="1"/>
              <a:t>Transition:</a:t>
            </a:r>
            <a:r>
              <a:t> “Finally, the value of the project is not only one 2026 map -it is a repeatable annual workflow.”</a:t>
            </a:r>
          </a:p>
          <a:p>
            <a:endParaRPr/>
          </a:p>
          <a:p>
            <a:r>
              <a:t>[Sources]</a:t>
            </a:r>
          </a:p>
          <a:p>
            <a:r>
              <a:t>qgis/README.md;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Main message:</a:t>
            </a:r>
            <a:r>
              <a:t> The project is successful as a reproducible comparative screening workflow with explicit limitations and an annual refresh path.</a:t>
            </a:r>
          </a:p>
          <a:p>
            <a:endParaRPr/>
          </a:p>
          <a:p>
            <a:r>
              <a:rPr b="1"/>
              <a:t>What to say:</a:t>
            </a:r>
            <a:endParaRPr/>
          </a:p>
          <a:p>
            <a:r>
              <a:t>“This project delivered a reproducible national workflow: validated source data, a consistent 1 km grid, GIS outputs, historical evidence layers, and a tested nine-feature machine-learning model.</a:t>
            </a:r>
          </a:p>
          <a:p>
            <a:r>
              <a:t>The model provides a modest improvement over historical recurrence alone for selected comparative diagnostics. At the same time, the evaluation shows that extreme fire outcomes remain difficult, so the output must remain a cautious broad-area estimate.</a:t>
            </a:r>
          </a:p>
          <a:p>
            <a:r>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t>The project therefore provides a repeatable evidence process—not a final property decision.”</a:t>
            </a:r>
          </a:p>
          <a:p>
            <a:endParaRPr/>
          </a:p>
          <a:p>
            <a:r>
              <a:t>[Sources]</a:t>
            </a:r>
          </a:p>
          <a:p>
            <a:r>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 ML · GIS</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Location 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1</a:t>
            </a:r>
          </a:p>
          <a:p>
            <a:pPr marL="0" indent="0">
              <a:buNone/>
            </a:pPr>
            <a:r>
              <a:rPr sz="1000">
                <a:solidFill>
                  <a:schemeClr val="accent6"/>
                </a:solidFill>
              </a:rPr>
              <a:t>observed history and 2026 comparative estimate</a:t>
            </a: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44" name="Picture 8"/>
          <p:cNvPicPr>
            <a:picLocks noChangeAspect="1"/>
          </p:cNvPicPr>
          <p:nvPr/>
        </p:nvPicPr>
        <p:blipFill>
          <a:blip r:embed="rId3"/>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2</a:t>
            </a:r>
          </a:p>
          <a:p>
            <a:pPr marL="0" indent="0">
              <a:buNone/>
            </a:pPr>
            <a:r>
              <a:rPr sz="1000">
                <a:solidFill>
                  <a:schemeClr val="accent6"/>
                </a:solidFill>
              </a:rPr>
              <a:t>complementary context</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3 — MODEL</a:t>
            </a:r>
          </a:p>
          <a:p>
            <a:pPr marL="0" indent="0">
              <a:buNone/>
            </a:pPr>
            <a:r>
              <a:rPr sz="1000">
                <a:solidFill>
                  <a:schemeClr val="accent6"/>
                </a:solidFill>
              </a:rPr>
              <a:t>model comparison</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Historical recurrence baseline</a:t>
            </a:r>
          </a:p>
          <a:p>
            <a:r>
              <a:rPr sz="700" i="1">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a:solidFill>
                  <a:srgbClr val="1A2638"/>
                </a:solidFill>
              </a:rPr>
              <a:t>Nine-feature two-stage regression model:</a:t>
            </a:r>
          </a:p>
          <a:p>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a:r>
              <a:rPr sz="700" i="1">
                <a:solidFill>
                  <a:schemeClr val="tx1">
                    <a:lumMod val="50000"/>
                    <a:lumOff val="50000"/>
                  </a:schemeClr>
                </a:solidFill>
              </a:rPr>
              <a:t>the accepted model using fire history, land cover, terrain, and climate predictors</a:t>
            </a:r>
            <a:endParaRPr sz="800"/>
          </a:p>
          <a:p>
            <a:pPr marL="0" indent="0">
              <a:buNone/>
            </a:pPr>
            <a:endParaRPr sz="850" b="1"/>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MAE: 0.0292  -&gt;  0.0209</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RMSE: 0.1106  -&gt;  0.1110</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Capture@20%: 40.2%  -&gt;  57.2%</a:t>
            </a:r>
          </a:p>
          <a:p>
            <a:r>
              <a:rPr sz="700" i="1">
                <a:solidFill>
                  <a:schemeClr val="tx1">
                    <a:lumMod val="50000"/>
                    <a:lumOff val="50000"/>
                  </a:schemeClr>
                </a:solidFill>
              </a:rPr>
              <a:t>how much observed burned share occurred within the highest-ranked 20% of cells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sz="800"/>
              <a:t>Final test: predictor years T=2022–2024; outcomes T+1=2023–2025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51460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341179"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341179"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523744"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340864" cy="502920"/>
          </a:xfrm>
          <a:prstGeom prst="rect">
            <a:avLst/>
          </a:prstGeom>
          <a:noFill/>
        </p:spPr>
        <p:txBody>
          <a:bodyPr wrap="square" lIns="0" tIns="0" rIns="0" bIns="0" anchor="t"/>
          <a:lstStyle/>
          <a:p>
            <a:pPr marL="0" indent="0">
              <a:buNone/>
            </a:pPr>
            <a:r>
              <a:rPr sz="850" dirty="0">
                <a:solidFill>
                  <a:srgbClr val="1A2638"/>
                </a:solidFill>
              </a:rPr>
              <a:t>When new completed-year data and the 2026 outcome are available, rerun the fixed workflow and evaluate the 2026 estimate.</a:t>
            </a:r>
            <a:endParaRPr sz="850" dirty="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340864"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2947</Words>
  <Application>Microsoft Office PowerPoint</Application>
  <DocSecurity>0</DocSecurity>
  <PresentationFormat>On-screen Show (16:9)</PresentationFormat>
  <Paragraphs>287</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2</cp:revision>
  <dcterms:created xsi:type="dcterms:W3CDTF">2026-08-10T09:42:08Z</dcterms:created>
  <dcterms:modified xsi:type="dcterms:W3CDTF">2026-08-10T10:56:33Z</dcterms:modified>
</cp:coreProperties>
</file>