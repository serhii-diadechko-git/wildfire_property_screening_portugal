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6667" autoAdjust="0"/>
  </p:normalViewPr>
  <p:slideViewPr>
    <p:cSldViewPr snapToGrid="0" snapToObjects="1">
      <p:cViewPr varScale="1">
        <p:scale>
          <a:sx n="142" d="100"/>
          <a:sy n="142" d="100"/>
        </p:scale>
        <p:origin x="2340" y="80"/>
      </p:cViewPr>
      <p:guideLst/>
    </p:cSldViewPr>
  </p:slideViewPr>
  <p:notesTextViewPr>
    <p:cViewPr>
      <p:scale>
        <a:sx n="1" d="1"/>
        <a:sy n="1" d="1"/>
      </p:scale>
      <p:origin x="0" y="-664"/>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endParaRPr lang="en-US" b="1" dirty="0"/>
          </a:p>
          <a:p>
            <a:r>
              <a:rPr lang="en-US" dirty="0"/>
              <a:t>This capstone combines data science, machine learning, and GIS to help narrow broad location-search areas in mainland Portugal.</a:t>
            </a:r>
          </a:p>
          <a:p>
            <a:endParaRPr dirty="0"/>
          </a:p>
          <a:p>
            <a:r>
              <a:rPr b="1" dirty="0"/>
              <a:t>What to say:</a:t>
            </a:r>
          </a:p>
          <a:p>
            <a:r>
              <a:rPr lang="en-US" dirty="0"/>
              <a:t>This project investigates whether wildfire history, landscape, terrain, and climate can help compare broad areas across mainland Portugal.</a:t>
            </a:r>
          </a:p>
          <a:p>
            <a:r>
              <a:rPr lang="en-US" dirty="0"/>
              <a:t>It uses a reproducible data-science and machine-learning workflow built around consistent 1 km grid cells. GIS turns the analytical results into maps that are easier to explore and compare.</a:t>
            </a:r>
          </a:p>
          <a:p>
            <a:r>
              <a:rPr lang="en-US" dirty="0"/>
              <a:t>The current output is a comparative estimate for 2026, supported by separate historical and official hazard evidence. Its purpose is to reduce a national search to a smaller set of broad areas for further investigation.</a:t>
            </a:r>
          </a:p>
          <a:p>
            <a:r>
              <a:rPr lang="en-US" dirty="0"/>
              <a:t>It does not identify a guaranteed safe property or make a purchase decision. Local and property-specific evidence is still required.</a:t>
            </a:r>
          </a:p>
          <a:p>
            <a:endParaRPr dirty="0"/>
          </a:p>
          <a:p>
            <a:r>
              <a:rPr b="1" dirty="0"/>
              <a:t>Transition:</a:t>
            </a:r>
            <a:endParaRPr lang="en-US" b="1" dirty="0"/>
          </a:p>
          <a:p>
            <a:r>
              <a:rPr lang="en-US" dirty="0"/>
              <a:t>Next, I will explain what one analytical record represents and how each data source contributes to the project.</a:t>
            </a:r>
          </a:p>
          <a:p>
            <a:endParaRPr dirty="0"/>
          </a:p>
          <a:p>
            <a:r>
              <a:rPr dirty="0"/>
              <a:t>[Sources]</a:t>
            </a:r>
          </a:p>
          <a:p>
            <a:r>
              <a:rPr b="0" dirty="0"/>
              <a:t>README.md; docs/project_brief.md; docs/data_dictionary.md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endParaRPr lang="en-US" b="1" dirty="0"/>
          </a:p>
          <a:p>
            <a:r>
              <a:rPr lang="en-US" dirty="0"/>
              <a:t>Every analytical record represents the same unit: one mainland Portugal 1 km cell in one predictor year.</a:t>
            </a:r>
            <a:endParaRPr b="0" dirty="0"/>
          </a:p>
          <a:p>
            <a:endParaRPr dirty="0"/>
          </a:p>
          <a:p>
            <a:r>
              <a:rPr b="1" dirty="0"/>
              <a:t>What to say:</a:t>
            </a:r>
            <a:endParaRPr lang="en-US" b="1" dirty="0"/>
          </a:p>
          <a:p>
            <a:r>
              <a:rPr lang="en-US" dirty="0"/>
              <a:t>The project divides mainland Portugal into 89,112 consistent 1 km cells. Each analytical row represents one of these cells in one predictor year. This allows the same locations to be compared over time.</a:t>
            </a:r>
          </a:p>
          <a:p>
            <a:r>
              <a:rPr lang="en-US" dirty="0"/>
              <a:t>The data are </a:t>
            </a:r>
            <a:r>
              <a:rPr lang="en-US" dirty="0" err="1"/>
              <a:t>organised</a:t>
            </a:r>
            <a:r>
              <a:rPr lang="en-US" dirty="0"/>
              <a:t> into three roles.</a:t>
            </a:r>
          </a:p>
          <a:p>
            <a:endParaRPr lang="en-US" dirty="0"/>
          </a:p>
          <a:p>
            <a:r>
              <a:rPr lang="en-US" dirty="0"/>
              <a:t>First, ICNF burned-area records provide observed fire history and the following-year burned-share outcome. Burned share means the proportion of a cell’s land area that burned.</a:t>
            </a:r>
          </a:p>
          <a:p>
            <a:r>
              <a:rPr lang="en-US" dirty="0"/>
              <a:t>The project’s validated local ICNF archive set covers 2000–2025. Earlier records are needed to calculate the rolling previous-ten-year fire-history feature.</a:t>
            </a:r>
            <a:endParaRPr lang="ru-RU" dirty="0"/>
          </a:p>
          <a:p>
            <a:r>
              <a:rPr lang="en-US" dirty="0"/>
              <a:t>This is the complete source coverage, not one training period. Earlier years are needed to calculate the previous ten years of fire history.</a:t>
            </a:r>
          </a:p>
          <a:p>
            <a:endParaRPr lang="en-US" dirty="0"/>
          </a:p>
          <a:p>
            <a:r>
              <a:rPr lang="en-US" dirty="0"/>
              <a:t>Second, CLC land cover and the Copernicus DEM describe the surrounding landscape and terrain, including built-up land, forest and shrubland, and slope.</a:t>
            </a:r>
          </a:p>
          <a:p>
            <a:endParaRPr lang="en-US" dirty="0"/>
          </a:p>
          <a:p>
            <a:r>
              <a:rPr lang="en-US" dirty="0"/>
              <a:t>Third, ERA5-Land provides warm-season temperature, precipitation, and shallow soil-water conditions from the predictor year. These are coarse regional climate values, not downscaled 1 km weather.</a:t>
            </a:r>
          </a:p>
          <a:p>
            <a:r>
              <a:rPr lang="en-US" dirty="0"/>
              <a:t>Some features use a 2 km context around each cell. This is only a surrounding measurement area - the 1 km cell remains the analytical unit.</a:t>
            </a:r>
          </a:p>
          <a:p>
            <a:endParaRPr dirty="0"/>
          </a:p>
          <a:p>
            <a:r>
              <a:rPr b="1" dirty="0"/>
              <a:t>Transition:</a:t>
            </a:r>
            <a:endParaRPr lang="en-US" b="1" dirty="0"/>
          </a:p>
          <a:p>
            <a:r>
              <a:rPr lang="en-US" dirty="0"/>
              <a:t>Next, I will show how these records are used to train, select and evaluate the model before producing the 2026 estimate.</a:t>
            </a:r>
          </a:p>
          <a:p>
            <a:endParaRPr lang="en-US" dirty="0"/>
          </a:p>
          <a:p>
            <a:r>
              <a:rPr dirty="0"/>
              <a:t>[Sources]</a:t>
            </a:r>
          </a:p>
          <a:p>
            <a:r>
              <a:rPr dirty="0"/>
              <a:t>docs/data_dictionary.md; docs/source_plan.md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endParaRPr lang="en-US" b="1" dirty="0"/>
          </a:p>
          <a:p>
            <a:r>
              <a:rPr lang="en-US" dirty="0"/>
              <a:t>Validated historical records are used to fit, select, and check the model before the unchanged selected model is rebuilt for the 2026 estimate.</a:t>
            </a:r>
            <a:endParaRPr lang="en-US" b="1" dirty="0"/>
          </a:p>
          <a:p>
            <a:endParaRPr dirty="0"/>
          </a:p>
          <a:p>
            <a:r>
              <a:rPr b="1" dirty="0"/>
              <a:t>What to say:</a:t>
            </a:r>
          </a:p>
          <a:p>
            <a:r>
              <a:rPr lang="en-US" dirty="0"/>
              <a:t>This slide shows how historical data becomes the 2026 estimate.</a:t>
            </a:r>
          </a:p>
          <a:p>
            <a:endParaRPr lang="en-US" dirty="0"/>
          </a:p>
          <a:p>
            <a:r>
              <a:rPr lang="en-US" dirty="0"/>
              <a:t>First, the validated source data are converted into consistent cell-year records. Each record contains nine predictors from year T and the observed burned-share outcome from the following year.</a:t>
            </a:r>
          </a:p>
          <a:p>
            <a:r>
              <a:rPr lang="en-US" dirty="0"/>
              <a:t>Candidate models are fitted using predictor years 2010–2019.</a:t>
            </a:r>
          </a:p>
          <a:p>
            <a:endParaRPr lang="en-US" dirty="0"/>
          </a:p>
          <a:p>
            <a:r>
              <a:rPr lang="en-US" dirty="0"/>
              <a:t>The later 2020–2021 records are used to select the final model, while 2022–2024 are used once for the final temporal evaluation.</a:t>
            </a:r>
          </a:p>
          <a:p>
            <a:r>
              <a:rPr lang="en-US" dirty="0"/>
              <a:t>During this development process, validation and final-evaluation records remain outside model fitting.</a:t>
            </a:r>
          </a:p>
          <a:p>
            <a:endParaRPr lang="en-US" dirty="0"/>
          </a:p>
          <a:p>
            <a:r>
              <a:rPr lang="en-US" dirty="0"/>
              <a:t>After the final evaluation is complete, the same selected model is rebuilt using all available labelled records from 2010–2024. This does not select a different model; it gives the chosen model access to the newest completed evidence.</a:t>
            </a:r>
          </a:p>
          <a:p>
            <a:r>
              <a:rPr lang="en-US" dirty="0"/>
              <a:t>Finally, the rebuilt model uses 2025 predictors to estimate burned share for 2026. The observed 2026 burned areas are not yet available, so this estimate cannot yet be evaluated.</a:t>
            </a:r>
          </a:p>
          <a:p>
            <a:endParaRPr dirty="0"/>
          </a:p>
          <a:p>
            <a:r>
              <a:rPr b="1" dirty="0"/>
              <a:t>Transition:</a:t>
            </a:r>
            <a:endParaRPr lang="en-US" b="1" dirty="0"/>
          </a:p>
          <a:p>
            <a:r>
              <a:rPr lang="en-US" dirty="0"/>
              <a:t>The next slide compares the observed historical evidence, the official ICNF reference, and the separate model estimate for 2026.</a:t>
            </a:r>
          </a:p>
          <a:p>
            <a:endParaRPr dirty="0"/>
          </a:p>
          <a:p>
            <a:r>
              <a:rPr dirty="0"/>
              <a:t>[Sources]</a:t>
            </a:r>
          </a:p>
          <a:p>
            <a:r>
              <a:rPr dirty="0"/>
              <a:t>docs/data_dictionary.md; docs/model_learning_and_2026_estimate.md; docs/model_v2_validation_selection.md; docs/operational_forecast_cycle.md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endParaRPr lang="en-US" b="1" dirty="0"/>
          </a:p>
          <a:p>
            <a:r>
              <a:rPr lang="en-US" dirty="0"/>
              <a:t>The three maps show different evidence for the same 1 km cells: observed fire history, official structural hazard and the project’s 2026 estimate.</a:t>
            </a:r>
          </a:p>
          <a:p>
            <a:endParaRPr dirty="0"/>
          </a:p>
          <a:p>
            <a:r>
              <a:rPr b="1" dirty="0"/>
              <a:t>What to say:</a:t>
            </a:r>
          </a:p>
          <a:p>
            <a:r>
              <a:rPr lang="en-US" dirty="0"/>
              <a:t>The left map shows observed fire recurrence during 2016–2025.</a:t>
            </a:r>
          </a:p>
          <a:p>
            <a:r>
              <a:rPr lang="en-US" dirty="0"/>
              <a:t>Darker cells experienced burned-area evidence in more years within their 2 km context.</a:t>
            </a:r>
          </a:p>
          <a:p>
            <a:r>
              <a:rPr lang="en-US" dirty="0"/>
              <a:t>This is a fixed descriptive map, not the rolling fire-history feature used by the model.</a:t>
            </a:r>
          </a:p>
          <a:p>
            <a:endParaRPr lang="en-US" dirty="0"/>
          </a:p>
          <a:p>
            <a:r>
              <a:rPr lang="en-US" dirty="0"/>
              <a:t>The middle map shows the official ICNF structural-hazard classification, summarized from 25 m pixels to each 1 km cell.</a:t>
            </a:r>
          </a:p>
          <a:p>
            <a:endParaRPr lang="en-US" dirty="0"/>
          </a:p>
          <a:p>
            <a:r>
              <a:rPr lang="en-US" dirty="0"/>
              <a:t>The right map shows the project’s 2026 comparative estimate, calculated from 2025 predictors.</a:t>
            </a:r>
          </a:p>
          <a:p>
            <a:r>
              <a:rPr lang="en-US" dirty="0"/>
              <a:t>Its </a:t>
            </a:r>
            <a:r>
              <a:rPr lang="en-US" dirty="0" err="1"/>
              <a:t>colours</a:t>
            </a:r>
            <a:r>
              <a:rPr lang="en-US" dirty="0"/>
              <a:t> represent each cell’s national rank, not a probability of fire.</a:t>
            </a:r>
          </a:p>
          <a:p>
            <a:r>
              <a:rPr lang="en-US" dirty="0"/>
              <a:t>The maps answer different questions and should be compared separately rather than combined into one score.</a:t>
            </a:r>
          </a:p>
          <a:p>
            <a:endParaRPr b="1" dirty="0"/>
          </a:p>
          <a:p>
            <a:r>
              <a:rPr b="1" dirty="0"/>
              <a:t>Transition</a:t>
            </a:r>
            <a:r>
              <a:rPr dirty="0"/>
              <a:t>: </a:t>
            </a:r>
            <a:endParaRPr lang="en-US" dirty="0"/>
          </a:p>
          <a:p>
            <a:r>
              <a:rPr lang="en-US" dirty="0"/>
              <a:t>Next, I focus on why the observed history and official ICNF classification provide complementary context.</a:t>
            </a:r>
          </a:p>
          <a:p>
            <a:endParaRPr dirty="0"/>
          </a:p>
          <a:p>
            <a:r>
              <a:rPr dirty="0"/>
              <a:t>[Sources]</a:t>
            </a:r>
          </a:p>
          <a:p>
            <a:r>
              <a:rPr dirty="0"/>
              <a:t>reports/figures/historical_wildfire_exposure_screening_mainland_portugal.png; reports/validation/historical_exposure_screening_and_icnf_comparison.md; </a:t>
            </a:r>
            <a:r>
              <a:rPr dirty="0" err="1"/>
              <a:t>qgis</a:t>
            </a:r>
            <a:r>
              <a:rPr dirty="0"/>
              <a:t>/README.md; reports/validation/operational_forecast_2026_validation.md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endParaRPr lang="en-US" b="1" dirty="0"/>
          </a:p>
          <a:p>
            <a:r>
              <a:rPr lang="en-US" dirty="0"/>
              <a:t>Observed recurrence and official structural hazard can show similar or different patterns because they measure different aspects of wildfire exposure.</a:t>
            </a:r>
          </a:p>
          <a:p>
            <a:endParaRPr lang="en-US" dirty="0"/>
          </a:p>
          <a:p>
            <a:r>
              <a:rPr b="1" dirty="0"/>
              <a:t>What to say:</a:t>
            </a:r>
            <a:endParaRPr dirty="0"/>
          </a:p>
          <a:p>
            <a:r>
              <a:rPr lang="en-US" dirty="0"/>
              <a:t>Observed recurrence tells us where fires were recorded repeatedly during 2016–2025.</a:t>
            </a:r>
          </a:p>
          <a:p>
            <a:r>
              <a:rPr lang="en-US" dirty="0"/>
              <a:t>The official ICNF layer provides a longer-term structural-hazard classification under its own official methodology.</a:t>
            </a:r>
          </a:p>
          <a:p>
            <a:endParaRPr lang="en-US" dirty="0"/>
          </a:p>
          <a:p>
            <a:r>
              <a:rPr lang="en-US" dirty="0"/>
              <a:t>When both layers show higher values, the recent fire record and the official classification provide consistent broad-area evidence.</a:t>
            </a:r>
          </a:p>
          <a:p>
            <a:r>
              <a:rPr lang="en-US" dirty="0"/>
              <a:t>When they differ, the location deserves closer investigation because recent events and the official classification are telling different stories.</a:t>
            </a:r>
          </a:p>
          <a:p>
            <a:endParaRPr lang="en-US" dirty="0"/>
          </a:p>
          <a:p>
            <a:r>
              <a:rPr lang="en-US" dirty="0"/>
              <a:t>This comparison does not test model accuracy and does not prove that either layer is correct for an individual property.</a:t>
            </a:r>
          </a:p>
          <a:p>
            <a:r>
              <a:rPr lang="en-US" dirty="0"/>
              <a:t>Both are supporting evidence for broad-area screening.</a:t>
            </a:r>
          </a:p>
          <a:p>
            <a:endParaRPr lang="en-US" dirty="0"/>
          </a:p>
          <a:p>
            <a:r>
              <a:rPr lang="en-US" b="1" dirty="0"/>
              <a:t>Transition:</a:t>
            </a:r>
          </a:p>
          <a:p>
            <a:r>
              <a:rPr lang="en-US" dirty="0"/>
              <a:t>The next slide moves from descriptive GIS evidence to the evaluation of the machine-learning model against a separate recurrence-only benchmark.</a:t>
            </a:r>
          </a:p>
          <a:p>
            <a:endParaRPr dirty="0"/>
          </a:p>
          <a:p>
            <a:r>
              <a:rPr lang="en-US" dirty="0"/>
              <a:t>[Sources]</a:t>
            </a:r>
            <a:br>
              <a:rPr lang="en-US" dirty="0"/>
            </a:br>
            <a:r>
              <a:rPr lang="en-US" dirty="0" err="1"/>
              <a:t>qgis</a:t>
            </a:r>
            <a:r>
              <a:rPr lang="en-US" dirty="0"/>
              <a:t>/README.md; docs/data_dictionary.md; reports/figures/historical_exposure_by_icnf_structural_hazard_crosstab.png</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endParaRPr lang="en-US" b="1" dirty="0"/>
          </a:p>
          <a:p>
            <a:r>
              <a:rPr lang="en-US" dirty="0"/>
              <a:t>The nine-feature model is compared with a simple recurrence-only benchmark. It reduces average error and improves ranking, although large-fire outcomes remain difficult.</a:t>
            </a:r>
            <a:endParaRPr lang="en-US" b="1" dirty="0"/>
          </a:p>
          <a:p>
            <a:endParaRPr lang="en-US" b="1" dirty="0"/>
          </a:p>
          <a:p>
            <a:r>
              <a:rPr b="1" dirty="0"/>
              <a:t>What to say:</a:t>
            </a:r>
          </a:p>
          <a:p>
            <a:r>
              <a:rPr lang="en-US" dirty="0"/>
              <a:t>This slide compares the nine-feature model with a deliberately simple recurrence-only reference using the final temporal evaluation: predictor years 2022-2024 and their observed outcomes from 2023-2025.</a:t>
            </a:r>
          </a:p>
          <a:p>
            <a:endParaRPr lang="en-US" dirty="0"/>
          </a:p>
          <a:p>
            <a:r>
              <a:rPr lang="en-US" dirty="0"/>
              <a:t>The recurrence-only reference establishes the minimum performance that a more complex model should beat. It uses one predictor: the number of years with burned-area evidence during the previous ten years in the 2 km context.</a:t>
            </a:r>
          </a:p>
          <a:p>
            <a:r>
              <a:rPr lang="en-US" dirty="0"/>
              <a:t>The nine-feature model tests whether land cover, terrain and climate add useful information beyond this fire history.</a:t>
            </a:r>
          </a:p>
          <a:p>
            <a:endParaRPr lang="en-US" dirty="0"/>
          </a:p>
          <a:p>
            <a:r>
              <a:rPr lang="en-US" dirty="0"/>
              <a:t>Because most cell-year outcomes are zero, the nine-feature model uses two gradient-boosting components. One estimates whether the following-year burned share is non-zero.</a:t>
            </a:r>
          </a:p>
          <a:p>
            <a:r>
              <a:rPr lang="en-US" dirty="0"/>
              <a:t>The other estimates its size for positive outcomes. Their results are combined into one continuous burned-share estimate.</a:t>
            </a:r>
          </a:p>
          <a:p>
            <a:endParaRPr lang="en-US" dirty="0"/>
          </a:p>
          <a:p>
            <a:r>
              <a:rPr lang="en-US" dirty="0"/>
              <a:t>MAE decreased from 0.0292 to 0.0209, approximately a 28% reduction in average absolute error.</a:t>
            </a:r>
          </a:p>
          <a:p>
            <a:r>
              <a:rPr lang="en-US" dirty="0"/>
              <a:t>RMSE was almost unchanged and slightly higher, moving from 0.1106 to 0.1110. </a:t>
            </a:r>
          </a:p>
          <a:p>
            <a:endParaRPr lang="en-US" dirty="0"/>
          </a:p>
          <a:p>
            <a:r>
              <a:rPr lang="en-US" dirty="0"/>
              <a:t>If we inspect only the 20% of cell-year records that the model ranked highest, how much of the observed burning do we find there?</a:t>
            </a:r>
          </a:p>
          <a:p>
            <a:endParaRPr lang="en-US" dirty="0"/>
          </a:p>
          <a:p>
            <a:r>
              <a:rPr lang="en-US" dirty="0"/>
              <a:t>Capture@20% checks whether the model puts important cells near the top of its ranking.</a:t>
            </a:r>
          </a:p>
          <a:p>
            <a:r>
              <a:rPr lang="en-US" dirty="0"/>
              <a:t>We take the 20% of cells with the highest estimated exposure and check how much observed burning occurred there.</a:t>
            </a:r>
          </a:p>
          <a:p>
            <a:pPr>
              <a:buFont typeface="Arial" panose="020B0604020202020204" pitchFamily="34" charset="0"/>
              <a:buChar char="•"/>
            </a:pPr>
            <a:r>
              <a:rPr lang="en-US" dirty="0"/>
              <a:t>Recurrence baseline: 40.2%</a:t>
            </a:r>
          </a:p>
          <a:p>
            <a:pPr>
              <a:buFont typeface="Arial" panose="020B0604020202020204" pitchFamily="34" charset="0"/>
              <a:buChar char="•"/>
            </a:pPr>
            <a:r>
              <a:rPr lang="en-US" dirty="0"/>
              <a:t>Nine-feature model: 57.2%</a:t>
            </a:r>
          </a:p>
          <a:p>
            <a:r>
              <a:rPr lang="en-US" dirty="0"/>
              <a:t>The nine-feature model therefore produced a better ranking</a:t>
            </a:r>
            <a:r>
              <a:rPr lang="ru-RU" dirty="0"/>
              <a:t> - </a:t>
            </a:r>
            <a:r>
              <a:rPr lang="en-US" dirty="0"/>
              <a:t>it is a technical evaluation measure</a:t>
            </a:r>
            <a:r>
              <a:rPr lang="ru-RU" dirty="0"/>
              <a:t>ю</a:t>
            </a:r>
            <a:r>
              <a:rPr lang="en-US" dirty="0"/>
              <a:t> However, this is not a fire probability or a buyer threshold.</a:t>
            </a:r>
          </a:p>
          <a:p>
            <a:endParaRPr lang="en-US" dirty="0"/>
          </a:p>
          <a:p>
            <a:r>
              <a:rPr lang="en-US" b="1" dirty="0"/>
              <a:t>Transition:</a:t>
            </a:r>
            <a:br>
              <a:rPr lang="en-US" dirty="0"/>
            </a:br>
            <a:r>
              <a:rPr lang="en-US" dirty="0"/>
              <a:t>The next slide shows how the 2026 comparative estimate can be used to narrow broad areas for further research.</a:t>
            </a:r>
          </a:p>
          <a:p>
            <a:endParaRPr dirty="0"/>
          </a:p>
          <a:p>
            <a:r>
              <a:rPr dirty="0"/>
              <a:t>[Sources]</a:t>
            </a:r>
            <a:endParaRPr b="1" dirty="0"/>
          </a:p>
          <a:p>
            <a:r>
              <a:rPr b="1" dirty="0"/>
              <a:t>reports/validation/model_final_decision.md; reports/validation/final_temporal_test_2022_2024.md; reports/figures/model_final_test_metric_comparison.png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r>
              <a:rPr lang="en-US" b="1" dirty="0"/>
              <a:t>:</a:t>
            </a:r>
            <a:br>
              <a:rPr lang="en-US" b="1" dirty="0"/>
            </a:br>
            <a:r>
              <a:rPr lang="en-US" dirty="0"/>
              <a:t>The project helps reduce a national search to a smaller set of broad areas for detailed local investigation. It does not select a property.</a:t>
            </a:r>
            <a:endParaRPr dirty="0"/>
          </a:p>
          <a:p>
            <a:endParaRPr dirty="0"/>
          </a:p>
          <a:p>
            <a:r>
              <a:rPr b="1" dirty="0"/>
              <a:t>What to say:</a:t>
            </a:r>
            <a:endParaRPr dirty="0"/>
          </a:p>
          <a:p>
            <a:r>
              <a:rPr lang="en-US" dirty="0"/>
              <a:t>Imagine a buyer beginning with many possible locations across mainland Portugal.</a:t>
            </a:r>
          </a:p>
          <a:p>
            <a:r>
              <a:rPr lang="en-US" dirty="0"/>
              <a:t>First, they use the 2026 comparative estimate to compare broad 1 km areas. This estimate uses 2025 predictor data, and the observed 2026 outcome is not yet available.</a:t>
            </a:r>
          </a:p>
          <a:p>
            <a:r>
              <a:rPr lang="en-US" dirty="0"/>
              <a:t>Before shortlisting areas, they compare the estimate with the separate historical-recurrence and official ICNF structural-hazard layers. The three maps provide different evidence and are not combined into one score.</a:t>
            </a:r>
          </a:p>
          <a:p>
            <a:endParaRPr lang="en-US" dirty="0"/>
          </a:p>
          <a:p>
            <a:r>
              <a:rPr lang="en-US" dirty="0"/>
              <a:t>The result is a smaller and more </a:t>
            </a:r>
            <a:r>
              <a:rPr lang="en-US" dirty="0" err="1"/>
              <a:t>organised</a:t>
            </a:r>
            <a:r>
              <a:rPr lang="en-US" dirty="0"/>
              <a:t> search area—not a property decision.</a:t>
            </a:r>
          </a:p>
          <a:p>
            <a:r>
              <a:rPr lang="en-US" dirty="0"/>
              <a:t>The buyer must then visit shortlisted areas and check local planning, access, insurance, terrain, vegetation management, and property-specific evidence.</a:t>
            </a:r>
          </a:p>
          <a:p>
            <a:endParaRPr dirty="0"/>
          </a:p>
          <a:p>
            <a:r>
              <a:rPr b="1" dirty="0"/>
              <a:t>Transition:</a:t>
            </a:r>
            <a:br>
              <a:rPr lang="en-US" b="1" dirty="0"/>
            </a:br>
            <a:r>
              <a:rPr lang="en-US" dirty="0"/>
              <a:t>The next slide explains the two safeguards: compare the evidence layers separately and always verify shortlisted areas locally.</a:t>
            </a:r>
            <a:br>
              <a:rPr lang="en-US" dirty="0"/>
            </a:br>
            <a:endParaRPr dirty="0"/>
          </a:p>
          <a:p>
            <a:r>
              <a:rPr dirty="0"/>
              <a:t>[Sources]</a:t>
            </a:r>
          </a:p>
          <a:p>
            <a:r>
              <a:rPr dirty="0" err="1"/>
              <a:t>qgis</a:t>
            </a:r>
            <a:r>
              <a:rPr dirty="0"/>
              <a:t>/wildfire_exposure_screening_portugal_2026.qgz; </a:t>
            </a:r>
            <a:r>
              <a:rPr dirty="0" err="1"/>
              <a:t>qgis</a:t>
            </a:r>
            <a:r>
              <a:rPr dirty="0"/>
              <a:t>/README.md; reports/validation/operational_forecast_2026_validation.md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r>
              <a:rPr lang="en-US" b="1" dirty="0"/>
              <a:t>:</a:t>
            </a:r>
          </a:p>
          <a:p>
            <a:r>
              <a:rPr lang="en-US" dirty="0"/>
              <a:t>Compare the three evidence layers before shortlisting broad areas. Then use local and property-specific evidence before making any decision.</a:t>
            </a:r>
            <a:endParaRPr dirty="0"/>
          </a:p>
          <a:p>
            <a:endParaRPr dirty="0"/>
          </a:p>
          <a:p>
            <a:r>
              <a:rPr b="1" dirty="0"/>
              <a:t>What to say:</a:t>
            </a:r>
            <a:endParaRPr dirty="0"/>
          </a:p>
          <a:p>
            <a:r>
              <a:rPr lang="en-US" dirty="0"/>
              <a:t>This slide presents two recommendations.</a:t>
            </a:r>
          </a:p>
          <a:p>
            <a:endParaRPr lang="en-US" dirty="0"/>
          </a:p>
          <a:p>
            <a:r>
              <a:rPr lang="en-US" dirty="0"/>
              <a:t>The first is to compare the three layers before shortlisting areas.</a:t>
            </a:r>
          </a:p>
          <a:p>
            <a:r>
              <a:rPr lang="en-US" dirty="0"/>
              <a:t>The 2026 estimate shows the model’s comparative next-year result. Historical recurrence shows where burning was observed repeatedly during 2016–2025. Official ICNF structural hazard describes underlying landscape conditions.</a:t>
            </a:r>
          </a:p>
          <a:p>
            <a:endParaRPr lang="en-US" dirty="0"/>
          </a:p>
          <a:p>
            <a:r>
              <a:rPr lang="en-US" dirty="0"/>
              <a:t>Because these layers answer different questions, they should not be merged into one score. Agreement and disagreement between them provide useful context for deciding which broad areas need closer investigation.</a:t>
            </a:r>
          </a:p>
          <a:p>
            <a:endParaRPr lang="en-US" dirty="0"/>
          </a:p>
          <a:p>
            <a:r>
              <a:rPr lang="en-US" dirty="0"/>
              <a:t>The second recommendation is to verify locally.</a:t>
            </a:r>
          </a:p>
          <a:p>
            <a:r>
              <a:rPr lang="en-US" dirty="0"/>
              <a:t>The project works with 1 km cells and cannot describe the conditions of an individual property.</a:t>
            </a:r>
          </a:p>
          <a:p>
            <a:r>
              <a:rPr lang="en-US" dirty="0"/>
              <a:t>After shortlisting an area, the buyer should investigate planning restrictions, road access, evacuation conditions, insurance, terrain, vegetation management, infrastructure, and property-specific evidence.</a:t>
            </a:r>
          </a:p>
          <a:p>
            <a:r>
              <a:rPr lang="en-US" dirty="0"/>
              <a:t>The model helps </a:t>
            </a:r>
            <a:r>
              <a:rPr lang="en-US" dirty="0" err="1"/>
              <a:t>organise</a:t>
            </a:r>
            <a:r>
              <a:rPr lang="en-US" dirty="0"/>
              <a:t> the research process. It does not replace local investigation or certify a location.</a:t>
            </a:r>
          </a:p>
          <a:p>
            <a:endParaRPr dirty="0"/>
          </a:p>
          <a:p>
            <a:r>
              <a:rPr b="1" dirty="0"/>
              <a:t>Transition:</a:t>
            </a:r>
            <a:endParaRPr lang="en-US" b="1" dirty="0"/>
          </a:p>
          <a:p>
            <a:r>
              <a:rPr lang="en-US" dirty="0"/>
              <a:t>The final slide explains why the project’s value is not limited to one 2026 estimate: the same controlled workflow can be updated when new annual data become available.</a:t>
            </a:r>
          </a:p>
          <a:p>
            <a:endParaRPr dirty="0"/>
          </a:p>
          <a:p>
            <a:r>
              <a:rPr dirty="0"/>
              <a:t>[Sources]</a:t>
            </a:r>
          </a:p>
          <a:p>
            <a:r>
              <a:rPr dirty="0" err="1"/>
              <a:t>qgis</a:t>
            </a:r>
            <a:r>
              <a:rPr dirty="0"/>
              <a:t>/README.md; docs/data_dictionary.md; reports/validation/historical_exposure_screening_and_icnf_comparison.md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dirty="0"/>
              <a:t>Main message:</a:t>
            </a:r>
            <a:endParaRPr lang="en-US" b="1" dirty="0"/>
          </a:p>
          <a:p>
            <a:r>
              <a:rPr lang="en-US" dirty="0"/>
              <a:t>The project delivers a reproducible broad-area screening workflow.</a:t>
            </a:r>
          </a:p>
          <a:p>
            <a:r>
              <a:rPr lang="en-US" dirty="0"/>
              <a:t>The model improves some evaluation measures, but local evidence and annual re-evaluation remain essential.</a:t>
            </a:r>
            <a:endParaRPr lang="en-US" b="1" dirty="0"/>
          </a:p>
          <a:p>
            <a:endParaRPr dirty="0"/>
          </a:p>
          <a:p>
            <a:r>
              <a:rPr b="1" dirty="0"/>
              <a:t>What to say:</a:t>
            </a:r>
            <a:endParaRPr dirty="0"/>
          </a:p>
          <a:p>
            <a:r>
              <a:rPr lang="en-US" dirty="0"/>
              <a:t>This final slide summarizes what the project delivered, what the model achieved, and what happens next.</a:t>
            </a:r>
          </a:p>
          <a:p>
            <a:r>
              <a:rPr lang="en-US" dirty="0"/>
              <a:t>First, the project delivered a reproducible national workflow: validated data sources, one consistent 1 km grid, a tested nine-feature model, QGIS outputs, observed historical recurrence, and the official ICNF structural-hazard reference.</a:t>
            </a:r>
          </a:p>
          <a:p>
            <a:endParaRPr lang="en-US" dirty="0"/>
          </a:p>
          <a:p>
            <a:r>
              <a:rPr lang="en-US" dirty="0"/>
              <a:t>Second, the model improved average error and comparative ranking over the recurrence-only reference.</a:t>
            </a:r>
          </a:p>
          <a:p>
            <a:r>
              <a:rPr lang="en-US" dirty="0"/>
              <a:t>However, RMSE was almost unchanged and slightly higher, showing that errors associated with large burned-share outcomes remain difficult.</a:t>
            </a:r>
          </a:p>
          <a:p>
            <a:r>
              <a:rPr lang="en-US" dirty="0"/>
              <a:t>The model is therefore useful for narrowing broad search areas, but not for making a property decision.</a:t>
            </a:r>
          </a:p>
          <a:p>
            <a:endParaRPr lang="en-US" dirty="0"/>
          </a:p>
          <a:p>
            <a:r>
              <a:rPr lang="en-US" b="1" dirty="0"/>
              <a:t>Third, the project has an annual update process.</a:t>
            </a:r>
          </a:p>
          <a:p>
            <a:r>
              <a:rPr lang="en-US" dirty="0"/>
              <a:t>When the observed 2026 burned areas and the required 2026 predictor data become available, the project can evaluate the existing 2026 estimate, rebuild the unchanged selected model with the new completed evidence, and produce the 2027 comparative estimate.</a:t>
            </a:r>
          </a:p>
          <a:p>
            <a:endParaRPr lang="en-US" dirty="0"/>
          </a:p>
          <a:p>
            <a:r>
              <a:rPr lang="en-US" dirty="0"/>
              <a:t>The final result is a more focused location search supported by traceable evidence. Local planning, access, insurance, terrain, vegetation, infrastructure, and property-specific checks still complete the decision.</a:t>
            </a:r>
          </a:p>
          <a:p>
            <a:endParaRPr lang="en-US" dirty="0"/>
          </a:p>
          <a:p>
            <a:r>
              <a:rPr lang="en-US" b="1" dirty="0"/>
              <a:t>Closing statement</a:t>
            </a:r>
          </a:p>
          <a:p>
            <a:r>
              <a:rPr lang="en-US" dirty="0"/>
              <a:t>The project does not identify a guaranteed safe property.</a:t>
            </a:r>
          </a:p>
          <a:p>
            <a:r>
              <a:rPr lang="en-US" dirty="0"/>
              <a:t>It provides a repeatable way to compare broad areas and focus further research where it is most useful.</a:t>
            </a:r>
          </a:p>
          <a:p>
            <a:endParaRPr dirty="0"/>
          </a:p>
          <a:p>
            <a:r>
              <a:rPr dirty="0"/>
              <a:t>[Sources]</a:t>
            </a:r>
          </a:p>
          <a:p>
            <a:r>
              <a:rPr dirty="0"/>
              <a:t>README.md; reports/validation/model_final_decision.md; reports/validation/operational_forecast_readiness.md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7271A54-A21F-461B-81FE-9352EC032ECA}"/>
              </a:ext>
            </a:extLst>
          </p:cNvPr>
          <p:cNvSpPr>
            <a:spLocks noGrp="1"/>
          </p:cNvSpPr>
          <p:nvPr/>
        </p:nvSpPr>
        <p:spPr>
          <a:xfrm>
            <a:off x="0" y="0"/>
            <a:ext cx="9144000" cy="5143500"/>
          </a:xfrm>
          <a:prstGeom prst="rect">
            <a:avLst/>
          </a:prstGeom>
          <a:solidFill>
            <a:srgbClr val="0D1F2D"/>
          </a:solidFill>
          <a:ln w="12700">
            <a:solidFill>
              <a:srgbClr val="0D1F2D"/>
            </a:solidFill>
            <a:prstDash val="solid"/>
          </a:ln>
        </p:spPr>
      </p:sp>
      <p:sp>
        <p:nvSpPr>
          <p:cNvPr id="3" name="Shape 1">
            <a:extLst>
              <a:ext uri="{FF2B5EF4-FFF2-40B4-BE49-F238E27FC236}">
                <a16:creationId xmlns:a16="http://schemas.microsoft.com/office/drawing/2014/main" id="{DDACC1B4-1154-4329-A73F-48B1DC582792}"/>
              </a:ext>
            </a:extLst>
          </p:cNvPr>
          <p:cNvSpPr>
            <a:spLocks noGrp="1"/>
          </p:cNvSpPr>
          <p:nvPr/>
        </p:nvSpPr>
        <p:spPr>
          <a:xfrm>
            <a:off x="0" y="0"/>
            <a:ext cx="228600" cy="5143500"/>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321EBCE3-53B5-467C-8E29-72B844CA383B}"/>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5" name="Shape 3">
            <a:extLst>
              <a:ext uri="{FF2B5EF4-FFF2-40B4-BE49-F238E27FC236}">
                <a16:creationId xmlns:a16="http://schemas.microsoft.com/office/drawing/2014/main" id="{9017F92D-E245-4025-90D8-8EDF916CA9EF}"/>
              </a:ext>
            </a:extLst>
          </p:cNvPr>
          <p:cNvSpPr>
            <a:spLocks noGrp="1"/>
          </p:cNvSpPr>
          <p:nvPr/>
        </p:nvSpPr>
        <p:spPr>
          <a:xfrm>
            <a:off x="320040" y="137160"/>
            <a:ext cx="1417320" cy="292608"/>
          </a:xfrm>
          <a:prstGeom prst="rect">
            <a:avLst/>
          </a:prstGeom>
          <a:solidFill>
            <a:srgbClr val="1E3A50"/>
          </a:solidFill>
          <a:ln w="12700">
            <a:solidFill>
              <a:srgbClr val="1E3A50"/>
            </a:solidFill>
            <a:prstDash val="solid"/>
          </a:ln>
        </p:spPr>
      </p:sp>
      <p:sp>
        <p:nvSpPr>
          <p:cNvPr id="6" name="Text 4">
            <a:extLst>
              <a:ext uri="{FF2B5EF4-FFF2-40B4-BE49-F238E27FC236}">
                <a16:creationId xmlns:a16="http://schemas.microsoft.com/office/drawing/2014/main" id="{50F063B7-97FC-4057-91C5-01147213D4BB}"/>
              </a:ext>
            </a:extLst>
          </p:cNvPr>
          <p:cNvSpPr>
            <a:spLocks noGrp="1"/>
          </p:cNvSpPr>
          <p:nvPr/>
        </p:nvSpPr>
        <p:spPr>
          <a:xfrm>
            <a:off x="320040" y="137160"/>
            <a:ext cx="1417320" cy="292608"/>
          </a:xfrm>
          <a:prstGeom prst="rect">
            <a:avLst/>
          </a:prstGeom>
          <a:noFill/>
        </p:spPr>
        <p:txBody>
          <a:bodyPr wrap="square" lIns="0" tIns="0" rIns="0" bIns="0" anchor="ctr"/>
          <a:lstStyle/>
          <a:p>
            <a:pPr marL="0" indent="0" algn="ctr">
              <a:buNone/>
            </a:pPr>
            <a:r>
              <a:rPr sz="750">
                <a:solidFill>
                  <a:srgbClr val="E1E8EF"/>
                </a:solidFill>
              </a:rPr>
              <a:t>DATA SCIENCE · ML · GIS</a:t>
            </a:r>
            <a:endParaRPr sz="750"/>
          </a:p>
        </p:txBody>
      </p:sp>
      <p:sp>
        <p:nvSpPr>
          <p:cNvPr id="7" name="Shape 5">
            <a:extLst>
              <a:ext uri="{FF2B5EF4-FFF2-40B4-BE49-F238E27FC236}">
                <a16:creationId xmlns:a16="http://schemas.microsoft.com/office/drawing/2014/main" id="{70C36328-C5D1-4010-B8F0-E622D0A879DF}"/>
              </a:ext>
            </a:extLst>
          </p:cNvPr>
          <p:cNvSpPr>
            <a:spLocks noGrp="1"/>
          </p:cNvSpPr>
          <p:nvPr/>
        </p:nvSpPr>
        <p:spPr>
          <a:xfrm>
            <a:off x="7498080" y="137160"/>
            <a:ext cx="1417320" cy="292608"/>
          </a:xfrm>
          <a:prstGeom prst="rect">
            <a:avLst/>
          </a:prstGeom>
          <a:solidFill>
            <a:srgbClr val="E8A020"/>
          </a:solidFill>
          <a:ln w="12700">
            <a:solidFill>
              <a:srgbClr val="E8A020"/>
            </a:solidFill>
            <a:prstDash val="solid"/>
          </a:ln>
        </p:spPr>
      </p:sp>
      <p:sp>
        <p:nvSpPr>
          <p:cNvPr id="8" name="Text 6">
            <a:extLst>
              <a:ext uri="{FF2B5EF4-FFF2-40B4-BE49-F238E27FC236}">
                <a16:creationId xmlns:a16="http://schemas.microsoft.com/office/drawing/2014/main" id="{65A06437-0A3C-43F1-8C4D-8B11B9E4BD63}"/>
              </a:ext>
            </a:extLst>
          </p:cNvPr>
          <p:cNvSpPr>
            <a:spLocks noGrp="1"/>
          </p:cNvSpPr>
          <p:nvPr/>
        </p:nvSpPr>
        <p:spPr>
          <a:xfrm>
            <a:off x="7498080" y="137160"/>
            <a:ext cx="1417320" cy="292608"/>
          </a:xfrm>
          <a:prstGeom prst="rect">
            <a:avLst/>
          </a:prstGeom>
          <a:noFill/>
        </p:spPr>
        <p:txBody>
          <a:bodyPr wrap="square" lIns="0" tIns="0" rIns="0" bIns="0" anchor="ctr"/>
          <a:lstStyle/>
          <a:p>
            <a:pPr marL="0" indent="0" algn="ctr">
              <a:buNone/>
            </a:pPr>
            <a:r>
              <a:rPr sz="750" b="1">
                <a:solidFill>
                  <a:srgbClr val="0D1F2D"/>
                </a:solidFill>
              </a:rPr>
              <a:t>2026</a:t>
            </a:r>
            <a:endParaRPr sz="750"/>
          </a:p>
        </p:txBody>
      </p:sp>
      <p:sp>
        <p:nvSpPr>
          <p:cNvPr id="9" name="Text 7">
            <a:extLst>
              <a:ext uri="{FF2B5EF4-FFF2-40B4-BE49-F238E27FC236}">
                <a16:creationId xmlns:a16="http://schemas.microsoft.com/office/drawing/2014/main" id="{9BC5597E-259F-4375-AD7E-442DC35DA9BA}"/>
              </a:ext>
            </a:extLst>
          </p:cNvPr>
          <p:cNvSpPr>
            <a:spLocks noGrp="1"/>
          </p:cNvSpPr>
          <p:nvPr/>
        </p:nvSpPr>
        <p:spPr>
          <a:xfrm>
            <a:off x="365760" y="566928"/>
            <a:ext cx="5486400" cy="320040"/>
          </a:xfrm>
          <a:prstGeom prst="rect">
            <a:avLst/>
          </a:prstGeom>
          <a:noFill/>
        </p:spPr>
        <p:txBody>
          <a:bodyPr wrap="square" lIns="0" tIns="0" rIns="0" bIns="0" anchor="ctr"/>
          <a:lstStyle/>
          <a:p>
            <a:pPr marL="0" indent="0">
              <a:buNone/>
            </a:pPr>
            <a:r>
              <a:rPr sz="1000" b="1">
                <a:solidFill>
                  <a:srgbClr val="E8A020"/>
                </a:solidFill>
              </a:rPr>
              <a:t>WILDFIRE EXPOSURE SCREENING</a:t>
            </a:r>
            <a:endParaRPr sz="1000"/>
          </a:p>
        </p:txBody>
      </p:sp>
      <p:sp>
        <p:nvSpPr>
          <p:cNvPr id="10" name="Text 8">
            <a:extLst>
              <a:ext uri="{FF2B5EF4-FFF2-40B4-BE49-F238E27FC236}">
                <a16:creationId xmlns:a16="http://schemas.microsoft.com/office/drawing/2014/main" id="{104374D4-53B8-40B4-AD27-574FDD973E4D}"/>
              </a:ext>
            </a:extLst>
          </p:cNvPr>
          <p:cNvSpPr>
            <a:spLocks noGrp="1"/>
          </p:cNvSpPr>
          <p:nvPr/>
        </p:nvSpPr>
        <p:spPr>
          <a:xfrm>
            <a:off x="365760" y="914400"/>
            <a:ext cx="5577840" cy="1828800"/>
          </a:xfrm>
          <a:prstGeom prst="rect">
            <a:avLst/>
          </a:prstGeom>
          <a:noFill/>
        </p:spPr>
        <p:txBody>
          <a:bodyPr wrap="square" lIns="0" tIns="0" rIns="0" bIns="0" anchor="t"/>
          <a:lstStyle/>
          <a:p>
            <a:pPr marL="0" indent="0">
              <a:buNone/>
            </a:pPr>
            <a:r>
              <a:rPr sz="5200" b="1" dirty="0">
                <a:solidFill>
                  <a:srgbClr val="FFFFFF"/>
                </a:solidFill>
              </a:rPr>
              <a:t>Wildfire Exposure</a:t>
            </a:r>
            <a:endParaRPr sz="5200" dirty="0"/>
          </a:p>
          <a:p>
            <a:pPr marL="0" indent="0">
              <a:buNone/>
            </a:pPr>
            <a:r>
              <a:rPr sz="5200" b="1" dirty="0">
                <a:solidFill>
                  <a:srgbClr val="FFFFFF"/>
                </a:solidFill>
              </a:rPr>
              <a:t>Location Screening</a:t>
            </a:r>
            <a:endParaRPr sz="5200" dirty="0"/>
          </a:p>
        </p:txBody>
      </p:sp>
      <p:sp>
        <p:nvSpPr>
          <p:cNvPr id="11" name="Text 9">
            <a:extLst>
              <a:ext uri="{FF2B5EF4-FFF2-40B4-BE49-F238E27FC236}">
                <a16:creationId xmlns:a16="http://schemas.microsoft.com/office/drawing/2014/main" id="{20E7387F-C7E0-45B4-95FC-3980C4673C6B}"/>
              </a:ext>
            </a:extLst>
          </p:cNvPr>
          <p:cNvSpPr>
            <a:spLocks noGrp="1"/>
          </p:cNvSpPr>
          <p:nvPr/>
        </p:nvSpPr>
        <p:spPr>
          <a:xfrm>
            <a:off x="365760" y="2834640"/>
            <a:ext cx="5577840" cy="411480"/>
          </a:xfrm>
          <a:prstGeom prst="rect">
            <a:avLst/>
          </a:prstGeom>
          <a:noFill/>
        </p:spPr>
        <p:txBody>
          <a:bodyPr wrap="square" lIns="0" tIns="0" rIns="0" bIns="0" anchor="ctr"/>
          <a:lstStyle/>
          <a:p>
            <a:pPr marL="0" indent="0">
              <a:buNone/>
            </a:pPr>
            <a:r>
              <a:rPr lang="en-US" sz="1300" i="1" dirty="0">
                <a:solidFill>
                  <a:srgbClr val="A8C4D8"/>
                </a:solidFill>
              </a:rPr>
              <a:t>A reproducible data-science, machine-learning, and GIS workflow for broad-area location research.</a:t>
            </a:r>
            <a:endParaRPr lang="en-US" sz="1300" dirty="0"/>
          </a:p>
        </p:txBody>
      </p:sp>
      <p:sp>
        <p:nvSpPr>
          <p:cNvPr id="12" name="Shape 10">
            <a:extLst>
              <a:ext uri="{FF2B5EF4-FFF2-40B4-BE49-F238E27FC236}">
                <a16:creationId xmlns:a16="http://schemas.microsoft.com/office/drawing/2014/main" id="{84D7FAF1-5834-4AFE-87A0-3EB7DF4F1C96}"/>
              </a:ext>
            </a:extLst>
          </p:cNvPr>
          <p:cNvSpPr>
            <a:spLocks noGrp="1"/>
          </p:cNvSpPr>
          <p:nvPr/>
        </p:nvSpPr>
        <p:spPr>
          <a:xfrm>
            <a:off x="365760" y="3310128"/>
            <a:ext cx="5303520" cy="22860"/>
          </a:xfrm>
          <a:prstGeom prst="rect">
            <a:avLst/>
          </a:prstGeom>
          <a:solidFill>
            <a:srgbClr val="E8A020"/>
          </a:solidFill>
          <a:ln w="12700">
            <a:solidFill>
              <a:srgbClr val="E8A020"/>
            </a:solidFill>
            <a:prstDash val="solid"/>
          </a:ln>
        </p:spPr>
      </p:sp>
      <p:sp>
        <p:nvSpPr>
          <p:cNvPr id="13" name="Text 11">
            <a:extLst>
              <a:ext uri="{FF2B5EF4-FFF2-40B4-BE49-F238E27FC236}">
                <a16:creationId xmlns:a16="http://schemas.microsoft.com/office/drawing/2014/main" id="{55AB15B4-F408-4652-B072-3916646D6B7A}"/>
              </a:ext>
            </a:extLst>
          </p:cNvPr>
          <p:cNvSpPr>
            <a:spLocks noGrp="1"/>
          </p:cNvSpPr>
          <p:nvPr/>
        </p:nvSpPr>
        <p:spPr>
          <a:xfrm>
            <a:off x="365760" y="3383280"/>
            <a:ext cx="5303520" cy="320040"/>
          </a:xfrm>
          <a:prstGeom prst="rect">
            <a:avLst/>
          </a:prstGeom>
          <a:noFill/>
        </p:spPr>
        <p:txBody>
          <a:bodyPr wrap="square" lIns="0" tIns="0" rIns="0" bIns="0" anchor="ctr"/>
          <a:lstStyle/>
          <a:p>
            <a:pPr marL="0" indent="0">
              <a:buNone/>
            </a:pPr>
            <a:r>
              <a:rPr sz="1100">
                <a:solidFill>
                  <a:srgbClr val="E1E8EF"/>
                </a:solidFill>
              </a:rPr>
              <a:t>Serhii Diadechko</a:t>
            </a:r>
            <a:endParaRPr sz="1100"/>
          </a:p>
        </p:txBody>
      </p:sp>
      <p:sp>
        <p:nvSpPr>
          <p:cNvPr id="14" name="Shape 12">
            <a:extLst>
              <a:ext uri="{FF2B5EF4-FFF2-40B4-BE49-F238E27FC236}">
                <a16:creationId xmlns:a16="http://schemas.microsoft.com/office/drawing/2014/main" id="{9BEE0D39-8F48-47D0-AC97-A5C1383B7E0E}"/>
              </a:ext>
            </a:extLst>
          </p:cNvPr>
          <p:cNvSpPr>
            <a:spLocks noGrp="1"/>
          </p:cNvSpPr>
          <p:nvPr/>
        </p:nvSpPr>
        <p:spPr>
          <a:xfrm>
            <a:off x="6080760" y="777240"/>
            <a:ext cx="2834640" cy="3931920"/>
          </a:xfrm>
          <a:prstGeom prst="rect">
            <a:avLst/>
          </a:prstGeom>
          <a:solidFill>
            <a:srgbClr val="1E3A50"/>
          </a:solidFill>
          <a:ln w="12700">
            <a:solidFill>
              <a:srgbClr val="1E3A50"/>
            </a:solidFill>
            <a:prstDash val="solid"/>
          </a:ln>
        </p:spPr>
      </p:sp>
      <p:sp>
        <p:nvSpPr>
          <p:cNvPr id="15" name="Text 13">
            <a:extLst>
              <a:ext uri="{FF2B5EF4-FFF2-40B4-BE49-F238E27FC236}">
                <a16:creationId xmlns:a16="http://schemas.microsoft.com/office/drawing/2014/main" id="{B9DF6536-1C4E-4314-9CB6-ABE7AFD6C0A3}"/>
              </a:ext>
            </a:extLst>
          </p:cNvPr>
          <p:cNvSpPr>
            <a:spLocks noGrp="1"/>
          </p:cNvSpPr>
          <p:nvPr/>
        </p:nvSpPr>
        <p:spPr>
          <a:xfrm>
            <a:off x="6080760" y="822960"/>
            <a:ext cx="2834640" cy="320040"/>
          </a:xfrm>
          <a:prstGeom prst="rect">
            <a:avLst/>
          </a:prstGeom>
          <a:noFill/>
        </p:spPr>
        <p:txBody>
          <a:bodyPr wrap="square" lIns="0" tIns="0" rIns="0" bIns="0" anchor="ctr"/>
          <a:lstStyle/>
          <a:p>
            <a:pPr marL="0" indent="0" algn="ctr">
              <a:buNone/>
            </a:pPr>
            <a:r>
              <a:rPr sz="900" b="1">
                <a:solidFill>
                  <a:srgbClr val="E8A020"/>
                </a:solidFill>
              </a:rPr>
              <a:t>Purpose</a:t>
            </a:r>
            <a:endParaRPr sz="900"/>
          </a:p>
        </p:txBody>
      </p:sp>
      <p:sp>
        <p:nvSpPr>
          <p:cNvPr id="16" name="Shape 14">
            <a:extLst>
              <a:ext uri="{FF2B5EF4-FFF2-40B4-BE49-F238E27FC236}">
                <a16:creationId xmlns:a16="http://schemas.microsoft.com/office/drawing/2014/main" id="{5B21C9E4-9D51-47F8-A634-86927AA3DBCF}"/>
              </a:ext>
            </a:extLst>
          </p:cNvPr>
          <p:cNvSpPr>
            <a:spLocks noGrp="1"/>
          </p:cNvSpPr>
          <p:nvPr/>
        </p:nvSpPr>
        <p:spPr>
          <a:xfrm>
            <a:off x="6217920" y="1170432"/>
            <a:ext cx="2560320" cy="22860"/>
          </a:xfrm>
          <a:prstGeom prst="rect">
            <a:avLst/>
          </a:prstGeom>
          <a:solidFill>
            <a:srgbClr val="E8A020"/>
          </a:solidFill>
          <a:ln w="12700">
            <a:solidFill>
              <a:srgbClr val="E8A020"/>
            </a:solidFill>
            <a:prstDash val="solid"/>
          </a:ln>
        </p:spPr>
      </p:sp>
      <p:sp>
        <p:nvSpPr>
          <p:cNvPr id="17" name="Text 15">
            <a:extLst>
              <a:ext uri="{FF2B5EF4-FFF2-40B4-BE49-F238E27FC236}">
                <a16:creationId xmlns:a16="http://schemas.microsoft.com/office/drawing/2014/main" id="{F36FA1E7-8AA0-4F97-BCC4-F9EF38BF02CA}"/>
              </a:ext>
            </a:extLst>
          </p:cNvPr>
          <p:cNvSpPr>
            <a:spLocks noGrp="1"/>
          </p:cNvSpPr>
          <p:nvPr/>
        </p:nvSpPr>
        <p:spPr>
          <a:xfrm>
            <a:off x="6217920" y="1261872"/>
            <a:ext cx="2560320" cy="438912"/>
          </a:xfrm>
          <a:prstGeom prst="rect">
            <a:avLst/>
          </a:prstGeom>
          <a:noFill/>
        </p:spPr>
        <p:txBody>
          <a:bodyPr wrap="square" lIns="0" tIns="0" rIns="0" bIns="0" anchor="ctr"/>
          <a:lstStyle/>
          <a:p>
            <a:pPr marL="0" indent="0">
              <a:buNone/>
            </a:pPr>
            <a:r>
              <a:rPr sz="1050" b="1">
                <a:solidFill>
                  <a:srgbClr val="E8A020"/>
                </a:solidFill>
              </a:rPr>
              <a:t>Observed history</a:t>
            </a:r>
            <a:endParaRPr sz="1050"/>
          </a:p>
        </p:txBody>
      </p:sp>
      <p:sp>
        <p:nvSpPr>
          <p:cNvPr id="18" name="Text 16">
            <a:extLst>
              <a:ext uri="{FF2B5EF4-FFF2-40B4-BE49-F238E27FC236}">
                <a16:creationId xmlns:a16="http://schemas.microsoft.com/office/drawing/2014/main" id="{E78B0B14-0C2A-4376-A31F-8BD2A8320B1B}"/>
              </a:ext>
            </a:extLst>
          </p:cNvPr>
          <p:cNvSpPr>
            <a:spLocks noGrp="1"/>
          </p:cNvSpPr>
          <p:nvPr/>
        </p:nvSpPr>
        <p:spPr>
          <a:xfrm>
            <a:off x="6217920" y="1792224"/>
            <a:ext cx="2560320" cy="438912"/>
          </a:xfrm>
          <a:prstGeom prst="rect">
            <a:avLst/>
          </a:prstGeom>
          <a:noFill/>
        </p:spPr>
        <p:txBody>
          <a:bodyPr wrap="square" lIns="0" tIns="0" rIns="0" bIns="0" anchor="ctr"/>
          <a:lstStyle/>
          <a:p>
            <a:pPr marL="0" indent="0">
              <a:buNone/>
            </a:pPr>
            <a:r>
              <a:rPr sz="1050" b="1">
                <a:solidFill>
                  <a:srgbClr val="E8A020"/>
                </a:solidFill>
              </a:rPr>
              <a:t>Landscape, terrain and climate</a:t>
            </a:r>
            <a:endParaRPr sz="1050"/>
          </a:p>
        </p:txBody>
      </p:sp>
      <p:sp>
        <p:nvSpPr>
          <p:cNvPr id="19" name="Text 17">
            <a:extLst>
              <a:ext uri="{FF2B5EF4-FFF2-40B4-BE49-F238E27FC236}">
                <a16:creationId xmlns:a16="http://schemas.microsoft.com/office/drawing/2014/main" id="{AE7E2DF4-82FF-4297-BC2B-22C484A80CC8}"/>
              </a:ext>
            </a:extLst>
          </p:cNvPr>
          <p:cNvSpPr>
            <a:spLocks noGrp="1"/>
          </p:cNvSpPr>
          <p:nvPr/>
        </p:nvSpPr>
        <p:spPr>
          <a:xfrm>
            <a:off x="6217920" y="2322576"/>
            <a:ext cx="2560320" cy="438912"/>
          </a:xfrm>
          <a:prstGeom prst="rect">
            <a:avLst/>
          </a:prstGeom>
          <a:noFill/>
        </p:spPr>
        <p:txBody>
          <a:bodyPr wrap="square" lIns="0" tIns="0" rIns="0" bIns="0" anchor="ctr"/>
          <a:lstStyle/>
          <a:p>
            <a:pPr marL="0" indent="0">
              <a:buNone/>
            </a:pPr>
            <a:r>
              <a:rPr sz="1050" b="1">
                <a:solidFill>
                  <a:srgbClr val="E8A020"/>
                </a:solidFill>
              </a:rPr>
              <a:t>Comparative 2026 estimate</a:t>
            </a:r>
            <a:endParaRPr sz="1050"/>
          </a:p>
        </p:txBody>
      </p:sp>
      <p:sp>
        <p:nvSpPr>
          <p:cNvPr id="20" name="Text 18">
            <a:extLst>
              <a:ext uri="{FF2B5EF4-FFF2-40B4-BE49-F238E27FC236}">
                <a16:creationId xmlns:a16="http://schemas.microsoft.com/office/drawing/2014/main" id="{DD6F7EF9-033D-4506-9EBE-BFE18477DBE8}"/>
              </a:ext>
            </a:extLst>
          </p:cNvPr>
          <p:cNvSpPr>
            <a:spLocks noGrp="1"/>
          </p:cNvSpPr>
          <p:nvPr/>
        </p:nvSpPr>
        <p:spPr>
          <a:xfrm>
            <a:off x="6217920" y="2852928"/>
            <a:ext cx="2560320" cy="438912"/>
          </a:xfrm>
          <a:prstGeom prst="rect">
            <a:avLst/>
          </a:prstGeom>
          <a:noFill/>
        </p:spPr>
        <p:txBody>
          <a:bodyPr wrap="square" lIns="0" tIns="0" rIns="0" bIns="0" anchor="ctr"/>
          <a:lstStyle/>
          <a:p>
            <a:pPr marL="0" indent="0">
              <a:buNone/>
            </a:pPr>
            <a:r>
              <a:rPr sz="1050" b="1">
                <a:solidFill>
                  <a:srgbClr val="E8A020"/>
                </a:solidFill>
              </a:rPr>
              <a:t>Narrow broad search areas</a:t>
            </a:r>
            <a:endParaRPr sz="1050"/>
          </a:p>
        </p:txBody>
      </p:sp>
      <p:sp>
        <p:nvSpPr>
          <p:cNvPr id="21" name="Text 19">
            <a:extLst>
              <a:ext uri="{FF2B5EF4-FFF2-40B4-BE49-F238E27FC236}">
                <a16:creationId xmlns:a16="http://schemas.microsoft.com/office/drawing/2014/main" id="{A8932156-3970-4237-A76D-30F8D26A7793}"/>
              </a:ext>
            </a:extLst>
          </p:cNvPr>
          <p:cNvSpPr>
            <a:spLocks noGrp="1"/>
          </p:cNvSpPr>
          <p:nvPr/>
        </p:nvSpPr>
        <p:spPr>
          <a:xfrm>
            <a:off x="6217920" y="3383280"/>
            <a:ext cx="2560320" cy="438912"/>
          </a:xfrm>
          <a:prstGeom prst="rect">
            <a:avLst/>
          </a:prstGeom>
          <a:noFill/>
        </p:spPr>
        <p:txBody>
          <a:bodyPr wrap="square" lIns="0" tIns="0" rIns="0" bIns="0" anchor="ctr"/>
          <a:lstStyle/>
          <a:p>
            <a:pPr marL="0" indent="0">
              <a:buNone/>
            </a:pPr>
            <a:r>
              <a:rPr sz="1050" b="1">
                <a:solidFill>
                  <a:srgbClr val="E8A020"/>
                </a:solidFill>
              </a:rPr>
              <a:t>Then continue with local evidence</a:t>
            </a:r>
            <a:endParaRPr sz="1050"/>
          </a:p>
        </p:txBody>
      </p:sp>
      <p:sp>
        <p:nvSpPr>
          <p:cNvPr id="22" name="Shape 20">
            <a:extLst>
              <a:ext uri="{FF2B5EF4-FFF2-40B4-BE49-F238E27FC236}">
                <a16:creationId xmlns:a16="http://schemas.microsoft.com/office/drawing/2014/main" id="{60B28163-A49C-4C75-B149-473B24134259}"/>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23" name="Text 21">
            <a:extLst>
              <a:ext uri="{FF2B5EF4-FFF2-40B4-BE49-F238E27FC236}">
                <a16:creationId xmlns:a16="http://schemas.microsoft.com/office/drawing/2014/main" id="{D759CE5D-7A30-48C4-B49F-00835A05CFBA}"/>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9159638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DATASET OVERVIEW</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2 / 9</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One 1 km mainland cell per year makes the evidence comparable</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OBSERVED FIRE</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ICNF annual burned areas</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Historical occurrence and next-year burned-share outcomes. Fire recurrence is measured in a 2 km context buffer.</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lang="en-US" sz="800" i="1" dirty="0">
                <a:solidFill>
                  <a:srgbClr val="1A2638"/>
                </a:solidFill>
              </a:rPr>
              <a:t>Local ICNF archive coverage used: 2000–2025</a:t>
            </a:r>
            <a:endParaRPr sz="800" dirty="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Use: observed history and outcome labels</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Burned share = burned land area / cell land area.</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PLACE CONTEXT</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CLC and Copernicus DEM</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Built-up share, forest/shrub context and mean slope describe the surrounding landscape.</a:t>
            </a:r>
            <a:endParaRPr sz="85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Static or governed historical layers</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Use: landscape and terrain predictors</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No parcel-level claim.</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CLIMATE CONTEXT</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ERA5-Land JJAS</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a:solidFill>
                  <a:srgbClr val="1A2638"/>
                </a:solidFill>
              </a:rPr>
              <a:t>Warm-season temperature, precipitation and shallow soil-water conditions from predictor year T only.</a:t>
            </a:r>
            <a:endParaRPr sz="85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0.1° regional climate cells</a:t>
            </a:r>
            <a:endParaRPr sz="80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Use: predictor-year climate context</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No interpolation or downscaling.</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89,112 mainland cells; one EPSG:3763 1 km cell × predictor year record.</a:t>
            </a:r>
            <a:endParaRPr sz="85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MODEL DEVELOPMENT FLOW</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3 / 9</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How historical data becomes the 2026 estimate</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COLLECT + PREPARE</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Validated source inputs</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CAOP grid; ICNF burned areas; CLC; DEM; ERA5-Land.</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One 1 km cell × predictor year</a:t>
            </a:r>
            <a:endParaRPr sz="80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Nine predictors from year T</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Observed target from year T+1 only</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TRAIN</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Fit historical relationships</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dirty="0">
                <a:solidFill>
                  <a:srgbClr val="1A2638"/>
                </a:solidFill>
              </a:rPr>
              <a:t>Training: T=2010–2019 </a:t>
            </a:r>
            <a:r>
              <a:rPr lang="en-US" sz="850" dirty="0">
                <a:solidFill>
                  <a:srgbClr val="1A2638"/>
                </a:solidFill>
              </a:rPr>
              <a:t>-&gt;</a:t>
            </a:r>
            <a:r>
              <a:rPr sz="850" dirty="0">
                <a:solidFill>
                  <a:srgbClr val="1A2638"/>
                </a:solidFill>
              </a:rPr>
              <a:t> outcomes 2011–2020.</a:t>
            </a:r>
            <a:endParaRPr sz="850" dirty="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Baseline + candidate models</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Learn from training years only</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Validation and final years stay outside fitting</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SELECT + CHECK</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Validation and final evaluation</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dirty="0">
                <a:solidFill>
                  <a:srgbClr val="1A2638"/>
                </a:solidFill>
              </a:rPr>
              <a:t>Validation: T=2020–2021</a:t>
            </a:r>
            <a:r>
              <a:rPr lang="en-US" sz="850" dirty="0">
                <a:solidFill>
                  <a:srgbClr val="1A2638"/>
                </a:solidFill>
              </a:rPr>
              <a:t> -&gt; </a:t>
            </a:r>
            <a:r>
              <a:rPr sz="850" dirty="0">
                <a:solidFill>
                  <a:srgbClr val="1A2638"/>
                </a:solidFill>
              </a:rPr>
              <a:t> outcomes 2021–2022.</a:t>
            </a:r>
            <a:endParaRPr sz="850" dirty="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dirty="0">
                <a:solidFill>
                  <a:srgbClr val="1A2638"/>
                </a:solidFill>
              </a:rPr>
              <a:t>Final: T=2022–2024 </a:t>
            </a:r>
            <a:r>
              <a:rPr lang="en-US" sz="800" i="1" dirty="0">
                <a:solidFill>
                  <a:srgbClr val="1A2638"/>
                </a:solidFill>
              </a:rPr>
              <a:t>-&gt;</a:t>
            </a:r>
            <a:r>
              <a:rPr sz="800" i="1" dirty="0">
                <a:solidFill>
                  <a:srgbClr val="1A2638"/>
                </a:solidFill>
              </a:rPr>
              <a:t> outcomes 2023–2025</a:t>
            </a:r>
            <a:endParaRPr sz="800" dirty="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Select on validation; evaluate final once</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 Refit the selected specification</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dirty="0">
                <a:solidFill>
                  <a:srgbClr val="E8A020"/>
                </a:solidFill>
              </a:rPr>
              <a:t>REFIT + 2026 ESTIMATE | T=2010–2024 </a:t>
            </a:r>
            <a:r>
              <a:rPr lang="en-US" sz="850" b="1" dirty="0">
                <a:solidFill>
                  <a:srgbClr val="E8A020"/>
                </a:solidFill>
              </a:rPr>
              <a:t>-&gt;</a:t>
            </a:r>
            <a:r>
              <a:rPr sz="850" b="1" dirty="0">
                <a:solidFill>
                  <a:srgbClr val="E8A020"/>
                </a:solidFill>
              </a:rPr>
              <a:t>outcomes 2011–2025; T=2025 inputs </a:t>
            </a:r>
            <a:r>
              <a:rPr lang="en-US" sz="850" b="1" dirty="0">
                <a:solidFill>
                  <a:srgbClr val="E8A020"/>
                </a:solidFill>
              </a:rPr>
              <a:t>-&gt;</a:t>
            </a:r>
            <a:r>
              <a:rPr sz="850" b="1" dirty="0">
                <a:solidFill>
                  <a:srgbClr val="E8A020"/>
                </a:solidFill>
              </a:rPr>
              <a:t> 2026 estimate (outcome pending).</a:t>
            </a:r>
            <a:endParaRPr sz="850" dirty="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916D61E-8D80-4696-BE48-571111EE6D65}"/>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7C197073-0349-496C-B731-E02726BC0FD2}"/>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5344C750-A1AC-4D96-B5ED-2E59EAB552A3}"/>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4BCF9260-F9BB-427A-A715-0CA619DDD669}"/>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KEY FINDING 1</a:t>
            </a:r>
          </a:p>
          <a:p>
            <a:pPr marL="0" indent="0">
              <a:buNone/>
            </a:pPr>
            <a:r>
              <a:rPr sz="1000">
                <a:solidFill>
                  <a:schemeClr val="accent6"/>
                </a:solidFill>
              </a:rPr>
              <a:t>observed history and 2026 comparative estimate</a:t>
            </a:r>
          </a:p>
        </p:txBody>
      </p:sp>
      <p:sp>
        <p:nvSpPr>
          <p:cNvPr id="6" name="Text 4">
            <a:extLst>
              <a:ext uri="{FF2B5EF4-FFF2-40B4-BE49-F238E27FC236}">
                <a16:creationId xmlns:a16="http://schemas.microsoft.com/office/drawing/2014/main" id="{7C069EAE-F0EA-403F-93EC-4D5FAD01EDA4}"/>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4 / 9</a:t>
            </a:r>
            <a:endParaRPr sz="1100"/>
          </a:p>
        </p:txBody>
      </p:sp>
      <p:sp>
        <p:nvSpPr>
          <p:cNvPr id="7" name="Text 5">
            <a:extLst>
              <a:ext uri="{FF2B5EF4-FFF2-40B4-BE49-F238E27FC236}">
                <a16:creationId xmlns:a16="http://schemas.microsoft.com/office/drawing/2014/main" id="{166943B0-65A2-4E8E-A093-55763EACAA06}"/>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Historical wildfire recurrence is uneven across mainland Portugal (left map)</a:t>
            </a:r>
            <a:endParaRPr sz="1600"/>
          </a:p>
        </p:txBody>
      </p:sp>
      <p:sp>
        <p:nvSpPr>
          <p:cNvPr id="33" name="Shape 31">
            <a:extLst>
              <a:ext uri="{FF2B5EF4-FFF2-40B4-BE49-F238E27FC236}">
                <a16:creationId xmlns:a16="http://schemas.microsoft.com/office/drawing/2014/main" id="{35375F54-2542-44E4-9AE4-25E5F5E7CCD6}"/>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34" name="Text 32">
            <a:extLst>
              <a:ext uri="{FF2B5EF4-FFF2-40B4-BE49-F238E27FC236}">
                <a16:creationId xmlns:a16="http://schemas.microsoft.com/office/drawing/2014/main" id="{311C9A05-ACCC-4E9D-9690-B5C3213DD01B}"/>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pic>
        <p:nvPicPr>
          <p:cNvPr id="44" name="Picture 8"/>
          <p:cNvPicPr>
            <a:picLocks noChangeAspect="1"/>
          </p:cNvPicPr>
          <p:nvPr/>
        </p:nvPicPr>
        <p:blipFill>
          <a:blip r:embed="rId3"/>
          <a:stretch>
            <a:fillRect/>
          </a:stretch>
        </p:blipFill>
        <p:spPr>
          <a:xfrm>
            <a:off x="742950" y="1107383"/>
            <a:ext cx="7581900" cy="3810525"/>
          </a:xfrm>
          <a:prstGeom prst="rect">
            <a:avLst/>
          </a:prstGeom>
        </p:spPr>
      </p:pic>
    </p:spTree>
    <p:extLst>
      <p:ext uri="{BB962C8B-B14F-4D97-AF65-F5344CB8AC3E}">
        <p14:creationId xmlns:p14="http://schemas.microsoft.com/office/powerpoint/2010/main" val="6125340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txBody>
          <a:bodyPr/>
          <a:lstStyle/>
          <a:p>
            <a:endParaRPr/>
          </a:p>
        </p:txBody>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KEY FINDING 2</a:t>
            </a:r>
          </a:p>
          <a:p>
            <a:pPr marL="0" indent="0">
              <a:buNone/>
            </a:pPr>
            <a:r>
              <a:rPr sz="1000">
                <a:solidFill>
                  <a:schemeClr val="accent6"/>
                </a:solidFill>
              </a:rPr>
              <a:t>complementary context</a:t>
            </a:r>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5 / 9</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Historical recurrence and structural hazard provide complementary context</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Evidence layers</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lang="en-US" sz="850" dirty="0">
                <a:solidFill>
                  <a:srgbClr val="1A2638"/>
                </a:solidFill>
              </a:rPr>
              <a:t>Counts distinct years with burned-area evidence from 2016-2025 in the 2 km context around each 1 km cell</a:t>
            </a:r>
            <a:r>
              <a:rPr sz="850" dirty="0">
                <a:solidFill>
                  <a:srgbClr val="1A2638"/>
                </a:solidFill>
              </a:rPr>
              <a:t>.</a:t>
            </a:r>
            <a:endParaRPr sz="850" dirty="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Official structural hazard</a:t>
            </a:r>
            <a:endParaRPr sz="850"/>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347472"/>
          </a:xfrm>
          <a:prstGeom prst="rect">
            <a:avLst/>
          </a:prstGeom>
          <a:noFill/>
        </p:spPr>
        <p:txBody>
          <a:bodyPr wrap="square" lIns="0" tIns="0" rIns="0" bIns="0" anchor="ctr"/>
          <a:lstStyle/>
          <a:p>
            <a:pPr marL="0" indent="0">
              <a:buNone/>
            </a:pPr>
            <a:r>
              <a:rPr sz="850">
                <a:solidFill>
                  <a:srgbClr val="1A2638"/>
                </a:solidFill>
              </a:rPr>
              <a:t>An official ICNF classification of underlying landscape hazard conditions, summarised from 25 m classes to the predominant 1 km class.</a:t>
            </a:r>
            <a:endParaRPr sz="85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Why compare both?</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They use different methods and time frames, so agreement or disagreement adds context.</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Interpretation</a:t>
            </a:r>
            <a:endParaRPr sz="85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Structural hazard is not this project’s prediction and does not describe one particular year’s burned area.</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64024" y="1554480"/>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txBody>
          <a:bodyPr/>
          <a:lstStyle/>
          <a:p>
            <a:endParaRPr/>
          </a:p>
        </p:txBody>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64024" y="1280160"/>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One comparison, two sources</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Technical</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Use the layers together to understand patterns; neither layer is a buyer threshold.</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Maps describe evidence; they do not certify a location.</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Both layers still require local verification.</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364992"/>
            <a:ext cx="3886200" cy="256032"/>
          </a:xfrm>
          <a:prstGeom prst="rect">
            <a:avLst/>
          </a:prstGeom>
          <a:noFill/>
        </p:spPr>
        <p:txBody>
          <a:bodyPr wrap="square" lIns="0" tIns="0" rIns="0" bIns="0" anchor="ctr"/>
          <a:lstStyle/>
          <a:p>
            <a:pPr marL="0" indent="0">
              <a:buNone/>
            </a:pPr>
            <a:r>
              <a:rPr sz="800" b="1">
                <a:solidFill>
                  <a:srgbClr val="5B6880"/>
                </a:solidFill>
              </a:rPr>
              <a:t>Delivery Tips</a:t>
            </a: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Observed recurrence = what burned.</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Structural hazard = underlying landscape classification.</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Together = broader screening context.</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No model-accuracy claim is made from this comparison.</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The official ICNF layer is a reference, not the project’s ML output.</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KEY FINDING 3 — MODEL</a:t>
            </a:r>
          </a:p>
          <a:p>
            <a:pPr marL="0" indent="0">
              <a:buNone/>
            </a:pPr>
            <a:r>
              <a:rPr sz="1000">
                <a:solidFill>
                  <a:schemeClr val="accent6"/>
                </a:solidFill>
              </a:rPr>
              <a:t>model comparison</a:t>
            </a:r>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6 / 9</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The nine-feature model improves selected comparative diagnostics</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txBody>
          <a:bodyPr/>
          <a:lstStyle/>
          <a:p>
            <a:endParaRPr/>
          </a:p>
        </p:txBody>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MODEL COMPARISON</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801368"/>
            <a:ext cx="3611880" cy="246888"/>
          </a:xfrm>
          <a:prstGeom prst="rect">
            <a:avLst/>
          </a:prstGeom>
          <a:noFill/>
        </p:spPr>
        <p:txBody>
          <a:bodyPr wrap="square" lIns="0" tIns="0" rIns="0" bIns="0" anchor="ctr"/>
          <a:lstStyle/>
          <a:p>
            <a:r>
              <a:rPr sz="800"/>
              <a:t>Historical </a:t>
            </a:r>
            <a:r>
              <a:rPr sz="800" b="1"/>
              <a:t>recurrence</a:t>
            </a:r>
            <a:r>
              <a:rPr sz="800"/>
              <a:t> benchmark </a:t>
            </a:r>
            <a:r>
              <a:rPr sz="850">
                <a:solidFill>
                  <a:srgbClr val="1A2638"/>
                </a:solidFill>
              </a:rPr>
              <a:t> -&gt; </a:t>
            </a:r>
            <a:r>
              <a:rPr sz="800" b="1"/>
              <a:t>Nine-feature</a:t>
            </a:r>
            <a:r>
              <a:rPr sz="800"/>
              <a:t> Model</a:t>
            </a:r>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dirty="0">
                <a:solidFill>
                  <a:srgbClr val="1A2638"/>
                </a:solidFill>
              </a:rPr>
              <a:t>Historical recurrence baseline</a:t>
            </a:r>
          </a:p>
          <a:p>
            <a:pPr marL="171450" indent="-171450">
              <a:buFont typeface="Arial" panose="020B0604020202020204" pitchFamily="34" charset="0"/>
              <a:buChar char="•"/>
            </a:pPr>
            <a:r>
              <a:rPr lang="en-US" sz="700" i="1" dirty="0">
                <a:solidFill>
                  <a:schemeClr val="bg1">
                    <a:lumMod val="50000"/>
                  </a:schemeClr>
                </a:solidFill>
              </a:rPr>
              <a:t>the custom </a:t>
            </a:r>
            <a:r>
              <a:rPr lang="en-US" sz="700" b="1" i="1" dirty="0" err="1">
                <a:solidFill>
                  <a:schemeClr val="bg1">
                    <a:lumMod val="50000"/>
                  </a:schemeClr>
                </a:solidFill>
              </a:rPr>
              <a:t>HistoricalFireMeanRegressor</a:t>
            </a:r>
            <a:r>
              <a:rPr lang="en-US" sz="600" i="1" dirty="0">
                <a:solidFill>
                  <a:schemeClr val="bg1">
                    <a:lumMod val="50000"/>
                  </a:schemeClr>
                </a:solidFill>
              </a:rPr>
              <a:t> - </a:t>
            </a:r>
            <a:r>
              <a:rPr sz="700" i="1" dirty="0">
                <a:solidFill>
                  <a:schemeClr val="tx1">
                    <a:lumMod val="50000"/>
                    <a:lumOff val="50000"/>
                  </a:schemeClr>
                </a:solidFill>
              </a:rPr>
              <a:t>a simple reference based only on previous burned-year counts</a:t>
            </a:r>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548640"/>
          </a:xfrm>
          <a:prstGeom prst="rect">
            <a:avLst/>
          </a:prstGeom>
          <a:noFill/>
        </p:spPr>
        <p:txBody>
          <a:bodyPr wrap="square" lIns="0" tIns="0" rIns="0" bIns="0" anchor="ctr"/>
          <a:lstStyle/>
          <a:p>
            <a:r>
              <a:rPr sz="850">
                <a:solidFill>
                  <a:srgbClr val="1A2638"/>
                </a:solidFill>
              </a:rPr>
              <a:t>Nine-feature two-stage regression model:</a:t>
            </a:r>
          </a:p>
          <a:p>
            <a:pPr marL="171450" indent="-171450">
              <a:buFont typeface="Arial"/>
              <a:buChar char="•"/>
            </a:pPr>
            <a:r>
              <a:rPr sz="700" b="1" i="1">
                <a:solidFill>
                  <a:schemeClr val="tx1">
                    <a:lumMod val="50000"/>
                    <a:lumOff val="50000"/>
                  </a:schemeClr>
                </a:solidFill>
              </a:rPr>
              <a:t>HistGradientBoostingClassifier</a:t>
            </a:r>
            <a:r>
              <a:rPr sz="700" i="1">
                <a:solidFill>
                  <a:schemeClr val="tx1">
                    <a:lumMod val="50000"/>
                    <a:lumOff val="50000"/>
                  </a:schemeClr>
                </a:solidFill>
              </a:rPr>
              <a:t> for occurrence</a:t>
            </a:r>
          </a:p>
          <a:p>
            <a:pPr marL="171450" indent="-171450">
              <a:buFont typeface="Arial"/>
              <a:buChar char="•"/>
            </a:pPr>
            <a:r>
              <a:rPr sz="700" b="1" i="1">
                <a:solidFill>
                  <a:schemeClr val="tx1">
                    <a:lumMod val="50000"/>
                    <a:lumOff val="50000"/>
                  </a:schemeClr>
                </a:solidFill>
              </a:rPr>
              <a:t>HistGradientBoostingRegressor</a:t>
            </a:r>
            <a:r>
              <a:rPr sz="700" i="1">
                <a:solidFill>
                  <a:schemeClr val="tx1">
                    <a:lumMod val="50000"/>
                    <a:lumOff val="50000"/>
                  </a:schemeClr>
                </a:solidFill>
              </a:rPr>
              <a:t> for positive burned share</a:t>
            </a:r>
          </a:p>
          <a:p>
            <a:r>
              <a:rPr sz="700" i="1">
                <a:solidFill>
                  <a:schemeClr val="tx1">
                    <a:lumMod val="50000"/>
                    <a:lumOff val="50000"/>
                  </a:schemeClr>
                </a:solidFill>
              </a:rPr>
              <a:t>the accepted model using fire history, land cover, terrain, and climate predictors</a:t>
            </a:r>
            <a:endParaRPr sz="800"/>
          </a:p>
          <a:p>
            <a:pPr marL="0" indent="0">
              <a:buNone/>
            </a:pPr>
            <a:endParaRPr sz="850" b="1"/>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dirty="0">
                <a:solidFill>
                  <a:srgbClr val="1A2638"/>
                </a:solidFill>
              </a:rPr>
              <a:t>MAE: 0.029</a:t>
            </a:r>
            <a:r>
              <a:rPr lang="en-US" sz="850" dirty="0">
                <a:solidFill>
                  <a:srgbClr val="1A2638"/>
                </a:solidFill>
              </a:rPr>
              <a:t>2</a:t>
            </a:r>
            <a:r>
              <a:rPr sz="850" dirty="0">
                <a:solidFill>
                  <a:srgbClr val="1A2638"/>
                </a:solidFill>
              </a:rPr>
              <a:t>  -&gt;  0.0209</a:t>
            </a:r>
            <a:endParaRPr sz="850" dirty="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dirty="0">
                <a:solidFill>
                  <a:srgbClr val="1A2638"/>
                </a:solidFill>
              </a:rPr>
              <a:t>RMSE: 0.110</a:t>
            </a:r>
            <a:r>
              <a:rPr lang="en-US" sz="850" dirty="0">
                <a:solidFill>
                  <a:srgbClr val="1A2638"/>
                </a:solidFill>
              </a:rPr>
              <a:t>6</a:t>
            </a:r>
            <a:r>
              <a:rPr sz="850" dirty="0">
                <a:solidFill>
                  <a:srgbClr val="1A2638"/>
                </a:solidFill>
              </a:rPr>
              <a:t>  -&gt;  0.11</a:t>
            </a:r>
            <a:r>
              <a:rPr lang="en-US" sz="850" dirty="0">
                <a:solidFill>
                  <a:srgbClr val="1A2638"/>
                </a:solidFill>
              </a:rPr>
              <a:t>10</a:t>
            </a:r>
            <a:endParaRPr sz="850" dirty="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dirty="0">
                <a:solidFill>
                  <a:srgbClr val="1A2638"/>
                </a:solidFill>
              </a:rPr>
              <a:t>Capture@20%: 40.</a:t>
            </a:r>
            <a:r>
              <a:rPr lang="en-US" sz="850" dirty="0">
                <a:solidFill>
                  <a:srgbClr val="1A2638"/>
                </a:solidFill>
              </a:rPr>
              <a:t>2</a:t>
            </a:r>
            <a:r>
              <a:rPr sz="850" dirty="0">
                <a:solidFill>
                  <a:srgbClr val="1A2638"/>
                </a:solidFill>
              </a:rPr>
              <a:t>%  -&gt;  57.2%</a:t>
            </a:r>
          </a:p>
          <a:p>
            <a:r>
              <a:rPr lang="en-US" sz="700" i="1" dirty="0">
                <a:solidFill>
                  <a:schemeClr val="tx1">
                    <a:lumMod val="50000"/>
                    <a:lumOff val="50000"/>
                  </a:schemeClr>
                </a:solidFill>
              </a:rPr>
              <a:t>how much of the observed burned-share total occurred within the highest-ranked 20% of final-evaluation cell-year records</a:t>
            </a:r>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65092"/>
            <a:ext cx="3611880" cy="347472"/>
          </a:xfrm>
          <a:prstGeom prst="rect">
            <a:avLst/>
          </a:prstGeom>
          <a:noFill/>
        </p:spPr>
        <p:txBody>
          <a:bodyPr wrap="square" lIns="0" tIns="0" rIns="0" bIns="0" anchor="ctr"/>
          <a:lstStyle/>
          <a:p>
            <a:r>
              <a:rPr sz="800" dirty="0"/>
              <a:t>Final temporal evaluation: T=2022–2024 </a:t>
            </a:r>
            <a:r>
              <a:rPr lang="en-US" sz="800" dirty="0"/>
              <a:t>-&gt;</a:t>
            </a:r>
            <a:r>
              <a:rPr sz="800" dirty="0"/>
              <a:t> observed outcomes 2023–2025</a:t>
            </a:r>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0916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09160" y="1298448"/>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HOW TO READ IT</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Technical</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MAE is average error in burned-share units; lower is better.</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RMSE gives more weight to larger errors; lower is better.</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dirty="0">
                <a:solidFill>
                  <a:srgbClr val="1A2638"/>
                </a:solidFill>
              </a:rPr>
              <a:t>Capture@20% is the share of observed burned share found among the 20% highest-scored </a:t>
            </a:r>
            <a:r>
              <a:rPr lang="en-US" sz="800" dirty="0">
                <a:solidFill>
                  <a:srgbClr val="1A2638"/>
                </a:solidFill>
              </a:rPr>
              <a:t>records</a:t>
            </a:r>
            <a:r>
              <a:rPr sz="800" dirty="0">
                <a:solidFill>
                  <a:srgbClr val="1A2638"/>
                </a:solidFill>
              </a:rPr>
              <a:t>.</a:t>
            </a:r>
            <a:endParaRPr sz="800" dirty="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127248"/>
            <a:ext cx="3886200" cy="256032"/>
          </a:xfrm>
          <a:prstGeom prst="rect">
            <a:avLst/>
          </a:prstGeom>
          <a:noFill/>
        </p:spPr>
        <p:txBody>
          <a:bodyPr wrap="square" lIns="0" tIns="0" rIns="0" bIns="0" anchor="ctr"/>
          <a:lstStyle/>
          <a:p>
            <a:pPr marL="0" indent="0">
              <a:buNone/>
            </a:pPr>
            <a:r>
              <a:rPr sz="800" b="1">
                <a:solidFill>
                  <a:srgbClr val="5B6880"/>
                </a:solidFill>
              </a:rPr>
              <a:t>Delivery Tips</a:t>
            </a: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r>
              <a:rPr sz="750" b="1">
                <a:solidFill>
                  <a:srgbClr val="E8A020"/>
                </a:solidFill>
              </a:rPr>
              <a:t>It is a ranking diagnostic, not a buyer threshold.</a:t>
            </a: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The model improves selected comparisons, but extreme fire years remain difficult.</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dirty="0">
                <a:solidFill>
                  <a:srgbClr val="E8A020"/>
                </a:solidFill>
              </a:rPr>
              <a:t>The target is </a:t>
            </a:r>
            <a:r>
              <a:rPr sz="800" b="1" u="sng" dirty="0">
                <a:solidFill>
                  <a:srgbClr val="E8A020"/>
                </a:solidFill>
              </a:rPr>
              <a:t>continuous</a:t>
            </a:r>
            <a:r>
              <a:rPr sz="750" b="1" u="sng" dirty="0">
                <a:solidFill>
                  <a:srgbClr val="E8A020"/>
                </a:solidFill>
              </a:rPr>
              <a:t> </a:t>
            </a:r>
            <a:r>
              <a:rPr sz="800" b="1" u="sng" dirty="0">
                <a:solidFill>
                  <a:srgbClr val="E8A020"/>
                </a:solidFill>
              </a:rPr>
              <a:t>burned share</a:t>
            </a:r>
            <a:r>
              <a:rPr sz="750" b="1" dirty="0">
                <a:solidFill>
                  <a:srgbClr val="E8A020"/>
                </a:solidFill>
              </a:rPr>
              <a:t>: burned land area divided by cell land area.</a:t>
            </a:r>
            <a:endParaRPr sz="750" dirty="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dirty="0">
                <a:solidFill>
                  <a:srgbClr val="E8A020"/>
                </a:solidFill>
              </a:rPr>
              <a:t>The nine-feature model uses a two-part regression for the zero-heavy target.</a:t>
            </a:r>
            <a:endParaRPr sz="750" dirty="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No final-evaluation result is used to claim a property-level forecast.</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Conclusion: useful comparative improvement with visible uncertainty.</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Shape 0">
            <a:extLst>
              <a:ext uri="{FF2B5EF4-FFF2-40B4-BE49-F238E27FC236}">
                <a16:creationId xmlns:a16="http://schemas.microsoft.com/office/drawing/2014/main" id="{9E3B76F2-BCC7-BBF0-1273-7B2C877F93D3}"/>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42" name="Shape 1">
            <a:extLst>
              <a:ext uri="{FF2B5EF4-FFF2-40B4-BE49-F238E27FC236}">
                <a16:creationId xmlns:a16="http://schemas.microsoft.com/office/drawing/2014/main" id="{4EF0D36C-C357-E332-9FBF-445832165DBE}"/>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3" name="Shape 2">
            <a:extLst>
              <a:ext uri="{FF2B5EF4-FFF2-40B4-BE49-F238E27FC236}">
                <a16:creationId xmlns:a16="http://schemas.microsoft.com/office/drawing/2014/main" id="{1CFE74E3-3462-A34A-4A20-31F9DE9FBFC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44" name="Text 3">
            <a:extLst>
              <a:ext uri="{FF2B5EF4-FFF2-40B4-BE49-F238E27FC236}">
                <a16:creationId xmlns:a16="http://schemas.microsoft.com/office/drawing/2014/main" id="{0D45B056-7786-F6DB-DB67-68872420F5BA}"/>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RECOMMENDED USE CASE</a:t>
            </a:r>
            <a:endParaRPr sz="1100"/>
          </a:p>
        </p:txBody>
      </p:sp>
      <p:sp>
        <p:nvSpPr>
          <p:cNvPr id="45" name="Text 4">
            <a:extLst>
              <a:ext uri="{FF2B5EF4-FFF2-40B4-BE49-F238E27FC236}">
                <a16:creationId xmlns:a16="http://schemas.microsoft.com/office/drawing/2014/main" id="{41DC7F03-CAB9-6A42-265A-C46904C8AFD1}"/>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7 / 9</a:t>
            </a:r>
            <a:endParaRPr sz="1100"/>
          </a:p>
        </p:txBody>
      </p:sp>
      <p:sp>
        <p:nvSpPr>
          <p:cNvPr id="46" name="Text 5">
            <a:extLst>
              <a:ext uri="{FF2B5EF4-FFF2-40B4-BE49-F238E27FC236}">
                <a16:creationId xmlns:a16="http://schemas.microsoft.com/office/drawing/2014/main" id="{D847301C-C927-7FAC-A769-4C641A7B5D35}"/>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A prospective buyer narrows a Portugal location search</a:t>
            </a:r>
            <a:endParaRPr sz="1600"/>
          </a:p>
        </p:txBody>
      </p:sp>
      <p:sp>
        <p:nvSpPr>
          <p:cNvPr id="47" name="Shape 6">
            <a:extLst>
              <a:ext uri="{FF2B5EF4-FFF2-40B4-BE49-F238E27FC236}">
                <a16:creationId xmlns:a16="http://schemas.microsoft.com/office/drawing/2014/main" id="{F70699D7-5B53-2C77-0175-B3B78E7EF30C}"/>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48" name="Shape 7">
            <a:extLst>
              <a:ext uri="{FF2B5EF4-FFF2-40B4-BE49-F238E27FC236}">
                <a16:creationId xmlns:a16="http://schemas.microsoft.com/office/drawing/2014/main" id="{111BE822-2C18-0A11-F129-F8D5751595BB}"/>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49" name="Text 8">
            <a:extLst>
              <a:ext uri="{FF2B5EF4-FFF2-40B4-BE49-F238E27FC236}">
                <a16:creationId xmlns:a16="http://schemas.microsoft.com/office/drawing/2014/main" id="{F7C43176-6DA9-3BA7-4DE8-A4C84CEC076C}"/>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START WITH</a:t>
            </a:r>
            <a:endParaRPr sz="1100"/>
          </a:p>
        </p:txBody>
      </p:sp>
      <p:sp>
        <p:nvSpPr>
          <p:cNvPr id="50" name="Text 9">
            <a:extLst>
              <a:ext uri="{FF2B5EF4-FFF2-40B4-BE49-F238E27FC236}">
                <a16:creationId xmlns:a16="http://schemas.microsoft.com/office/drawing/2014/main" id="{25E0079F-7E52-BCD6-436F-A2013D60831A}"/>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2026 comparative estimate</a:t>
            </a:r>
            <a:endParaRPr sz="800"/>
          </a:p>
        </p:txBody>
      </p:sp>
      <p:sp>
        <p:nvSpPr>
          <p:cNvPr id="51" name="Text 10">
            <a:extLst>
              <a:ext uri="{FF2B5EF4-FFF2-40B4-BE49-F238E27FC236}">
                <a16:creationId xmlns:a16="http://schemas.microsoft.com/office/drawing/2014/main" id="{35DCCB06-55A6-7118-8D80-0423179BFA58}"/>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Compare broad 1 km areas using 2025 predictor inputs.</a:t>
            </a:r>
            <a:endParaRPr sz="850"/>
          </a:p>
        </p:txBody>
      </p:sp>
      <p:sp>
        <p:nvSpPr>
          <p:cNvPr id="52" name="Shape 11">
            <a:extLst>
              <a:ext uri="{FF2B5EF4-FFF2-40B4-BE49-F238E27FC236}">
                <a16:creationId xmlns:a16="http://schemas.microsoft.com/office/drawing/2014/main" id="{48892306-CBC7-1476-476D-AF940872013E}"/>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53" name="Text 12">
            <a:extLst>
              <a:ext uri="{FF2B5EF4-FFF2-40B4-BE49-F238E27FC236}">
                <a16:creationId xmlns:a16="http://schemas.microsoft.com/office/drawing/2014/main" id="{524E6A7B-8390-A7C3-5810-F79BE56CA14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COMPARE CONTEXT</a:t>
            </a:r>
            <a:endParaRPr sz="800"/>
          </a:p>
        </p:txBody>
      </p:sp>
      <p:sp>
        <p:nvSpPr>
          <p:cNvPr id="54" name="Text 13">
            <a:extLst>
              <a:ext uri="{FF2B5EF4-FFF2-40B4-BE49-F238E27FC236}">
                <a16:creationId xmlns:a16="http://schemas.microsoft.com/office/drawing/2014/main" id="{D813BEB0-AB29-1201-6C98-83ED8F0166C5}"/>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Historical recurrence + official ICNF structural hazard</a:t>
            </a:r>
            <a:endParaRPr sz="750"/>
          </a:p>
        </p:txBody>
      </p:sp>
      <p:sp>
        <p:nvSpPr>
          <p:cNvPr id="55" name="Text 14">
            <a:extLst>
              <a:ext uri="{FF2B5EF4-FFF2-40B4-BE49-F238E27FC236}">
                <a16:creationId xmlns:a16="http://schemas.microsoft.com/office/drawing/2014/main" id="{1640E6C2-2736-6C47-08A7-E76229CD60DE}"/>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Read these layers alongside the estimate before shortlisting areas.</a:t>
            </a:r>
            <a:endParaRPr sz="750"/>
          </a:p>
        </p:txBody>
      </p:sp>
      <p:sp>
        <p:nvSpPr>
          <p:cNvPr id="56" name="Text 15">
            <a:extLst>
              <a:ext uri="{FF2B5EF4-FFF2-40B4-BE49-F238E27FC236}">
                <a16:creationId xmlns:a16="http://schemas.microsoft.com/office/drawing/2014/main" id="{E7998FAA-1292-DEE4-FBBA-DA72F51BBE8F}"/>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57" name="Shape 16">
            <a:extLst>
              <a:ext uri="{FF2B5EF4-FFF2-40B4-BE49-F238E27FC236}">
                <a16:creationId xmlns:a16="http://schemas.microsoft.com/office/drawing/2014/main" id="{AA16804A-52B3-003F-850D-E763525EBF82}"/>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58" name="Shape 17">
            <a:extLst>
              <a:ext uri="{FF2B5EF4-FFF2-40B4-BE49-F238E27FC236}">
                <a16:creationId xmlns:a16="http://schemas.microsoft.com/office/drawing/2014/main" id="{A132002A-B816-4B27-A659-A2A2193BD4C4}"/>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59" name="Text 18">
            <a:extLst>
              <a:ext uri="{FF2B5EF4-FFF2-40B4-BE49-F238E27FC236}">
                <a16:creationId xmlns:a16="http://schemas.microsoft.com/office/drawing/2014/main" id="{E937C9EB-5EC4-4BED-DCC0-EEB4268C59F9}"/>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SHORTLIST AREAS</a:t>
            </a:r>
            <a:endParaRPr sz="1100"/>
          </a:p>
        </p:txBody>
      </p:sp>
      <p:sp>
        <p:nvSpPr>
          <p:cNvPr id="60" name="Text 19">
            <a:extLst>
              <a:ext uri="{FF2B5EF4-FFF2-40B4-BE49-F238E27FC236}">
                <a16:creationId xmlns:a16="http://schemas.microsoft.com/office/drawing/2014/main" id="{922D1C3D-92F4-7A52-D254-13F805D6760C}"/>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Focus local research</a:t>
            </a:r>
            <a:endParaRPr sz="800"/>
          </a:p>
        </p:txBody>
      </p:sp>
      <p:sp>
        <p:nvSpPr>
          <p:cNvPr id="61" name="Text 20">
            <a:extLst>
              <a:ext uri="{FF2B5EF4-FFF2-40B4-BE49-F238E27FC236}">
                <a16:creationId xmlns:a16="http://schemas.microsoft.com/office/drawing/2014/main" id="{DD31154A-7340-6BA1-B58C-EB0C128FA94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Use the three maps to decide which broad areas deserve a closer look.</a:t>
            </a:r>
            <a:endParaRPr sz="850"/>
          </a:p>
        </p:txBody>
      </p:sp>
      <p:sp>
        <p:nvSpPr>
          <p:cNvPr id="62" name="Shape 21">
            <a:extLst>
              <a:ext uri="{FF2B5EF4-FFF2-40B4-BE49-F238E27FC236}">
                <a16:creationId xmlns:a16="http://schemas.microsoft.com/office/drawing/2014/main" id="{E3A1950C-3E98-2A41-9F7B-763C1A1EFE02}"/>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63" name="Text 22">
            <a:extLst>
              <a:ext uri="{FF2B5EF4-FFF2-40B4-BE49-F238E27FC236}">
                <a16:creationId xmlns:a16="http://schemas.microsoft.com/office/drawing/2014/main" id="{E3161D18-B8A1-E487-12AB-44CC4A732529}"/>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VISIT AND INVESTIGATE</a:t>
            </a:r>
            <a:endParaRPr sz="800"/>
          </a:p>
        </p:txBody>
      </p:sp>
      <p:sp>
        <p:nvSpPr>
          <p:cNvPr id="64" name="Text 23">
            <a:extLst>
              <a:ext uri="{FF2B5EF4-FFF2-40B4-BE49-F238E27FC236}">
                <a16:creationId xmlns:a16="http://schemas.microsoft.com/office/drawing/2014/main" id="{5C353123-8232-42F8-D273-5CB954BA4BBD}"/>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Deepen the research</a:t>
            </a:r>
            <a:endParaRPr sz="750"/>
          </a:p>
        </p:txBody>
      </p:sp>
      <p:sp>
        <p:nvSpPr>
          <p:cNvPr id="65" name="Text 24">
            <a:extLst>
              <a:ext uri="{FF2B5EF4-FFF2-40B4-BE49-F238E27FC236}">
                <a16:creationId xmlns:a16="http://schemas.microsoft.com/office/drawing/2014/main" id="{825EE7D9-0624-FD50-1A14-73D146D6F995}"/>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Spend time on site visits and detailed research in shortlisted areas.</a:t>
            </a:r>
            <a:endParaRPr sz="750"/>
          </a:p>
        </p:txBody>
      </p:sp>
      <p:sp>
        <p:nvSpPr>
          <p:cNvPr id="66" name="Text 25">
            <a:extLst>
              <a:ext uri="{FF2B5EF4-FFF2-40B4-BE49-F238E27FC236}">
                <a16:creationId xmlns:a16="http://schemas.microsoft.com/office/drawing/2014/main" id="{2A24E586-B737-43CD-9410-9B7B599DB5E6}"/>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67" name="Shape 26">
            <a:extLst>
              <a:ext uri="{FF2B5EF4-FFF2-40B4-BE49-F238E27FC236}">
                <a16:creationId xmlns:a16="http://schemas.microsoft.com/office/drawing/2014/main" id="{E767105C-FE7D-D361-1E75-7B266D4ED118}"/>
              </a:ext>
            </a:extLst>
          </p:cNvPr>
          <p:cNvSpPr>
            <a:spLocks noGrp="1"/>
          </p:cNvSpPr>
          <p:nvPr/>
        </p:nvSpPr>
        <p:spPr>
          <a:xfrm>
            <a:off x="6345936" y="1371600"/>
            <a:ext cx="251460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68" name="Shape 27">
            <a:extLst>
              <a:ext uri="{FF2B5EF4-FFF2-40B4-BE49-F238E27FC236}">
                <a16:creationId xmlns:a16="http://schemas.microsoft.com/office/drawing/2014/main" id="{B5487368-1117-220F-0E2A-5055BCFA807D}"/>
              </a:ext>
            </a:extLst>
          </p:cNvPr>
          <p:cNvSpPr>
            <a:spLocks noGrp="1"/>
          </p:cNvSpPr>
          <p:nvPr/>
        </p:nvSpPr>
        <p:spPr>
          <a:xfrm>
            <a:off x="6345936" y="1371600"/>
            <a:ext cx="2514600" cy="384048"/>
          </a:xfrm>
          <a:prstGeom prst="rect">
            <a:avLst/>
          </a:prstGeom>
          <a:solidFill>
            <a:srgbClr val="2A9D61"/>
          </a:solidFill>
          <a:ln w="12700">
            <a:solidFill>
              <a:srgbClr val="2A9D61"/>
            </a:solidFill>
            <a:prstDash val="solid"/>
          </a:ln>
        </p:spPr>
      </p:sp>
      <p:sp>
        <p:nvSpPr>
          <p:cNvPr id="69" name="Text 28">
            <a:extLst>
              <a:ext uri="{FF2B5EF4-FFF2-40B4-BE49-F238E27FC236}">
                <a16:creationId xmlns:a16="http://schemas.microsoft.com/office/drawing/2014/main" id="{018CC755-0E76-B3F1-F302-F5429326FAFF}"/>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USE CASE OUTCOME</a:t>
            </a:r>
            <a:endParaRPr sz="1100"/>
          </a:p>
        </p:txBody>
      </p:sp>
      <p:sp>
        <p:nvSpPr>
          <p:cNvPr id="70" name="Text 29">
            <a:extLst>
              <a:ext uri="{FF2B5EF4-FFF2-40B4-BE49-F238E27FC236}">
                <a16:creationId xmlns:a16="http://schemas.microsoft.com/office/drawing/2014/main" id="{7D4F3FEA-36B1-CD37-33EC-8AFF9A2B185B}"/>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A smaller search area</a:t>
            </a:r>
            <a:endParaRPr sz="800"/>
          </a:p>
        </p:txBody>
      </p:sp>
      <p:sp>
        <p:nvSpPr>
          <p:cNvPr id="71" name="Text 30">
            <a:extLst>
              <a:ext uri="{FF2B5EF4-FFF2-40B4-BE49-F238E27FC236}">
                <a16:creationId xmlns:a16="http://schemas.microsoft.com/office/drawing/2014/main" id="{AEF56BD3-A919-2AB3-B917-DDF115F5DA1D}"/>
              </a:ext>
            </a:extLst>
          </p:cNvPr>
          <p:cNvSpPr>
            <a:spLocks noGrp="1"/>
          </p:cNvSpPr>
          <p:nvPr/>
        </p:nvSpPr>
        <p:spPr>
          <a:xfrm>
            <a:off x="6437376" y="2048256"/>
            <a:ext cx="2341179" cy="502920"/>
          </a:xfrm>
          <a:prstGeom prst="rect">
            <a:avLst/>
          </a:prstGeom>
          <a:noFill/>
        </p:spPr>
        <p:txBody>
          <a:bodyPr wrap="square" lIns="0" tIns="0" rIns="0" bIns="0" anchor="t"/>
          <a:lstStyle/>
          <a:p>
            <a:pPr marL="0" indent="0">
              <a:buNone/>
            </a:pPr>
            <a:r>
              <a:rPr sz="850">
                <a:solidFill>
                  <a:srgbClr val="1A2638"/>
                </a:solidFill>
              </a:rPr>
              <a:t>The QGIS layers help organise a national search.</a:t>
            </a:r>
            <a:endParaRPr sz="850"/>
          </a:p>
        </p:txBody>
      </p:sp>
      <p:sp>
        <p:nvSpPr>
          <p:cNvPr id="72" name="Shape 31">
            <a:extLst>
              <a:ext uri="{FF2B5EF4-FFF2-40B4-BE49-F238E27FC236}">
                <a16:creationId xmlns:a16="http://schemas.microsoft.com/office/drawing/2014/main" id="{B21EFAC5-18BF-7EC7-FCA7-6D5743FCEF9F}"/>
              </a:ext>
            </a:extLst>
          </p:cNvPr>
          <p:cNvSpPr>
            <a:spLocks noGrp="1"/>
          </p:cNvSpPr>
          <p:nvPr/>
        </p:nvSpPr>
        <p:spPr>
          <a:xfrm>
            <a:off x="6437376" y="2578608"/>
            <a:ext cx="2341179" cy="502920"/>
          </a:xfrm>
          <a:prstGeom prst="rect">
            <a:avLst/>
          </a:prstGeom>
          <a:solidFill>
            <a:srgbClr val="E6F5EE"/>
          </a:solidFill>
          <a:ln w="12700">
            <a:solidFill>
              <a:srgbClr val="E6F5EE"/>
            </a:solidFill>
            <a:prstDash val="solid"/>
          </a:ln>
        </p:spPr>
      </p:sp>
      <p:sp>
        <p:nvSpPr>
          <p:cNvPr id="73" name="Text 32">
            <a:extLst>
              <a:ext uri="{FF2B5EF4-FFF2-40B4-BE49-F238E27FC236}">
                <a16:creationId xmlns:a16="http://schemas.microsoft.com/office/drawing/2014/main" id="{B56BD828-01DF-272F-8543-67D8E7206C89}"/>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LOCAL EVIDENCE</a:t>
            </a:r>
            <a:endParaRPr sz="800"/>
          </a:p>
        </p:txBody>
      </p:sp>
      <p:sp>
        <p:nvSpPr>
          <p:cNvPr id="74" name="Text 33">
            <a:extLst>
              <a:ext uri="{FF2B5EF4-FFF2-40B4-BE49-F238E27FC236}">
                <a16:creationId xmlns:a16="http://schemas.microsoft.com/office/drawing/2014/main" id="{7C7E5895-F34D-DA1E-E30A-C36D5D6775D9}"/>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Verify before deciding</a:t>
            </a:r>
            <a:endParaRPr sz="750"/>
          </a:p>
        </p:txBody>
      </p:sp>
      <p:sp>
        <p:nvSpPr>
          <p:cNvPr id="75" name="Text 34">
            <a:extLst>
              <a:ext uri="{FF2B5EF4-FFF2-40B4-BE49-F238E27FC236}">
                <a16:creationId xmlns:a16="http://schemas.microsoft.com/office/drawing/2014/main" id="{91730462-287D-DD99-AC73-8CDB97A5A7BD}"/>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Check planning, access, insurance, terrain and property-specific evidence.</a:t>
            </a:r>
            <a:endParaRPr sz="750"/>
          </a:p>
        </p:txBody>
      </p:sp>
      <p:sp>
        <p:nvSpPr>
          <p:cNvPr id="76" name="Shape 35">
            <a:extLst>
              <a:ext uri="{FF2B5EF4-FFF2-40B4-BE49-F238E27FC236}">
                <a16:creationId xmlns:a16="http://schemas.microsoft.com/office/drawing/2014/main" id="{EE052AFC-8FB4-ECF7-88CC-4487AE42F56C}"/>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77" name="Text 36">
            <a:extLst>
              <a:ext uri="{FF2B5EF4-FFF2-40B4-BE49-F238E27FC236}">
                <a16:creationId xmlns:a16="http://schemas.microsoft.com/office/drawing/2014/main" id="{C306DBE1-591D-91A0-2800-8563622FC938}"/>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The output helps organise the search; local evidence supports the final choice.</a:t>
            </a:r>
            <a:endParaRPr sz="850"/>
          </a:p>
        </p:txBody>
      </p:sp>
      <p:sp>
        <p:nvSpPr>
          <p:cNvPr id="78" name="Shape 37">
            <a:extLst>
              <a:ext uri="{FF2B5EF4-FFF2-40B4-BE49-F238E27FC236}">
                <a16:creationId xmlns:a16="http://schemas.microsoft.com/office/drawing/2014/main" id="{453F1B67-702E-243E-FB47-4CA2B5119EA1}"/>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79" name="Text 38">
            <a:extLst>
              <a:ext uri="{FF2B5EF4-FFF2-40B4-BE49-F238E27FC236}">
                <a16:creationId xmlns:a16="http://schemas.microsoft.com/office/drawing/2014/main" id="{A5F23304-A068-58EC-920B-B28883DF7C8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RECOMMENDATIONS 2 + 3</a:t>
            </a:r>
            <a:endParaRPr sz="1100"/>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8 / 9</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Compare the evidence layers, then verify locally</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RECOMMENDATION 2 — COMPARE FIRST</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sz="850">
                <a:solidFill>
                  <a:srgbClr val="1A2638"/>
                </a:solidFill>
              </a:rPr>
              <a:t>Use the 2026 comparative estimate to narrow broad areas.</a:t>
            </a:r>
            <a:endParaRPr sz="85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Check 2016–2025 observed recurrence in the 2 km context.</a:t>
            </a:r>
            <a:endParaRPr sz="850"/>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347472"/>
          </a:xfrm>
          <a:prstGeom prst="rect">
            <a:avLst/>
          </a:prstGeom>
          <a:noFill/>
        </p:spPr>
        <p:txBody>
          <a:bodyPr wrap="square" lIns="0" tIns="0" rIns="0" bIns="0" anchor="ctr"/>
          <a:lstStyle/>
          <a:p>
            <a:pPr marL="0" indent="0">
              <a:buNone/>
            </a:pPr>
            <a:r>
              <a:rPr sz="850">
                <a:solidFill>
                  <a:srgbClr val="1A2638"/>
                </a:solidFill>
              </a:rPr>
              <a:t>Compare the official ICNF structural-hazard class.</a:t>
            </a:r>
            <a:endParaRPr sz="85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Read the three layers together before shortlisting areas.</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Do not merge the layers into one score.</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They answer different questions and provide complementary context.</a:t>
            </a:r>
            <a:endParaRPr sz="85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Shortlist only after comparing them.</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0916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09160" y="1298448"/>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RECOMMENDATION 3 — VERIFY LOCALLY</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Local evidence</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Review planning, access, insurance, terrain and site conditions.</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Use property-specific evidence before deciding.</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The model directs research effort; it does not replace local investigation.</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127248"/>
            <a:ext cx="3886200" cy="256032"/>
          </a:xfrm>
          <a:prstGeom prst="rect">
            <a:avLst/>
          </a:prstGeom>
          <a:noFill/>
        </p:spPr>
        <p:txBody>
          <a:bodyPr wrap="square" lIns="0" tIns="0" rIns="0" bIns="0" anchor="ctr"/>
          <a:lstStyle/>
          <a:p>
            <a:pPr marL="0" indent="0">
              <a:buNone/>
            </a:pP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r>
              <a:rPr sz="750" b="1">
                <a:solidFill>
                  <a:srgbClr val="E8A020"/>
                </a:solidFill>
              </a:rPr>
              <a:t>KEY MESSAGE</a:t>
            </a: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Compare layers.</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Shortlist areas.</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Verify locally.</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Use evidence before deciding.</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Use the model to direct research effort, not to replace local investigation.</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
        <p:nvSpPr>
          <p:cNvPr id="55" name="hide-delivery-tips">
            <a:extLst>
              <a:ext uri="{FF2B5EF4-FFF2-40B4-BE49-F238E27FC236}">
                <a16:creationId xmlns:a16="http://schemas.microsoft.com/office/drawing/2014/main" id="{EB287470-0350-4395-9139-4FFB77AD54F0}"/>
              </a:ext>
            </a:extLst>
          </p:cNvPr>
          <p:cNvSpPr>
            <a:spLocks noGrp="1"/>
          </p:cNvSpPr>
          <p:nvPr/>
        </p:nvSpPr>
        <p:spPr>
          <a:xfrm>
            <a:off x="4733925" y="3133725"/>
            <a:ext cx="1333500" cy="209550"/>
          </a:xfrm>
          <a:prstGeom prst="rect">
            <a:avLst/>
          </a:prstGeom>
          <a:solidFill>
            <a:srgbClr val="FFFFFF"/>
          </a:solidFill>
          <a:ln w="0">
            <a:noFill/>
            <a:prstDash val="solid"/>
          </a:ln>
        </p:spPr>
      </p:sp>
    </p:spTree>
    <p:extLst>
      <p:ext uri="{BB962C8B-B14F-4D97-AF65-F5344CB8AC3E}">
        <p14:creationId xmlns:p14="http://schemas.microsoft.com/office/powerpoint/2010/main" val="17917816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CONCLUSION AND NEXT STEP</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9 / 9</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The project narrows the search area and keeps evidence traceable</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DELIVERED</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Reproducible national workflow</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One 1 km grid, validated sources, a nine-feature model and QGIS layers.</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HISTORICAL + GIS CONTEXT</a:t>
            </a:r>
            <a:endParaRPr sz="80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Observed 2016–2025 recurrence + official ICNF structural-hazard reference.</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Together they provide context for broad-area comparison.</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MODEL RESULT</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Modest improvement over the baseline</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The nine-feature model improves selected diagnostics; extreme fire outcomes remain difficult.</a:t>
            </a:r>
            <a:endParaRPr sz="85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PRACTICAL USE</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Narrow broad search areas</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Use the maps to organise local research before detailed investigation.</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-&gt;</a:t>
            </a:r>
            <a:endParaRPr sz="200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51460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523744"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NEXT PROJECT STEP</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Refresh and evaluate</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340864" cy="502920"/>
          </a:xfrm>
          <a:prstGeom prst="rect">
            <a:avLst/>
          </a:prstGeom>
          <a:noFill/>
        </p:spPr>
        <p:txBody>
          <a:bodyPr wrap="square" lIns="0" tIns="0" rIns="0" bIns="0" anchor="t"/>
          <a:lstStyle/>
          <a:p>
            <a:pPr marL="0" indent="0">
              <a:buNone/>
            </a:pPr>
            <a:r>
              <a:rPr sz="850">
                <a:solidFill>
                  <a:srgbClr val="1A2638"/>
                </a:solidFill>
              </a:rPr>
              <a:t>When new completed-year data and the 2026 outcome are available, rerun the fixed workflow and evaluate the 2026 estimate.</a:t>
            </a:r>
            <a:endParaRPr sz="85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340864"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PRACTICAL RESULT</a:t>
            </a:r>
            <a:endParaRPr sz="80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A focused location search</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Local planning, access, insurance, terrain and property evidence complete the decision.</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The model makes the first stage of location research more focused.</a:t>
            </a:r>
            <a:endParaRPr sz="85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192</TotalTime>
  <Words>3588</Words>
  <Application>Microsoft Office PowerPoint</Application>
  <DocSecurity>0</DocSecurity>
  <PresentationFormat>On-screen Show (16:9)</PresentationFormat>
  <Paragraphs>401</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cp:lastModifiedBy>Sergey Dyadechko</cp:lastModifiedBy>
  <cp:revision>46</cp:revision>
  <dcterms:created xsi:type="dcterms:W3CDTF">2026-08-15T11:30:04Z</dcterms:created>
  <dcterms:modified xsi:type="dcterms:W3CDTF">2026-08-18T08:24:43Z</dcterms:modified>
</cp:coreProperties>
</file>