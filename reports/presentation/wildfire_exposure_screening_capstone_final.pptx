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232" autoAdjust="0"/>
  </p:normalViewPr>
  <p:slideViewPr>
    <p:cSldViewPr snapToGrid="0" snapToObjects="1">
      <p:cViewPr varScale="1">
        <p:scale>
          <a:sx n="100" d="100"/>
          <a:sy n="100" d="100"/>
        </p:scale>
        <p:origin x="1113"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modestly improves useful comparative diagnostics over historical recurrence alone, while extreme events remain difficult.</a:t>
            </a:r>
          </a:p>
          <a:p>
            <a:endParaRPr lang="en-US" dirty="0"/>
          </a:p>
          <a:p>
            <a:r>
              <a:rPr lang="en-US" b="1" dirty="0"/>
              <a:t>What to </a:t>
            </a:r>
            <a:r>
              <a:rPr lang="en-US" b="1" dirty="0" err="1"/>
              <a:t>say:s</a:t>
            </a:r>
            <a:endParaRPr lang="en-US" dirty="0"/>
          </a:p>
          <a:p>
            <a:r>
              <a:rPr lang="en-US" dirty="0"/>
              <a:t>“This slide compares two approaches using the held-out final period: predictor years 2022–2024 and observed outcomes 2023–2025.</a:t>
            </a:r>
          </a:p>
          <a:p>
            <a:r>
              <a:rPr lang="en-US" dirty="0"/>
              <a:t>The historical-recurrence baseline is a transparent project benchmark. It groups training records by the number of previously burned years in the 2 km context and uses the training-period average next-year burned share for each group. It is not a library model.</a:t>
            </a:r>
          </a:p>
          <a:p>
            <a:r>
              <a:rPr lang="en-US" dirty="0"/>
              <a:t>The nine-feature two-stage regression uses </a:t>
            </a:r>
            <a:r>
              <a:rPr lang="en-US" dirty="0" err="1"/>
              <a:t>HistGradientBoosting</a:t>
            </a:r>
            <a:r>
              <a:rPr lang="en-US" dirty="0"/>
              <a:t>. First, it estimates whether burning is expected in a cell. Second, when burning is expected, it estimates how much of the cell’s land area may burn. The two parts are combined into one continuous estimated burned share.</a:t>
            </a:r>
          </a:p>
          <a:p>
            <a:r>
              <a:rPr lang="en-US" dirty="0"/>
              <a:t>The model lowers MAE from 0.029 to 0.021 and improves Capture@20% from 0.482 to 0.500. RMSE remains approximately the same, at 0.111, which tells us that larger and more extreme fire outcomes are still difficult to estimate accurately.</a:t>
            </a:r>
          </a:p>
          <a:p>
            <a:endParaRPr lang="en-US" dirty="0"/>
          </a:p>
          <a:p>
            <a:r>
              <a:rPr lang="en-US" dirty="0"/>
              <a:t>Capture@20% is not a buyer threshold. For example, using 2024 data, the model ranks cells for expected 2025 burned share. We then check how much of the actual 2025 burned area occurred within the 20% highest-ranked cells. It measures ranking usefulness, not the proportion of land that burned.”</a:t>
            </a:r>
          </a:p>
          <a:p>
            <a:endParaRPr lang="en-US" dirty="0"/>
          </a:p>
          <a:p>
            <a:r>
              <a:rPr lang="en-US" b="1" dirty="0"/>
              <a:t>Transition:</a:t>
            </a:r>
            <a:r>
              <a:rPr lang="en-US" dirty="0"/>
              <a:t> “So the practical question becomes: how should someone use this evidence responsibly?”</a:t>
            </a:r>
          </a:p>
          <a:p>
            <a:br>
              <a:rPr lang="en-US" b="1" dirty="0"/>
            </a:br>
            <a:r>
              <a:rPr b="1" dirty="0"/>
              <a:t>Capture@20% is a validation test of the ranking.</a:t>
            </a:r>
            <a:r>
              <a:rPr dirty="0"/>
              <a:t> For each predictor year, the model ranks cells using data from year </a:t>
            </a:r>
            <a:r>
              <a:rPr b="1" dirty="0"/>
              <a:t>T</a:t>
            </a:r>
            <a:r>
              <a:rPr dirty="0"/>
              <a:t> and estimates burned share for </a:t>
            </a:r>
            <a:r>
              <a:rPr b="1" dirty="0"/>
              <a:t>T+1</a:t>
            </a:r>
            <a:r>
              <a:rPr dirty="0"/>
              <a:t>. For example, for </a:t>
            </a:r>
            <a:r>
              <a:rPr b="1" dirty="0"/>
              <a:t>T = 2024</a:t>
            </a:r>
            <a:r>
              <a:rPr dirty="0"/>
              <a:t>, it ranks cells using 2024 predictor data and is later checked against the actual ICNF burned areas observed in </a:t>
            </a:r>
            <a:r>
              <a:rPr b="1" dirty="0"/>
              <a:t>2025</a:t>
            </a:r>
            <a:r>
              <a:rPr dirty="0"/>
              <a:t>.</a:t>
            </a:r>
          </a:p>
          <a:p>
            <a:r>
              <a:rPr dirty="0"/>
              <a:t>The final evaluation covers the year pairs </a:t>
            </a:r>
            <a:r>
              <a:rPr b="1" dirty="0"/>
              <a:t>2022</a:t>
            </a:r>
            <a:r>
              <a:rPr lang="en-US" b="1" dirty="0"/>
              <a:t>-&gt;</a:t>
            </a:r>
            <a:r>
              <a:rPr b="1" dirty="0"/>
              <a:t>2023, 2023</a:t>
            </a:r>
            <a:r>
              <a:rPr lang="en-US" b="1" dirty="0"/>
              <a:t>-&gt;</a:t>
            </a:r>
            <a:r>
              <a:rPr b="1" dirty="0"/>
              <a:t>2024 and 2024</a:t>
            </a:r>
            <a:r>
              <a:rPr lang="en-US" b="1" dirty="0"/>
              <a:t>-&gt;</a:t>
            </a:r>
            <a:r>
              <a:rPr b="1" dirty="0"/>
              <a:t>2025</a:t>
            </a:r>
            <a:r>
              <a:rPr dirty="0"/>
              <a:t>. For each pair, we select the highest-scored 20% of cells and measure how much of the burned share observed in </a:t>
            </a:r>
            <a:r>
              <a:rPr b="1" dirty="0"/>
              <a:t>T+1</a:t>
            </a:r>
            <a:r>
              <a:rPr dirty="0"/>
              <a:t> occurred in those cells.</a:t>
            </a:r>
          </a:p>
          <a:p>
            <a:r>
              <a:rPr dirty="0"/>
              <a:t>Across the final test, the historical baseline captured </a:t>
            </a:r>
            <a:r>
              <a:rPr b="1" dirty="0"/>
              <a:t>48.2%</a:t>
            </a:r>
            <a:r>
              <a:rPr dirty="0"/>
              <a:t> of observed burned share in its top-ranked 20% of cells. The nine-feature model captured </a:t>
            </a:r>
            <a:r>
              <a:rPr b="1" dirty="0"/>
              <a:t>50.0%</a:t>
            </a:r>
            <a:r>
              <a:rPr dirty="0"/>
              <a:t>.</a:t>
            </a:r>
          </a:p>
          <a:p>
            <a:r>
              <a:rPr dirty="0"/>
              <a:t>This does not mean that 20% of the land burned. It is only a retrospective ranking diagnostic. In a future cycle, the same logic would apply to </a:t>
            </a:r>
            <a:r>
              <a:rPr b="1" dirty="0"/>
              <a:t>2035</a:t>
            </a:r>
            <a:r>
              <a:rPr lang="en-US" b="1" dirty="0"/>
              <a:t>-&gt;</a:t>
            </a:r>
            <a:r>
              <a:rPr b="1" dirty="0"/>
              <a:t>2036</a:t>
            </a:r>
            <a:r>
              <a:rPr dirty="0"/>
              <a:t>, but only after the 2036 outcome data became available.</a:t>
            </a:r>
          </a:p>
          <a:p>
            <a:endParaRPr dirty="0"/>
          </a:p>
          <a:p>
            <a:r>
              <a:rPr dirty="0"/>
              <a:t>[Sources]</a:t>
            </a:r>
            <a:br>
              <a:rPr dirty="0"/>
            </a:br>
            <a:r>
              <a:rPr dirty="0"/>
              <a:t>reports/validation/model_final_decision.md;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69" name="Picture 36"/>
          <p:cNvPicPr>
            <a:picLocks noChangeAspect="1"/>
          </p:cNvPicPr>
          <p:nvPr/>
        </p:nvPicPr>
        <p:blipFill>
          <a:blip r:embed="rId3"/>
          <a:stretch>
            <a:fillRect/>
          </a:stretch>
        </p:blipFill>
        <p:spPr>
          <a:xfrm>
            <a:off x="774375" y="1111192"/>
            <a:ext cx="7595250" cy="3765417"/>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Baseline -&gt; nine-feature model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Historical recurrence baseline </a:t>
            </a:r>
            <a:r>
              <a:rPr sz="800" b="1">
                <a:solidFill>
                  <a:srgbClr val="1A2638"/>
                </a:solidFill>
              </a:rPr>
              <a:t>- </a:t>
            </a:r>
            <a:r>
              <a:rPr sz="800" b="1"/>
              <a:t>groups training records by the number of previously burned years </a:t>
            </a:r>
            <a:r>
              <a:rPr sz="800" b="1">
                <a:solidFill>
                  <a:srgbClr val="1A2638"/>
                </a:solidFill>
              </a:rPr>
              <a:t> </a:t>
            </a:r>
            <a:endParaRPr sz="800" b="1"/>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dirty="0">
                <a:solidFill>
                  <a:srgbClr val="1A2638"/>
                </a:solidFill>
              </a:rPr>
              <a:t>Nine-feature </a:t>
            </a:r>
            <a:r>
              <a:rPr lang="en-US" sz="850" dirty="0">
                <a:solidFill>
                  <a:srgbClr val="1A2638"/>
                </a:solidFill>
              </a:rPr>
              <a:t>two-stage regression</a:t>
            </a:r>
            <a:r>
              <a:rPr sz="850" dirty="0">
                <a:solidFill>
                  <a:srgbClr val="1A2638"/>
                </a:solidFill>
              </a:rPr>
              <a:t> model - </a:t>
            </a:r>
            <a:r>
              <a:rPr sz="850" b="1" dirty="0" err="1">
                <a:solidFill>
                  <a:srgbClr val="1A2638"/>
                </a:solidFill>
              </a:rPr>
              <a:t>HistGradientBoosting</a:t>
            </a: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  -&gt;  0.021</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0.111  -&gt;  0.111</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0.482  -&gt;  0.500</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Final temporal test: T=2022–2024; outcomes in T+1.</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TotalTime>
  <Words>3055</Words>
  <Application>Microsoft Office PowerPoint</Application>
  <DocSecurity>0</DocSecurity>
  <PresentationFormat>On-screen Show (16:9)</PresentationFormat>
  <Paragraphs>287</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15</cp:revision>
  <dcterms:created xsi:type="dcterms:W3CDTF">2026-08-08T12:40:18Z</dcterms:created>
  <dcterms:modified xsi:type="dcterms:W3CDTF">2026-08-09T09:53:07Z</dcterms:modified>
</cp:coreProperties>
</file>