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232" autoAdjust="0"/>
  </p:normalViewPr>
  <p:slideViewPr>
    <p:cSldViewPr snapToGrid="0" snapToObjects="1">
      <p:cViewPr varScale="1">
        <p:scale>
          <a:sx n="100" d="100"/>
          <a:sy n="100" d="100"/>
        </p:scale>
        <p:origin x="1113"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combines validated wildfire history, landscape, terrain, climate, GIS, and machine learning to compare broad areas of mainland Portugal, helping a user narrow a location search before conducting local and property-specific checks.</a:t>
            </a:r>
            <a:br>
              <a:rPr lang="en-US" dirty="0"/>
            </a:br>
            <a:endParaRPr lang="en-US" dirty="0"/>
          </a:p>
          <a:p>
            <a:r>
              <a:rPr lang="en-US" b="1" dirty="0"/>
              <a:t>Main message:</a:t>
            </a:r>
            <a:r>
              <a:rPr lang="en-US" dirty="0"/>
              <a:t> The project helps </a:t>
            </a:r>
            <a:r>
              <a:rPr lang="en-US" dirty="0" err="1"/>
              <a:t>organise</a:t>
            </a:r>
            <a:r>
              <a:rPr lang="en-US" dirty="0"/>
              <a:t> broad location research; it does not decide whether to buy a property.</a:t>
            </a:r>
          </a:p>
          <a:p>
            <a:endParaRPr lang="en-US" dirty="0"/>
          </a:p>
          <a:p>
            <a:r>
              <a:rPr lang="en-US" b="1" dirty="0"/>
              <a:t>What to say:</a:t>
            </a:r>
            <a:endParaRPr lang="en-US" dirty="0"/>
          </a:p>
          <a:p>
            <a:r>
              <a:rPr lang="en-US" dirty="0"/>
              <a:t>“People considering locations across mainland Portugal face a very broad search problem. Wildfire exposure is one factor that may matter, but it is difficult to compare areas fairly using isolated past fire events.</a:t>
            </a:r>
          </a:p>
          <a:p>
            <a:r>
              <a:rPr lang="en-US" dirty="0"/>
              <a:t>This capstone creates a reproducible GIS and machine-learning workflow for that first screening stage. It combines observed wildfire history, landscape, terrain, and climate information to compare 1 km areas across mainland Portugal.</a:t>
            </a:r>
          </a:p>
          <a:p>
            <a:r>
              <a:rPr lang="en-US" dirty="0"/>
              <a:t>The output is not a statement that an area is safe or unsafe, and it is not a buy-or-do-not-buy recommendation. Its purpose is to narrow a national search to areas that deserve more detailed local investigation.”</a:t>
            </a:r>
          </a:p>
          <a:p>
            <a:endParaRPr lang="en-US" dirty="0"/>
          </a:p>
          <a:p>
            <a:r>
              <a:rPr lang="en-US" b="1" dirty="0"/>
              <a:t>Transition:</a:t>
            </a:r>
            <a:r>
              <a:rPr lang="en-US" dirty="0"/>
              <a:t> “To make those comparisons fair, I first needed one consistent unit of analysis and clearly defined source roles.”</a:t>
            </a:r>
          </a:p>
          <a:p>
            <a:endParaRPr dirty="0"/>
          </a:p>
          <a:p>
            <a:r>
              <a:rPr dirty="0"/>
              <a:t>[Sources]</a:t>
            </a:r>
          </a:p>
          <a:p>
            <a:r>
              <a:rPr dirty="0"/>
              <a:t>Project README; docs/project_brief.md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Every record has the same geographical meaning: one 1 km mainland cell in one predictor year.</a:t>
            </a:r>
            <a:br>
              <a:rPr lang="en-US" dirty="0"/>
            </a:br>
            <a:endParaRPr lang="en-US" dirty="0"/>
          </a:p>
          <a:p>
            <a:r>
              <a:rPr lang="en-US" b="1" dirty="0"/>
              <a:t>What to say:</a:t>
            </a:r>
            <a:endParaRPr lang="en-US" dirty="0"/>
          </a:p>
          <a:p>
            <a:r>
              <a:rPr lang="en-US" dirty="0"/>
              <a:t>“Each row in the analytical dataset represents one 1 km by 1 km mainland Portugal cell in a predictor year, T. This makes it possible to compare the same geographical unit over time.</a:t>
            </a:r>
          </a:p>
          <a:p>
            <a:r>
              <a:rPr lang="en-US" dirty="0"/>
              <a:t>ICNF annual burned-area data provides two roles: historical fire recurrence and the observed next-year outcome. The outcome is continuous burned share: the proportion of the cell’s land area that burned in the following year.</a:t>
            </a:r>
          </a:p>
          <a:p>
            <a:r>
              <a:rPr lang="en-US" dirty="0"/>
              <a:t>CLC land cover and Copernicus DEM provide landscape and terrain context. ERA5-Land provides warm-season temperature, precipitation, and shallow soil-water conditions from the predictor year only.</a:t>
            </a:r>
          </a:p>
          <a:p>
            <a:r>
              <a:rPr lang="en-US" dirty="0"/>
              <a:t>The 2 km area is not a second grid. It is an outward context buffer around each 1 km cell, used to measure nearby forest/shrub, slope, and historical fire recurrence.”</a:t>
            </a:r>
            <a:br>
              <a:rPr lang="en-US" dirty="0"/>
            </a:br>
            <a:endParaRPr lang="en-US" dirty="0"/>
          </a:p>
          <a:p>
            <a:r>
              <a:rPr lang="en-US" b="1" dirty="0"/>
              <a:t>Transition:</a:t>
            </a:r>
            <a:r>
              <a:rPr lang="en-US" dirty="0"/>
              <a:t> “With that common structure, the first result is that wildfire history is not evenly distributed across the country.”</a:t>
            </a:r>
            <a:br>
              <a:rPr lang="en-US" dirty="0"/>
            </a:br>
            <a:endParaRPr lang="en-US" dirty="0"/>
          </a:p>
          <a:p>
            <a:r>
              <a:rPr dirty="0"/>
              <a:t>[Sources]</a:t>
            </a:r>
            <a:br>
              <a:rPr dirty="0"/>
            </a:br>
            <a:r>
              <a:rPr dirty="0"/>
              <a:t>docs/data_dictionary.md; reports/validation/canonical_full_scope_readiness.md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Wildfire exposure patterns vary geographically, so a national location search can be narrowed using comparative evidence.</a:t>
            </a:r>
            <a:endParaRPr dirty="0"/>
          </a:p>
          <a:p>
            <a:r>
              <a:rPr dirty="0"/>
              <a:t>These layers provide different types of evidence and should not be added together or interpreted as one score. The comparison helps identify broad areas for further investigation; it does not certify a location.</a:t>
            </a:r>
            <a:br>
              <a:rPr lang="en-US" dirty="0"/>
            </a:br>
            <a:br>
              <a:rPr lang="en-US" dirty="0"/>
            </a:br>
            <a:r>
              <a:rPr lang="en-US" b="1" dirty="0"/>
              <a:t>What to say:</a:t>
            </a:r>
            <a:endParaRPr lang="en-US" dirty="0"/>
          </a:p>
          <a:p>
            <a:r>
              <a:rPr lang="en-US" dirty="0"/>
              <a:t>“This slide shows three different views of the same national geography.</a:t>
            </a:r>
          </a:p>
          <a:p>
            <a:r>
              <a:rPr lang="en-US" dirty="0"/>
              <a:t>The first map shows observed historical recurrence: how many distinct years had burned-area evidence between 2016 and 2025 within the 2 km context around each 1 km cell.</a:t>
            </a:r>
          </a:p>
          <a:p>
            <a:r>
              <a:rPr lang="en-US" dirty="0"/>
              <a:t>The second map is the ICNF and official Portuguese government map showing where the landscape has more or less underlying potential to support severe wildfire conditions. It describes persistent landscape hazard conditions rather than what burned in one particular year.</a:t>
            </a:r>
          </a:p>
          <a:p>
            <a:r>
              <a:rPr lang="en-US" dirty="0"/>
              <a:t>The third map is the project’s 2026 comparative estimate. It uses information available through 2025 to rank 1 km cells by estimated next-year burned share.</a:t>
            </a:r>
          </a:p>
          <a:p>
            <a:r>
              <a:rPr lang="en-US" dirty="0"/>
              <a:t>These maps should not be added together into one score. They provide different evidence for comparing broad areas and deciding where additional research is worthwhile.”</a:t>
            </a:r>
          </a:p>
          <a:p>
            <a:endParaRPr lang="en-US" dirty="0"/>
          </a:p>
          <a:p>
            <a:r>
              <a:rPr lang="en-US" b="1" dirty="0"/>
              <a:t>Transition:</a:t>
            </a:r>
            <a:r>
              <a:rPr lang="en-US" dirty="0"/>
              <a:t> “Because historical recurrence and official structural hazard measure different things, the next question is why it is useful to compare them.”</a:t>
            </a:r>
            <a:endParaRPr dirty="0"/>
          </a:p>
          <a:p>
            <a:endParaRPr dirty="0"/>
          </a:p>
          <a:p>
            <a:r>
              <a:rPr dirty="0"/>
              <a:t>[Sources]</a:t>
            </a:r>
            <a:br>
              <a:rPr dirty="0"/>
            </a:br>
            <a:r>
              <a:rPr dirty="0"/>
              <a:t>reports/figures/historical_wildfire_exposure_screening_mainland_portugal.png; reports/validation/historical_exposure_screening_and_icnf_comparison.md;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Observed recurrence and official structural hazard are complementary, not competing, evidence layers.</a:t>
            </a:r>
          </a:p>
          <a:p>
            <a:endParaRPr lang="en-US" dirty="0"/>
          </a:p>
          <a:p>
            <a:r>
              <a:rPr lang="en-US" b="1" dirty="0"/>
              <a:t>What to say:</a:t>
            </a:r>
            <a:endParaRPr lang="en-US" dirty="0"/>
          </a:p>
          <a:p>
            <a:r>
              <a:rPr lang="en-US" dirty="0"/>
              <a:t>“Historical recurrence answers: ‘What burned repeatedly in the observed 2016–2025 period?’ It is based on annual burned-area records.</a:t>
            </a:r>
          </a:p>
          <a:p>
            <a:r>
              <a:rPr lang="en-US" dirty="0"/>
              <a:t>Official ICNF structural hazard answers a different question: ‘What persistent landscape conditions are associated with wildfire hazard?’ Its source is an official 25 m classification, summarized here to the predominant class for each 1 km cell.</a:t>
            </a:r>
          </a:p>
          <a:p>
            <a:r>
              <a:rPr lang="en-US" dirty="0"/>
              <a:t>Where the layers agree, they provide consistent broad-area context. Where they differ, they identify areas where the historical record and structural landscape conditions tell a more nuanced story.</a:t>
            </a:r>
          </a:p>
          <a:p>
            <a:r>
              <a:rPr lang="en-US" dirty="0"/>
              <a:t>This comparison is descriptive. It is not a model-accuracy test, and neither layer is a threshold for deciding whether a particular property is acceptable.”</a:t>
            </a:r>
          </a:p>
          <a:p>
            <a:endParaRPr lang="en-US" dirty="0"/>
          </a:p>
          <a:p>
            <a:r>
              <a:rPr lang="en-US" b="1" dirty="0"/>
              <a:t>Transition:</a:t>
            </a:r>
            <a:r>
              <a:rPr lang="en-US" dirty="0"/>
              <a:t> “Historical context is useful, but I also tested whether a data-driven model could improve next-year comparative estimates.”</a:t>
            </a:r>
          </a:p>
          <a:p>
            <a:endParaRPr dirty="0"/>
          </a:p>
          <a:p>
            <a:r>
              <a:rPr dirty="0"/>
              <a:t>[Sources]</a:t>
            </a:r>
            <a:br>
              <a:rPr dirty="0"/>
            </a:br>
            <a:r>
              <a:rPr dirty="0" err="1"/>
              <a:t>qgis</a:t>
            </a:r>
            <a:r>
              <a:rPr dirty="0"/>
              <a:t>/README.md; docs/data_dictionary.md; reports/figures/historical_exposure_by_icnf_structural_hazard_crosstab.png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nine-feature two-stage regression modestly improves useful comparative diagnostics over historical recurrence alone, while extreme events remain difficult.</a:t>
            </a:r>
          </a:p>
          <a:p>
            <a:endParaRPr lang="en-US" dirty="0"/>
          </a:p>
          <a:p>
            <a:r>
              <a:rPr lang="en-US" b="1" dirty="0"/>
              <a:t>What to say:</a:t>
            </a:r>
            <a:endParaRPr lang="en-US" dirty="0"/>
          </a:p>
          <a:p>
            <a:r>
              <a:rPr lang="en-US" dirty="0"/>
              <a:t>“This slide compares two approaches using the held-out final period: predictor years 2022–2024 and observed outcomes 2023–2025.</a:t>
            </a:r>
          </a:p>
          <a:p>
            <a:r>
              <a:rPr lang="en-US" dirty="0"/>
              <a:t>The historical-recurrence baseline is a transparent project benchmark. It groups training records by the number of previously burned years in the 2 km context and uses the training-period average next-year burned share for each group. It is not a library model.</a:t>
            </a:r>
          </a:p>
          <a:p>
            <a:r>
              <a:rPr lang="en-US" dirty="0"/>
              <a:t>The nine-feature two-stage regression uses </a:t>
            </a:r>
            <a:r>
              <a:rPr lang="en-US" dirty="0" err="1"/>
              <a:t>HistGradientBoosting</a:t>
            </a:r>
            <a:r>
              <a:rPr lang="en-US" dirty="0"/>
              <a:t>. First, it estimates whether burning is expected in a cell. Second, when burning is expected, it estimates how much of the cell’s land area may burn. The two parts are combined into one continuous estimated burned share.</a:t>
            </a:r>
          </a:p>
          <a:p>
            <a:r>
              <a:rPr lang="en-US" dirty="0"/>
              <a:t>The model lowers MAE from 0.029 to 0.021 and improves Capture@20% from 0.482 to 0.500. RMSE remains approximately the same, at 0.111, which tells us that larger and more extreme fire outcomes are still difficult to estimate accurately.</a:t>
            </a:r>
          </a:p>
          <a:p>
            <a:endParaRPr lang="en-US" dirty="0"/>
          </a:p>
          <a:p>
            <a:r>
              <a:rPr lang="en-US" dirty="0"/>
              <a:t>Capture@20% is not a buyer threshold. For example, using 2024 data, the model ranks cells for expected 2025 burned share. We then check how much of the actual 2025 burned area occurred within the 20% highest-ranked cells. It measures ranking usefulness, not the proportion of land that burned.”</a:t>
            </a:r>
          </a:p>
          <a:p>
            <a:endParaRPr lang="en-US" dirty="0"/>
          </a:p>
          <a:p>
            <a:r>
              <a:rPr lang="en-US" b="1" dirty="0"/>
              <a:t>Transition:</a:t>
            </a:r>
            <a:r>
              <a:rPr lang="en-US" dirty="0"/>
              <a:t> “So the practical question becomes: how should someone use this evidence responsibly?”</a:t>
            </a:r>
          </a:p>
          <a:p>
            <a:br>
              <a:rPr lang="en-US" b="1" dirty="0"/>
            </a:br>
            <a:r>
              <a:rPr b="1" dirty="0"/>
              <a:t>Capture@20% is a validation test of the ranking.</a:t>
            </a:r>
            <a:r>
              <a:rPr dirty="0"/>
              <a:t> For each predictor year, the model ranks cells using data from year </a:t>
            </a:r>
            <a:r>
              <a:rPr b="1" dirty="0"/>
              <a:t>T</a:t>
            </a:r>
            <a:r>
              <a:rPr dirty="0"/>
              <a:t> and estimates burned share for </a:t>
            </a:r>
            <a:r>
              <a:rPr b="1" dirty="0"/>
              <a:t>T+1</a:t>
            </a:r>
            <a:r>
              <a:rPr dirty="0"/>
              <a:t>. For example, for </a:t>
            </a:r>
            <a:r>
              <a:rPr b="1" dirty="0"/>
              <a:t>T = 2024</a:t>
            </a:r>
            <a:r>
              <a:rPr dirty="0"/>
              <a:t>, it ranks cells using 2024 predictor data and is later checked against the actual ICNF burned areas observed in </a:t>
            </a:r>
            <a:r>
              <a:rPr b="1" dirty="0"/>
              <a:t>2025</a:t>
            </a:r>
            <a:r>
              <a:rPr dirty="0"/>
              <a:t>.</a:t>
            </a:r>
          </a:p>
          <a:p>
            <a:r>
              <a:rPr dirty="0"/>
              <a:t>The final evaluation covers the year pairs </a:t>
            </a:r>
            <a:r>
              <a:rPr b="1" dirty="0"/>
              <a:t>2022→2023, 2023→2024 and 2024→2025</a:t>
            </a:r>
            <a:r>
              <a:rPr dirty="0"/>
              <a:t>. For each pair, we select the highest-scored 20% of cells and measure how much of the burned share observed in </a:t>
            </a:r>
            <a:r>
              <a:rPr b="1" dirty="0"/>
              <a:t>T+1</a:t>
            </a:r>
            <a:r>
              <a:rPr dirty="0"/>
              <a:t> occurred in those cells.</a:t>
            </a:r>
          </a:p>
          <a:p>
            <a:r>
              <a:rPr dirty="0"/>
              <a:t>Across the final test, the historical baseline captured </a:t>
            </a:r>
            <a:r>
              <a:rPr b="1" dirty="0"/>
              <a:t>48.2%</a:t>
            </a:r>
            <a:r>
              <a:rPr dirty="0"/>
              <a:t> of observed burned share in its top-ranked 20% of cells. The nine-feature model captured </a:t>
            </a:r>
            <a:r>
              <a:rPr b="1" dirty="0"/>
              <a:t>50.0%</a:t>
            </a:r>
            <a:r>
              <a:rPr dirty="0"/>
              <a:t>.</a:t>
            </a:r>
          </a:p>
          <a:p>
            <a:r>
              <a:rPr dirty="0"/>
              <a:t>This does not mean that 20% of the land burned. It is only a retrospective ranking diagnostic. In a future cycle, the same logic would apply to </a:t>
            </a:r>
            <a:r>
              <a:rPr b="1" dirty="0"/>
              <a:t>2035→2036</a:t>
            </a:r>
            <a:r>
              <a:rPr dirty="0"/>
              <a:t>, but only after the 2036 outcome data became available.</a:t>
            </a:r>
          </a:p>
          <a:p>
            <a:endParaRPr dirty="0"/>
          </a:p>
          <a:p>
            <a:r>
              <a:rPr dirty="0"/>
              <a:t>[Sources]</a:t>
            </a:r>
            <a:br>
              <a:rPr dirty="0"/>
            </a:br>
            <a:r>
              <a:rPr dirty="0"/>
              <a:t>reports/validation/model_final_decision.md; reports/figures/model_final_test_metric_comparison.png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output supports shortlisting broad areas, not choosing a property.</a:t>
            </a:r>
          </a:p>
          <a:p>
            <a:endParaRPr lang="en-US" dirty="0"/>
          </a:p>
          <a:p>
            <a:r>
              <a:rPr lang="en-US" b="1" dirty="0"/>
              <a:t>What to say:</a:t>
            </a:r>
            <a:endParaRPr lang="en-US" dirty="0"/>
          </a:p>
          <a:p>
            <a:r>
              <a:rPr lang="en-US" dirty="0"/>
              <a:t>“Imagine a buyer considering multiple regions across mainland Portugal.</a:t>
            </a:r>
          </a:p>
          <a:p>
            <a:r>
              <a:rPr lang="en-US" dirty="0"/>
              <a:t>They begin with the 2026 comparative estimate to compare broad 1 km areas using 2025 predictor inputs. They then look alongside it at observed historical recurrence and the official ICNF structural-hazard layer.</a:t>
            </a:r>
          </a:p>
          <a:p>
            <a:r>
              <a:rPr lang="en-US" dirty="0"/>
              <a:t>The result is not a chosen property. It is a smaller, more structured set of broad areas for further research, site visits, and local checks.”</a:t>
            </a:r>
          </a:p>
          <a:p>
            <a:endParaRPr lang="en-US" dirty="0"/>
          </a:p>
          <a:p>
            <a:r>
              <a:rPr lang="en-US" b="1" dirty="0"/>
              <a:t>Transition:</a:t>
            </a:r>
            <a:r>
              <a:rPr lang="en-US" dirty="0"/>
              <a:t> “The next slide explains the two safeguards that keep this use case responsible.”</a:t>
            </a:r>
          </a:p>
          <a:p>
            <a:endParaRPr dirty="0"/>
          </a:p>
          <a:p>
            <a:r>
              <a:rPr dirty="0"/>
              <a:t>[Sources]</a:t>
            </a:r>
          </a:p>
          <a:p>
            <a:r>
              <a:rPr dirty="0" err="1"/>
              <a:t>qgis</a:t>
            </a:r>
            <a:r>
              <a:rPr dirty="0"/>
              <a:t>/wildfire_exposure_screening_portugal_2026.qgz; </a:t>
            </a:r>
            <a:r>
              <a:rPr dirty="0" err="1"/>
              <a:t>qgis</a:t>
            </a:r>
            <a:r>
              <a:rPr dirty="0"/>
              <a:t>/README.md; reports/validation/operational_forecast_2026_validation.md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Compare layers first; then replace broad evidence with local evidence.</a:t>
            </a:r>
          </a:p>
          <a:p>
            <a:endParaRPr lang="en-US" dirty="0"/>
          </a:p>
          <a:p>
            <a:r>
              <a:rPr lang="en-US" b="1" dirty="0"/>
              <a:t>What to say:</a:t>
            </a:r>
            <a:endParaRPr lang="en-US" dirty="0"/>
          </a:p>
          <a:p>
            <a:r>
              <a:rPr lang="en-US" dirty="0"/>
              <a:t>“The first recommendation is to compare the three layers separately: the 2026 comparative estimate, observed historical recurrence, and official ICNF structural hazard. They answer different questions, so they should not be merged into a single score.</a:t>
            </a:r>
          </a:p>
          <a:p>
            <a:r>
              <a:rPr lang="en-US" dirty="0"/>
              <a:t>The second recommendation is local verification. Once an area is shortlisted, the decision should use planning restrictions, access and evacuation conditions, insurance, vegetation management, terrain, infrastructure, and property-specific information.</a:t>
            </a:r>
          </a:p>
          <a:p>
            <a:r>
              <a:rPr lang="en-US" dirty="0"/>
              <a:t>The model helps direct research effort. It does not replace local investigation or certify a location.”</a:t>
            </a:r>
          </a:p>
          <a:p>
            <a:endParaRPr lang="en-US" dirty="0"/>
          </a:p>
          <a:p>
            <a:r>
              <a:rPr lang="en-US" b="1" dirty="0"/>
              <a:t>Transition:</a:t>
            </a:r>
            <a:r>
              <a:rPr lang="en-US" dirty="0"/>
              <a:t> “Finally, the value of the project is not only one 2026 map -it is a repeatable annual workflow.”</a:t>
            </a:r>
          </a:p>
          <a:p>
            <a:endParaRPr dirty="0"/>
          </a:p>
          <a:p>
            <a:r>
              <a:rPr dirty="0"/>
              <a:t>[Sources]</a:t>
            </a:r>
          </a:p>
          <a:p>
            <a:r>
              <a:rPr dirty="0" err="1"/>
              <a:t>qgis</a:t>
            </a:r>
            <a:r>
              <a:rPr dirty="0"/>
              <a:t>/README.md; docs/data_dictionary.md; reports/validation/historical_exposure_screening_and_icnf_comparison.md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Main message:</a:t>
            </a:r>
            <a:r>
              <a:rPr lang="en-US" dirty="0"/>
              <a:t> The project is successful as a reproducible comparative screening workflow with explicit limitations and an annual refresh path.</a:t>
            </a:r>
          </a:p>
          <a:p>
            <a:endParaRPr lang="en-US" dirty="0"/>
          </a:p>
          <a:p>
            <a:r>
              <a:rPr lang="en-US" b="1" dirty="0"/>
              <a:t>What to say:</a:t>
            </a:r>
            <a:endParaRPr lang="en-US" dirty="0"/>
          </a:p>
          <a:p>
            <a:r>
              <a:rPr lang="en-US" dirty="0"/>
              <a:t>“This project delivered a reproducible national workflow: validated source data, a consistent 1 km grid, GIS outputs, historical evidence layers, and a tested nine-feature machine-learning model.</a:t>
            </a:r>
          </a:p>
          <a:p>
            <a:r>
              <a:rPr lang="en-US" dirty="0"/>
              <a:t>The model provides a modest improvement over historical recurrence alone for selected comparative diagnostics. At the same time, the evaluation shows that extreme fire outcomes remain difficult, so the output must remain a cautious broad-area estimate.</a:t>
            </a:r>
          </a:p>
          <a:p>
            <a:r>
              <a:rPr lang="en-US" dirty="0"/>
              <a:t>The practical result is a more focused location search. The annual next step is straightforward: when completed-year source data and the observed outcome for the prior estimate become available, rerun the fixed workflow, evaluate that estimate, and produce the next annual comparative layer.</a:t>
            </a:r>
          </a:p>
          <a:p>
            <a:r>
              <a:rPr lang="en-US" dirty="0"/>
              <a:t>The project therefore provides a repeatable evidence process—not a final property decision.”</a:t>
            </a:r>
          </a:p>
          <a:p>
            <a:endParaRPr dirty="0"/>
          </a:p>
          <a:p>
            <a:r>
              <a:rPr dirty="0"/>
              <a:t>[Sources]</a:t>
            </a:r>
          </a:p>
          <a:p>
            <a:r>
              <a:rPr dirty="0"/>
              <a:t>README.md; reports/validation/model_final_decision.md; reports/validation/operational_forecast_readiness.md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7271A54-A21F-461B-81FE-9352EC032ECA}"/>
              </a:ext>
            </a:extLst>
          </p:cNvPr>
          <p:cNvSpPr>
            <a:spLocks noGrp="1"/>
          </p:cNvSpPr>
          <p:nvPr/>
        </p:nvSpPr>
        <p:spPr>
          <a:xfrm>
            <a:off x="0" y="0"/>
            <a:ext cx="9144000" cy="5143500"/>
          </a:xfrm>
          <a:prstGeom prst="rect">
            <a:avLst/>
          </a:prstGeom>
          <a:solidFill>
            <a:srgbClr val="0D1F2D"/>
          </a:solidFill>
          <a:ln w="12700">
            <a:solidFill>
              <a:srgbClr val="0D1F2D"/>
            </a:solidFill>
            <a:prstDash val="solid"/>
          </a:ln>
        </p:spPr>
      </p:sp>
      <p:sp>
        <p:nvSpPr>
          <p:cNvPr id="3" name="Shape 1">
            <a:extLst>
              <a:ext uri="{FF2B5EF4-FFF2-40B4-BE49-F238E27FC236}">
                <a16:creationId xmlns:a16="http://schemas.microsoft.com/office/drawing/2014/main" id="{DDACC1B4-1154-4329-A73F-48B1DC582792}"/>
              </a:ext>
            </a:extLst>
          </p:cNvPr>
          <p:cNvSpPr>
            <a:spLocks noGrp="1"/>
          </p:cNvSpPr>
          <p:nvPr/>
        </p:nvSpPr>
        <p:spPr>
          <a:xfrm>
            <a:off x="0" y="0"/>
            <a:ext cx="228600" cy="5143500"/>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321EBCE3-53B5-467C-8E29-72B844CA383B}"/>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5" name="Shape 3">
            <a:extLst>
              <a:ext uri="{FF2B5EF4-FFF2-40B4-BE49-F238E27FC236}">
                <a16:creationId xmlns:a16="http://schemas.microsoft.com/office/drawing/2014/main" id="{9017F92D-E245-4025-90D8-8EDF916CA9EF}"/>
              </a:ext>
            </a:extLst>
          </p:cNvPr>
          <p:cNvSpPr>
            <a:spLocks noGrp="1"/>
          </p:cNvSpPr>
          <p:nvPr/>
        </p:nvSpPr>
        <p:spPr>
          <a:xfrm>
            <a:off x="320040" y="137160"/>
            <a:ext cx="1417320" cy="292608"/>
          </a:xfrm>
          <a:prstGeom prst="rect">
            <a:avLst/>
          </a:prstGeom>
          <a:solidFill>
            <a:srgbClr val="1E3A50"/>
          </a:solidFill>
          <a:ln w="12700">
            <a:solidFill>
              <a:srgbClr val="1E3A50"/>
            </a:solidFill>
            <a:prstDash val="solid"/>
          </a:ln>
        </p:spPr>
      </p:sp>
      <p:sp>
        <p:nvSpPr>
          <p:cNvPr id="6" name="Text 4">
            <a:extLst>
              <a:ext uri="{FF2B5EF4-FFF2-40B4-BE49-F238E27FC236}">
                <a16:creationId xmlns:a16="http://schemas.microsoft.com/office/drawing/2014/main" id="{50F063B7-97FC-4057-91C5-01147213D4BB}"/>
              </a:ext>
            </a:extLst>
          </p:cNvPr>
          <p:cNvSpPr>
            <a:spLocks noGrp="1"/>
          </p:cNvSpPr>
          <p:nvPr/>
        </p:nvSpPr>
        <p:spPr>
          <a:xfrm>
            <a:off x="320040" y="137160"/>
            <a:ext cx="1417320" cy="292608"/>
          </a:xfrm>
          <a:prstGeom prst="rect">
            <a:avLst/>
          </a:prstGeom>
          <a:noFill/>
        </p:spPr>
        <p:txBody>
          <a:bodyPr wrap="square" lIns="0" tIns="0" rIns="0" bIns="0" anchor="ctr"/>
          <a:lstStyle/>
          <a:p>
            <a:pPr marL="0" indent="0" algn="ctr">
              <a:buNone/>
            </a:pPr>
            <a:r>
              <a:rPr sz="750">
                <a:solidFill>
                  <a:srgbClr val="E1E8EF"/>
                </a:solidFill>
              </a:rPr>
              <a:t>DATA SCIENCE &amp; ML CAPSTONE</a:t>
            </a:r>
            <a:endParaRPr sz="750"/>
          </a:p>
        </p:txBody>
      </p:sp>
      <p:sp>
        <p:nvSpPr>
          <p:cNvPr id="7" name="Shape 5">
            <a:extLst>
              <a:ext uri="{FF2B5EF4-FFF2-40B4-BE49-F238E27FC236}">
                <a16:creationId xmlns:a16="http://schemas.microsoft.com/office/drawing/2014/main" id="{70C36328-C5D1-4010-B8F0-E622D0A879DF}"/>
              </a:ext>
            </a:extLst>
          </p:cNvPr>
          <p:cNvSpPr>
            <a:spLocks noGrp="1"/>
          </p:cNvSpPr>
          <p:nvPr/>
        </p:nvSpPr>
        <p:spPr>
          <a:xfrm>
            <a:off x="7498080" y="137160"/>
            <a:ext cx="1417320" cy="292608"/>
          </a:xfrm>
          <a:prstGeom prst="rect">
            <a:avLst/>
          </a:prstGeom>
          <a:solidFill>
            <a:srgbClr val="E8A020"/>
          </a:solidFill>
          <a:ln w="12700">
            <a:solidFill>
              <a:srgbClr val="E8A020"/>
            </a:solidFill>
            <a:prstDash val="solid"/>
          </a:ln>
        </p:spPr>
      </p:sp>
      <p:sp>
        <p:nvSpPr>
          <p:cNvPr id="8" name="Text 6">
            <a:extLst>
              <a:ext uri="{FF2B5EF4-FFF2-40B4-BE49-F238E27FC236}">
                <a16:creationId xmlns:a16="http://schemas.microsoft.com/office/drawing/2014/main" id="{65A06437-0A3C-43F1-8C4D-8B11B9E4BD63}"/>
              </a:ext>
            </a:extLst>
          </p:cNvPr>
          <p:cNvSpPr>
            <a:spLocks noGrp="1"/>
          </p:cNvSpPr>
          <p:nvPr/>
        </p:nvSpPr>
        <p:spPr>
          <a:xfrm>
            <a:off x="7498080" y="137160"/>
            <a:ext cx="1417320" cy="292608"/>
          </a:xfrm>
          <a:prstGeom prst="rect">
            <a:avLst/>
          </a:prstGeom>
          <a:noFill/>
        </p:spPr>
        <p:txBody>
          <a:bodyPr wrap="square" lIns="0" tIns="0" rIns="0" bIns="0" anchor="ctr"/>
          <a:lstStyle/>
          <a:p>
            <a:pPr marL="0" indent="0" algn="ctr">
              <a:buNone/>
            </a:pPr>
            <a:r>
              <a:rPr sz="750" b="1">
                <a:solidFill>
                  <a:srgbClr val="0D1F2D"/>
                </a:solidFill>
              </a:rPr>
              <a:t>2026</a:t>
            </a:r>
            <a:endParaRPr sz="750"/>
          </a:p>
        </p:txBody>
      </p:sp>
      <p:sp>
        <p:nvSpPr>
          <p:cNvPr id="9" name="Text 7">
            <a:extLst>
              <a:ext uri="{FF2B5EF4-FFF2-40B4-BE49-F238E27FC236}">
                <a16:creationId xmlns:a16="http://schemas.microsoft.com/office/drawing/2014/main" id="{9BC5597E-259F-4375-AD7E-442DC35DA9BA}"/>
              </a:ext>
            </a:extLst>
          </p:cNvPr>
          <p:cNvSpPr>
            <a:spLocks noGrp="1"/>
          </p:cNvSpPr>
          <p:nvPr/>
        </p:nvSpPr>
        <p:spPr>
          <a:xfrm>
            <a:off x="365760" y="566928"/>
            <a:ext cx="5486400" cy="320040"/>
          </a:xfrm>
          <a:prstGeom prst="rect">
            <a:avLst/>
          </a:prstGeom>
          <a:noFill/>
        </p:spPr>
        <p:txBody>
          <a:bodyPr wrap="square" lIns="0" tIns="0" rIns="0" bIns="0" anchor="ctr"/>
          <a:lstStyle/>
          <a:p>
            <a:pPr marL="0" indent="0">
              <a:buNone/>
            </a:pPr>
            <a:r>
              <a:rPr sz="1000" b="1">
                <a:solidFill>
                  <a:srgbClr val="E8A020"/>
                </a:solidFill>
              </a:rPr>
              <a:t>WILDFIRE EXPOSURE SCREENING</a:t>
            </a:r>
            <a:endParaRPr sz="1000"/>
          </a:p>
        </p:txBody>
      </p:sp>
      <p:sp>
        <p:nvSpPr>
          <p:cNvPr id="10" name="Text 8">
            <a:extLst>
              <a:ext uri="{FF2B5EF4-FFF2-40B4-BE49-F238E27FC236}">
                <a16:creationId xmlns:a16="http://schemas.microsoft.com/office/drawing/2014/main" id="{104374D4-53B8-40B4-AD27-574FDD973E4D}"/>
              </a:ext>
            </a:extLst>
          </p:cNvPr>
          <p:cNvSpPr>
            <a:spLocks noGrp="1"/>
          </p:cNvSpPr>
          <p:nvPr/>
        </p:nvSpPr>
        <p:spPr>
          <a:xfrm>
            <a:off x="365760" y="914400"/>
            <a:ext cx="5577840" cy="1828800"/>
          </a:xfrm>
          <a:prstGeom prst="rect">
            <a:avLst/>
          </a:prstGeom>
          <a:noFill/>
        </p:spPr>
        <p:txBody>
          <a:bodyPr wrap="square" lIns="0" tIns="0" rIns="0" bIns="0" anchor="t"/>
          <a:lstStyle/>
          <a:p>
            <a:pPr marL="0" indent="0">
              <a:buNone/>
            </a:pPr>
            <a:r>
              <a:rPr sz="5200" b="1">
                <a:solidFill>
                  <a:srgbClr val="FFFFFF"/>
                </a:solidFill>
              </a:rPr>
              <a:t>Wildfire Exposure</a:t>
            </a:r>
            <a:endParaRPr sz="5200"/>
          </a:p>
          <a:p>
            <a:pPr marL="0" indent="0">
              <a:buNone/>
            </a:pPr>
            <a:r>
              <a:rPr sz="5200" b="1">
                <a:solidFill>
                  <a:srgbClr val="FFFFFF"/>
                </a:solidFill>
              </a:rPr>
              <a:t>Screening</a:t>
            </a:r>
            <a:endParaRPr sz="5200"/>
          </a:p>
        </p:txBody>
      </p:sp>
      <p:sp>
        <p:nvSpPr>
          <p:cNvPr id="11" name="Text 9">
            <a:extLst>
              <a:ext uri="{FF2B5EF4-FFF2-40B4-BE49-F238E27FC236}">
                <a16:creationId xmlns:a16="http://schemas.microsoft.com/office/drawing/2014/main" id="{20E7387F-C7E0-45B4-95FC-3980C4673C6B}"/>
              </a:ext>
            </a:extLst>
          </p:cNvPr>
          <p:cNvSpPr>
            <a:spLocks noGrp="1"/>
          </p:cNvSpPr>
          <p:nvPr/>
        </p:nvSpPr>
        <p:spPr>
          <a:xfrm>
            <a:off x="365760" y="2834640"/>
            <a:ext cx="5577840" cy="411480"/>
          </a:xfrm>
          <a:prstGeom prst="rect">
            <a:avLst/>
          </a:prstGeom>
          <a:noFill/>
        </p:spPr>
        <p:txBody>
          <a:bodyPr wrap="square" lIns="0" tIns="0" rIns="0" bIns="0" anchor="ctr"/>
          <a:lstStyle/>
          <a:p>
            <a:pPr marL="0" indent="0">
              <a:buNone/>
            </a:pPr>
            <a:r>
              <a:rPr sz="1300" i="1">
                <a:solidFill>
                  <a:srgbClr val="A8C4D8"/>
                </a:solidFill>
              </a:rPr>
              <a:t>A reproducible GIS and machine-learning workflow for broad-area location research.</a:t>
            </a:r>
            <a:endParaRPr sz="1300"/>
          </a:p>
        </p:txBody>
      </p:sp>
      <p:sp>
        <p:nvSpPr>
          <p:cNvPr id="12" name="Shape 10">
            <a:extLst>
              <a:ext uri="{FF2B5EF4-FFF2-40B4-BE49-F238E27FC236}">
                <a16:creationId xmlns:a16="http://schemas.microsoft.com/office/drawing/2014/main" id="{84D7FAF1-5834-4AFE-87A0-3EB7DF4F1C96}"/>
              </a:ext>
            </a:extLst>
          </p:cNvPr>
          <p:cNvSpPr>
            <a:spLocks noGrp="1"/>
          </p:cNvSpPr>
          <p:nvPr/>
        </p:nvSpPr>
        <p:spPr>
          <a:xfrm>
            <a:off x="365760" y="3310128"/>
            <a:ext cx="5303520" cy="22860"/>
          </a:xfrm>
          <a:prstGeom prst="rect">
            <a:avLst/>
          </a:prstGeom>
          <a:solidFill>
            <a:srgbClr val="E8A020"/>
          </a:solidFill>
          <a:ln w="12700">
            <a:solidFill>
              <a:srgbClr val="E8A020"/>
            </a:solidFill>
            <a:prstDash val="solid"/>
          </a:ln>
        </p:spPr>
      </p:sp>
      <p:sp>
        <p:nvSpPr>
          <p:cNvPr id="13" name="Text 11">
            <a:extLst>
              <a:ext uri="{FF2B5EF4-FFF2-40B4-BE49-F238E27FC236}">
                <a16:creationId xmlns:a16="http://schemas.microsoft.com/office/drawing/2014/main" id="{55AB15B4-F408-4652-B072-3916646D6B7A}"/>
              </a:ext>
            </a:extLst>
          </p:cNvPr>
          <p:cNvSpPr>
            <a:spLocks noGrp="1"/>
          </p:cNvSpPr>
          <p:nvPr/>
        </p:nvSpPr>
        <p:spPr>
          <a:xfrm>
            <a:off x="365760" y="3383280"/>
            <a:ext cx="5303520" cy="320040"/>
          </a:xfrm>
          <a:prstGeom prst="rect">
            <a:avLst/>
          </a:prstGeom>
          <a:noFill/>
        </p:spPr>
        <p:txBody>
          <a:bodyPr wrap="square" lIns="0" tIns="0" rIns="0" bIns="0" anchor="ctr"/>
          <a:lstStyle/>
          <a:p>
            <a:pPr marL="0" indent="0">
              <a:buNone/>
            </a:pPr>
            <a:r>
              <a:rPr sz="1100">
                <a:solidFill>
                  <a:srgbClr val="E1E8EF"/>
                </a:solidFill>
              </a:rPr>
              <a:t>Serhii Diadechko</a:t>
            </a:r>
            <a:endParaRPr sz="1100"/>
          </a:p>
        </p:txBody>
      </p:sp>
      <p:sp>
        <p:nvSpPr>
          <p:cNvPr id="14" name="Shape 12">
            <a:extLst>
              <a:ext uri="{FF2B5EF4-FFF2-40B4-BE49-F238E27FC236}">
                <a16:creationId xmlns:a16="http://schemas.microsoft.com/office/drawing/2014/main" id="{9BEE0D39-8F48-47D0-AC97-A5C1383B7E0E}"/>
              </a:ext>
            </a:extLst>
          </p:cNvPr>
          <p:cNvSpPr>
            <a:spLocks noGrp="1"/>
          </p:cNvSpPr>
          <p:nvPr/>
        </p:nvSpPr>
        <p:spPr>
          <a:xfrm>
            <a:off x="6080760" y="777240"/>
            <a:ext cx="2834640" cy="3931920"/>
          </a:xfrm>
          <a:prstGeom prst="rect">
            <a:avLst/>
          </a:prstGeom>
          <a:solidFill>
            <a:srgbClr val="1E3A50"/>
          </a:solidFill>
          <a:ln w="12700">
            <a:solidFill>
              <a:srgbClr val="1E3A50"/>
            </a:solidFill>
            <a:prstDash val="solid"/>
          </a:ln>
        </p:spPr>
      </p:sp>
      <p:sp>
        <p:nvSpPr>
          <p:cNvPr id="15" name="Text 13">
            <a:extLst>
              <a:ext uri="{FF2B5EF4-FFF2-40B4-BE49-F238E27FC236}">
                <a16:creationId xmlns:a16="http://schemas.microsoft.com/office/drawing/2014/main" id="{B9DF6536-1C4E-4314-9CB6-ABE7AFD6C0A3}"/>
              </a:ext>
            </a:extLst>
          </p:cNvPr>
          <p:cNvSpPr>
            <a:spLocks noGrp="1"/>
          </p:cNvSpPr>
          <p:nvPr/>
        </p:nvSpPr>
        <p:spPr>
          <a:xfrm>
            <a:off x="6080760" y="822960"/>
            <a:ext cx="2834640" cy="320040"/>
          </a:xfrm>
          <a:prstGeom prst="rect">
            <a:avLst/>
          </a:prstGeom>
          <a:noFill/>
        </p:spPr>
        <p:txBody>
          <a:bodyPr wrap="square" lIns="0" tIns="0" rIns="0" bIns="0" anchor="ctr"/>
          <a:lstStyle/>
          <a:p>
            <a:pPr marL="0" indent="0" algn="ctr">
              <a:buNone/>
            </a:pPr>
            <a:r>
              <a:rPr sz="900" b="1">
                <a:solidFill>
                  <a:srgbClr val="E8A020"/>
                </a:solidFill>
              </a:rPr>
              <a:t>Purpose</a:t>
            </a:r>
            <a:endParaRPr sz="900"/>
          </a:p>
        </p:txBody>
      </p:sp>
      <p:sp>
        <p:nvSpPr>
          <p:cNvPr id="16" name="Shape 14">
            <a:extLst>
              <a:ext uri="{FF2B5EF4-FFF2-40B4-BE49-F238E27FC236}">
                <a16:creationId xmlns:a16="http://schemas.microsoft.com/office/drawing/2014/main" id="{5B21C9E4-9D51-47F8-A634-86927AA3DBCF}"/>
              </a:ext>
            </a:extLst>
          </p:cNvPr>
          <p:cNvSpPr>
            <a:spLocks noGrp="1"/>
          </p:cNvSpPr>
          <p:nvPr/>
        </p:nvSpPr>
        <p:spPr>
          <a:xfrm>
            <a:off x="6217920" y="1170432"/>
            <a:ext cx="2560320" cy="22860"/>
          </a:xfrm>
          <a:prstGeom prst="rect">
            <a:avLst/>
          </a:prstGeom>
          <a:solidFill>
            <a:srgbClr val="E8A020"/>
          </a:solidFill>
          <a:ln w="12700">
            <a:solidFill>
              <a:srgbClr val="E8A020"/>
            </a:solidFill>
            <a:prstDash val="solid"/>
          </a:ln>
        </p:spPr>
      </p:sp>
      <p:sp>
        <p:nvSpPr>
          <p:cNvPr id="17" name="Text 15">
            <a:extLst>
              <a:ext uri="{FF2B5EF4-FFF2-40B4-BE49-F238E27FC236}">
                <a16:creationId xmlns:a16="http://schemas.microsoft.com/office/drawing/2014/main" id="{F36FA1E7-8AA0-4F97-BCC4-F9EF38BF02CA}"/>
              </a:ext>
            </a:extLst>
          </p:cNvPr>
          <p:cNvSpPr>
            <a:spLocks noGrp="1"/>
          </p:cNvSpPr>
          <p:nvPr/>
        </p:nvSpPr>
        <p:spPr>
          <a:xfrm>
            <a:off x="6217920" y="1261872"/>
            <a:ext cx="2560320" cy="438912"/>
          </a:xfrm>
          <a:prstGeom prst="rect">
            <a:avLst/>
          </a:prstGeom>
          <a:noFill/>
        </p:spPr>
        <p:txBody>
          <a:bodyPr wrap="square" lIns="0" tIns="0" rIns="0" bIns="0" anchor="ctr"/>
          <a:lstStyle/>
          <a:p>
            <a:pPr marL="0" indent="0">
              <a:buNone/>
            </a:pPr>
            <a:r>
              <a:rPr sz="1050" b="1">
                <a:solidFill>
                  <a:srgbClr val="E8A020"/>
                </a:solidFill>
              </a:rPr>
              <a:t>Observed history</a:t>
            </a:r>
            <a:endParaRPr sz="1050"/>
          </a:p>
        </p:txBody>
      </p:sp>
      <p:sp>
        <p:nvSpPr>
          <p:cNvPr id="18" name="Text 16">
            <a:extLst>
              <a:ext uri="{FF2B5EF4-FFF2-40B4-BE49-F238E27FC236}">
                <a16:creationId xmlns:a16="http://schemas.microsoft.com/office/drawing/2014/main" id="{E78B0B14-0C2A-4376-A31F-8BD2A8320B1B}"/>
              </a:ext>
            </a:extLst>
          </p:cNvPr>
          <p:cNvSpPr>
            <a:spLocks noGrp="1"/>
          </p:cNvSpPr>
          <p:nvPr/>
        </p:nvSpPr>
        <p:spPr>
          <a:xfrm>
            <a:off x="6217920" y="1792224"/>
            <a:ext cx="2560320" cy="438912"/>
          </a:xfrm>
          <a:prstGeom prst="rect">
            <a:avLst/>
          </a:prstGeom>
          <a:noFill/>
        </p:spPr>
        <p:txBody>
          <a:bodyPr wrap="square" lIns="0" tIns="0" rIns="0" bIns="0" anchor="ctr"/>
          <a:lstStyle/>
          <a:p>
            <a:pPr marL="0" indent="0">
              <a:buNone/>
            </a:pPr>
            <a:r>
              <a:rPr sz="1050" b="1">
                <a:solidFill>
                  <a:srgbClr val="E8A020"/>
                </a:solidFill>
              </a:rPr>
              <a:t>Landscape, terrain and climate</a:t>
            </a:r>
            <a:endParaRPr sz="1050"/>
          </a:p>
        </p:txBody>
      </p:sp>
      <p:sp>
        <p:nvSpPr>
          <p:cNvPr id="19" name="Text 17">
            <a:extLst>
              <a:ext uri="{FF2B5EF4-FFF2-40B4-BE49-F238E27FC236}">
                <a16:creationId xmlns:a16="http://schemas.microsoft.com/office/drawing/2014/main" id="{AE7E2DF4-82FF-4297-BC2B-22C484A80CC8}"/>
              </a:ext>
            </a:extLst>
          </p:cNvPr>
          <p:cNvSpPr>
            <a:spLocks noGrp="1"/>
          </p:cNvSpPr>
          <p:nvPr/>
        </p:nvSpPr>
        <p:spPr>
          <a:xfrm>
            <a:off x="6217920" y="2322576"/>
            <a:ext cx="2560320" cy="438912"/>
          </a:xfrm>
          <a:prstGeom prst="rect">
            <a:avLst/>
          </a:prstGeom>
          <a:noFill/>
        </p:spPr>
        <p:txBody>
          <a:bodyPr wrap="square" lIns="0" tIns="0" rIns="0" bIns="0" anchor="ctr"/>
          <a:lstStyle/>
          <a:p>
            <a:pPr marL="0" indent="0">
              <a:buNone/>
            </a:pPr>
            <a:r>
              <a:rPr sz="1050" b="1">
                <a:solidFill>
                  <a:srgbClr val="E8A020"/>
                </a:solidFill>
              </a:rPr>
              <a:t>Comparative 2026 estimate</a:t>
            </a:r>
            <a:endParaRPr sz="1050"/>
          </a:p>
        </p:txBody>
      </p:sp>
      <p:sp>
        <p:nvSpPr>
          <p:cNvPr id="20" name="Text 18">
            <a:extLst>
              <a:ext uri="{FF2B5EF4-FFF2-40B4-BE49-F238E27FC236}">
                <a16:creationId xmlns:a16="http://schemas.microsoft.com/office/drawing/2014/main" id="{DD6F7EF9-033D-4506-9EBE-BFE18477DBE8}"/>
              </a:ext>
            </a:extLst>
          </p:cNvPr>
          <p:cNvSpPr>
            <a:spLocks noGrp="1"/>
          </p:cNvSpPr>
          <p:nvPr/>
        </p:nvSpPr>
        <p:spPr>
          <a:xfrm>
            <a:off x="6217920" y="2852928"/>
            <a:ext cx="2560320" cy="438912"/>
          </a:xfrm>
          <a:prstGeom prst="rect">
            <a:avLst/>
          </a:prstGeom>
          <a:noFill/>
        </p:spPr>
        <p:txBody>
          <a:bodyPr wrap="square" lIns="0" tIns="0" rIns="0" bIns="0" anchor="ctr"/>
          <a:lstStyle/>
          <a:p>
            <a:pPr marL="0" indent="0">
              <a:buNone/>
            </a:pPr>
            <a:r>
              <a:rPr sz="1050" b="1">
                <a:solidFill>
                  <a:srgbClr val="E8A020"/>
                </a:solidFill>
              </a:rPr>
              <a:t>Narrow broad search areas</a:t>
            </a:r>
            <a:endParaRPr sz="1050"/>
          </a:p>
        </p:txBody>
      </p:sp>
      <p:sp>
        <p:nvSpPr>
          <p:cNvPr id="21" name="Text 19">
            <a:extLst>
              <a:ext uri="{FF2B5EF4-FFF2-40B4-BE49-F238E27FC236}">
                <a16:creationId xmlns:a16="http://schemas.microsoft.com/office/drawing/2014/main" id="{A8932156-3970-4237-A76D-30F8D26A7793}"/>
              </a:ext>
            </a:extLst>
          </p:cNvPr>
          <p:cNvSpPr>
            <a:spLocks noGrp="1"/>
          </p:cNvSpPr>
          <p:nvPr/>
        </p:nvSpPr>
        <p:spPr>
          <a:xfrm>
            <a:off x="6217920" y="3383280"/>
            <a:ext cx="2560320" cy="438912"/>
          </a:xfrm>
          <a:prstGeom prst="rect">
            <a:avLst/>
          </a:prstGeom>
          <a:noFill/>
        </p:spPr>
        <p:txBody>
          <a:bodyPr wrap="square" lIns="0" tIns="0" rIns="0" bIns="0" anchor="ctr"/>
          <a:lstStyle/>
          <a:p>
            <a:pPr marL="0" indent="0">
              <a:buNone/>
            </a:pPr>
            <a:r>
              <a:rPr sz="1050" b="1">
                <a:solidFill>
                  <a:srgbClr val="E8A020"/>
                </a:solidFill>
              </a:rPr>
              <a:t>Then continue with local evidence</a:t>
            </a:r>
            <a:endParaRPr sz="1050"/>
          </a:p>
        </p:txBody>
      </p:sp>
      <p:sp>
        <p:nvSpPr>
          <p:cNvPr id="22" name="Shape 20">
            <a:extLst>
              <a:ext uri="{FF2B5EF4-FFF2-40B4-BE49-F238E27FC236}">
                <a16:creationId xmlns:a16="http://schemas.microsoft.com/office/drawing/2014/main" id="{60B28163-A49C-4C75-B149-473B24134259}"/>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23" name="Text 21">
            <a:extLst>
              <a:ext uri="{FF2B5EF4-FFF2-40B4-BE49-F238E27FC236}">
                <a16:creationId xmlns:a16="http://schemas.microsoft.com/office/drawing/2014/main" id="{D759CE5D-7A30-48C4-B49F-00835A05CFBA}"/>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9159638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DATASET OVERVIEW</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2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One 1 km mainland cell per year makes the evidence comparable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OBSERVED FIRE</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ICNF annual burned areas</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Historical occurrence and next-year burned-share outcomes. Fire recurrence is measured in a 2 km context buffer.</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2000–2025 coverage</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Use: observed history and outcome labels</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Burned share = burned land area / cell land area.</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PLACE CONTEXT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CLC and Copernicus DEM</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Built-up share, forest/shrub context and mean slope describe the surrounding landscape.</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Static or governed historical layers</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Use: landscape and terrain predictors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No parcel-level claim.</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CLIMATE CONTEXT</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ERA5-Land JJAS</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Warm-season temperature, precipitation and shallow soil-water conditions from predictor year T only.</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0.1° regional climate cells</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Use: predictor-year climate context</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No interpolation or downscaling.</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89,112 mainland cells; one EPSG:3763 1 km cell × predictor year record.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916D61E-8D80-4696-BE48-571111EE6D65}"/>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7C197073-0349-496C-B731-E02726BC0FD2}"/>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5344C750-A1AC-4D96-B5ED-2E59EAB552A3}"/>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4BCF9260-F9BB-427A-A715-0CA619DDD669}"/>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a:t>
            </a:r>
            <a:r>
              <a:rPr lang="en-US" sz="1100" b="1" dirty="0">
                <a:solidFill>
                  <a:srgbClr val="E8A020"/>
                </a:solidFill>
              </a:rPr>
              <a:t>FINDING</a:t>
            </a:r>
            <a:r>
              <a:rPr sz="1100" b="1" dirty="0">
                <a:solidFill>
                  <a:srgbClr val="E8A020"/>
                </a:solidFill>
              </a:rPr>
              <a:t> 1</a:t>
            </a:r>
            <a:endParaRPr lang="en-US" sz="1100" b="1" dirty="0">
              <a:solidFill>
                <a:srgbClr val="E8A020"/>
              </a:solidFill>
            </a:endParaRPr>
          </a:p>
          <a:p>
            <a:pPr marL="0" indent="0">
              <a:buNone/>
            </a:pPr>
            <a:r>
              <a:rPr lang="en-US" sz="1000" dirty="0">
                <a:solidFill>
                  <a:schemeClr val="accent6"/>
                </a:solidFill>
              </a:rPr>
              <a:t>observed history and 2026 comparative estimate</a:t>
            </a:r>
            <a:endParaRPr sz="1000" dirty="0">
              <a:solidFill>
                <a:schemeClr val="accent6"/>
              </a:solidFill>
            </a:endParaRPr>
          </a:p>
        </p:txBody>
      </p:sp>
      <p:sp>
        <p:nvSpPr>
          <p:cNvPr id="6" name="Text 4">
            <a:extLst>
              <a:ext uri="{FF2B5EF4-FFF2-40B4-BE49-F238E27FC236}">
                <a16:creationId xmlns:a16="http://schemas.microsoft.com/office/drawing/2014/main" id="{7C069EAE-F0EA-403F-93EC-4D5FAD01EDA4}"/>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3 / 8</a:t>
            </a:r>
            <a:endParaRPr sz="1100"/>
          </a:p>
        </p:txBody>
      </p:sp>
      <p:sp>
        <p:nvSpPr>
          <p:cNvPr id="7" name="Text 5">
            <a:extLst>
              <a:ext uri="{FF2B5EF4-FFF2-40B4-BE49-F238E27FC236}">
                <a16:creationId xmlns:a16="http://schemas.microsoft.com/office/drawing/2014/main" id="{166943B0-65A2-4E8E-A093-55763EACAA06}"/>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wildfire recurrence is uneven across mainland Portugal (left map)</a:t>
            </a:r>
            <a:endParaRPr sz="1600"/>
          </a:p>
        </p:txBody>
      </p:sp>
      <p:sp>
        <p:nvSpPr>
          <p:cNvPr id="33" name="Shape 31">
            <a:extLst>
              <a:ext uri="{FF2B5EF4-FFF2-40B4-BE49-F238E27FC236}">
                <a16:creationId xmlns:a16="http://schemas.microsoft.com/office/drawing/2014/main" id="{35375F54-2542-44E4-9AE4-25E5F5E7CCD6}"/>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34" name="Text 32">
            <a:extLst>
              <a:ext uri="{FF2B5EF4-FFF2-40B4-BE49-F238E27FC236}">
                <a16:creationId xmlns:a16="http://schemas.microsoft.com/office/drawing/2014/main" id="{311C9A05-ACCC-4E9D-9690-B5C3213DD01B}"/>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pic>
        <p:nvPicPr>
          <p:cNvPr id="69" name="Picture 36"/>
          <p:cNvPicPr>
            <a:picLocks noChangeAspect="1"/>
          </p:cNvPicPr>
          <p:nvPr/>
        </p:nvPicPr>
        <p:blipFill>
          <a:blip r:embed="rId3"/>
          <a:stretch>
            <a:fillRect/>
          </a:stretch>
        </p:blipFill>
        <p:spPr>
          <a:xfrm>
            <a:off x="774375" y="1111192"/>
            <a:ext cx="7595250" cy="3765417"/>
          </a:xfrm>
          <a:prstGeom prst="rect">
            <a:avLst/>
          </a:prstGeom>
        </p:spPr>
      </p:pic>
    </p:spTree>
    <p:extLst>
      <p:ext uri="{BB962C8B-B14F-4D97-AF65-F5344CB8AC3E}">
        <p14:creationId xmlns:p14="http://schemas.microsoft.com/office/powerpoint/2010/main" val="6125340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txBody>
          <a:bodyPr/>
          <a:lstStyle/>
          <a:p>
            <a:endParaRPr lang="en-US" dirty="0"/>
          </a:p>
        </p:txBody>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2</a:t>
            </a:r>
            <a:endParaRPr lang="en-US" sz="1100" b="1" dirty="0">
              <a:solidFill>
                <a:srgbClr val="E8A020"/>
              </a:solidFill>
            </a:endParaRPr>
          </a:p>
          <a:p>
            <a:pPr marL="0" indent="0">
              <a:buNone/>
            </a:pPr>
            <a:r>
              <a:rPr lang="en-US" sz="1000" dirty="0">
                <a:solidFill>
                  <a:schemeClr val="accent6"/>
                </a:solidFill>
              </a:rPr>
              <a:t>complementary context</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4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Historical recurrence and structural hazard provide complementary context</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Evidence layers</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Counts 2016–2025 burned years in the 2 km context around each 1 km cell.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Official structural hazard</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An official ICNF classification of underlying landscape hazard conditions, summarised from 25 m classes to the predominant 1 km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Why compare both?</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They use different methods and time frames, so agreement or disagreement adds context.</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Interpretation</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Structural hazard is not this project’s prediction and does not describe one particular year’s burned area.</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64024" y="1554480"/>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64024" y="1280160"/>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One comparison, two sources</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Use the layers together to understand patterns; neither layer is a buyer threshold.</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Maps describe evidence; they do not certify a location.</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Both layers still require local verification.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364992"/>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Observed recurrence = what burned.</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Structural hazard = underlying landscape classification.</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Together = broader screening context.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model-accuracy claim is made from this comparison.</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The official ICNF layer is a reference, not the project’s ML output.</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dirty="0">
                <a:solidFill>
                  <a:srgbClr val="E8A020"/>
                </a:solidFill>
              </a:rPr>
              <a:t>KEY FINDING 3 — MODEL</a:t>
            </a:r>
            <a:endParaRPr lang="en-US" sz="1100" b="1" dirty="0">
              <a:solidFill>
                <a:srgbClr val="E8A020"/>
              </a:solidFill>
            </a:endParaRPr>
          </a:p>
          <a:p>
            <a:pPr marL="0" indent="0">
              <a:buNone/>
            </a:pPr>
            <a:r>
              <a:rPr lang="en-US" sz="1000" dirty="0">
                <a:solidFill>
                  <a:schemeClr val="accent6"/>
                </a:solidFill>
              </a:rPr>
              <a:t>model comparison</a:t>
            </a:r>
            <a:endParaRPr sz="1000" dirty="0">
              <a:solidFill>
                <a:schemeClr val="accent6"/>
              </a:solidFill>
            </a:endParaRPr>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5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The nine-feature model improves selected comparative diagnostics</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txBody>
          <a:bodyPr/>
          <a:lstStyle/>
          <a:p>
            <a:endParaRPr/>
          </a:p>
        </p:txBody>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MODEL COMPARISON</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Baseline -&gt; nine-feature model</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Historical recurrence baseline </a:t>
            </a:r>
            <a:r>
              <a:rPr sz="800" b="1">
                <a:solidFill>
                  <a:srgbClr val="1A2638"/>
                </a:solidFill>
              </a:rPr>
              <a:t>- </a:t>
            </a:r>
            <a:r>
              <a:rPr sz="800" b="1"/>
              <a:t>groups training records by the number of previously burned years </a:t>
            </a:r>
            <a:r>
              <a:rPr sz="800" b="1">
                <a:solidFill>
                  <a:srgbClr val="1A2638"/>
                </a:solidFill>
              </a:rPr>
              <a:t> </a:t>
            </a:r>
            <a:endParaRPr sz="800" b="1"/>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dirty="0">
                <a:solidFill>
                  <a:srgbClr val="1A2638"/>
                </a:solidFill>
              </a:rPr>
              <a:t>Nine-feature </a:t>
            </a:r>
            <a:r>
              <a:rPr lang="en-US" sz="850" dirty="0">
                <a:solidFill>
                  <a:srgbClr val="1A2638"/>
                </a:solidFill>
              </a:rPr>
              <a:t>two-stage regression</a:t>
            </a:r>
            <a:r>
              <a:rPr sz="850" dirty="0">
                <a:solidFill>
                  <a:srgbClr val="1A2638"/>
                </a:solidFill>
              </a:rPr>
              <a:t> model - </a:t>
            </a:r>
            <a:r>
              <a:rPr sz="850" b="1" dirty="0" err="1">
                <a:solidFill>
                  <a:srgbClr val="1A2638"/>
                </a:solidFill>
              </a:rPr>
              <a:t>HistGradientBoosting</a:t>
            </a:r>
            <a:endParaRPr sz="850" b="1" dirty="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MAE: 0.029  -&gt;  0.021</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RMSE: 0.111  -&gt;  0.111</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Capture@20%: 0.482  -&gt;  0.500</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Final temporal test: T=2022–2024; outcomes in T+1.</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HOW TO READ IT</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Technical</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MAE is average error in burned-share units; lower is better.</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RMSE gives more weight to larger errors; lower is better.</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Capture@20% is the share of observed burned share found among the 20% highest-scored cells.</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r>
              <a:rPr sz="800" b="1">
                <a:solidFill>
                  <a:srgbClr val="5B6880"/>
                </a:solidFill>
              </a:rPr>
              <a:t>Delivery Tips</a:t>
            </a: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It is a ranking diagnostic, not a buyer threshold.</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The model improves selected comparisons, but extreme fire years remain difficult.</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The target is continuous burned share: burned land area divided by cell land area.</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The nine-feature model uses a two-part regression for the zero-heavy target.</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No final-test result is used to claim a property-level forecast.</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Conclusion: useful comparative improvement with visible uncertainty.</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17816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0">
            <a:extLst>
              <a:ext uri="{FF2B5EF4-FFF2-40B4-BE49-F238E27FC236}">
                <a16:creationId xmlns:a16="http://schemas.microsoft.com/office/drawing/2014/main" id="{9E3B76F2-BCC7-BBF0-1273-7B2C877F93D3}"/>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42" name="Shape 1">
            <a:extLst>
              <a:ext uri="{FF2B5EF4-FFF2-40B4-BE49-F238E27FC236}">
                <a16:creationId xmlns:a16="http://schemas.microsoft.com/office/drawing/2014/main" id="{4EF0D36C-C357-E332-9FBF-445832165DBE}"/>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3" name="Shape 2">
            <a:extLst>
              <a:ext uri="{FF2B5EF4-FFF2-40B4-BE49-F238E27FC236}">
                <a16:creationId xmlns:a16="http://schemas.microsoft.com/office/drawing/2014/main" id="{1CFE74E3-3462-A34A-4A20-31F9DE9FBFC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44" name="Text 3">
            <a:extLst>
              <a:ext uri="{FF2B5EF4-FFF2-40B4-BE49-F238E27FC236}">
                <a16:creationId xmlns:a16="http://schemas.microsoft.com/office/drawing/2014/main" id="{0D45B056-7786-F6DB-DB67-68872420F5BA}"/>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RECOMMENDED USE CASE</a:t>
            </a:r>
            <a:endParaRPr sz="1100"/>
          </a:p>
        </p:txBody>
      </p:sp>
      <p:sp>
        <p:nvSpPr>
          <p:cNvPr id="45" name="Text 4">
            <a:extLst>
              <a:ext uri="{FF2B5EF4-FFF2-40B4-BE49-F238E27FC236}">
                <a16:creationId xmlns:a16="http://schemas.microsoft.com/office/drawing/2014/main" id="{41DC7F03-CAB9-6A42-265A-C46904C8AFD1}"/>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6 / 8</a:t>
            </a:r>
            <a:endParaRPr sz="1100"/>
          </a:p>
        </p:txBody>
      </p:sp>
      <p:sp>
        <p:nvSpPr>
          <p:cNvPr id="46" name="Text 5">
            <a:extLst>
              <a:ext uri="{FF2B5EF4-FFF2-40B4-BE49-F238E27FC236}">
                <a16:creationId xmlns:a16="http://schemas.microsoft.com/office/drawing/2014/main" id="{D847301C-C927-7FAC-A769-4C641A7B5D35}"/>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A prospective buyer narrows a Portugal location search</a:t>
            </a:r>
            <a:endParaRPr sz="1600"/>
          </a:p>
        </p:txBody>
      </p:sp>
      <p:sp>
        <p:nvSpPr>
          <p:cNvPr id="47" name="Shape 6">
            <a:extLst>
              <a:ext uri="{FF2B5EF4-FFF2-40B4-BE49-F238E27FC236}">
                <a16:creationId xmlns:a16="http://schemas.microsoft.com/office/drawing/2014/main" id="{F70699D7-5B53-2C77-0175-B3B78E7EF30C}"/>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48" name="Shape 7">
            <a:extLst>
              <a:ext uri="{FF2B5EF4-FFF2-40B4-BE49-F238E27FC236}">
                <a16:creationId xmlns:a16="http://schemas.microsoft.com/office/drawing/2014/main" id="{111BE822-2C18-0A11-F129-F8D5751595BB}"/>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49" name="Text 8">
            <a:extLst>
              <a:ext uri="{FF2B5EF4-FFF2-40B4-BE49-F238E27FC236}">
                <a16:creationId xmlns:a16="http://schemas.microsoft.com/office/drawing/2014/main" id="{F7C43176-6DA9-3BA7-4DE8-A4C84CEC076C}"/>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START WITH</a:t>
            </a:r>
            <a:endParaRPr sz="1100"/>
          </a:p>
        </p:txBody>
      </p:sp>
      <p:sp>
        <p:nvSpPr>
          <p:cNvPr id="50" name="Text 9">
            <a:extLst>
              <a:ext uri="{FF2B5EF4-FFF2-40B4-BE49-F238E27FC236}">
                <a16:creationId xmlns:a16="http://schemas.microsoft.com/office/drawing/2014/main" id="{25E0079F-7E52-BCD6-436F-A2013D60831A}"/>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2026 comparative estimate</a:t>
            </a:r>
            <a:endParaRPr sz="800"/>
          </a:p>
        </p:txBody>
      </p:sp>
      <p:sp>
        <p:nvSpPr>
          <p:cNvPr id="51" name="Text 10">
            <a:extLst>
              <a:ext uri="{FF2B5EF4-FFF2-40B4-BE49-F238E27FC236}">
                <a16:creationId xmlns:a16="http://schemas.microsoft.com/office/drawing/2014/main" id="{35DCCB06-55A6-7118-8D80-0423179BFA58}"/>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Compare broad 1 km areas using 2025 predictor inputs.</a:t>
            </a:r>
            <a:endParaRPr sz="850"/>
          </a:p>
        </p:txBody>
      </p:sp>
      <p:sp>
        <p:nvSpPr>
          <p:cNvPr id="52" name="Shape 11">
            <a:extLst>
              <a:ext uri="{FF2B5EF4-FFF2-40B4-BE49-F238E27FC236}">
                <a16:creationId xmlns:a16="http://schemas.microsoft.com/office/drawing/2014/main" id="{48892306-CBC7-1476-476D-AF940872013E}"/>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53" name="Text 12">
            <a:extLst>
              <a:ext uri="{FF2B5EF4-FFF2-40B4-BE49-F238E27FC236}">
                <a16:creationId xmlns:a16="http://schemas.microsoft.com/office/drawing/2014/main" id="{524E6A7B-8390-A7C3-5810-F79BE56CA14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COMPARE CONTEXT</a:t>
            </a:r>
            <a:endParaRPr sz="800"/>
          </a:p>
        </p:txBody>
      </p:sp>
      <p:sp>
        <p:nvSpPr>
          <p:cNvPr id="54" name="Text 13">
            <a:extLst>
              <a:ext uri="{FF2B5EF4-FFF2-40B4-BE49-F238E27FC236}">
                <a16:creationId xmlns:a16="http://schemas.microsoft.com/office/drawing/2014/main" id="{D813BEB0-AB29-1201-6C98-83ED8F0166C5}"/>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Historical recurrence + official ICNF structural hazard</a:t>
            </a:r>
            <a:endParaRPr sz="750"/>
          </a:p>
        </p:txBody>
      </p:sp>
      <p:sp>
        <p:nvSpPr>
          <p:cNvPr id="55" name="Text 14">
            <a:extLst>
              <a:ext uri="{FF2B5EF4-FFF2-40B4-BE49-F238E27FC236}">
                <a16:creationId xmlns:a16="http://schemas.microsoft.com/office/drawing/2014/main" id="{1640E6C2-2736-6C47-08A7-E76229CD60DE}"/>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Read these layers alongside the estimate before shortlisting areas.</a:t>
            </a:r>
            <a:endParaRPr sz="750"/>
          </a:p>
        </p:txBody>
      </p:sp>
      <p:sp>
        <p:nvSpPr>
          <p:cNvPr id="56" name="Text 15">
            <a:extLst>
              <a:ext uri="{FF2B5EF4-FFF2-40B4-BE49-F238E27FC236}">
                <a16:creationId xmlns:a16="http://schemas.microsoft.com/office/drawing/2014/main" id="{E7998FAA-1292-DEE4-FBBA-DA72F51BBE8F}"/>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57" name="Shape 16">
            <a:extLst>
              <a:ext uri="{FF2B5EF4-FFF2-40B4-BE49-F238E27FC236}">
                <a16:creationId xmlns:a16="http://schemas.microsoft.com/office/drawing/2014/main" id="{AA16804A-52B3-003F-850D-E763525EBF82}"/>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58" name="Shape 17">
            <a:extLst>
              <a:ext uri="{FF2B5EF4-FFF2-40B4-BE49-F238E27FC236}">
                <a16:creationId xmlns:a16="http://schemas.microsoft.com/office/drawing/2014/main" id="{A132002A-B816-4B27-A659-A2A2193BD4C4}"/>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59" name="Text 18">
            <a:extLst>
              <a:ext uri="{FF2B5EF4-FFF2-40B4-BE49-F238E27FC236}">
                <a16:creationId xmlns:a16="http://schemas.microsoft.com/office/drawing/2014/main" id="{E937C9EB-5EC4-4BED-DCC0-EEB4268C59F9}"/>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SHORTLIST AREAS</a:t>
            </a:r>
            <a:endParaRPr sz="1100"/>
          </a:p>
        </p:txBody>
      </p:sp>
      <p:sp>
        <p:nvSpPr>
          <p:cNvPr id="60" name="Text 19">
            <a:extLst>
              <a:ext uri="{FF2B5EF4-FFF2-40B4-BE49-F238E27FC236}">
                <a16:creationId xmlns:a16="http://schemas.microsoft.com/office/drawing/2014/main" id="{922D1C3D-92F4-7A52-D254-13F805D6760C}"/>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Focus local research</a:t>
            </a:r>
            <a:endParaRPr sz="800"/>
          </a:p>
        </p:txBody>
      </p:sp>
      <p:sp>
        <p:nvSpPr>
          <p:cNvPr id="61" name="Text 20">
            <a:extLst>
              <a:ext uri="{FF2B5EF4-FFF2-40B4-BE49-F238E27FC236}">
                <a16:creationId xmlns:a16="http://schemas.microsoft.com/office/drawing/2014/main" id="{DD31154A-7340-6BA1-B58C-EB0C128FA94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Use the three maps to decide which broad areas deserve a closer look.</a:t>
            </a:r>
            <a:endParaRPr sz="850"/>
          </a:p>
        </p:txBody>
      </p:sp>
      <p:sp>
        <p:nvSpPr>
          <p:cNvPr id="62" name="Shape 21">
            <a:extLst>
              <a:ext uri="{FF2B5EF4-FFF2-40B4-BE49-F238E27FC236}">
                <a16:creationId xmlns:a16="http://schemas.microsoft.com/office/drawing/2014/main" id="{E3A1950C-3E98-2A41-9F7B-763C1A1EFE02}"/>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63" name="Text 22">
            <a:extLst>
              <a:ext uri="{FF2B5EF4-FFF2-40B4-BE49-F238E27FC236}">
                <a16:creationId xmlns:a16="http://schemas.microsoft.com/office/drawing/2014/main" id="{E3161D18-B8A1-E487-12AB-44CC4A732529}"/>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VISIT AND INVESTIGATE</a:t>
            </a:r>
            <a:endParaRPr sz="800"/>
          </a:p>
        </p:txBody>
      </p:sp>
      <p:sp>
        <p:nvSpPr>
          <p:cNvPr id="64" name="Text 23">
            <a:extLst>
              <a:ext uri="{FF2B5EF4-FFF2-40B4-BE49-F238E27FC236}">
                <a16:creationId xmlns:a16="http://schemas.microsoft.com/office/drawing/2014/main" id="{5C353123-8232-42F8-D273-5CB954BA4BBD}"/>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Deepen the research</a:t>
            </a:r>
            <a:endParaRPr sz="750"/>
          </a:p>
        </p:txBody>
      </p:sp>
      <p:sp>
        <p:nvSpPr>
          <p:cNvPr id="65" name="Text 24">
            <a:extLst>
              <a:ext uri="{FF2B5EF4-FFF2-40B4-BE49-F238E27FC236}">
                <a16:creationId xmlns:a16="http://schemas.microsoft.com/office/drawing/2014/main" id="{825EE7D9-0624-FD50-1A14-73D146D6F995}"/>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Spend time on site visits and detailed research in shortlisted areas.</a:t>
            </a:r>
            <a:endParaRPr sz="750"/>
          </a:p>
        </p:txBody>
      </p:sp>
      <p:sp>
        <p:nvSpPr>
          <p:cNvPr id="66" name="Text 25">
            <a:extLst>
              <a:ext uri="{FF2B5EF4-FFF2-40B4-BE49-F238E27FC236}">
                <a16:creationId xmlns:a16="http://schemas.microsoft.com/office/drawing/2014/main" id="{2A24E586-B737-43CD-9410-9B7B599DB5E6}"/>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67" name="Shape 26">
            <a:extLst>
              <a:ext uri="{FF2B5EF4-FFF2-40B4-BE49-F238E27FC236}">
                <a16:creationId xmlns:a16="http://schemas.microsoft.com/office/drawing/2014/main" id="{E767105C-FE7D-D361-1E75-7B266D4ED118}"/>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68" name="Shape 27">
            <a:extLst>
              <a:ext uri="{FF2B5EF4-FFF2-40B4-BE49-F238E27FC236}">
                <a16:creationId xmlns:a16="http://schemas.microsoft.com/office/drawing/2014/main" id="{B5487368-1117-220F-0E2A-5055BCFA807D}"/>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69" name="Text 28">
            <a:extLst>
              <a:ext uri="{FF2B5EF4-FFF2-40B4-BE49-F238E27FC236}">
                <a16:creationId xmlns:a16="http://schemas.microsoft.com/office/drawing/2014/main" id="{018CC755-0E76-B3F1-F302-F5429326FAFF}"/>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USE CASE OUTCOME</a:t>
            </a:r>
            <a:endParaRPr sz="1100"/>
          </a:p>
        </p:txBody>
      </p:sp>
      <p:sp>
        <p:nvSpPr>
          <p:cNvPr id="70" name="Text 29">
            <a:extLst>
              <a:ext uri="{FF2B5EF4-FFF2-40B4-BE49-F238E27FC236}">
                <a16:creationId xmlns:a16="http://schemas.microsoft.com/office/drawing/2014/main" id="{7D4F3FEA-36B1-CD37-33EC-8AFF9A2B185B}"/>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A smaller search area</a:t>
            </a:r>
            <a:endParaRPr sz="800"/>
          </a:p>
        </p:txBody>
      </p:sp>
      <p:sp>
        <p:nvSpPr>
          <p:cNvPr id="71" name="Text 30">
            <a:extLst>
              <a:ext uri="{FF2B5EF4-FFF2-40B4-BE49-F238E27FC236}">
                <a16:creationId xmlns:a16="http://schemas.microsoft.com/office/drawing/2014/main" id="{AEF56BD3-A919-2AB3-B917-DDF115F5DA1D}"/>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The QGIS layers help organise a national search.</a:t>
            </a:r>
            <a:endParaRPr sz="850"/>
          </a:p>
        </p:txBody>
      </p:sp>
      <p:sp>
        <p:nvSpPr>
          <p:cNvPr id="72" name="Shape 31">
            <a:extLst>
              <a:ext uri="{FF2B5EF4-FFF2-40B4-BE49-F238E27FC236}">
                <a16:creationId xmlns:a16="http://schemas.microsoft.com/office/drawing/2014/main" id="{B21EFAC5-18BF-7EC7-FCA7-6D5743FCEF9F}"/>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73" name="Text 32">
            <a:extLst>
              <a:ext uri="{FF2B5EF4-FFF2-40B4-BE49-F238E27FC236}">
                <a16:creationId xmlns:a16="http://schemas.microsoft.com/office/drawing/2014/main" id="{B56BD828-01DF-272F-8543-67D8E7206C89}"/>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LOCAL EVIDENCE</a:t>
            </a:r>
            <a:endParaRPr sz="800"/>
          </a:p>
        </p:txBody>
      </p:sp>
      <p:sp>
        <p:nvSpPr>
          <p:cNvPr id="74" name="Text 33">
            <a:extLst>
              <a:ext uri="{FF2B5EF4-FFF2-40B4-BE49-F238E27FC236}">
                <a16:creationId xmlns:a16="http://schemas.microsoft.com/office/drawing/2014/main" id="{7C7E5895-F34D-DA1E-E30A-C36D5D6775D9}"/>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Verify before deciding</a:t>
            </a:r>
            <a:endParaRPr sz="750"/>
          </a:p>
        </p:txBody>
      </p:sp>
      <p:sp>
        <p:nvSpPr>
          <p:cNvPr id="75" name="Text 34">
            <a:extLst>
              <a:ext uri="{FF2B5EF4-FFF2-40B4-BE49-F238E27FC236}">
                <a16:creationId xmlns:a16="http://schemas.microsoft.com/office/drawing/2014/main" id="{91730462-287D-DD99-AC73-8CDB97A5A7BD}"/>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Check planning, access, insurance, terrain and property-specific evidence.</a:t>
            </a:r>
            <a:endParaRPr sz="750"/>
          </a:p>
        </p:txBody>
      </p:sp>
      <p:sp>
        <p:nvSpPr>
          <p:cNvPr id="76" name="Shape 35">
            <a:extLst>
              <a:ext uri="{FF2B5EF4-FFF2-40B4-BE49-F238E27FC236}">
                <a16:creationId xmlns:a16="http://schemas.microsoft.com/office/drawing/2014/main" id="{EE052AFC-8FB4-ECF7-88CC-4487AE42F56C}"/>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77" name="Text 36">
            <a:extLst>
              <a:ext uri="{FF2B5EF4-FFF2-40B4-BE49-F238E27FC236}">
                <a16:creationId xmlns:a16="http://schemas.microsoft.com/office/drawing/2014/main" id="{C306DBE1-591D-91A0-2800-8563622FC938}"/>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output helps organise the search; local evidence supports the final choice.</a:t>
            </a:r>
            <a:endParaRPr sz="850"/>
          </a:p>
        </p:txBody>
      </p:sp>
      <p:sp>
        <p:nvSpPr>
          <p:cNvPr id="78" name="Shape 37">
            <a:extLst>
              <a:ext uri="{FF2B5EF4-FFF2-40B4-BE49-F238E27FC236}">
                <a16:creationId xmlns:a16="http://schemas.microsoft.com/office/drawing/2014/main" id="{453F1B67-702E-243E-FB47-4CA2B5119EA1}"/>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79" name="Text 38">
            <a:extLst>
              <a:ext uri="{FF2B5EF4-FFF2-40B4-BE49-F238E27FC236}">
                <a16:creationId xmlns:a16="http://schemas.microsoft.com/office/drawing/2014/main" id="{A5F23304-A068-58EC-920B-B28883DF7C8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433246D-B8F5-43EE-AF32-B05C98498242}"/>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B9907FB8-8328-4B2E-B5E1-84E6FBE1233F}"/>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F3F02133-847A-404E-9F4B-6A7DE78DB92B}"/>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59F12DB4-3B5B-4A67-979D-6151E1B67D1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RECOMMENDATIONS 2 + 3</a:t>
            </a:r>
            <a:endParaRPr sz="1100"/>
          </a:p>
        </p:txBody>
      </p:sp>
      <p:sp>
        <p:nvSpPr>
          <p:cNvPr id="6" name="Text 4">
            <a:extLst>
              <a:ext uri="{FF2B5EF4-FFF2-40B4-BE49-F238E27FC236}">
                <a16:creationId xmlns:a16="http://schemas.microsoft.com/office/drawing/2014/main" id="{157AA592-FB08-4D64-B87E-9FC8E806087F}"/>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7 / 8</a:t>
            </a:r>
            <a:endParaRPr sz="1100"/>
          </a:p>
        </p:txBody>
      </p:sp>
      <p:sp>
        <p:nvSpPr>
          <p:cNvPr id="7" name="Text 5">
            <a:extLst>
              <a:ext uri="{FF2B5EF4-FFF2-40B4-BE49-F238E27FC236}">
                <a16:creationId xmlns:a16="http://schemas.microsoft.com/office/drawing/2014/main" id="{9FAC5376-DFD7-4DF7-A857-0C2FD5CBD7A4}"/>
              </a:ext>
            </a:extLst>
          </p:cNvPr>
          <p:cNvSpPr>
            <a:spLocks noGrp="1"/>
          </p:cNvSpPr>
          <p:nvPr/>
        </p:nvSpPr>
        <p:spPr>
          <a:xfrm>
            <a:off x="274320" y="804672"/>
            <a:ext cx="8595360" cy="411480"/>
          </a:xfrm>
          <a:prstGeom prst="rect">
            <a:avLst/>
          </a:prstGeom>
          <a:noFill/>
        </p:spPr>
        <p:txBody>
          <a:bodyPr wrap="square" lIns="0" tIns="0" rIns="0" bIns="0" anchor="ctr"/>
          <a:lstStyle/>
          <a:p>
            <a:pPr marL="0" indent="0">
              <a:buNone/>
            </a:pPr>
            <a:r>
              <a:rPr sz="1600" b="1">
                <a:solidFill>
                  <a:srgbClr val="1A2638"/>
                </a:solidFill>
              </a:rPr>
              <a:t>Compare the evidence layers, then verify locally</a:t>
            </a:r>
            <a:endParaRPr sz="1600"/>
          </a:p>
        </p:txBody>
      </p:sp>
      <p:sp>
        <p:nvSpPr>
          <p:cNvPr id="8" name="Shape 6">
            <a:extLst>
              <a:ext uri="{FF2B5EF4-FFF2-40B4-BE49-F238E27FC236}">
                <a16:creationId xmlns:a16="http://schemas.microsoft.com/office/drawing/2014/main" id="{5A356FE9-CB03-42D1-9C21-8542E6BF0EFC}"/>
              </a:ext>
            </a:extLst>
          </p:cNvPr>
          <p:cNvSpPr>
            <a:spLocks noGrp="1"/>
          </p:cNvSpPr>
          <p:nvPr/>
        </p:nvSpPr>
        <p:spPr>
          <a:xfrm>
            <a:off x="27432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C9A34953-58C7-478E-9736-94E8E8AC9D55}"/>
              </a:ext>
            </a:extLst>
          </p:cNvPr>
          <p:cNvSpPr>
            <a:spLocks noGrp="1"/>
          </p:cNvSpPr>
          <p:nvPr/>
        </p:nvSpPr>
        <p:spPr>
          <a:xfrm>
            <a:off x="274320" y="1298448"/>
            <a:ext cx="4160520" cy="384048"/>
          </a:xfrm>
          <a:prstGeom prst="rect">
            <a:avLst/>
          </a:prstGeom>
          <a:solidFill>
            <a:srgbClr val="1E3A50"/>
          </a:solidFill>
          <a:ln w="12700">
            <a:solidFill>
              <a:srgbClr val="1E3A50"/>
            </a:solidFill>
            <a:prstDash val="solid"/>
          </a:ln>
        </p:spPr>
      </p:sp>
      <p:sp>
        <p:nvSpPr>
          <p:cNvPr id="10" name="Text 8">
            <a:extLst>
              <a:ext uri="{FF2B5EF4-FFF2-40B4-BE49-F238E27FC236}">
                <a16:creationId xmlns:a16="http://schemas.microsoft.com/office/drawing/2014/main" id="{0138816D-F851-4B14-B5E7-C78921973D27}"/>
              </a:ext>
            </a:extLst>
          </p:cNvPr>
          <p:cNvSpPr>
            <a:spLocks noGrp="1"/>
          </p:cNvSpPr>
          <p:nvPr/>
        </p:nvSpPr>
        <p:spPr>
          <a:xfrm>
            <a:off x="27432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2 — COMPARE FIRST</a:t>
            </a:r>
            <a:endParaRPr sz="1000"/>
          </a:p>
        </p:txBody>
      </p:sp>
      <p:sp>
        <p:nvSpPr>
          <p:cNvPr id="11" name="Shape 9">
            <a:extLst>
              <a:ext uri="{FF2B5EF4-FFF2-40B4-BE49-F238E27FC236}">
                <a16:creationId xmlns:a16="http://schemas.microsoft.com/office/drawing/2014/main" id="{A48F928C-F102-49B4-A59E-1D4EE3D1DC18}"/>
              </a:ext>
            </a:extLst>
          </p:cNvPr>
          <p:cNvSpPr>
            <a:spLocks noGrp="1"/>
          </p:cNvSpPr>
          <p:nvPr/>
        </p:nvSpPr>
        <p:spPr>
          <a:xfrm>
            <a:off x="438912" y="1810512"/>
            <a:ext cx="201168" cy="201168"/>
          </a:xfrm>
          <a:prstGeom prst="rect">
            <a:avLst/>
          </a:prstGeom>
          <a:solidFill>
            <a:srgbClr val="2A9D61"/>
          </a:solidFill>
          <a:ln w="12700">
            <a:solidFill>
              <a:srgbClr val="2A9D61"/>
            </a:solidFill>
            <a:prstDash val="solid"/>
          </a:ln>
        </p:spPr>
      </p:sp>
      <p:sp>
        <p:nvSpPr>
          <p:cNvPr id="12" name="Text 10">
            <a:extLst>
              <a:ext uri="{FF2B5EF4-FFF2-40B4-BE49-F238E27FC236}">
                <a16:creationId xmlns:a16="http://schemas.microsoft.com/office/drawing/2014/main" id="{BD60D940-2AB4-4323-ACDD-A19A5EA667C8}"/>
              </a:ext>
            </a:extLst>
          </p:cNvPr>
          <p:cNvSpPr>
            <a:spLocks noGrp="1"/>
          </p:cNvSpPr>
          <p:nvPr/>
        </p:nvSpPr>
        <p:spPr>
          <a:xfrm>
            <a:off x="438912" y="181051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3" name="Text 11">
            <a:extLst>
              <a:ext uri="{FF2B5EF4-FFF2-40B4-BE49-F238E27FC236}">
                <a16:creationId xmlns:a16="http://schemas.microsoft.com/office/drawing/2014/main" id="{433F46A5-1D2D-44A3-B1A4-F5935365DDDC}"/>
              </a:ext>
            </a:extLst>
          </p:cNvPr>
          <p:cNvSpPr>
            <a:spLocks noGrp="1"/>
          </p:cNvSpPr>
          <p:nvPr/>
        </p:nvSpPr>
        <p:spPr>
          <a:xfrm>
            <a:off x="713232" y="1773936"/>
            <a:ext cx="3611880" cy="347472"/>
          </a:xfrm>
          <a:prstGeom prst="rect">
            <a:avLst/>
          </a:prstGeom>
          <a:noFill/>
        </p:spPr>
        <p:txBody>
          <a:bodyPr wrap="square" lIns="0" tIns="0" rIns="0" bIns="0" anchor="ctr"/>
          <a:lstStyle/>
          <a:p>
            <a:pPr marL="0" indent="0">
              <a:buNone/>
            </a:pPr>
            <a:r>
              <a:rPr sz="850">
                <a:solidFill>
                  <a:srgbClr val="1A2638"/>
                </a:solidFill>
              </a:rPr>
              <a:t>Use the 2026 comparative estimate to narrow broad areas.</a:t>
            </a:r>
            <a:endParaRPr sz="850"/>
          </a:p>
        </p:txBody>
      </p:sp>
      <p:sp>
        <p:nvSpPr>
          <p:cNvPr id="14" name="Shape 12">
            <a:extLst>
              <a:ext uri="{FF2B5EF4-FFF2-40B4-BE49-F238E27FC236}">
                <a16:creationId xmlns:a16="http://schemas.microsoft.com/office/drawing/2014/main" id="{9A77203C-C6FB-43FE-9635-189E862BC538}"/>
              </a:ext>
            </a:extLst>
          </p:cNvPr>
          <p:cNvSpPr>
            <a:spLocks noGrp="1"/>
          </p:cNvSpPr>
          <p:nvPr/>
        </p:nvSpPr>
        <p:spPr>
          <a:xfrm>
            <a:off x="438912" y="2212848"/>
            <a:ext cx="201168" cy="201168"/>
          </a:xfrm>
          <a:prstGeom prst="rect">
            <a:avLst/>
          </a:prstGeom>
          <a:solidFill>
            <a:srgbClr val="2A9D61"/>
          </a:solidFill>
          <a:ln w="12700">
            <a:solidFill>
              <a:srgbClr val="2A9D61"/>
            </a:solidFill>
            <a:prstDash val="solid"/>
          </a:ln>
        </p:spPr>
      </p:sp>
      <p:sp>
        <p:nvSpPr>
          <p:cNvPr id="15" name="Text 13">
            <a:extLst>
              <a:ext uri="{FF2B5EF4-FFF2-40B4-BE49-F238E27FC236}">
                <a16:creationId xmlns:a16="http://schemas.microsoft.com/office/drawing/2014/main" id="{C4054035-0280-46D0-8271-E333012C74D8}"/>
              </a:ext>
            </a:extLst>
          </p:cNvPr>
          <p:cNvSpPr>
            <a:spLocks noGrp="1"/>
          </p:cNvSpPr>
          <p:nvPr/>
        </p:nvSpPr>
        <p:spPr>
          <a:xfrm>
            <a:off x="438912" y="221284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6" name="Text 14">
            <a:extLst>
              <a:ext uri="{FF2B5EF4-FFF2-40B4-BE49-F238E27FC236}">
                <a16:creationId xmlns:a16="http://schemas.microsoft.com/office/drawing/2014/main" id="{3A866D65-32E1-4D14-85BC-277D343C0267}"/>
              </a:ext>
            </a:extLst>
          </p:cNvPr>
          <p:cNvSpPr>
            <a:spLocks noGrp="1"/>
          </p:cNvSpPr>
          <p:nvPr/>
        </p:nvSpPr>
        <p:spPr>
          <a:xfrm>
            <a:off x="713232" y="2176272"/>
            <a:ext cx="3611880" cy="347472"/>
          </a:xfrm>
          <a:prstGeom prst="rect">
            <a:avLst/>
          </a:prstGeom>
          <a:noFill/>
        </p:spPr>
        <p:txBody>
          <a:bodyPr wrap="square" lIns="0" tIns="0" rIns="0" bIns="0" anchor="ctr"/>
          <a:lstStyle/>
          <a:p>
            <a:pPr marL="0" indent="0">
              <a:buNone/>
            </a:pPr>
            <a:r>
              <a:rPr sz="850">
                <a:solidFill>
                  <a:srgbClr val="1A2638"/>
                </a:solidFill>
              </a:rPr>
              <a:t>Check 2016–2025 observed recurrence in the 2 km context.</a:t>
            </a:r>
            <a:endParaRPr sz="850"/>
          </a:p>
        </p:txBody>
      </p:sp>
      <p:sp>
        <p:nvSpPr>
          <p:cNvPr id="17" name="Shape 15">
            <a:extLst>
              <a:ext uri="{FF2B5EF4-FFF2-40B4-BE49-F238E27FC236}">
                <a16:creationId xmlns:a16="http://schemas.microsoft.com/office/drawing/2014/main" id="{340346DD-06C1-46D3-B84B-71D11B0BD4C8}"/>
              </a:ext>
            </a:extLst>
          </p:cNvPr>
          <p:cNvSpPr>
            <a:spLocks noGrp="1"/>
          </p:cNvSpPr>
          <p:nvPr/>
        </p:nvSpPr>
        <p:spPr>
          <a:xfrm>
            <a:off x="438912" y="2615184"/>
            <a:ext cx="201168" cy="201168"/>
          </a:xfrm>
          <a:prstGeom prst="rect">
            <a:avLst/>
          </a:prstGeom>
          <a:solidFill>
            <a:srgbClr val="2A9D61"/>
          </a:solidFill>
          <a:ln w="12700">
            <a:solidFill>
              <a:srgbClr val="2A9D61"/>
            </a:solidFill>
            <a:prstDash val="solid"/>
          </a:ln>
        </p:spPr>
      </p:sp>
      <p:sp>
        <p:nvSpPr>
          <p:cNvPr id="18" name="Text 16">
            <a:extLst>
              <a:ext uri="{FF2B5EF4-FFF2-40B4-BE49-F238E27FC236}">
                <a16:creationId xmlns:a16="http://schemas.microsoft.com/office/drawing/2014/main" id="{54CE7231-C7DF-4668-B5A1-98622531C369}"/>
              </a:ext>
            </a:extLst>
          </p:cNvPr>
          <p:cNvSpPr>
            <a:spLocks noGrp="1"/>
          </p:cNvSpPr>
          <p:nvPr/>
        </p:nvSpPr>
        <p:spPr>
          <a:xfrm>
            <a:off x="438912" y="2615184"/>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19" name="Text 17">
            <a:extLst>
              <a:ext uri="{FF2B5EF4-FFF2-40B4-BE49-F238E27FC236}">
                <a16:creationId xmlns:a16="http://schemas.microsoft.com/office/drawing/2014/main" id="{62EF2D98-2C4B-4478-B6DE-59400CA06235}"/>
              </a:ext>
            </a:extLst>
          </p:cNvPr>
          <p:cNvSpPr>
            <a:spLocks noGrp="1"/>
          </p:cNvSpPr>
          <p:nvPr/>
        </p:nvSpPr>
        <p:spPr>
          <a:xfrm>
            <a:off x="713232" y="2578608"/>
            <a:ext cx="3611880" cy="347472"/>
          </a:xfrm>
          <a:prstGeom prst="rect">
            <a:avLst/>
          </a:prstGeom>
          <a:noFill/>
        </p:spPr>
        <p:txBody>
          <a:bodyPr wrap="square" lIns="0" tIns="0" rIns="0" bIns="0" anchor="ctr"/>
          <a:lstStyle/>
          <a:p>
            <a:pPr marL="0" indent="0">
              <a:buNone/>
            </a:pPr>
            <a:r>
              <a:rPr sz="850">
                <a:solidFill>
                  <a:srgbClr val="1A2638"/>
                </a:solidFill>
              </a:rPr>
              <a:t>Compare the official ICNF structural-hazard class.</a:t>
            </a:r>
            <a:endParaRPr sz="850"/>
          </a:p>
        </p:txBody>
      </p:sp>
      <p:sp>
        <p:nvSpPr>
          <p:cNvPr id="20" name="Shape 18">
            <a:extLst>
              <a:ext uri="{FF2B5EF4-FFF2-40B4-BE49-F238E27FC236}">
                <a16:creationId xmlns:a16="http://schemas.microsoft.com/office/drawing/2014/main" id="{ACCE5F55-0293-4ED9-B7A2-2A8422E5B9D4}"/>
              </a:ext>
            </a:extLst>
          </p:cNvPr>
          <p:cNvSpPr>
            <a:spLocks noGrp="1"/>
          </p:cNvSpPr>
          <p:nvPr/>
        </p:nvSpPr>
        <p:spPr>
          <a:xfrm>
            <a:off x="438912" y="3017520"/>
            <a:ext cx="201168" cy="201168"/>
          </a:xfrm>
          <a:prstGeom prst="rect">
            <a:avLst/>
          </a:prstGeom>
          <a:solidFill>
            <a:srgbClr val="2A9D61"/>
          </a:solidFill>
          <a:ln w="12700">
            <a:solidFill>
              <a:srgbClr val="2A9D61"/>
            </a:solidFill>
            <a:prstDash val="solid"/>
          </a:ln>
        </p:spPr>
      </p:sp>
      <p:sp>
        <p:nvSpPr>
          <p:cNvPr id="21" name="Text 19">
            <a:extLst>
              <a:ext uri="{FF2B5EF4-FFF2-40B4-BE49-F238E27FC236}">
                <a16:creationId xmlns:a16="http://schemas.microsoft.com/office/drawing/2014/main" id="{021FABFD-07BB-4CB1-9DF3-6AB4C7F7418A}"/>
              </a:ext>
            </a:extLst>
          </p:cNvPr>
          <p:cNvSpPr>
            <a:spLocks noGrp="1"/>
          </p:cNvSpPr>
          <p:nvPr/>
        </p:nvSpPr>
        <p:spPr>
          <a:xfrm>
            <a:off x="438912" y="3017520"/>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2" name="Text 20">
            <a:extLst>
              <a:ext uri="{FF2B5EF4-FFF2-40B4-BE49-F238E27FC236}">
                <a16:creationId xmlns:a16="http://schemas.microsoft.com/office/drawing/2014/main" id="{DF395E92-F661-43E4-B279-247D4D7CBDF8}"/>
              </a:ext>
            </a:extLst>
          </p:cNvPr>
          <p:cNvSpPr>
            <a:spLocks noGrp="1"/>
          </p:cNvSpPr>
          <p:nvPr/>
        </p:nvSpPr>
        <p:spPr>
          <a:xfrm>
            <a:off x="713232" y="2980944"/>
            <a:ext cx="3611880" cy="347472"/>
          </a:xfrm>
          <a:prstGeom prst="rect">
            <a:avLst/>
          </a:prstGeom>
          <a:noFill/>
        </p:spPr>
        <p:txBody>
          <a:bodyPr wrap="square" lIns="0" tIns="0" rIns="0" bIns="0" anchor="ctr"/>
          <a:lstStyle/>
          <a:p>
            <a:pPr marL="0" indent="0">
              <a:buNone/>
            </a:pPr>
            <a:r>
              <a:rPr sz="850">
                <a:solidFill>
                  <a:srgbClr val="1A2638"/>
                </a:solidFill>
              </a:rPr>
              <a:t>Read the three layers together before shortlisting areas.</a:t>
            </a:r>
            <a:endParaRPr sz="850"/>
          </a:p>
        </p:txBody>
      </p:sp>
      <p:sp>
        <p:nvSpPr>
          <p:cNvPr id="23" name="Shape 21">
            <a:extLst>
              <a:ext uri="{FF2B5EF4-FFF2-40B4-BE49-F238E27FC236}">
                <a16:creationId xmlns:a16="http://schemas.microsoft.com/office/drawing/2014/main" id="{488D5AAF-075C-4381-8425-C89597170446}"/>
              </a:ext>
            </a:extLst>
          </p:cNvPr>
          <p:cNvSpPr>
            <a:spLocks noGrp="1"/>
          </p:cNvSpPr>
          <p:nvPr/>
        </p:nvSpPr>
        <p:spPr>
          <a:xfrm>
            <a:off x="438912" y="3419856"/>
            <a:ext cx="201168" cy="201168"/>
          </a:xfrm>
          <a:prstGeom prst="rect">
            <a:avLst/>
          </a:prstGeom>
          <a:solidFill>
            <a:srgbClr val="2A9D61"/>
          </a:solidFill>
          <a:ln w="12700">
            <a:solidFill>
              <a:srgbClr val="2A9D61"/>
            </a:solidFill>
            <a:prstDash val="solid"/>
          </a:ln>
        </p:spPr>
      </p:sp>
      <p:sp>
        <p:nvSpPr>
          <p:cNvPr id="24" name="Text 22">
            <a:extLst>
              <a:ext uri="{FF2B5EF4-FFF2-40B4-BE49-F238E27FC236}">
                <a16:creationId xmlns:a16="http://schemas.microsoft.com/office/drawing/2014/main" id="{3E83D27C-B8E2-4DEE-B204-D31E94B3282A}"/>
              </a:ext>
            </a:extLst>
          </p:cNvPr>
          <p:cNvSpPr>
            <a:spLocks noGrp="1"/>
          </p:cNvSpPr>
          <p:nvPr/>
        </p:nvSpPr>
        <p:spPr>
          <a:xfrm>
            <a:off x="438912" y="3419856"/>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5" name="Text 23">
            <a:extLst>
              <a:ext uri="{FF2B5EF4-FFF2-40B4-BE49-F238E27FC236}">
                <a16:creationId xmlns:a16="http://schemas.microsoft.com/office/drawing/2014/main" id="{38E3C507-F339-4F2F-954D-39C52FC073E3}"/>
              </a:ext>
            </a:extLst>
          </p:cNvPr>
          <p:cNvSpPr>
            <a:spLocks noGrp="1"/>
          </p:cNvSpPr>
          <p:nvPr/>
        </p:nvSpPr>
        <p:spPr>
          <a:xfrm>
            <a:off x="713232" y="3383280"/>
            <a:ext cx="3611880" cy="347472"/>
          </a:xfrm>
          <a:prstGeom prst="rect">
            <a:avLst/>
          </a:prstGeom>
          <a:noFill/>
        </p:spPr>
        <p:txBody>
          <a:bodyPr wrap="square" lIns="0" tIns="0" rIns="0" bIns="0" anchor="ctr"/>
          <a:lstStyle/>
          <a:p>
            <a:pPr marL="0" indent="0">
              <a:buNone/>
            </a:pPr>
            <a:r>
              <a:rPr sz="850">
                <a:solidFill>
                  <a:srgbClr val="1A2638"/>
                </a:solidFill>
              </a:rPr>
              <a:t>Do not merge the layers into one score.</a:t>
            </a:r>
            <a:endParaRPr sz="850"/>
          </a:p>
        </p:txBody>
      </p:sp>
      <p:sp>
        <p:nvSpPr>
          <p:cNvPr id="26" name="Shape 24">
            <a:extLst>
              <a:ext uri="{FF2B5EF4-FFF2-40B4-BE49-F238E27FC236}">
                <a16:creationId xmlns:a16="http://schemas.microsoft.com/office/drawing/2014/main" id="{08C68075-9284-4574-87C1-08DABFEF76DE}"/>
              </a:ext>
            </a:extLst>
          </p:cNvPr>
          <p:cNvSpPr>
            <a:spLocks noGrp="1"/>
          </p:cNvSpPr>
          <p:nvPr/>
        </p:nvSpPr>
        <p:spPr>
          <a:xfrm>
            <a:off x="438912" y="3822192"/>
            <a:ext cx="201168" cy="201168"/>
          </a:xfrm>
          <a:prstGeom prst="rect">
            <a:avLst/>
          </a:prstGeom>
          <a:solidFill>
            <a:srgbClr val="2A9D61"/>
          </a:solidFill>
          <a:ln w="12700">
            <a:solidFill>
              <a:srgbClr val="2A9D61"/>
            </a:solidFill>
            <a:prstDash val="solid"/>
          </a:ln>
        </p:spPr>
      </p:sp>
      <p:sp>
        <p:nvSpPr>
          <p:cNvPr id="27" name="Text 25">
            <a:extLst>
              <a:ext uri="{FF2B5EF4-FFF2-40B4-BE49-F238E27FC236}">
                <a16:creationId xmlns:a16="http://schemas.microsoft.com/office/drawing/2014/main" id="{E6782FB0-9CF8-4988-961D-609E903C78A1}"/>
              </a:ext>
            </a:extLst>
          </p:cNvPr>
          <p:cNvSpPr>
            <a:spLocks noGrp="1"/>
          </p:cNvSpPr>
          <p:nvPr/>
        </p:nvSpPr>
        <p:spPr>
          <a:xfrm>
            <a:off x="438912" y="3822192"/>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28" name="Text 26">
            <a:extLst>
              <a:ext uri="{FF2B5EF4-FFF2-40B4-BE49-F238E27FC236}">
                <a16:creationId xmlns:a16="http://schemas.microsoft.com/office/drawing/2014/main" id="{70F27152-BCAD-46B7-826B-959E39FABFED}"/>
              </a:ext>
            </a:extLst>
          </p:cNvPr>
          <p:cNvSpPr>
            <a:spLocks noGrp="1"/>
          </p:cNvSpPr>
          <p:nvPr/>
        </p:nvSpPr>
        <p:spPr>
          <a:xfrm>
            <a:off x="713232" y="3785616"/>
            <a:ext cx="3611880" cy="347472"/>
          </a:xfrm>
          <a:prstGeom prst="rect">
            <a:avLst/>
          </a:prstGeom>
          <a:noFill/>
        </p:spPr>
        <p:txBody>
          <a:bodyPr wrap="square" lIns="0" tIns="0" rIns="0" bIns="0" anchor="ctr"/>
          <a:lstStyle/>
          <a:p>
            <a:pPr marL="0" indent="0">
              <a:buNone/>
            </a:pPr>
            <a:r>
              <a:rPr sz="850">
                <a:solidFill>
                  <a:srgbClr val="1A2638"/>
                </a:solidFill>
              </a:rPr>
              <a:t>They answer different questions and provide complementary context.</a:t>
            </a:r>
            <a:endParaRPr sz="850"/>
          </a:p>
        </p:txBody>
      </p:sp>
      <p:sp>
        <p:nvSpPr>
          <p:cNvPr id="29" name="Shape 27">
            <a:extLst>
              <a:ext uri="{FF2B5EF4-FFF2-40B4-BE49-F238E27FC236}">
                <a16:creationId xmlns:a16="http://schemas.microsoft.com/office/drawing/2014/main" id="{6FE7194F-DD64-44E7-98A2-9C4D403266C2}"/>
              </a:ext>
            </a:extLst>
          </p:cNvPr>
          <p:cNvSpPr>
            <a:spLocks noGrp="1"/>
          </p:cNvSpPr>
          <p:nvPr/>
        </p:nvSpPr>
        <p:spPr>
          <a:xfrm>
            <a:off x="438912" y="4224528"/>
            <a:ext cx="201168" cy="20116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6BF79431-F44F-4E26-8B43-6D69C49965C2}"/>
              </a:ext>
            </a:extLst>
          </p:cNvPr>
          <p:cNvSpPr>
            <a:spLocks noGrp="1"/>
          </p:cNvSpPr>
          <p:nvPr/>
        </p:nvSpPr>
        <p:spPr>
          <a:xfrm>
            <a:off x="438912" y="4224528"/>
            <a:ext cx="201168" cy="201168"/>
          </a:xfrm>
          <a:prstGeom prst="rect">
            <a:avLst/>
          </a:prstGeom>
          <a:noFill/>
        </p:spPr>
        <p:txBody>
          <a:bodyPr wrap="square" lIns="0" tIns="0" rIns="0" bIns="0" anchor="ctr"/>
          <a:lstStyle/>
          <a:p>
            <a:pPr marL="0" indent="0" algn="ctr">
              <a:buNone/>
            </a:pPr>
            <a:r>
              <a:rPr sz="800" b="1">
                <a:solidFill>
                  <a:srgbClr val="FFFFFF"/>
                </a:solidFill>
              </a:rPr>
              <a:t>v</a:t>
            </a:r>
            <a:endParaRPr sz="800"/>
          </a:p>
        </p:txBody>
      </p:sp>
      <p:sp>
        <p:nvSpPr>
          <p:cNvPr id="31" name="Text 29">
            <a:extLst>
              <a:ext uri="{FF2B5EF4-FFF2-40B4-BE49-F238E27FC236}">
                <a16:creationId xmlns:a16="http://schemas.microsoft.com/office/drawing/2014/main" id="{234F4672-94F5-40EC-848A-2B04CEEC2D52}"/>
              </a:ext>
            </a:extLst>
          </p:cNvPr>
          <p:cNvSpPr>
            <a:spLocks noGrp="1"/>
          </p:cNvSpPr>
          <p:nvPr/>
        </p:nvSpPr>
        <p:spPr>
          <a:xfrm>
            <a:off x="713232" y="4187952"/>
            <a:ext cx="3611880" cy="347472"/>
          </a:xfrm>
          <a:prstGeom prst="rect">
            <a:avLst/>
          </a:prstGeom>
          <a:noFill/>
        </p:spPr>
        <p:txBody>
          <a:bodyPr wrap="square" lIns="0" tIns="0" rIns="0" bIns="0" anchor="ctr"/>
          <a:lstStyle/>
          <a:p>
            <a:pPr marL="0" indent="0">
              <a:buNone/>
            </a:pPr>
            <a:r>
              <a:rPr sz="850">
                <a:solidFill>
                  <a:srgbClr val="1A2638"/>
                </a:solidFill>
              </a:rPr>
              <a:t>Shortlist only after comparing them.</a:t>
            </a:r>
            <a:endParaRPr sz="850"/>
          </a:p>
        </p:txBody>
      </p:sp>
      <p:sp>
        <p:nvSpPr>
          <p:cNvPr id="32" name="Shape 30">
            <a:extLst>
              <a:ext uri="{FF2B5EF4-FFF2-40B4-BE49-F238E27FC236}">
                <a16:creationId xmlns:a16="http://schemas.microsoft.com/office/drawing/2014/main" id="{8CFE47B9-6214-49BF-BAB5-E46AF5D658EC}"/>
              </a:ext>
            </a:extLst>
          </p:cNvPr>
          <p:cNvSpPr>
            <a:spLocks noGrp="1"/>
          </p:cNvSpPr>
          <p:nvPr/>
        </p:nvSpPr>
        <p:spPr>
          <a:xfrm>
            <a:off x="4709160" y="1298448"/>
            <a:ext cx="4160520" cy="3291840"/>
          </a:xfrm>
          <a:prstGeom prst="rect">
            <a:avLst/>
          </a:prstGeom>
          <a:solidFill>
            <a:srgbClr val="FFFFFF"/>
          </a:solidFill>
          <a:ln w="12700">
            <a:solidFill>
              <a:srgbClr val="E1E8EF"/>
            </a:solidFill>
            <a:prstDash val="solid"/>
          </a:ln>
          <a:effectLst>
            <a:outerShdw blurRad="101600" dist="38100" dir="8100000" algn="bl" rotWithShape="0">
              <a:srgbClr val="000000">
                <a:alpha val="10000"/>
              </a:srgbClr>
            </a:outerShdw>
          </a:effectLst>
        </p:spPr>
      </p:sp>
      <p:sp>
        <p:nvSpPr>
          <p:cNvPr id="33" name="Shape 31">
            <a:extLst>
              <a:ext uri="{FF2B5EF4-FFF2-40B4-BE49-F238E27FC236}">
                <a16:creationId xmlns:a16="http://schemas.microsoft.com/office/drawing/2014/main" id="{A8D64D74-58C5-46B8-81B3-038E3D611275}"/>
              </a:ext>
            </a:extLst>
          </p:cNvPr>
          <p:cNvSpPr>
            <a:spLocks noGrp="1"/>
          </p:cNvSpPr>
          <p:nvPr/>
        </p:nvSpPr>
        <p:spPr>
          <a:xfrm>
            <a:off x="4709160" y="1298448"/>
            <a:ext cx="4160520" cy="384048"/>
          </a:xfrm>
          <a:prstGeom prst="rect">
            <a:avLst/>
          </a:prstGeom>
          <a:solidFill>
            <a:srgbClr val="1E3A50"/>
          </a:solidFill>
          <a:ln w="12700">
            <a:solidFill>
              <a:srgbClr val="1E3A50"/>
            </a:solidFill>
            <a:prstDash val="solid"/>
          </a:ln>
        </p:spPr>
      </p:sp>
      <p:sp>
        <p:nvSpPr>
          <p:cNvPr id="34" name="Text 32">
            <a:extLst>
              <a:ext uri="{FF2B5EF4-FFF2-40B4-BE49-F238E27FC236}">
                <a16:creationId xmlns:a16="http://schemas.microsoft.com/office/drawing/2014/main" id="{94210AFE-3DED-4395-AC76-61EA6433B9A0}"/>
              </a:ext>
            </a:extLst>
          </p:cNvPr>
          <p:cNvSpPr>
            <a:spLocks noGrp="1"/>
          </p:cNvSpPr>
          <p:nvPr/>
        </p:nvSpPr>
        <p:spPr>
          <a:xfrm>
            <a:off x="4709160" y="1298448"/>
            <a:ext cx="4160520" cy="384048"/>
          </a:xfrm>
          <a:prstGeom prst="rect">
            <a:avLst/>
          </a:prstGeom>
          <a:noFill/>
        </p:spPr>
        <p:txBody>
          <a:bodyPr wrap="square" lIns="0" tIns="0" rIns="0" bIns="0" anchor="ctr"/>
          <a:lstStyle/>
          <a:p>
            <a:pPr marL="0" indent="0" algn="ctr">
              <a:buNone/>
            </a:pPr>
            <a:r>
              <a:rPr sz="1000" b="1">
                <a:solidFill>
                  <a:srgbClr val="FFFFFF"/>
                </a:solidFill>
              </a:rPr>
              <a:t>RECOMMENDATION 3 — VERIFY LOCALLY</a:t>
            </a:r>
            <a:endParaRPr sz="1000"/>
          </a:p>
        </p:txBody>
      </p:sp>
      <p:sp>
        <p:nvSpPr>
          <p:cNvPr id="35" name="Text 33">
            <a:extLst>
              <a:ext uri="{FF2B5EF4-FFF2-40B4-BE49-F238E27FC236}">
                <a16:creationId xmlns:a16="http://schemas.microsoft.com/office/drawing/2014/main" id="{7D1E2215-4749-4102-8766-0EF9CB908835}"/>
              </a:ext>
            </a:extLst>
          </p:cNvPr>
          <p:cNvSpPr>
            <a:spLocks noGrp="1"/>
          </p:cNvSpPr>
          <p:nvPr/>
        </p:nvSpPr>
        <p:spPr>
          <a:xfrm>
            <a:off x="4873752" y="1755648"/>
            <a:ext cx="3886200" cy="256032"/>
          </a:xfrm>
          <a:prstGeom prst="rect">
            <a:avLst/>
          </a:prstGeom>
          <a:noFill/>
        </p:spPr>
        <p:txBody>
          <a:bodyPr wrap="square" lIns="0" tIns="0" rIns="0" bIns="0" anchor="ctr"/>
          <a:lstStyle/>
          <a:p>
            <a:pPr marL="0" indent="0">
              <a:buNone/>
            </a:pPr>
            <a:r>
              <a:rPr sz="800" b="1">
                <a:solidFill>
                  <a:srgbClr val="5B6880"/>
                </a:solidFill>
              </a:rPr>
              <a:t>Local evidence</a:t>
            </a:r>
            <a:endParaRPr sz="800"/>
          </a:p>
        </p:txBody>
      </p:sp>
      <p:sp>
        <p:nvSpPr>
          <p:cNvPr id="36" name="Shape 34">
            <a:extLst>
              <a:ext uri="{FF2B5EF4-FFF2-40B4-BE49-F238E27FC236}">
                <a16:creationId xmlns:a16="http://schemas.microsoft.com/office/drawing/2014/main" id="{E9765024-23F7-4BAD-82E2-D0944ECD817D}"/>
              </a:ext>
            </a:extLst>
          </p:cNvPr>
          <p:cNvSpPr>
            <a:spLocks noGrp="1"/>
          </p:cNvSpPr>
          <p:nvPr/>
        </p:nvSpPr>
        <p:spPr>
          <a:xfrm>
            <a:off x="4873752" y="2093976"/>
            <a:ext cx="164592" cy="164592"/>
          </a:xfrm>
          <a:prstGeom prst="rect">
            <a:avLst/>
          </a:prstGeom>
          <a:solidFill>
            <a:srgbClr val="2E6DB4"/>
          </a:solidFill>
          <a:ln w="12700">
            <a:solidFill>
              <a:srgbClr val="2E6DB4"/>
            </a:solidFill>
            <a:prstDash val="solid"/>
          </a:ln>
        </p:spPr>
      </p:sp>
      <p:sp>
        <p:nvSpPr>
          <p:cNvPr id="37" name="Text 35">
            <a:extLst>
              <a:ext uri="{FF2B5EF4-FFF2-40B4-BE49-F238E27FC236}">
                <a16:creationId xmlns:a16="http://schemas.microsoft.com/office/drawing/2014/main" id="{3DB21FEE-311F-4CB4-9BB7-CEE277DD9E7E}"/>
              </a:ext>
            </a:extLst>
          </p:cNvPr>
          <p:cNvSpPr>
            <a:spLocks noGrp="1"/>
          </p:cNvSpPr>
          <p:nvPr/>
        </p:nvSpPr>
        <p:spPr>
          <a:xfrm>
            <a:off x="4873752" y="2093976"/>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38" name="Text 36">
            <a:extLst>
              <a:ext uri="{FF2B5EF4-FFF2-40B4-BE49-F238E27FC236}">
                <a16:creationId xmlns:a16="http://schemas.microsoft.com/office/drawing/2014/main" id="{EC831CFF-D119-4E88-B1D0-71E2982079DD}"/>
              </a:ext>
            </a:extLst>
          </p:cNvPr>
          <p:cNvSpPr>
            <a:spLocks noGrp="1"/>
          </p:cNvSpPr>
          <p:nvPr/>
        </p:nvSpPr>
        <p:spPr>
          <a:xfrm>
            <a:off x="5111496" y="2048256"/>
            <a:ext cx="3648456" cy="320040"/>
          </a:xfrm>
          <a:prstGeom prst="rect">
            <a:avLst/>
          </a:prstGeom>
          <a:noFill/>
        </p:spPr>
        <p:txBody>
          <a:bodyPr wrap="square" lIns="0" tIns="0" rIns="0" bIns="0" anchor="ctr"/>
          <a:lstStyle/>
          <a:p>
            <a:pPr marL="0" indent="0">
              <a:buNone/>
            </a:pPr>
            <a:r>
              <a:rPr sz="800">
                <a:solidFill>
                  <a:srgbClr val="1A2638"/>
                </a:solidFill>
              </a:rPr>
              <a:t>Review planning, access, insurance, terrain and site conditions.</a:t>
            </a:r>
            <a:endParaRPr sz="800"/>
          </a:p>
        </p:txBody>
      </p:sp>
      <p:sp>
        <p:nvSpPr>
          <p:cNvPr id="39" name="Shape 37">
            <a:extLst>
              <a:ext uri="{FF2B5EF4-FFF2-40B4-BE49-F238E27FC236}">
                <a16:creationId xmlns:a16="http://schemas.microsoft.com/office/drawing/2014/main" id="{6E8C027E-8773-4500-B33B-62E87DB5F217}"/>
              </a:ext>
            </a:extLst>
          </p:cNvPr>
          <p:cNvSpPr>
            <a:spLocks noGrp="1"/>
          </p:cNvSpPr>
          <p:nvPr/>
        </p:nvSpPr>
        <p:spPr>
          <a:xfrm>
            <a:off x="4873752" y="2441448"/>
            <a:ext cx="164592" cy="164592"/>
          </a:xfrm>
          <a:prstGeom prst="rect">
            <a:avLst/>
          </a:prstGeom>
          <a:solidFill>
            <a:srgbClr val="2E6DB4"/>
          </a:solidFill>
          <a:ln w="12700">
            <a:solidFill>
              <a:srgbClr val="2E6DB4"/>
            </a:solidFill>
            <a:prstDash val="solid"/>
          </a:ln>
        </p:spPr>
      </p:sp>
      <p:sp>
        <p:nvSpPr>
          <p:cNvPr id="40" name="Text 38">
            <a:extLst>
              <a:ext uri="{FF2B5EF4-FFF2-40B4-BE49-F238E27FC236}">
                <a16:creationId xmlns:a16="http://schemas.microsoft.com/office/drawing/2014/main" id="{60AA1538-DD26-48A4-801E-5B50EDDC6EF9}"/>
              </a:ext>
            </a:extLst>
          </p:cNvPr>
          <p:cNvSpPr>
            <a:spLocks noGrp="1"/>
          </p:cNvSpPr>
          <p:nvPr/>
        </p:nvSpPr>
        <p:spPr>
          <a:xfrm>
            <a:off x="4873752" y="2441448"/>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1" name="Text 39">
            <a:extLst>
              <a:ext uri="{FF2B5EF4-FFF2-40B4-BE49-F238E27FC236}">
                <a16:creationId xmlns:a16="http://schemas.microsoft.com/office/drawing/2014/main" id="{AB334C3D-7F39-4FE7-B95B-21588560F91A}"/>
              </a:ext>
            </a:extLst>
          </p:cNvPr>
          <p:cNvSpPr>
            <a:spLocks noGrp="1"/>
          </p:cNvSpPr>
          <p:nvPr/>
        </p:nvSpPr>
        <p:spPr>
          <a:xfrm>
            <a:off x="5111496" y="2395728"/>
            <a:ext cx="3648456" cy="320040"/>
          </a:xfrm>
          <a:prstGeom prst="rect">
            <a:avLst/>
          </a:prstGeom>
          <a:noFill/>
        </p:spPr>
        <p:txBody>
          <a:bodyPr wrap="square" lIns="0" tIns="0" rIns="0" bIns="0" anchor="ctr"/>
          <a:lstStyle/>
          <a:p>
            <a:pPr marL="0" indent="0">
              <a:buNone/>
            </a:pPr>
            <a:r>
              <a:rPr sz="800">
                <a:solidFill>
                  <a:srgbClr val="1A2638"/>
                </a:solidFill>
              </a:rPr>
              <a:t>Use property-specific evidence before deciding.</a:t>
            </a:r>
            <a:endParaRPr sz="800"/>
          </a:p>
        </p:txBody>
      </p:sp>
      <p:sp>
        <p:nvSpPr>
          <p:cNvPr id="42" name="Shape 40">
            <a:extLst>
              <a:ext uri="{FF2B5EF4-FFF2-40B4-BE49-F238E27FC236}">
                <a16:creationId xmlns:a16="http://schemas.microsoft.com/office/drawing/2014/main" id="{EB1A818B-27E2-4AC9-A7A5-A37B13D81AEE}"/>
              </a:ext>
            </a:extLst>
          </p:cNvPr>
          <p:cNvSpPr>
            <a:spLocks noGrp="1"/>
          </p:cNvSpPr>
          <p:nvPr/>
        </p:nvSpPr>
        <p:spPr>
          <a:xfrm>
            <a:off x="4873752" y="2788920"/>
            <a:ext cx="164592" cy="164592"/>
          </a:xfrm>
          <a:prstGeom prst="rect">
            <a:avLst/>
          </a:prstGeom>
          <a:solidFill>
            <a:srgbClr val="2E6DB4"/>
          </a:solidFill>
          <a:ln w="12700">
            <a:solidFill>
              <a:srgbClr val="2E6DB4"/>
            </a:solidFill>
            <a:prstDash val="solid"/>
          </a:ln>
        </p:spPr>
      </p:sp>
      <p:sp>
        <p:nvSpPr>
          <p:cNvPr id="43" name="Text 41">
            <a:extLst>
              <a:ext uri="{FF2B5EF4-FFF2-40B4-BE49-F238E27FC236}">
                <a16:creationId xmlns:a16="http://schemas.microsoft.com/office/drawing/2014/main" id="{C9A0C132-E061-47E9-86DA-C56EBC4FE862}"/>
              </a:ext>
            </a:extLst>
          </p:cNvPr>
          <p:cNvSpPr>
            <a:spLocks noGrp="1"/>
          </p:cNvSpPr>
          <p:nvPr/>
        </p:nvSpPr>
        <p:spPr>
          <a:xfrm>
            <a:off x="4873752" y="2788920"/>
            <a:ext cx="164592" cy="164592"/>
          </a:xfrm>
          <a:prstGeom prst="rect">
            <a:avLst/>
          </a:prstGeom>
          <a:noFill/>
        </p:spPr>
        <p:txBody>
          <a:bodyPr wrap="square" lIns="0" tIns="0" rIns="0" bIns="0" anchor="ctr"/>
          <a:lstStyle/>
          <a:p>
            <a:pPr marL="0" indent="0" algn="ctr">
              <a:buNone/>
            </a:pPr>
            <a:r>
              <a:rPr sz="700" b="1">
                <a:solidFill>
                  <a:srgbClr val="FFFFFF"/>
                </a:solidFill>
              </a:rPr>
              <a:t>v</a:t>
            </a:r>
            <a:endParaRPr sz="700"/>
          </a:p>
        </p:txBody>
      </p:sp>
      <p:sp>
        <p:nvSpPr>
          <p:cNvPr id="44" name="Text 42">
            <a:extLst>
              <a:ext uri="{FF2B5EF4-FFF2-40B4-BE49-F238E27FC236}">
                <a16:creationId xmlns:a16="http://schemas.microsoft.com/office/drawing/2014/main" id="{A498733C-FEFE-442D-BBCC-FBAA98860A46}"/>
              </a:ext>
            </a:extLst>
          </p:cNvPr>
          <p:cNvSpPr>
            <a:spLocks noGrp="1"/>
          </p:cNvSpPr>
          <p:nvPr/>
        </p:nvSpPr>
        <p:spPr>
          <a:xfrm>
            <a:off x="5111496" y="2743200"/>
            <a:ext cx="3648456" cy="320040"/>
          </a:xfrm>
          <a:prstGeom prst="rect">
            <a:avLst/>
          </a:prstGeom>
          <a:noFill/>
        </p:spPr>
        <p:txBody>
          <a:bodyPr wrap="square" lIns="0" tIns="0" rIns="0" bIns="0" anchor="ctr"/>
          <a:lstStyle/>
          <a:p>
            <a:pPr marL="0" indent="0">
              <a:buNone/>
            </a:pPr>
            <a:r>
              <a:rPr sz="800">
                <a:solidFill>
                  <a:srgbClr val="1A2638"/>
                </a:solidFill>
              </a:rPr>
              <a:t>The model directs research effort; it does not replace local investigation.</a:t>
            </a:r>
            <a:endParaRPr sz="800"/>
          </a:p>
        </p:txBody>
      </p:sp>
      <p:sp>
        <p:nvSpPr>
          <p:cNvPr id="45" name="Text 43">
            <a:extLst>
              <a:ext uri="{FF2B5EF4-FFF2-40B4-BE49-F238E27FC236}">
                <a16:creationId xmlns:a16="http://schemas.microsoft.com/office/drawing/2014/main" id="{2261A078-89E7-4EDE-AF5A-975F083F6C40}"/>
              </a:ext>
            </a:extLst>
          </p:cNvPr>
          <p:cNvSpPr>
            <a:spLocks noGrp="1"/>
          </p:cNvSpPr>
          <p:nvPr/>
        </p:nvSpPr>
        <p:spPr>
          <a:xfrm>
            <a:off x="4873752" y="3127248"/>
            <a:ext cx="3886200" cy="256032"/>
          </a:xfrm>
          <a:prstGeom prst="rect">
            <a:avLst/>
          </a:prstGeom>
          <a:noFill/>
        </p:spPr>
        <p:txBody>
          <a:bodyPr wrap="square" lIns="0" tIns="0" rIns="0" bIns="0" anchor="ctr"/>
          <a:lstStyle/>
          <a:p>
            <a:pPr marL="0" indent="0">
              <a:buNone/>
            </a:pPr>
            <a:endParaRPr sz="800"/>
          </a:p>
        </p:txBody>
      </p:sp>
      <p:sp>
        <p:nvSpPr>
          <p:cNvPr id="46" name="Text 44">
            <a:extLst>
              <a:ext uri="{FF2B5EF4-FFF2-40B4-BE49-F238E27FC236}">
                <a16:creationId xmlns:a16="http://schemas.microsoft.com/office/drawing/2014/main" id="{878FBAF7-6DD0-4D72-8C29-5EBD1F7FB714}"/>
              </a:ext>
            </a:extLst>
          </p:cNvPr>
          <p:cNvSpPr>
            <a:spLocks noGrp="1"/>
          </p:cNvSpPr>
          <p:nvPr/>
        </p:nvSpPr>
        <p:spPr>
          <a:xfrm>
            <a:off x="4873752" y="3401568"/>
            <a:ext cx="3886200" cy="237744"/>
          </a:xfrm>
          <a:prstGeom prst="rect">
            <a:avLst/>
          </a:prstGeom>
          <a:noFill/>
        </p:spPr>
        <p:txBody>
          <a:bodyPr wrap="square" lIns="0" tIns="0" rIns="0" bIns="0" anchor="ctr"/>
          <a:lstStyle/>
          <a:p>
            <a:pPr marL="0" indent="0">
              <a:buNone/>
            </a:pPr>
            <a:r>
              <a:rPr sz="750" b="1">
                <a:solidFill>
                  <a:srgbClr val="E8A020"/>
                </a:solidFill>
              </a:rPr>
              <a:t>KEY MESSAGE</a:t>
            </a:r>
            <a:endParaRPr sz="750"/>
          </a:p>
        </p:txBody>
      </p:sp>
      <p:sp>
        <p:nvSpPr>
          <p:cNvPr id="47" name="Text 45">
            <a:extLst>
              <a:ext uri="{FF2B5EF4-FFF2-40B4-BE49-F238E27FC236}">
                <a16:creationId xmlns:a16="http://schemas.microsoft.com/office/drawing/2014/main" id="{F3852103-32CC-4EA7-912B-BBCD278D546F}"/>
              </a:ext>
            </a:extLst>
          </p:cNvPr>
          <p:cNvSpPr>
            <a:spLocks noGrp="1"/>
          </p:cNvSpPr>
          <p:nvPr/>
        </p:nvSpPr>
        <p:spPr>
          <a:xfrm>
            <a:off x="4873752" y="3630168"/>
            <a:ext cx="3886200" cy="237744"/>
          </a:xfrm>
          <a:prstGeom prst="rect">
            <a:avLst/>
          </a:prstGeom>
          <a:noFill/>
        </p:spPr>
        <p:txBody>
          <a:bodyPr wrap="square" lIns="0" tIns="0" rIns="0" bIns="0" anchor="ctr"/>
          <a:lstStyle/>
          <a:p>
            <a:pPr marL="0" indent="0">
              <a:buNone/>
            </a:pPr>
            <a:r>
              <a:rPr sz="750" b="1">
                <a:solidFill>
                  <a:srgbClr val="E8A020"/>
                </a:solidFill>
              </a:rPr>
              <a:t>Compare layers.</a:t>
            </a:r>
            <a:endParaRPr sz="750"/>
          </a:p>
        </p:txBody>
      </p:sp>
      <p:sp>
        <p:nvSpPr>
          <p:cNvPr id="48" name="Text 46">
            <a:extLst>
              <a:ext uri="{FF2B5EF4-FFF2-40B4-BE49-F238E27FC236}">
                <a16:creationId xmlns:a16="http://schemas.microsoft.com/office/drawing/2014/main" id="{2967BB4C-17C8-44CC-8349-2DF3F492CC1E}"/>
              </a:ext>
            </a:extLst>
          </p:cNvPr>
          <p:cNvSpPr>
            <a:spLocks noGrp="1"/>
          </p:cNvSpPr>
          <p:nvPr/>
        </p:nvSpPr>
        <p:spPr>
          <a:xfrm>
            <a:off x="4873752" y="3858768"/>
            <a:ext cx="3886200" cy="237744"/>
          </a:xfrm>
          <a:prstGeom prst="rect">
            <a:avLst/>
          </a:prstGeom>
          <a:noFill/>
        </p:spPr>
        <p:txBody>
          <a:bodyPr wrap="square" lIns="0" tIns="0" rIns="0" bIns="0" anchor="ctr"/>
          <a:lstStyle/>
          <a:p>
            <a:pPr marL="0" indent="0">
              <a:buNone/>
            </a:pPr>
            <a:r>
              <a:rPr sz="750" b="1">
                <a:solidFill>
                  <a:srgbClr val="E8A020"/>
                </a:solidFill>
              </a:rPr>
              <a:t>Shortlist areas.</a:t>
            </a:r>
            <a:endParaRPr sz="750"/>
          </a:p>
        </p:txBody>
      </p:sp>
      <p:sp>
        <p:nvSpPr>
          <p:cNvPr id="49" name="Text 47">
            <a:extLst>
              <a:ext uri="{FF2B5EF4-FFF2-40B4-BE49-F238E27FC236}">
                <a16:creationId xmlns:a16="http://schemas.microsoft.com/office/drawing/2014/main" id="{DF4EBCB9-CEB0-41F1-802C-53DA0FCDC1F9}"/>
              </a:ext>
            </a:extLst>
          </p:cNvPr>
          <p:cNvSpPr>
            <a:spLocks noGrp="1"/>
          </p:cNvSpPr>
          <p:nvPr/>
        </p:nvSpPr>
        <p:spPr>
          <a:xfrm>
            <a:off x="4873752" y="4087368"/>
            <a:ext cx="3886200" cy="237744"/>
          </a:xfrm>
          <a:prstGeom prst="rect">
            <a:avLst/>
          </a:prstGeom>
          <a:noFill/>
        </p:spPr>
        <p:txBody>
          <a:bodyPr wrap="square" lIns="0" tIns="0" rIns="0" bIns="0" anchor="ctr"/>
          <a:lstStyle/>
          <a:p>
            <a:pPr marL="0" indent="0">
              <a:buNone/>
            </a:pPr>
            <a:r>
              <a:rPr sz="750" b="1">
                <a:solidFill>
                  <a:srgbClr val="E8A020"/>
                </a:solidFill>
              </a:rPr>
              <a:t>Verify locally.</a:t>
            </a:r>
            <a:endParaRPr sz="750"/>
          </a:p>
        </p:txBody>
      </p:sp>
      <p:sp>
        <p:nvSpPr>
          <p:cNvPr id="50" name="Text 48">
            <a:extLst>
              <a:ext uri="{FF2B5EF4-FFF2-40B4-BE49-F238E27FC236}">
                <a16:creationId xmlns:a16="http://schemas.microsoft.com/office/drawing/2014/main" id="{65D5A184-9B2C-4B10-B5DC-1A3F3D8E2894}"/>
              </a:ext>
            </a:extLst>
          </p:cNvPr>
          <p:cNvSpPr>
            <a:spLocks noGrp="1"/>
          </p:cNvSpPr>
          <p:nvPr/>
        </p:nvSpPr>
        <p:spPr>
          <a:xfrm>
            <a:off x="4873752" y="4315968"/>
            <a:ext cx="3886200" cy="237744"/>
          </a:xfrm>
          <a:prstGeom prst="rect">
            <a:avLst/>
          </a:prstGeom>
          <a:noFill/>
        </p:spPr>
        <p:txBody>
          <a:bodyPr wrap="square" lIns="0" tIns="0" rIns="0" bIns="0" anchor="ctr"/>
          <a:lstStyle/>
          <a:p>
            <a:pPr marL="0" indent="0">
              <a:buNone/>
            </a:pPr>
            <a:r>
              <a:rPr sz="750" b="1">
                <a:solidFill>
                  <a:srgbClr val="E8A020"/>
                </a:solidFill>
              </a:rPr>
              <a:t>Use evidence before deciding.</a:t>
            </a:r>
            <a:endParaRPr sz="750"/>
          </a:p>
        </p:txBody>
      </p:sp>
      <p:sp>
        <p:nvSpPr>
          <p:cNvPr id="51" name="Shape 49">
            <a:extLst>
              <a:ext uri="{FF2B5EF4-FFF2-40B4-BE49-F238E27FC236}">
                <a16:creationId xmlns:a16="http://schemas.microsoft.com/office/drawing/2014/main" id="{60AB1022-AFE8-48AA-AF67-D4B907288A08}"/>
              </a:ext>
            </a:extLst>
          </p:cNvPr>
          <p:cNvSpPr>
            <a:spLocks noGrp="1"/>
          </p:cNvSpPr>
          <p:nvPr/>
        </p:nvSpPr>
        <p:spPr>
          <a:xfrm>
            <a:off x="274320" y="4663440"/>
            <a:ext cx="8595360" cy="292608"/>
          </a:xfrm>
          <a:prstGeom prst="rect">
            <a:avLst/>
          </a:prstGeom>
          <a:solidFill>
            <a:srgbClr val="2A9D61"/>
          </a:solidFill>
          <a:ln w="12700">
            <a:solidFill>
              <a:srgbClr val="2A9D61"/>
            </a:solidFill>
            <a:prstDash val="solid"/>
          </a:ln>
        </p:spPr>
      </p:sp>
      <p:sp>
        <p:nvSpPr>
          <p:cNvPr id="52" name="Text 50">
            <a:extLst>
              <a:ext uri="{FF2B5EF4-FFF2-40B4-BE49-F238E27FC236}">
                <a16:creationId xmlns:a16="http://schemas.microsoft.com/office/drawing/2014/main" id="{888510B6-7C6A-4727-A0E5-F48D9F362954}"/>
              </a:ext>
            </a:extLst>
          </p:cNvPr>
          <p:cNvSpPr>
            <a:spLocks noGrp="1"/>
          </p:cNvSpPr>
          <p:nvPr/>
        </p:nvSpPr>
        <p:spPr>
          <a:xfrm>
            <a:off x="411480" y="4663440"/>
            <a:ext cx="8321040" cy="292608"/>
          </a:xfrm>
          <a:prstGeom prst="rect">
            <a:avLst/>
          </a:prstGeom>
          <a:noFill/>
        </p:spPr>
        <p:txBody>
          <a:bodyPr wrap="square" lIns="0" tIns="0" rIns="0" bIns="0" anchor="ctr"/>
          <a:lstStyle/>
          <a:p>
            <a:pPr marL="0" indent="0" algn="ctr">
              <a:buNone/>
            </a:pPr>
            <a:r>
              <a:rPr sz="850" b="1">
                <a:solidFill>
                  <a:srgbClr val="FFFFFF"/>
                </a:solidFill>
              </a:rPr>
              <a:t>Use the model to direct research effort, not to replace local investigation.</a:t>
            </a:r>
            <a:endParaRPr sz="850"/>
          </a:p>
        </p:txBody>
      </p:sp>
      <p:sp>
        <p:nvSpPr>
          <p:cNvPr id="53" name="Shape 51">
            <a:extLst>
              <a:ext uri="{FF2B5EF4-FFF2-40B4-BE49-F238E27FC236}">
                <a16:creationId xmlns:a16="http://schemas.microsoft.com/office/drawing/2014/main" id="{4EF06526-1530-434D-877D-54CADC545895}"/>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54" name="Text 52">
            <a:extLst>
              <a:ext uri="{FF2B5EF4-FFF2-40B4-BE49-F238E27FC236}">
                <a16:creationId xmlns:a16="http://schemas.microsoft.com/office/drawing/2014/main" id="{AAD75AC7-5746-4AD0-892D-25E5587B3A5D}"/>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
        <p:nvSpPr>
          <p:cNvPr id="55" name="hide-delivery-tips">
            <a:extLst>
              <a:ext uri="{FF2B5EF4-FFF2-40B4-BE49-F238E27FC236}">
                <a16:creationId xmlns:a16="http://schemas.microsoft.com/office/drawing/2014/main" id="{EB287470-0350-4395-9139-4FFB77AD54F0}"/>
              </a:ext>
            </a:extLst>
          </p:cNvPr>
          <p:cNvSpPr>
            <a:spLocks noGrp="1"/>
          </p:cNvSpPr>
          <p:nvPr/>
        </p:nvSpPr>
        <p:spPr>
          <a:xfrm>
            <a:off x="4733925" y="3133725"/>
            <a:ext cx="1333500" cy="209550"/>
          </a:xfrm>
          <a:prstGeom prst="rect">
            <a:avLst/>
          </a:prstGeom>
          <a:solidFill>
            <a:srgbClr val="FFFFFF"/>
          </a:solidFill>
          <a:ln w="0">
            <a:noFill/>
            <a:prstDash val="solid"/>
          </a:ln>
        </p:spPr>
      </p:sp>
    </p:spTree>
    <p:extLst>
      <p:ext uri="{BB962C8B-B14F-4D97-AF65-F5344CB8AC3E}">
        <p14:creationId xmlns:p14="http://schemas.microsoft.com/office/powerpoint/2010/main" val="179178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A86A1C8-DB06-4DCE-9DAF-693B7C77942A}"/>
              </a:ext>
            </a:extLst>
          </p:cNvPr>
          <p:cNvSpPr>
            <a:spLocks noGrp="1"/>
          </p:cNvSpPr>
          <p:nvPr/>
        </p:nvSpPr>
        <p:spPr>
          <a:xfrm>
            <a:off x="0" y="0"/>
            <a:ext cx="9144000" cy="5143500"/>
          </a:xfrm>
          <a:prstGeom prst="rect">
            <a:avLst/>
          </a:prstGeom>
          <a:solidFill>
            <a:srgbClr val="F3F6F9"/>
          </a:solidFill>
          <a:ln w="12700">
            <a:solidFill>
              <a:srgbClr val="F3F6F9"/>
            </a:solidFill>
            <a:prstDash val="solid"/>
          </a:ln>
        </p:spPr>
      </p:sp>
      <p:sp>
        <p:nvSpPr>
          <p:cNvPr id="3" name="Shape 1">
            <a:extLst>
              <a:ext uri="{FF2B5EF4-FFF2-40B4-BE49-F238E27FC236}">
                <a16:creationId xmlns:a16="http://schemas.microsoft.com/office/drawing/2014/main" id="{D197F66D-6C57-4707-8514-4D78C9DEF865}"/>
              </a:ext>
            </a:extLst>
          </p:cNvPr>
          <p:cNvSpPr>
            <a:spLocks noGrp="1"/>
          </p:cNvSpPr>
          <p:nvPr/>
        </p:nvSpPr>
        <p:spPr>
          <a:xfrm>
            <a:off x="0" y="0"/>
            <a:ext cx="9144000" cy="64008"/>
          </a:xfrm>
          <a:prstGeom prst="rect">
            <a:avLst/>
          </a:prstGeom>
          <a:solidFill>
            <a:srgbClr val="E8A020"/>
          </a:solidFill>
          <a:ln w="12700">
            <a:solidFill>
              <a:srgbClr val="E8A020"/>
            </a:solidFill>
            <a:prstDash val="solid"/>
          </a:ln>
        </p:spPr>
      </p:sp>
      <p:sp>
        <p:nvSpPr>
          <p:cNvPr id="4" name="Shape 2">
            <a:extLst>
              <a:ext uri="{FF2B5EF4-FFF2-40B4-BE49-F238E27FC236}">
                <a16:creationId xmlns:a16="http://schemas.microsoft.com/office/drawing/2014/main" id="{BCC99481-8AFC-45E5-8E41-5D92798EEDD0}"/>
              </a:ext>
            </a:extLst>
          </p:cNvPr>
          <p:cNvSpPr>
            <a:spLocks noGrp="1"/>
          </p:cNvSpPr>
          <p:nvPr/>
        </p:nvSpPr>
        <p:spPr>
          <a:xfrm>
            <a:off x="0" y="64008"/>
            <a:ext cx="9144000" cy="658368"/>
          </a:xfrm>
          <a:prstGeom prst="rect">
            <a:avLst/>
          </a:prstGeom>
          <a:solidFill>
            <a:srgbClr val="1E3A50"/>
          </a:solidFill>
          <a:ln w="12700">
            <a:solidFill>
              <a:srgbClr val="1E3A50"/>
            </a:solidFill>
            <a:prstDash val="solid"/>
          </a:ln>
        </p:spPr>
      </p:sp>
      <p:sp>
        <p:nvSpPr>
          <p:cNvPr id="5" name="Text 3">
            <a:extLst>
              <a:ext uri="{FF2B5EF4-FFF2-40B4-BE49-F238E27FC236}">
                <a16:creationId xmlns:a16="http://schemas.microsoft.com/office/drawing/2014/main" id="{6BEB6717-FD6D-4B81-81A9-77D30FCEDB7F}"/>
              </a:ext>
            </a:extLst>
          </p:cNvPr>
          <p:cNvSpPr>
            <a:spLocks noGrp="1"/>
          </p:cNvSpPr>
          <p:nvPr/>
        </p:nvSpPr>
        <p:spPr>
          <a:xfrm>
            <a:off x="274320" y="64008"/>
            <a:ext cx="7315200" cy="658368"/>
          </a:xfrm>
          <a:prstGeom prst="rect">
            <a:avLst/>
          </a:prstGeom>
          <a:noFill/>
        </p:spPr>
        <p:txBody>
          <a:bodyPr wrap="square" lIns="0" tIns="0" rIns="0" bIns="0" anchor="ctr"/>
          <a:lstStyle/>
          <a:p>
            <a:pPr marL="0" indent="0">
              <a:buNone/>
            </a:pPr>
            <a:r>
              <a:rPr sz="1100" b="1">
                <a:solidFill>
                  <a:srgbClr val="E8A020"/>
                </a:solidFill>
              </a:rPr>
              <a:t>CONCLUSION AND NEXT STEP</a:t>
            </a:r>
            <a:endParaRPr sz="1100"/>
          </a:p>
        </p:txBody>
      </p:sp>
      <p:sp>
        <p:nvSpPr>
          <p:cNvPr id="6" name="Text 4">
            <a:extLst>
              <a:ext uri="{FF2B5EF4-FFF2-40B4-BE49-F238E27FC236}">
                <a16:creationId xmlns:a16="http://schemas.microsoft.com/office/drawing/2014/main" id="{6C101844-9940-49BE-8B17-716FB787513D}"/>
              </a:ext>
            </a:extLst>
          </p:cNvPr>
          <p:cNvSpPr>
            <a:spLocks noGrp="1"/>
          </p:cNvSpPr>
          <p:nvPr/>
        </p:nvSpPr>
        <p:spPr>
          <a:xfrm>
            <a:off x="6858000" y="64008"/>
            <a:ext cx="2011680" cy="658368"/>
          </a:xfrm>
          <a:prstGeom prst="rect">
            <a:avLst/>
          </a:prstGeom>
          <a:noFill/>
        </p:spPr>
        <p:txBody>
          <a:bodyPr wrap="square" lIns="0" tIns="0" rIns="0" bIns="0" anchor="ctr"/>
          <a:lstStyle/>
          <a:p>
            <a:pPr marL="0" indent="0" algn="r">
              <a:buNone/>
            </a:pPr>
            <a:r>
              <a:rPr sz="1100" b="1">
                <a:solidFill>
                  <a:srgbClr val="E1E8EF"/>
                </a:solidFill>
              </a:rPr>
              <a:t>8 / 8</a:t>
            </a:r>
            <a:endParaRPr sz="1100"/>
          </a:p>
        </p:txBody>
      </p:sp>
      <p:sp>
        <p:nvSpPr>
          <p:cNvPr id="7" name="Text 5">
            <a:extLst>
              <a:ext uri="{FF2B5EF4-FFF2-40B4-BE49-F238E27FC236}">
                <a16:creationId xmlns:a16="http://schemas.microsoft.com/office/drawing/2014/main" id="{0121B0D7-68D2-4F3B-B4D9-855405D8279A}"/>
              </a:ext>
            </a:extLst>
          </p:cNvPr>
          <p:cNvSpPr>
            <a:spLocks noGrp="1"/>
          </p:cNvSpPr>
          <p:nvPr/>
        </p:nvSpPr>
        <p:spPr>
          <a:xfrm>
            <a:off x="274320" y="804672"/>
            <a:ext cx="8595360" cy="475488"/>
          </a:xfrm>
          <a:prstGeom prst="rect">
            <a:avLst/>
          </a:prstGeom>
          <a:noFill/>
        </p:spPr>
        <p:txBody>
          <a:bodyPr wrap="square" lIns="0" tIns="0" rIns="0" bIns="0" anchor="ctr"/>
          <a:lstStyle/>
          <a:p>
            <a:pPr marL="0" indent="0">
              <a:buNone/>
            </a:pPr>
            <a:r>
              <a:rPr sz="1600" b="1">
                <a:solidFill>
                  <a:srgbClr val="1A2638"/>
                </a:solidFill>
              </a:rPr>
              <a:t>The project narrows the search area and keeps evidence traceable</a:t>
            </a:r>
            <a:endParaRPr sz="1600"/>
          </a:p>
        </p:txBody>
      </p:sp>
      <p:sp>
        <p:nvSpPr>
          <p:cNvPr id="8" name="Shape 6">
            <a:extLst>
              <a:ext uri="{FF2B5EF4-FFF2-40B4-BE49-F238E27FC236}">
                <a16:creationId xmlns:a16="http://schemas.microsoft.com/office/drawing/2014/main" id="{6015B360-BBBA-4DE0-9795-57F031507AC6}"/>
              </a:ext>
            </a:extLst>
          </p:cNvPr>
          <p:cNvSpPr>
            <a:spLocks noGrp="1"/>
          </p:cNvSpPr>
          <p:nvPr/>
        </p:nvSpPr>
        <p:spPr>
          <a:xfrm>
            <a:off x="274320" y="1371600"/>
            <a:ext cx="2651760" cy="2834640"/>
          </a:xfrm>
          <a:prstGeom prst="rect">
            <a:avLst/>
          </a:prstGeom>
          <a:solidFill>
            <a:srgbClr val="FFFFFF"/>
          </a:solidFill>
          <a:ln w="12700">
            <a:solidFill>
              <a:srgbClr val="2E6DB4"/>
            </a:solidFill>
            <a:prstDash val="solid"/>
          </a:ln>
          <a:effectLst>
            <a:outerShdw blurRad="101600" dist="38100" dir="8100000" algn="bl" rotWithShape="0">
              <a:srgbClr val="000000">
                <a:alpha val="10000"/>
              </a:srgbClr>
            </a:outerShdw>
          </a:effectLst>
        </p:spPr>
      </p:sp>
      <p:sp>
        <p:nvSpPr>
          <p:cNvPr id="9" name="Shape 7">
            <a:extLst>
              <a:ext uri="{FF2B5EF4-FFF2-40B4-BE49-F238E27FC236}">
                <a16:creationId xmlns:a16="http://schemas.microsoft.com/office/drawing/2014/main" id="{5C07B9EA-88EE-49EE-B7D4-7BDB797C5482}"/>
              </a:ext>
            </a:extLst>
          </p:cNvPr>
          <p:cNvSpPr>
            <a:spLocks noGrp="1"/>
          </p:cNvSpPr>
          <p:nvPr/>
        </p:nvSpPr>
        <p:spPr>
          <a:xfrm>
            <a:off x="274320" y="1371600"/>
            <a:ext cx="2651760" cy="384048"/>
          </a:xfrm>
          <a:prstGeom prst="rect">
            <a:avLst/>
          </a:prstGeom>
          <a:solidFill>
            <a:srgbClr val="2E6DB4"/>
          </a:solidFill>
          <a:ln w="12700">
            <a:solidFill>
              <a:srgbClr val="2E6DB4"/>
            </a:solidFill>
            <a:prstDash val="solid"/>
          </a:ln>
        </p:spPr>
      </p:sp>
      <p:sp>
        <p:nvSpPr>
          <p:cNvPr id="10" name="Text 8">
            <a:extLst>
              <a:ext uri="{FF2B5EF4-FFF2-40B4-BE49-F238E27FC236}">
                <a16:creationId xmlns:a16="http://schemas.microsoft.com/office/drawing/2014/main" id="{D9484D15-B5B7-461A-BAA9-47327A4B2126}"/>
              </a:ext>
            </a:extLst>
          </p:cNvPr>
          <p:cNvSpPr>
            <a:spLocks noGrp="1"/>
          </p:cNvSpPr>
          <p:nvPr/>
        </p:nvSpPr>
        <p:spPr>
          <a:xfrm>
            <a:off x="274320" y="1371600"/>
            <a:ext cx="2651760" cy="384048"/>
          </a:xfrm>
          <a:prstGeom prst="rect">
            <a:avLst/>
          </a:prstGeom>
          <a:noFill/>
        </p:spPr>
        <p:txBody>
          <a:bodyPr wrap="square" lIns="0" tIns="0" rIns="0" bIns="0" anchor="ctr"/>
          <a:lstStyle/>
          <a:p>
            <a:pPr marL="0" indent="0" algn="ctr">
              <a:buNone/>
            </a:pPr>
            <a:r>
              <a:rPr sz="1100" b="1">
                <a:solidFill>
                  <a:srgbClr val="FFFFFF"/>
                </a:solidFill>
              </a:rPr>
              <a:t>DELIVERED</a:t>
            </a:r>
            <a:endParaRPr sz="1100"/>
          </a:p>
        </p:txBody>
      </p:sp>
      <p:sp>
        <p:nvSpPr>
          <p:cNvPr id="11" name="Text 9">
            <a:extLst>
              <a:ext uri="{FF2B5EF4-FFF2-40B4-BE49-F238E27FC236}">
                <a16:creationId xmlns:a16="http://schemas.microsoft.com/office/drawing/2014/main" id="{67C6A5B0-CECC-4ACC-9832-24A59DDB136C}"/>
              </a:ext>
            </a:extLst>
          </p:cNvPr>
          <p:cNvSpPr>
            <a:spLocks noGrp="1"/>
          </p:cNvSpPr>
          <p:nvPr/>
        </p:nvSpPr>
        <p:spPr>
          <a:xfrm>
            <a:off x="365760" y="1792224"/>
            <a:ext cx="2468880" cy="256032"/>
          </a:xfrm>
          <a:prstGeom prst="rect">
            <a:avLst/>
          </a:prstGeom>
          <a:noFill/>
        </p:spPr>
        <p:txBody>
          <a:bodyPr wrap="square" lIns="0" tIns="0" rIns="0" bIns="0" anchor="ctr"/>
          <a:lstStyle/>
          <a:p>
            <a:pPr marL="0" indent="0">
              <a:buNone/>
            </a:pPr>
            <a:r>
              <a:rPr sz="800">
                <a:solidFill>
                  <a:srgbClr val="2E6DB4"/>
                </a:solidFill>
              </a:rPr>
              <a:t>Reproducible national workflow</a:t>
            </a:r>
            <a:endParaRPr sz="800"/>
          </a:p>
        </p:txBody>
      </p:sp>
      <p:sp>
        <p:nvSpPr>
          <p:cNvPr id="12" name="Text 10">
            <a:extLst>
              <a:ext uri="{FF2B5EF4-FFF2-40B4-BE49-F238E27FC236}">
                <a16:creationId xmlns:a16="http://schemas.microsoft.com/office/drawing/2014/main" id="{22DC359E-9E6E-4E9F-BF48-BEF9690E6A70}"/>
              </a:ext>
            </a:extLst>
          </p:cNvPr>
          <p:cNvSpPr>
            <a:spLocks noGrp="1"/>
          </p:cNvSpPr>
          <p:nvPr/>
        </p:nvSpPr>
        <p:spPr>
          <a:xfrm>
            <a:off x="365760" y="2048256"/>
            <a:ext cx="2468880" cy="502920"/>
          </a:xfrm>
          <a:prstGeom prst="rect">
            <a:avLst/>
          </a:prstGeom>
          <a:noFill/>
        </p:spPr>
        <p:txBody>
          <a:bodyPr wrap="square" lIns="0" tIns="0" rIns="0" bIns="0" anchor="t"/>
          <a:lstStyle/>
          <a:p>
            <a:pPr marL="0" indent="0">
              <a:buNone/>
            </a:pPr>
            <a:r>
              <a:rPr sz="850">
                <a:solidFill>
                  <a:srgbClr val="1A2638"/>
                </a:solidFill>
              </a:rPr>
              <a:t>One 1 km grid, validated sources, a nine-feature model and QGIS layers.</a:t>
            </a:r>
            <a:endParaRPr sz="850"/>
          </a:p>
        </p:txBody>
      </p:sp>
      <p:sp>
        <p:nvSpPr>
          <p:cNvPr id="13" name="Shape 11">
            <a:extLst>
              <a:ext uri="{FF2B5EF4-FFF2-40B4-BE49-F238E27FC236}">
                <a16:creationId xmlns:a16="http://schemas.microsoft.com/office/drawing/2014/main" id="{1CD4E307-F1DC-41BD-A2A0-EF4229C67E73}"/>
              </a:ext>
            </a:extLst>
          </p:cNvPr>
          <p:cNvSpPr>
            <a:spLocks noGrp="1"/>
          </p:cNvSpPr>
          <p:nvPr/>
        </p:nvSpPr>
        <p:spPr>
          <a:xfrm>
            <a:off x="365760" y="2578608"/>
            <a:ext cx="2468880" cy="502920"/>
          </a:xfrm>
          <a:prstGeom prst="rect">
            <a:avLst/>
          </a:prstGeom>
          <a:solidFill>
            <a:srgbClr val="EBF0FD"/>
          </a:solidFill>
          <a:ln w="12700">
            <a:solidFill>
              <a:srgbClr val="EBF0FD"/>
            </a:solidFill>
            <a:prstDash val="solid"/>
          </a:ln>
        </p:spPr>
      </p:sp>
      <p:sp>
        <p:nvSpPr>
          <p:cNvPr id="14" name="Text 12">
            <a:extLst>
              <a:ext uri="{FF2B5EF4-FFF2-40B4-BE49-F238E27FC236}">
                <a16:creationId xmlns:a16="http://schemas.microsoft.com/office/drawing/2014/main" id="{C2C8DE72-7721-45D6-B469-D1F7820E4A35}"/>
              </a:ext>
            </a:extLst>
          </p:cNvPr>
          <p:cNvSpPr>
            <a:spLocks noGrp="1"/>
          </p:cNvSpPr>
          <p:nvPr/>
        </p:nvSpPr>
        <p:spPr>
          <a:xfrm>
            <a:off x="411480" y="2578608"/>
            <a:ext cx="2377440" cy="502920"/>
          </a:xfrm>
          <a:prstGeom prst="rect">
            <a:avLst/>
          </a:prstGeom>
          <a:noFill/>
        </p:spPr>
        <p:txBody>
          <a:bodyPr wrap="square" lIns="0" tIns="0" rIns="0" bIns="0" anchor="ctr"/>
          <a:lstStyle/>
          <a:p>
            <a:pPr marL="0" indent="0">
              <a:buNone/>
            </a:pPr>
            <a:r>
              <a:rPr sz="800" i="1">
                <a:solidFill>
                  <a:srgbClr val="1A2638"/>
                </a:solidFill>
              </a:rPr>
              <a:t>HISTORICAL + GIS CONTEXT</a:t>
            </a:r>
            <a:endParaRPr sz="800"/>
          </a:p>
        </p:txBody>
      </p:sp>
      <p:sp>
        <p:nvSpPr>
          <p:cNvPr id="15" name="Text 13">
            <a:extLst>
              <a:ext uri="{FF2B5EF4-FFF2-40B4-BE49-F238E27FC236}">
                <a16:creationId xmlns:a16="http://schemas.microsoft.com/office/drawing/2014/main" id="{A0536C49-BFED-466A-8A4F-1AF9F8838334}"/>
              </a:ext>
            </a:extLst>
          </p:cNvPr>
          <p:cNvSpPr>
            <a:spLocks noGrp="1"/>
          </p:cNvSpPr>
          <p:nvPr/>
        </p:nvSpPr>
        <p:spPr>
          <a:xfrm>
            <a:off x="365760" y="3145536"/>
            <a:ext cx="2468880" cy="502920"/>
          </a:xfrm>
          <a:prstGeom prst="rect">
            <a:avLst/>
          </a:prstGeom>
          <a:noFill/>
        </p:spPr>
        <p:txBody>
          <a:bodyPr wrap="square" lIns="0" tIns="0" rIns="0" bIns="0" anchor="t"/>
          <a:lstStyle/>
          <a:p>
            <a:pPr marL="0" indent="0">
              <a:buNone/>
            </a:pPr>
            <a:r>
              <a:rPr sz="750" b="1">
                <a:solidFill>
                  <a:srgbClr val="2A9D61"/>
                </a:solidFill>
              </a:rPr>
              <a:t>Observed 2016–2025 recurrence + official ICNF structural-hazard reference.</a:t>
            </a:r>
            <a:endParaRPr sz="750"/>
          </a:p>
        </p:txBody>
      </p:sp>
      <p:sp>
        <p:nvSpPr>
          <p:cNvPr id="16" name="Text 14">
            <a:extLst>
              <a:ext uri="{FF2B5EF4-FFF2-40B4-BE49-F238E27FC236}">
                <a16:creationId xmlns:a16="http://schemas.microsoft.com/office/drawing/2014/main" id="{061C0752-DC49-4F35-AFC7-AB88C79FAF0D}"/>
              </a:ext>
            </a:extLst>
          </p:cNvPr>
          <p:cNvSpPr>
            <a:spLocks noGrp="1"/>
          </p:cNvSpPr>
          <p:nvPr/>
        </p:nvSpPr>
        <p:spPr>
          <a:xfrm>
            <a:off x="365760" y="3675888"/>
            <a:ext cx="2468880" cy="502920"/>
          </a:xfrm>
          <a:prstGeom prst="rect">
            <a:avLst/>
          </a:prstGeom>
          <a:noFill/>
        </p:spPr>
        <p:txBody>
          <a:bodyPr wrap="square" lIns="0" tIns="0" rIns="0" bIns="0" anchor="t"/>
          <a:lstStyle/>
          <a:p>
            <a:pPr marL="0" indent="0">
              <a:buNone/>
            </a:pPr>
            <a:r>
              <a:rPr sz="750" b="1">
                <a:solidFill>
                  <a:srgbClr val="C0392B"/>
                </a:solidFill>
              </a:rPr>
              <a:t>Together they provide context for broad-area comparison.</a:t>
            </a:r>
            <a:endParaRPr sz="750"/>
          </a:p>
        </p:txBody>
      </p:sp>
      <p:sp>
        <p:nvSpPr>
          <p:cNvPr id="17" name="Text 15">
            <a:extLst>
              <a:ext uri="{FF2B5EF4-FFF2-40B4-BE49-F238E27FC236}">
                <a16:creationId xmlns:a16="http://schemas.microsoft.com/office/drawing/2014/main" id="{E4724BAC-EE83-433E-87E5-BC0E996BDFFC}"/>
              </a:ext>
            </a:extLst>
          </p:cNvPr>
          <p:cNvSpPr>
            <a:spLocks noGrp="1"/>
          </p:cNvSpPr>
          <p:nvPr/>
        </p:nvSpPr>
        <p:spPr>
          <a:xfrm>
            <a:off x="2962656"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18" name="Shape 16">
            <a:extLst>
              <a:ext uri="{FF2B5EF4-FFF2-40B4-BE49-F238E27FC236}">
                <a16:creationId xmlns:a16="http://schemas.microsoft.com/office/drawing/2014/main" id="{88BDC9BD-5FAD-4BBE-B51A-B021702F2F4D}"/>
              </a:ext>
            </a:extLst>
          </p:cNvPr>
          <p:cNvSpPr>
            <a:spLocks noGrp="1"/>
          </p:cNvSpPr>
          <p:nvPr/>
        </p:nvSpPr>
        <p:spPr>
          <a:xfrm>
            <a:off x="3310128" y="1371600"/>
            <a:ext cx="2651760" cy="2834640"/>
          </a:xfrm>
          <a:prstGeom prst="rect">
            <a:avLst/>
          </a:prstGeom>
          <a:solidFill>
            <a:srgbClr val="FFFFFF"/>
          </a:solidFill>
          <a:ln w="12700">
            <a:solidFill>
              <a:srgbClr val="E67E22"/>
            </a:solidFill>
            <a:prstDash val="solid"/>
          </a:ln>
          <a:effectLst>
            <a:outerShdw blurRad="101600" dist="38100" dir="8100000" algn="bl" rotWithShape="0">
              <a:srgbClr val="000000">
                <a:alpha val="10000"/>
              </a:srgbClr>
            </a:outerShdw>
          </a:effectLst>
        </p:spPr>
      </p:sp>
      <p:sp>
        <p:nvSpPr>
          <p:cNvPr id="19" name="Shape 17">
            <a:extLst>
              <a:ext uri="{FF2B5EF4-FFF2-40B4-BE49-F238E27FC236}">
                <a16:creationId xmlns:a16="http://schemas.microsoft.com/office/drawing/2014/main" id="{8FE4F804-F3B6-4684-BFCD-653595482E22}"/>
              </a:ext>
            </a:extLst>
          </p:cNvPr>
          <p:cNvSpPr>
            <a:spLocks noGrp="1"/>
          </p:cNvSpPr>
          <p:nvPr/>
        </p:nvSpPr>
        <p:spPr>
          <a:xfrm>
            <a:off x="3310128" y="1371600"/>
            <a:ext cx="2651760" cy="384048"/>
          </a:xfrm>
          <a:prstGeom prst="rect">
            <a:avLst/>
          </a:prstGeom>
          <a:solidFill>
            <a:srgbClr val="E67E22"/>
          </a:solidFill>
          <a:ln w="12700">
            <a:solidFill>
              <a:srgbClr val="E67E22"/>
            </a:solidFill>
            <a:prstDash val="solid"/>
          </a:ln>
        </p:spPr>
      </p:sp>
      <p:sp>
        <p:nvSpPr>
          <p:cNvPr id="20" name="Text 18">
            <a:extLst>
              <a:ext uri="{FF2B5EF4-FFF2-40B4-BE49-F238E27FC236}">
                <a16:creationId xmlns:a16="http://schemas.microsoft.com/office/drawing/2014/main" id="{F823FAC1-C9B5-4631-81A0-0779D0A744E5}"/>
              </a:ext>
            </a:extLst>
          </p:cNvPr>
          <p:cNvSpPr>
            <a:spLocks noGrp="1"/>
          </p:cNvSpPr>
          <p:nvPr/>
        </p:nvSpPr>
        <p:spPr>
          <a:xfrm>
            <a:off x="3310128" y="1371600"/>
            <a:ext cx="2651760" cy="384048"/>
          </a:xfrm>
          <a:prstGeom prst="rect">
            <a:avLst/>
          </a:prstGeom>
          <a:noFill/>
        </p:spPr>
        <p:txBody>
          <a:bodyPr wrap="square" lIns="0" tIns="0" rIns="0" bIns="0" anchor="ctr"/>
          <a:lstStyle/>
          <a:p>
            <a:pPr marL="0" indent="0" algn="ctr">
              <a:buNone/>
            </a:pPr>
            <a:r>
              <a:rPr sz="1100" b="1">
                <a:solidFill>
                  <a:srgbClr val="FFFFFF"/>
                </a:solidFill>
              </a:rPr>
              <a:t>MODEL RESULT</a:t>
            </a:r>
            <a:endParaRPr sz="1100"/>
          </a:p>
        </p:txBody>
      </p:sp>
      <p:sp>
        <p:nvSpPr>
          <p:cNvPr id="21" name="Text 19">
            <a:extLst>
              <a:ext uri="{FF2B5EF4-FFF2-40B4-BE49-F238E27FC236}">
                <a16:creationId xmlns:a16="http://schemas.microsoft.com/office/drawing/2014/main" id="{CDF192D1-D9B3-4618-B786-9A11E17D0DE9}"/>
              </a:ext>
            </a:extLst>
          </p:cNvPr>
          <p:cNvSpPr>
            <a:spLocks noGrp="1"/>
          </p:cNvSpPr>
          <p:nvPr/>
        </p:nvSpPr>
        <p:spPr>
          <a:xfrm>
            <a:off x="3401568" y="1792224"/>
            <a:ext cx="2468880" cy="256032"/>
          </a:xfrm>
          <a:prstGeom prst="rect">
            <a:avLst/>
          </a:prstGeom>
          <a:noFill/>
        </p:spPr>
        <p:txBody>
          <a:bodyPr wrap="square" lIns="0" tIns="0" rIns="0" bIns="0" anchor="ctr"/>
          <a:lstStyle/>
          <a:p>
            <a:pPr marL="0" indent="0">
              <a:buNone/>
            </a:pPr>
            <a:r>
              <a:rPr sz="800">
                <a:solidFill>
                  <a:srgbClr val="E67E22"/>
                </a:solidFill>
              </a:rPr>
              <a:t>Modest improvement over the baseline</a:t>
            </a:r>
            <a:endParaRPr sz="800"/>
          </a:p>
        </p:txBody>
      </p:sp>
      <p:sp>
        <p:nvSpPr>
          <p:cNvPr id="22" name="Text 20">
            <a:extLst>
              <a:ext uri="{FF2B5EF4-FFF2-40B4-BE49-F238E27FC236}">
                <a16:creationId xmlns:a16="http://schemas.microsoft.com/office/drawing/2014/main" id="{35B99BF9-D34E-45F7-A42A-E1EE7420E18A}"/>
              </a:ext>
            </a:extLst>
          </p:cNvPr>
          <p:cNvSpPr>
            <a:spLocks noGrp="1"/>
          </p:cNvSpPr>
          <p:nvPr/>
        </p:nvSpPr>
        <p:spPr>
          <a:xfrm>
            <a:off x="3401568" y="2048256"/>
            <a:ext cx="2468880" cy="502920"/>
          </a:xfrm>
          <a:prstGeom prst="rect">
            <a:avLst/>
          </a:prstGeom>
          <a:noFill/>
        </p:spPr>
        <p:txBody>
          <a:bodyPr wrap="square" lIns="0" tIns="0" rIns="0" bIns="0" anchor="t"/>
          <a:lstStyle/>
          <a:p>
            <a:pPr marL="0" indent="0">
              <a:buNone/>
            </a:pPr>
            <a:r>
              <a:rPr sz="850">
                <a:solidFill>
                  <a:srgbClr val="1A2638"/>
                </a:solidFill>
              </a:rPr>
              <a:t>The nine-feature model improves selected diagnostics; extreme fire outcomes remain difficult.</a:t>
            </a:r>
            <a:endParaRPr sz="850"/>
          </a:p>
        </p:txBody>
      </p:sp>
      <p:sp>
        <p:nvSpPr>
          <p:cNvPr id="23" name="Shape 21">
            <a:extLst>
              <a:ext uri="{FF2B5EF4-FFF2-40B4-BE49-F238E27FC236}">
                <a16:creationId xmlns:a16="http://schemas.microsoft.com/office/drawing/2014/main" id="{6F886BEF-D149-4B22-AB28-BF3F16160D69}"/>
              </a:ext>
            </a:extLst>
          </p:cNvPr>
          <p:cNvSpPr>
            <a:spLocks noGrp="1"/>
          </p:cNvSpPr>
          <p:nvPr/>
        </p:nvSpPr>
        <p:spPr>
          <a:xfrm>
            <a:off x="3401568" y="2578608"/>
            <a:ext cx="2468880" cy="502920"/>
          </a:xfrm>
          <a:prstGeom prst="rect">
            <a:avLst/>
          </a:prstGeom>
          <a:solidFill>
            <a:srgbClr val="FEF3E2"/>
          </a:solidFill>
          <a:ln w="12700">
            <a:solidFill>
              <a:srgbClr val="FEF3E2"/>
            </a:solidFill>
            <a:prstDash val="solid"/>
          </a:ln>
        </p:spPr>
      </p:sp>
      <p:sp>
        <p:nvSpPr>
          <p:cNvPr id="24" name="Text 22">
            <a:extLst>
              <a:ext uri="{FF2B5EF4-FFF2-40B4-BE49-F238E27FC236}">
                <a16:creationId xmlns:a16="http://schemas.microsoft.com/office/drawing/2014/main" id="{80A0214D-E33A-4BF0-8D70-726CFE0375AB}"/>
              </a:ext>
            </a:extLst>
          </p:cNvPr>
          <p:cNvSpPr>
            <a:spLocks noGrp="1"/>
          </p:cNvSpPr>
          <p:nvPr/>
        </p:nvSpPr>
        <p:spPr>
          <a:xfrm>
            <a:off x="3447288" y="2578608"/>
            <a:ext cx="2377440" cy="502920"/>
          </a:xfrm>
          <a:prstGeom prst="rect">
            <a:avLst/>
          </a:prstGeom>
          <a:noFill/>
        </p:spPr>
        <p:txBody>
          <a:bodyPr wrap="square" lIns="0" tIns="0" rIns="0" bIns="0" anchor="ctr"/>
          <a:lstStyle/>
          <a:p>
            <a:pPr marL="0" indent="0">
              <a:buNone/>
            </a:pPr>
            <a:r>
              <a:rPr sz="800" i="1">
                <a:solidFill>
                  <a:srgbClr val="1A2638"/>
                </a:solidFill>
              </a:rPr>
              <a:t>PRACTICAL USE</a:t>
            </a:r>
            <a:endParaRPr sz="800"/>
          </a:p>
        </p:txBody>
      </p:sp>
      <p:sp>
        <p:nvSpPr>
          <p:cNvPr id="25" name="Text 23">
            <a:extLst>
              <a:ext uri="{FF2B5EF4-FFF2-40B4-BE49-F238E27FC236}">
                <a16:creationId xmlns:a16="http://schemas.microsoft.com/office/drawing/2014/main" id="{EDB0DD6E-990A-42DB-9875-F090FBA9738B}"/>
              </a:ext>
            </a:extLst>
          </p:cNvPr>
          <p:cNvSpPr>
            <a:spLocks noGrp="1"/>
          </p:cNvSpPr>
          <p:nvPr/>
        </p:nvSpPr>
        <p:spPr>
          <a:xfrm>
            <a:off x="3401568" y="3145536"/>
            <a:ext cx="2468880" cy="502920"/>
          </a:xfrm>
          <a:prstGeom prst="rect">
            <a:avLst/>
          </a:prstGeom>
          <a:noFill/>
        </p:spPr>
        <p:txBody>
          <a:bodyPr wrap="square" lIns="0" tIns="0" rIns="0" bIns="0" anchor="t"/>
          <a:lstStyle/>
          <a:p>
            <a:pPr marL="0" indent="0">
              <a:buNone/>
            </a:pPr>
            <a:r>
              <a:rPr sz="750" b="1">
                <a:solidFill>
                  <a:srgbClr val="2A9D61"/>
                </a:solidFill>
              </a:rPr>
              <a:t>Narrow broad search areas</a:t>
            </a:r>
            <a:endParaRPr sz="750"/>
          </a:p>
        </p:txBody>
      </p:sp>
      <p:sp>
        <p:nvSpPr>
          <p:cNvPr id="26" name="Text 24">
            <a:extLst>
              <a:ext uri="{FF2B5EF4-FFF2-40B4-BE49-F238E27FC236}">
                <a16:creationId xmlns:a16="http://schemas.microsoft.com/office/drawing/2014/main" id="{C7AC1FC5-9639-4DA9-B51C-80DD5E469942}"/>
              </a:ext>
            </a:extLst>
          </p:cNvPr>
          <p:cNvSpPr>
            <a:spLocks noGrp="1"/>
          </p:cNvSpPr>
          <p:nvPr/>
        </p:nvSpPr>
        <p:spPr>
          <a:xfrm>
            <a:off x="3401568" y="3675888"/>
            <a:ext cx="2468880" cy="502920"/>
          </a:xfrm>
          <a:prstGeom prst="rect">
            <a:avLst/>
          </a:prstGeom>
          <a:noFill/>
        </p:spPr>
        <p:txBody>
          <a:bodyPr wrap="square" lIns="0" tIns="0" rIns="0" bIns="0" anchor="t"/>
          <a:lstStyle/>
          <a:p>
            <a:pPr marL="0" indent="0">
              <a:buNone/>
            </a:pPr>
            <a:r>
              <a:rPr sz="750" b="1">
                <a:solidFill>
                  <a:srgbClr val="C0392B"/>
                </a:solidFill>
              </a:rPr>
              <a:t>Use the maps to organise local research before detailed investigation.</a:t>
            </a:r>
            <a:endParaRPr sz="750"/>
          </a:p>
        </p:txBody>
      </p:sp>
      <p:sp>
        <p:nvSpPr>
          <p:cNvPr id="27" name="Text 25">
            <a:extLst>
              <a:ext uri="{FF2B5EF4-FFF2-40B4-BE49-F238E27FC236}">
                <a16:creationId xmlns:a16="http://schemas.microsoft.com/office/drawing/2014/main" id="{44357DB5-05F8-4CF5-8D21-E89F0DFA12F8}"/>
              </a:ext>
            </a:extLst>
          </p:cNvPr>
          <p:cNvSpPr>
            <a:spLocks noGrp="1"/>
          </p:cNvSpPr>
          <p:nvPr/>
        </p:nvSpPr>
        <p:spPr>
          <a:xfrm>
            <a:off x="5998464" y="2560320"/>
            <a:ext cx="320040" cy="457200"/>
          </a:xfrm>
          <a:prstGeom prst="rect">
            <a:avLst/>
          </a:prstGeom>
          <a:noFill/>
        </p:spPr>
        <p:txBody>
          <a:bodyPr wrap="square" lIns="0" tIns="0" rIns="0" bIns="0" anchor="ctr"/>
          <a:lstStyle/>
          <a:p>
            <a:pPr marL="0" indent="0" algn="ctr">
              <a:buNone/>
            </a:pPr>
            <a:r>
              <a:rPr sz="2000" b="1">
                <a:solidFill>
                  <a:srgbClr val="E8A020"/>
                </a:solidFill>
              </a:rPr>
              <a:t>→</a:t>
            </a:r>
            <a:endParaRPr sz="2000"/>
          </a:p>
        </p:txBody>
      </p:sp>
      <p:sp>
        <p:nvSpPr>
          <p:cNvPr id="28" name="Shape 26">
            <a:extLst>
              <a:ext uri="{FF2B5EF4-FFF2-40B4-BE49-F238E27FC236}">
                <a16:creationId xmlns:a16="http://schemas.microsoft.com/office/drawing/2014/main" id="{C1EB402B-5D07-41FD-A88B-C668B30929ED}"/>
              </a:ext>
            </a:extLst>
          </p:cNvPr>
          <p:cNvSpPr>
            <a:spLocks noGrp="1"/>
          </p:cNvSpPr>
          <p:nvPr/>
        </p:nvSpPr>
        <p:spPr>
          <a:xfrm>
            <a:off x="6345936" y="1371600"/>
            <a:ext cx="2651760" cy="2834640"/>
          </a:xfrm>
          <a:prstGeom prst="rect">
            <a:avLst/>
          </a:prstGeom>
          <a:solidFill>
            <a:srgbClr val="FFFFFF"/>
          </a:solidFill>
          <a:ln w="12700">
            <a:solidFill>
              <a:srgbClr val="2A9D61"/>
            </a:solidFill>
            <a:prstDash val="solid"/>
          </a:ln>
          <a:effectLst>
            <a:outerShdw blurRad="101600" dist="38100" dir="8100000" algn="bl" rotWithShape="0">
              <a:srgbClr val="000000">
                <a:alpha val="10000"/>
              </a:srgbClr>
            </a:outerShdw>
          </a:effectLst>
        </p:spPr>
      </p:sp>
      <p:sp>
        <p:nvSpPr>
          <p:cNvPr id="29" name="Shape 27">
            <a:extLst>
              <a:ext uri="{FF2B5EF4-FFF2-40B4-BE49-F238E27FC236}">
                <a16:creationId xmlns:a16="http://schemas.microsoft.com/office/drawing/2014/main" id="{CB31566B-19C9-48AC-A726-E822C5985068}"/>
              </a:ext>
            </a:extLst>
          </p:cNvPr>
          <p:cNvSpPr>
            <a:spLocks noGrp="1"/>
          </p:cNvSpPr>
          <p:nvPr/>
        </p:nvSpPr>
        <p:spPr>
          <a:xfrm>
            <a:off x="6345936" y="1371600"/>
            <a:ext cx="2651760" cy="384048"/>
          </a:xfrm>
          <a:prstGeom prst="rect">
            <a:avLst/>
          </a:prstGeom>
          <a:solidFill>
            <a:srgbClr val="2A9D61"/>
          </a:solidFill>
          <a:ln w="12700">
            <a:solidFill>
              <a:srgbClr val="2A9D61"/>
            </a:solidFill>
            <a:prstDash val="solid"/>
          </a:ln>
        </p:spPr>
      </p:sp>
      <p:sp>
        <p:nvSpPr>
          <p:cNvPr id="30" name="Text 28">
            <a:extLst>
              <a:ext uri="{FF2B5EF4-FFF2-40B4-BE49-F238E27FC236}">
                <a16:creationId xmlns:a16="http://schemas.microsoft.com/office/drawing/2014/main" id="{576FE3D7-10A4-4179-9328-3F34C913B9ED}"/>
              </a:ext>
            </a:extLst>
          </p:cNvPr>
          <p:cNvSpPr>
            <a:spLocks noGrp="1"/>
          </p:cNvSpPr>
          <p:nvPr/>
        </p:nvSpPr>
        <p:spPr>
          <a:xfrm>
            <a:off x="6345936" y="1371600"/>
            <a:ext cx="2651760" cy="384048"/>
          </a:xfrm>
          <a:prstGeom prst="rect">
            <a:avLst/>
          </a:prstGeom>
          <a:noFill/>
        </p:spPr>
        <p:txBody>
          <a:bodyPr wrap="square" lIns="0" tIns="0" rIns="0" bIns="0" anchor="ctr"/>
          <a:lstStyle/>
          <a:p>
            <a:pPr marL="0" indent="0" algn="ctr">
              <a:buNone/>
            </a:pPr>
            <a:r>
              <a:rPr sz="1100" b="1">
                <a:solidFill>
                  <a:srgbClr val="FFFFFF"/>
                </a:solidFill>
              </a:rPr>
              <a:t>NEXT PROJECT STEP</a:t>
            </a:r>
            <a:endParaRPr sz="1100"/>
          </a:p>
        </p:txBody>
      </p:sp>
      <p:sp>
        <p:nvSpPr>
          <p:cNvPr id="31" name="Text 29">
            <a:extLst>
              <a:ext uri="{FF2B5EF4-FFF2-40B4-BE49-F238E27FC236}">
                <a16:creationId xmlns:a16="http://schemas.microsoft.com/office/drawing/2014/main" id="{088C263C-A0CB-4982-A338-F3A1BB2F9F95}"/>
              </a:ext>
            </a:extLst>
          </p:cNvPr>
          <p:cNvSpPr>
            <a:spLocks noGrp="1"/>
          </p:cNvSpPr>
          <p:nvPr/>
        </p:nvSpPr>
        <p:spPr>
          <a:xfrm>
            <a:off x="6437376" y="1792224"/>
            <a:ext cx="2468880" cy="256032"/>
          </a:xfrm>
          <a:prstGeom prst="rect">
            <a:avLst/>
          </a:prstGeom>
          <a:noFill/>
        </p:spPr>
        <p:txBody>
          <a:bodyPr wrap="square" lIns="0" tIns="0" rIns="0" bIns="0" anchor="ctr"/>
          <a:lstStyle/>
          <a:p>
            <a:pPr marL="0" indent="0">
              <a:buNone/>
            </a:pPr>
            <a:r>
              <a:rPr sz="800">
                <a:solidFill>
                  <a:srgbClr val="2A9D61"/>
                </a:solidFill>
              </a:rPr>
              <a:t>Refresh and evaluate</a:t>
            </a:r>
            <a:endParaRPr sz="800"/>
          </a:p>
        </p:txBody>
      </p:sp>
      <p:sp>
        <p:nvSpPr>
          <p:cNvPr id="32" name="Text 30">
            <a:extLst>
              <a:ext uri="{FF2B5EF4-FFF2-40B4-BE49-F238E27FC236}">
                <a16:creationId xmlns:a16="http://schemas.microsoft.com/office/drawing/2014/main" id="{3591A679-B15E-406C-86A0-00F6CAE7220A}"/>
              </a:ext>
            </a:extLst>
          </p:cNvPr>
          <p:cNvSpPr>
            <a:spLocks noGrp="1"/>
          </p:cNvSpPr>
          <p:nvPr/>
        </p:nvSpPr>
        <p:spPr>
          <a:xfrm>
            <a:off x="6437376" y="2048256"/>
            <a:ext cx="2468880" cy="502920"/>
          </a:xfrm>
          <a:prstGeom prst="rect">
            <a:avLst/>
          </a:prstGeom>
          <a:noFill/>
        </p:spPr>
        <p:txBody>
          <a:bodyPr wrap="square" lIns="0" tIns="0" rIns="0" bIns="0" anchor="t"/>
          <a:lstStyle/>
          <a:p>
            <a:pPr marL="0" indent="0">
              <a:buNone/>
            </a:pPr>
            <a:r>
              <a:rPr sz="850">
                <a:solidFill>
                  <a:srgbClr val="1A2638"/>
                </a:solidFill>
              </a:rPr>
              <a:t>When new completed-year data and the 2026 outcome are available, rerun the fixed workflow and evaluate the 2026 estimate.</a:t>
            </a:r>
            <a:endParaRPr sz="850"/>
          </a:p>
        </p:txBody>
      </p:sp>
      <p:sp>
        <p:nvSpPr>
          <p:cNvPr id="33" name="Shape 31">
            <a:extLst>
              <a:ext uri="{FF2B5EF4-FFF2-40B4-BE49-F238E27FC236}">
                <a16:creationId xmlns:a16="http://schemas.microsoft.com/office/drawing/2014/main" id="{21F582AF-C78B-4E58-9B57-6833B74F7712}"/>
              </a:ext>
            </a:extLst>
          </p:cNvPr>
          <p:cNvSpPr>
            <a:spLocks noGrp="1"/>
          </p:cNvSpPr>
          <p:nvPr/>
        </p:nvSpPr>
        <p:spPr>
          <a:xfrm>
            <a:off x="6437376" y="2578608"/>
            <a:ext cx="2468880" cy="502920"/>
          </a:xfrm>
          <a:prstGeom prst="rect">
            <a:avLst/>
          </a:prstGeom>
          <a:solidFill>
            <a:srgbClr val="E6F5EE"/>
          </a:solidFill>
          <a:ln w="12700">
            <a:solidFill>
              <a:srgbClr val="E6F5EE"/>
            </a:solidFill>
            <a:prstDash val="solid"/>
          </a:ln>
        </p:spPr>
      </p:sp>
      <p:sp>
        <p:nvSpPr>
          <p:cNvPr id="34" name="Text 32">
            <a:extLst>
              <a:ext uri="{FF2B5EF4-FFF2-40B4-BE49-F238E27FC236}">
                <a16:creationId xmlns:a16="http://schemas.microsoft.com/office/drawing/2014/main" id="{131D7657-5536-4C80-9B52-926E19C32495}"/>
              </a:ext>
            </a:extLst>
          </p:cNvPr>
          <p:cNvSpPr>
            <a:spLocks noGrp="1"/>
          </p:cNvSpPr>
          <p:nvPr/>
        </p:nvSpPr>
        <p:spPr>
          <a:xfrm>
            <a:off x="6483096" y="2578608"/>
            <a:ext cx="2377440" cy="502920"/>
          </a:xfrm>
          <a:prstGeom prst="rect">
            <a:avLst/>
          </a:prstGeom>
          <a:noFill/>
        </p:spPr>
        <p:txBody>
          <a:bodyPr wrap="square" lIns="0" tIns="0" rIns="0" bIns="0" anchor="ctr"/>
          <a:lstStyle/>
          <a:p>
            <a:pPr marL="0" indent="0">
              <a:buNone/>
            </a:pPr>
            <a:r>
              <a:rPr sz="800" i="1">
                <a:solidFill>
                  <a:srgbClr val="1A2638"/>
                </a:solidFill>
              </a:rPr>
              <a:t>PRACTICAL RESULT</a:t>
            </a:r>
            <a:endParaRPr sz="800"/>
          </a:p>
        </p:txBody>
      </p:sp>
      <p:sp>
        <p:nvSpPr>
          <p:cNvPr id="35" name="Text 33">
            <a:extLst>
              <a:ext uri="{FF2B5EF4-FFF2-40B4-BE49-F238E27FC236}">
                <a16:creationId xmlns:a16="http://schemas.microsoft.com/office/drawing/2014/main" id="{555C2D91-F1C0-4C81-A522-273CE805D265}"/>
              </a:ext>
            </a:extLst>
          </p:cNvPr>
          <p:cNvSpPr>
            <a:spLocks noGrp="1"/>
          </p:cNvSpPr>
          <p:nvPr/>
        </p:nvSpPr>
        <p:spPr>
          <a:xfrm>
            <a:off x="6437376" y="3145536"/>
            <a:ext cx="2468880" cy="502920"/>
          </a:xfrm>
          <a:prstGeom prst="rect">
            <a:avLst/>
          </a:prstGeom>
          <a:noFill/>
        </p:spPr>
        <p:txBody>
          <a:bodyPr wrap="square" lIns="0" tIns="0" rIns="0" bIns="0" anchor="t"/>
          <a:lstStyle/>
          <a:p>
            <a:pPr marL="0" indent="0">
              <a:buNone/>
            </a:pPr>
            <a:r>
              <a:rPr sz="750" b="1">
                <a:solidFill>
                  <a:srgbClr val="2A9D61"/>
                </a:solidFill>
              </a:rPr>
              <a:t>A focused location search</a:t>
            </a:r>
            <a:endParaRPr sz="750"/>
          </a:p>
        </p:txBody>
      </p:sp>
      <p:sp>
        <p:nvSpPr>
          <p:cNvPr id="36" name="Text 34">
            <a:extLst>
              <a:ext uri="{FF2B5EF4-FFF2-40B4-BE49-F238E27FC236}">
                <a16:creationId xmlns:a16="http://schemas.microsoft.com/office/drawing/2014/main" id="{348B69A9-A889-4CDD-892E-2DD982669C0A}"/>
              </a:ext>
            </a:extLst>
          </p:cNvPr>
          <p:cNvSpPr>
            <a:spLocks noGrp="1"/>
          </p:cNvSpPr>
          <p:nvPr/>
        </p:nvSpPr>
        <p:spPr>
          <a:xfrm>
            <a:off x="6437376" y="3675888"/>
            <a:ext cx="2468880" cy="502920"/>
          </a:xfrm>
          <a:prstGeom prst="rect">
            <a:avLst/>
          </a:prstGeom>
          <a:noFill/>
        </p:spPr>
        <p:txBody>
          <a:bodyPr wrap="square" lIns="0" tIns="0" rIns="0" bIns="0" anchor="t"/>
          <a:lstStyle/>
          <a:p>
            <a:pPr marL="0" indent="0">
              <a:buNone/>
            </a:pPr>
            <a:r>
              <a:rPr sz="750" b="1">
                <a:solidFill>
                  <a:srgbClr val="C0392B"/>
                </a:solidFill>
              </a:rPr>
              <a:t>Local planning, access, insurance, terrain and property evidence complete the decision.</a:t>
            </a:r>
            <a:endParaRPr sz="750"/>
          </a:p>
        </p:txBody>
      </p:sp>
      <p:sp>
        <p:nvSpPr>
          <p:cNvPr id="37" name="Shape 35">
            <a:extLst>
              <a:ext uri="{FF2B5EF4-FFF2-40B4-BE49-F238E27FC236}">
                <a16:creationId xmlns:a16="http://schemas.microsoft.com/office/drawing/2014/main" id="{1CF7DD12-EEE0-44CF-90BD-A5A6555384C9}"/>
              </a:ext>
            </a:extLst>
          </p:cNvPr>
          <p:cNvSpPr>
            <a:spLocks noGrp="1"/>
          </p:cNvSpPr>
          <p:nvPr/>
        </p:nvSpPr>
        <p:spPr>
          <a:xfrm>
            <a:off x="274320" y="4315968"/>
            <a:ext cx="8595360" cy="457200"/>
          </a:xfrm>
          <a:prstGeom prst="rect">
            <a:avLst/>
          </a:prstGeom>
          <a:solidFill>
            <a:srgbClr val="0D1F2D"/>
          </a:solidFill>
          <a:ln w="12700">
            <a:solidFill>
              <a:srgbClr val="0D1F2D"/>
            </a:solidFill>
            <a:prstDash val="solid"/>
          </a:ln>
        </p:spPr>
      </p:sp>
      <p:sp>
        <p:nvSpPr>
          <p:cNvPr id="38" name="Text 36">
            <a:extLst>
              <a:ext uri="{FF2B5EF4-FFF2-40B4-BE49-F238E27FC236}">
                <a16:creationId xmlns:a16="http://schemas.microsoft.com/office/drawing/2014/main" id="{437652F4-0A68-4E8D-8FB1-0D1F3BBDF796}"/>
              </a:ext>
            </a:extLst>
          </p:cNvPr>
          <p:cNvSpPr>
            <a:spLocks noGrp="1"/>
          </p:cNvSpPr>
          <p:nvPr/>
        </p:nvSpPr>
        <p:spPr>
          <a:xfrm>
            <a:off x="411480" y="4315968"/>
            <a:ext cx="8321040" cy="457200"/>
          </a:xfrm>
          <a:prstGeom prst="rect">
            <a:avLst/>
          </a:prstGeom>
          <a:noFill/>
        </p:spPr>
        <p:txBody>
          <a:bodyPr wrap="square" lIns="0" tIns="0" rIns="0" bIns="0" anchor="ctr"/>
          <a:lstStyle/>
          <a:p>
            <a:pPr marL="0" indent="0">
              <a:buNone/>
            </a:pPr>
            <a:r>
              <a:rPr sz="850" b="1">
                <a:solidFill>
                  <a:srgbClr val="E8A020"/>
                </a:solidFill>
              </a:rPr>
              <a:t>The model makes the first stage of location research more focused.</a:t>
            </a:r>
            <a:endParaRPr sz="850"/>
          </a:p>
        </p:txBody>
      </p:sp>
      <p:sp>
        <p:nvSpPr>
          <p:cNvPr id="39" name="Shape 37">
            <a:extLst>
              <a:ext uri="{FF2B5EF4-FFF2-40B4-BE49-F238E27FC236}">
                <a16:creationId xmlns:a16="http://schemas.microsoft.com/office/drawing/2014/main" id="{49A759C5-57AB-43DF-B3F0-A2B8CCABD533}"/>
              </a:ext>
            </a:extLst>
          </p:cNvPr>
          <p:cNvSpPr>
            <a:spLocks noGrp="1"/>
          </p:cNvSpPr>
          <p:nvPr/>
        </p:nvSpPr>
        <p:spPr>
          <a:xfrm>
            <a:off x="0" y="4919472"/>
            <a:ext cx="9144000" cy="224028"/>
          </a:xfrm>
          <a:prstGeom prst="rect">
            <a:avLst/>
          </a:prstGeom>
          <a:solidFill>
            <a:srgbClr val="162B3D"/>
          </a:solidFill>
          <a:ln w="12700">
            <a:solidFill>
              <a:srgbClr val="162B3D"/>
            </a:solidFill>
            <a:prstDash val="solid"/>
          </a:ln>
        </p:spPr>
      </p:sp>
      <p:sp>
        <p:nvSpPr>
          <p:cNvPr id="40" name="Text 38">
            <a:extLst>
              <a:ext uri="{FF2B5EF4-FFF2-40B4-BE49-F238E27FC236}">
                <a16:creationId xmlns:a16="http://schemas.microsoft.com/office/drawing/2014/main" id="{D0C3C7AC-0669-4B0F-BD8F-AB88AC487A35}"/>
              </a:ext>
            </a:extLst>
          </p:cNvPr>
          <p:cNvSpPr>
            <a:spLocks noGrp="1"/>
          </p:cNvSpPr>
          <p:nvPr/>
        </p:nvSpPr>
        <p:spPr>
          <a:xfrm>
            <a:off x="274320" y="4919472"/>
            <a:ext cx="8595360" cy="224028"/>
          </a:xfrm>
          <a:prstGeom prst="rect">
            <a:avLst/>
          </a:prstGeom>
          <a:noFill/>
        </p:spPr>
        <p:txBody>
          <a:bodyPr wrap="square" lIns="0" tIns="0" rIns="0" bIns="0" anchor="ctr"/>
          <a:lstStyle/>
          <a:p>
            <a:pPr marL="0" indent="0">
              <a:buNone/>
            </a:pPr>
            <a:r>
              <a:rPr sz="800" b="1">
                <a:solidFill>
                  <a:srgbClr val="E8A020"/>
                </a:solidFill>
              </a:rPr>
              <a:t>Serhii Diadechko  |  Data Science &amp; Machine Learning Capstone</a:t>
            </a:r>
            <a:endParaRPr sz="800"/>
          </a:p>
        </p:txBody>
      </p:sp>
    </p:spTree>
    <p:extLst>
      <p:ext uri="{BB962C8B-B14F-4D97-AF65-F5344CB8AC3E}">
        <p14:creationId xmlns:p14="http://schemas.microsoft.com/office/powerpoint/2010/main" val="17992669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TotalTime>
  <Words>3050</Words>
  <Application>Microsoft Office PowerPoint</Application>
  <DocSecurity>0</DocSecurity>
  <PresentationFormat>On-screen Show (16:9)</PresentationFormat>
  <Paragraphs>287</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Sergey Dyadechko</cp:lastModifiedBy>
  <cp:revision>14</cp:revision>
  <dcterms:created xsi:type="dcterms:W3CDTF">2026-08-08T12:40:18Z</dcterms:created>
  <dcterms:modified xsi:type="dcterms:W3CDTF">2026-08-09T09:52:24Z</dcterms:modified>
</cp:coreProperties>
</file>