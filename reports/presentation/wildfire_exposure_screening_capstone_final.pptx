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390" y="5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decision problem. A person may need to compare broad parts of mainland Portugal before spending time on municipal, site and property-specific checks. The project offers comparative evidence, not a property recommendation.</a:t>
            </a:r>
          </a:p>
          <a:p>
            <a:endParaRPr/>
          </a:p>
          <a:p>
            <a:r>
              <a:t>[Sources]</a:t>
            </a:r>
          </a:p>
          <a:p>
            <a:r>
              <a:t>Project README; docs/project_brief.md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what one row represents: a mainland Portugal 1 km cell in a predictor year. Explain the three source roles. The 2 km buffer is a context measurement, not a second grid.</a:t>
            </a:r>
          </a:p>
          <a:p>
            <a:endParaRPr/>
          </a:p>
          <a:p>
            <a:r>
              <a:t>[Sources]</a:t>
            </a:r>
          </a:p>
          <a:p>
            <a:r>
              <a:t>docs/data_dictionary.md; reports/validation/canonical_full_scope_readiness.md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observed historical evidence, not a prediction. The bands count distinct burned years from 2016 to 2025 in the mainland-masked 2 km context around each 1 km cell. Lower historical exposure does not mean safe.</a:t>
            </a:r>
          </a:p>
          <a:p>
            <a:endParaRPr/>
          </a:p>
          <a:p>
            <a:r>
              <a:t>[Sources]</a:t>
            </a:r>
          </a:p>
          <a:p>
            <a:r>
              <a:t>reports/figures/historical_wildfire_exposure_screening_mainland_portugal.png; reports/validation/historical_exposure_screening_and_icnf_comparison.md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distinction carefully. Historical recurrence is observed fire evidence over 2016–2025. The ICNF structural layer is an independent official 25 m classification summarized to the 1 km grid. Their cross-tab is descriptive, not a model accuracy metric.</a:t>
            </a:r>
          </a:p>
          <a:p>
            <a:endParaRPr/>
          </a:p>
          <a:p>
            <a:r>
              <a:t>[Sources]</a:t>
            </a:r>
          </a:p>
          <a:p>
            <a:r>
              <a:t>qgis/README.md; docs/data_dictionary.md; reports/figures/historical_exposure_by_icnf_structural_hazard_crosstab.png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two models. The transparent baseline maps prior ten-year recurrence to expected next-year burned share. The nine-feature two-part regression first estimates whether burning occurs, then estimates burned share when burning occurs. On the frozen final test, it lowered all-row MAE and improved ranking capture, while RMSE was similar and the high-burn 2025 outcome was underpredicted.</a:t>
            </a:r>
          </a:p>
          <a:p>
            <a:endParaRPr/>
          </a:p>
          <a:p>
            <a:r>
              <a:t>[Sources]</a:t>
            </a:r>
          </a:p>
          <a:p>
            <a:r>
              <a:t>reports/validation/model_final_decision.md; reports/figures/model_final_test_metric_comparison.png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practical use of the project. The 2026 QGIS layer is a comparative, target-free model estimate. It helps prioritise broad areas for more detailed investigation. It cannot answer whether a specific property is safe or should be purchased.</a:t>
            </a:r>
          </a:p>
          <a:p>
            <a:endParaRPr/>
          </a:p>
          <a:p>
            <a:r>
              <a:t>[Sources]</a:t>
            </a:r>
          </a:p>
          <a:p>
            <a:r>
              <a:t>qgis/wildfire_exposure_screening_portugal_2026.qgz; reports/validation/operational_forecast_2026_validation.md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replaces a conventional business recommendation with a scientifically responsible use recommendation. The project’s contribution is prioritisation and transparency, not property certification.</a:t>
            </a:r>
          </a:p>
          <a:p>
            <a:endParaRPr/>
          </a:p>
          <a:p>
            <a:r>
              <a:t>[Sources]</a:t>
            </a:r>
          </a:p>
          <a:p>
            <a:r>
              <a:t>README.md; docs/operational_forecast_cycle.md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explaining the project cycle: refresh completed-year inputs, rebuild the target-free estimate, use the maps for broad-area screening, and evaluate the prior estimate when the next observed outcome becomes available. The output remains comparative evidence, not a property recommendation.</a:t>
            </a:r>
          </a:p>
          <a:p>
            <a:endParaRPr/>
          </a:p>
          <a:p>
            <a:r>
              <a:t>[Sources]</a:t>
            </a:r>
          </a:p>
          <a:p>
            <a:r>
              <a:t>README.md; reports/validation/model_final_decision.md; reports/validation/operational_forecast_readiness.md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only. Use this if asked about the nine features, the two-part model, or leakage prevention.</a:t>
            </a:r>
          </a:p>
          <a:p>
            <a:endParaRPr/>
          </a:p>
          <a:p>
            <a:r>
              <a:t>[Sources]</a:t>
            </a:r>
          </a:p>
          <a:p>
            <a:r>
              <a:t>docs/data_dictionary.md; src/feature_contract.py; reports/validation/final_temporal_test_protocol.md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only. Use this when asked why the final conclusion is partial support rather than a simple success/failure statement.</a:t>
            </a:r>
          </a:p>
          <a:p>
            <a:endParaRPr/>
          </a:p>
          <a:p>
            <a:r>
              <a:t>[Sources]</a:t>
            </a:r>
          </a:p>
          <a:p>
            <a:r>
              <a:t>reports/validation/final_temporal_test_2022_2024.md; reports/validation/model_final_decision.md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C1E288-54C6-4AFE-9118-5DD22F6CA6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5D1AC20-7C0C-4892-B4A3-37B66B12D7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5EB2BBC-C768-4F3B-9A05-693AE7C846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CE012BC-F690-43C5-8593-03E68D2E597A}"/>
              </a:ext>
            </a:extLst>
          </p:cNvPr>
          <p:cNvSpPr>
            <a:spLocks noGrp="1"/>
          </p:cNvSpPr>
          <p:nvPr/>
        </p:nvSpPr>
        <p:spPr>
          <a:xfrm>
            <a:off x="320040" y="137160"/>
            <a:ext cx="1417320" cy="29260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19589F-E982-416F-AE76-0E845938CF1A}"/>
              </a:ext>
            </a:extLst>
          </p:cNvPr>
          <p:cNvSpPr>
            <a:spLocks noGrp="1"/>
          </p:cNvSpPr>
          <p:nvPr/>
        </p:nvSpPr>
        <p:spPr>
          <a:xfrm>
            <a:off x="320040" y="13716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>
                <a:solidFill>
                  <a:srgbClr val="E1E8EF"/>
                </a:solidFill>
              </a:rPr>
              <a:t>DATA SCIENCE &amp; ML CAPSTONE</a:t>
            </a:r>
            <a:endParaRPr sz="7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79C5680-AA74-43CC-A55B-EAA6D4F790B0}"/>
              </a:ext>
            </a:extLst>
          </p:cNvPr>
          <p:cNvSpPr>
            <a:spLocks noGrp="1"/>
          </p:cNvSpPr>
          <p:nvPr/>
        </p:nvSpPr>
        <p:spPr>
          <a:xfrm>
            <a:off x="7498080" y="137160"/>
            <a:ext cx="1417320" cy="2926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4172E75-1722-4DFC-9DF4-9CB79B14E0A1}"/>
              </a:ext>
            </a:extLst>
          </p:cNvPr>
          <p:cNvSpPr>
            <a:spLocks noGrp="1"/>
          </p:cNvSpPr>
          <p:nvPr/>
        </p:nvSpPr>
        <p:spPr>
          <a:xfrm>
            <a:off x="7498080" y="13716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>
                <a:solidFill>
                  <a:srgbClr val="0D1F2D"/>
                </a:solidFill>
              </a:rPr>
              <a:t>2026</a:t>
            </a:r>
            <a:endParaRPr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69A063F-061C-4E84-A7BB-17F22F1E37CD}"/>
              </a:ext>
            </a:extLst>
          </p:cNvPr>
          <p:cNvSpPr>
            <a:spLocks noGrp="1"/>
          </p:cNvSpPr>
          <p:nvPr/>
        </p:nvSpPr>
        <p:spPr>
          <a:xfrm>
            <a:off x="365760" y="56692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E8A020"/>
                </a:solidFill>
              </a:rPr>
              <a:t>WILDFIRE EXPOSURE SCREENING</a:t>
            </a:r>
            <a:endParaRPr sz="1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4A6A164-B33F-4998-A204-857D9DF66C4C}"/>
              </a:ext>
            </a:extLst>
          </p:cNvPr>
          <p:cNvSpPr>
            <a:spLocks noGrp="1"/>
          </p:cNvSpPr>
          <p:nvPr/>
        </p:nvSpPr>
        <p:spPr>
          <a:xfrm>
            <a:off x="365760" y="914400"/>
            <a:ext cx="557784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5200" b="1">
                <a:solidFill>
                  <a:srgbClr val="FFFFFF"/>
                </a:solidFill>
              </a:rPr>
              <a:t>Wildfire Exposure</a:t>
            </a:r>
            <a:endParaRPr sz="5200"/>
          </a:p>
          <a:p>
            <a:pPr marL="0" indent="0">
              <a:buNone/>
            </a:pPr>
            <a:r>
              <a:rPr sz="5200" b="1">
                <a:solidFill>
                  <a:srgbClr val="FFFFFF"/>
                </a:solidFill>
              </a:rPr>
              <a:t>Screening</a:t>
            </a:r>
            <a:endParaRPr sz="5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4D2A627-5A65-4D62-872A-278E308D6081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i="1">
                <a:solidFill>
                  <a:srgbClr val="A8C4D8"/>
                </a:solidFill>
              </a:rPr>
              <a:t>A reproducible GIS and machine-learning workflow for broad-area location research.</a:t>
            </a:r>
            <a:endParaRPr sz="13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01055C3-4D89-480A-A015-A39FAA99154B}"/>
              </a:ext>
            </a:extLst>
          </p:cNvPr>
          <p:cNvSpPr>
            <a:spLocks noGrp="1"/>
          </p:cNvSpPr>
          <p:nvPr/>
        </p:nvSpPr>
        <p:spPr>
          <a:xfrm>
            <a:off x="365760" y="3310128"/>
            <a:ext cx="5303520" cy="228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46F6034-0591-4F9B-ADDC-2BCB5DF9B0E5}"/>
              </a:ext>
            </a:extLst>
          </p:cNvPr>
          <p:cNvSpPr>
            <a:spLocks noGrp="1"/>
          </p:cNvSpPr>
          <p:nvPr/>
        </p:nvSpPr>
        <p:spPr>
          <a:xfrm>
            <a:off x="365760" y="338328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E1E8EF"/>
                </a:solidFill>
              </a:rPr>
              <a:t>Serhii Diadechko</a:t>
            </a:r>
            <a:endParaRPr sz="11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23C3533-454E-45EC-B2F2-5018C24EDF8C}"/>
              </a:ext>
            </a:extLst>
          </p:cNvPr>
          <p:cNvSpPr>
            <a:spLocks noGrp="1"/>
          </p:cNvSpPr>
          <p:nvPr/>
        </p:nvSpPr>
        <p:spPr>
          <a:xfrm>
            <a:off x="6080760" y="777240"/>
            <a:ext cx="2834640" cy="3931920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4CDD242-CA16-4DE7-A0A4-75D06C27067B}"/>
              </a:ext>
            </a:extLst>
          </p:cNvPr>
          <p:cNvSpPr>
            <a:spLocks noGrp="1"/>
          </p:cNvSpPr>
          <p:nvPr/>
        </p:nvSpPr>
        <p:spPr>
          <a:xfrm>
            <a:off x="6080760" y="82296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8A020"/>
                </a:solidFill>
              </a:rPr>
              <a:t>Purpose</a:t>
            </a:r>
            <a:endParaRPr sz="90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229D1EC-B418-4D31-AF55-2CA5D55DCE69}"/>
              </a:ext>
            </a:extLst>
          </p:cNvPr>
          <p:cNvSpPr>
            <a:spLocks noGrp="1"/>
          </p:cNvSpPr>
          <p:nvPr/>
        </p:nvSpPr>
        <p:spPr>
          <a:xfrm>
            <a:off x="6217920" y="1170432"/>
            <a:ext cx="2560320" cy="228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1936FCD-9E69-40E2-8BAF-182BC38E9B0F}"/>
              </a:ext>
            </a:extLst>
          </p:cNvPr>
          <p:cNvSpPr>
            <a:spLocks noGrp="1"/>
          </p:cNvSpPr>
          <p:nvPr/>
        </p:nvSpPr>
        <p:spPr>
          <a:xfrm>
            <a:off x="6217920" y="1261872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Observed history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C0B72FA-54F7-4746-BA0E-74BFEE11AFC0}"/>
              </a:ext>
            </a:extLst>
          </p:cNvPr>
          <p:cNvSpPr>
            <a:spLocks noGrp="1"/>
          </p:cNvSpPr>
          <p:nvPr/>
        </p:nvSpPr>
        <p:spPr>
          <a:xfrm>
            <a:off x="6217920" y="179222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Landscape, terrain and climate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A7365EB-9A93-4A88-B5FA-CB10B508ABD0}"/>
              </a:ext>
            </a:extLst>
          </p:cNvPr>
          <p:cNvSpPr>
            <a:spLocks noGrp="1"/>
          </p:cNvSpPr>
          <p:nvPr/>
        </p:nvSpPr>
        <p:spPr>
          <a:xfrm>
            <a:off x="6217920" y="2322576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Comparative 2026 estimate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EB7B3AE-8DEE-4306-9E6A-0A920D77F3D6}"/>
              </a:ext>
            </a:extLst>
          </p:cNvPr>
          <p:cNvSpPr>
            <a:spLocks noGrp="1"/>
          </p:cNvSpPr>
          <p:nvPr/>
        </p:nvSpPr>
        <p:spPr>
          <a:xfrm>
            <a:off x="6217920" y="2852928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Not a property-level safety guarantee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28310AC-CF94-456E-89FD-C6E93EFE7FBC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Not a buy / do-not-buy recommendation</a:t>
            </a:r>
            <a:endParaRPr sz="105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2FE1D70-9A6C-470B-B513-F9AEE45AB1C1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7DA058F-BE6E-4F50-AAAD-4F76E25F2FB0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25672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5CEFC6-DDBC-4FB7-9364-691BAD5D18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5B5870-EA27-4BED-A360-92989D1F59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465BE75-9DA1-44FC-A6AA-3F12930A0337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93C4C7-2F08-452E-9A57-A438BD703F0C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DATASET OVERVIEW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7DFDB9-E367-4AB4-B17C-BEF1CBFD50D9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2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A7B6B5-D5EE-4FF1-8DFC-195EBF9A5473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One 1 km mainland cell per year makes the evidence comparable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DC1AF8C-3759-4175-A907-EA8973CCAAB7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111EC1F-A5CA-4E0B-B4A0-6B2221877121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9F754E6-7582-444C-A9B6-94D87EF4D700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OBSERVED FIRE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EAC9BD-DD9C-4D0F-B736-9228BEF85745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ICNF annual burned areas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1506325-7096-4D53-9F8A-AE2E5B4EF82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Historical occurrence and next-year burned-share outcomes. Fire recurrence is measured in a 2 km context buffer.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B599594-CCF4-485F-8192-561FC41FF104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5064BC7-0672-4ACA-9DCB-489A8CA02653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2000–2025 coverage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340BB7D-4645-4447-88CB-51AF5C87C596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observed history and outcome labels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7363C4B-A141-4150-89D9-EEAF456FAC33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Never used as a same-year predictor.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BCFAEF-6796-4BB9-B110-221F7B86023F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E4D8F5A-F548-473C-BB9C-B152C0E21F1F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355F1E6-96D4-4CBE-BC12-C55252D03AD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D1AFDE3-4FD8-4035-BBC0-DB202824CA34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PLACE CONTEXT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96F280-BF93-4AF5-9DE1-0DC560995895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CLC and Copernicus DEM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F91279E-5BDC-48D5-BBAF-2794A19FABA1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Built-up share, forest/shrub context and mean slope describe the surrounding landscape.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9FA68EF-2D4E-4720-BDE8-74D447D1C3F7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DDEDC41-7806-4CE8-BB23-79986CBB0BEE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Static or governed historical layers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8A78462-54B7-4E0A-9695-876768AC3755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landscape and terrain predictors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8DEDE3-9157-46BE-8AD4-2E3F9661A03E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parcel-level claim.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33FF249-3114-487F-BB64-5512AC1AB8F3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1AB3FA8-5A3E-444F-BD7A-131F27A3B6F6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D6D8A196-BEBD-4FF3-8711-1BCBC19DBE36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C4ABF7E-0DC5-4097-B3B1-5727A659944B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CLIMATE CONTEXT</a:t>
            </a:r>
            <a:endParaRPr sz="11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BF39345-D936-4805-A0ED-B71599D67C1A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ERA5-Land JJAS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B722B79-9769-43BC-A7B7-DE1320782B2F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Warm-season temperature, precipitation and shallow soil-water conditions from predictor year T only.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8A31758-D4E6-4517-A66E-18291DA951B6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46888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8FE98B6-36C4-4713-89AF-01C2678FA6DC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0.1° regional climate cells</a:t>
            </a:r>
            <a:endParaRPr sz="8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7585419-11E2-4D2D-B77C-3721AE22F296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predictor-year climate context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5D49781-5A9B-49FD-B5B4-7803FD571976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interpolation or downscaling.</a:t>
            </a:r>
            <a:endParaRPr sz="7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3916C0C-4F20-4C8D-9038-3DC9F41DC210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AD43B130-B5A3-48D7-BAF8-55C92D4C6E37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89,112 mainland cells; one EPSG:3763 1 km cell × predictor year record.</a:t>
            </a:r>
            <a:endParaRPr sz="85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2D1742F3-E535-43E8-9597-67021862A392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B6379401-2C33-41A6-AE99-81402032712E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34968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1F5A8B-3D2C-4422-B21F-2A481397F2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B0F2DDD-0C6D-4D0F-B1E7-7CFFC38D9F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A5074B9-279C-4750-BD33-975049F5EA7E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B5B64D6-2782-4165-90D2-65984D90C91C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1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21574-2010-4CE1-93B1-AD3E3028CD92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3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33B28DF-15E0-48FF-BDC7-0715AAF4E04D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wildfire recurrence is uneven across mainland Portugal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3E9D2A1-9FE5-4E1C-B6E6-9ECC86AAA2A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8595360" cy="749808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90D1230-24DE-4B0D-B085-46228BB2C1E6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128016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A2450B0-CBC6-4082-A11B-9F0C4667DE11}"/>
              </a:ext>
            </a:extLst>
          </p:cNvPr>
          <p:cNvSpPr>
            <a:spLocks noGrp="1"/>
          </p:cNvSpPr>
          <p:nvPr/>
        </p:nvSpPr>
        <p:spPr>
          <a:xfrm>
            <a:off x="475488" y="129844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C0392B"/>
                </a:solidFill>
              </a:rPr>
              <a:t>01</a:t>
            </a:r>
            <a:endParaRPr sz="1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DBCDB-2D69-4911-8250-CE5B4B0C844B}"/>
              </a:ext>
            </a:extLst>
          </p:cNvPr>
          <p:cNvSpPr>
            <a:spLocks noGrp="1"/>
          </p:cNvSpPr>
          <p:nvPr/>
        </p:nvSpPr>
        <p:spPr>
          <a:xfrm>
            <a:off x="932688" y="135331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Reading the slides out loud</a:t>
            </a:r>
            <a:endParaRPr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B5AC919-D585-4285-AFFF-F01BC700A300}"/>
              </a:ext>
            </a:extLst>
          </p:cNvPr>
          <p:cNvSpPr>
            <a:spLocks noGrp="1"/>
          </p:cNvSpPr>
          <p:nvPr/>
        </p:nvSpPr>
        <p:spPr>
          <a:xfrm>
            <a:off x="932688" y="166420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C0392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Your slides show the chart. You explain what it means. Script: "This chart shows X — what's interesting is Y, because Z."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11B07C6-33F0-424A-B60B-EE9CFE7D8B14}"/>
              </a:ext>
            </a:extLst>
          </p:cNvPr>
          <p:cNvSpPr>
            <a:spLocks noGrp="1"/>
          </p:cNvSpPr>
          <p:nvPr/>
        </p:nvSpPr>
        <p:spPr>
          <a:xfrm>
            <a:off x="274320" y="2121408"/>
            <a:ext cx="8595360" cy="749808"/>
          </a:xfrm>
          <a:prstGeom prst="rect">
            <a:avLst/>
          </a:prstGeom>
          <a:solidFill>
            <a:srgbClr val="FEF3E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2EF59BF-C8BB-40F4-8FDB-BD80DC43E477}"/>
              </a:ext>
            </a:extLst>
          </p:cNvPr>
          <p:cNvSpPr>
            <a:spLocks noGrp="1"/>
          </p:cNvSpPr>
          <p:nvPr/>
        </p:nvSpPr>
        <p:spPr>
          <a:xfrm>
            <a:off x="274320" y="2121408"/>
            <a:ext cx="128016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1F447B-6867-4B65-B629-CA2DD658674A}"/>
              </a:ext>
            </a:extLst>
          </p:cNvPr>
          <p:cNvSpPr>
            <a:spLocks noGrp="1"/>
          </p:cNvSpPr>
          <p:nvPr/>
        </p:nvSpPr>
        <p:spPr>
          <a:xfrm>
            <a:off x="475488" y="212140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E67E22"/>
                </a:solidFill>
              </a:rPr>
              <a:t>02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E122F3F-7F59-4731-950F-4ECB283C10D4}"/>
              </a:ext>
            </a:extLst>
          </p:cNvPr>
          <p:cNvSpPr>
            <a:spLocks noGrp="1"/>
          </p:cNvSpPr>
          <p:nvPr/>
        </p:nvSpPr>
        <p:spPr>
          <a:xfrm>
            <a:off x="932688" y="217627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Too many charts, not enough story</a:t>
            </a:r>
            <a:endParaRPr sz="10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ED2CCC6-E857-4628-9049-F83182BE0086}"/>
              </a:ext>
            </a:extLst>
          </p:cNvPr>
          <p:cNvSpPr>
            <a:spLocks noGrp="1"/>
          </p:cNvSpPr>
          <p:nvPr/>
        </p:nvSpPr>
        <p:spPr>
          <a:xfrm>
            <a:off x="932688" y="248716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Max 1 chart per slide. Ask: does removing this chart break the argument? If not, cut it.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D0BCBD9-93EC-4A68-B480-A03679B46015}"/>
              </a:ext>
            </a:extLst>
          </p:cNvPr>
          <p:cNvSpPr>
            <a:spLocks noGrp="1"/>
          </p:cNvSpPr>
          <p:nvPr/>
        </p:nvSpPr>
        <p:spPr>
          <a:xfrm>
            <a:off x="274320" y="2944368"/>
            <a:ext cx="8595360" cy="749808"/>
          </a:xfrm>
          <a:prstGeom prst="rect">
            <a:avLst/>
          </a:prstGeom>
          <a:solidFill>
            <a:srgbClr val="EBF0FD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FADD19D-D986-40B0-9ED5-8B64B8118EBD}"/>
              </a:ext>
            </a:extLst>
          </p:cNvPr>
          <p:cNvSpPr>
            <a:spLocks noGrp="1"/>
          </p:cNvSpPr>
          <p:nvPr/>
        </p:nvSpPr>
        <p:spPr>
          <a:xfrm>
            <a:off x="274320" y="2944368"/>
            <a:ext cx="128016" cy="7498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E8F8E68-0BBD-42C5-AAF4-A771B09F6919}"/>
              </a:ext>
            </a:extLst>
          </p:cNvPr>
          <p:cNvSpPr>
            <a:spLocks noGrp="1"/>
          </p:cNvSpPr>
          <p:nvPr/>
        </p:nvSpPr>
        <p:spPr>
          <a:xfrm>
            <a:off x="475488" y="294436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E6DB4"/>
                </a:solidFill>
              </a:rPr>
              <a:t>03</a:t>
            </a:r>
            <a:endParaRPr sz="18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021E36E-3A8D-4051-98E5-BF3B34085AA8}"/>
              </a:ext>
            </a:extLst>
          </p:cNvPr>
          <p:cNvSpPr>
            <a:spLocks noGrp="1"/>
          </p:cNvSpPr>
          <p:nvPr/>
        </p:nvSpPr>
        <p:spPr>
          <a:xfrm>
            <a:off x="932688" y="299923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Data without context</a:t>
            </a:r>
            <a:endParaRPr sz="1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42771AE-8CC3-4202-A591-0EDCCF3F0027}"/>
              </a:ext>
            </a:extLst>
          </p:cNvPr>
          <p:cNvSpPr>
            <a:spLocks noGrp="1"/>
          </p:cNvSpPr>
          <p:nvPr/>
        </p:nvSpPr>
        <p:spPr>
          <a:xfrm>
            <a:off x="932688" y="331012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Always say what the number means relative to something. "€1,847 average" means nothing. "€1,847 — 3x higher than online courses" means something.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2197B0-1928-4308-A6C8-B2DA86D43D79}"/>
              </a:ext>
            </a:extLst>
          </p:cNvPr>
          <p:cNvSpPr>
            <a:spLocks noGrp="1"/>
          </p:cNvSpPr>
          <p:nvPr/>
        </p:nvSpPr>
        <p:spPr>
          <a:xfrm>
            <a:off x="274320" y="3767328"/>
            <a:ext cx="8595360" cy="749808"/>
          </a:xfrm>
          <a:prstGeom prst="rect">
            <a:avLst/>
          </a:prstGeom>
          <a:solidFill>
            <a:srgbClr val="F3E8F7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D40D961-BB20-44B3-97CF-E8ED6176AE02}"/>
              </a:ext>
            </a:extLst>
          </p:cNvPr>
          <p:cNvSpPr>
            <a:spLocks noGrp="1"/>
          </p:cNvSpPr>
          <p:nvPr/>
        </p:nvSpPr>
        <p:spPr>
          <a:xfrm>
            <a:off x="274320" y="3767328"/>
            <a:ext cx="128016" cy="74980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FD72B34-DA77-4E4D-ADAB-8FFBE1E43AAE}"/>
              </a:ext>
            </a:extLst>
          </p:cNvPr>
          <p:cNvSpPr>
            <a:spLocks noGrp="1"/>
          </p:cNvSpPr>
          <p:nvPr/>
        </p:nvSpPr>
        <p:spPr>
          <a:xfrm>
            <a:off x="475488" y="376732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B2D8B"/>
                </a:solidFill>
              </a:rPr>
              <a:t>04</a:t>
            </a:r>
            <a:endParaRPr sz="18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F9E428B-8A4B-4BC7-B3D5-11EB624DD0B8}"/>
              </a:ext>
            </a:extLst>
          </p:cNvPr>
          <p:cNvSpPr>
            <a:spLocks noGrp="1"/>
          </p:cNvSpPr>
          <p:nvPr/>
        </p:nvSpPr>
        <p:spPr>
          <a:xfrm>
            <a:off x="932688" y="38221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Weak conclusions</a:t>
            </a:r>
            <a:endParaRPr sz="10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4C212F2-92D4-495D-A84D-0B53A85D436D}"/>
              </a:ext>
            </a:extLst>
          </p:cNvPr>
          <p:cNvSpPr>
            <a:spLocks noGrp="1"/>
          </p:cNvSpPr>
          <p:nvPr/>
        </p:nvSpPr>
        <p:spPr>
          <a:xfrm>
            <a:off x="932688" y="413308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7B2D8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Ban "in conclusion, more research may be needed." Replace with: "We recommend X. The data supports this because Y."</a:t>
            </a:r>
            <a:endParaRPr sz="8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2D7F5D2-27DF-46C3-B79F-6980530BDA69}"/>
              </a:ext>
            </a:extLst>
          </p:cNvPr>
          <p:cNvSpPr>
            <a:spLocks noGrp="1"/>
          </p:cNvSpPr>
          <p:nvPr/>
        </p:nvSpPr>
        <p:spPr>
          <a:xfrm>
            <a:off x="274320" y="4590288"/>
            <a:ext cx="8595360" cy="749808"/>
          </a:xfrm>
          <a:prstGeom prst="rect">
            <a:avLst/>
          </a:prstGeom>
          <a:solidFill>
            <a:srgbClr val="E6F5EE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145CC26-EBE1-4F96-B8C7-6F118B8D9228}"/>
              </a:ext>
            </a:extLst>
          </p:cNvPr>
          <p:cNvSpPr>
            <a:spLocks noGrp="1"/>
          </p:cNvSpPr>
          <p:nvPr/>
        </p:nvSpPr>
        <p:spPr>
          <a:xfrm>
            <a:off x="274320" y="4590288"/>
            <a:ext cx="128016" cy="7498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45A651A-60D7-4CFE-92AF-2C2AC6FEB376}"/>
              </a:ext>
            </a:extLst>
          </p:cNvPr>
          <p:cNvSpPr>
            <a:spLocks noGrp="1"/>
          </p:cNvSpPr>
          <p:nvPr/>
        </p:nvSpPr>
        <p:spPr>
          <a:xfrm>
            <a:off x="475488" y="459028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A9D61"/>
                </a:solidFill>
              </a:rPr>
              <a:t>05</a:t>
            </a:r>
            <a:endParaRPr sz="1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B7B308A-FC0D-4C68-AB89-0671F1BA07EB}"/>
              </a:ext>
            </a:extLst>
          </p:cNvPr>
          <p:cNvSpPr>
            <a:spLocks noGrp="1"/>
          </p:cNvSpPr>
          <p:nvPr/>
        </p:nvSpPr>
        <p:spPr>
          <a:xfrm>
            <a:off x="932688" y="464515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Going over time</a:t>
            </a:r>
            <a:endParaRPr sz="10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994B1AC-44F6-4ED7-9617-90DF151797FE}"/>
              </a:ext>
            </a:extLst>
          </p:cNvPr>
          <p:cNvSpPr>
            <a:spLocks noGrp="1"/>
          </p:cNvSpPr>
          <p:nvPr/>
        </p:nvSpPr>
        <p:spPr>
          <a:xfrm>
            <a:off x="932688" y="495604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Practice out loud with a timer. 8 slides x 1.5 min = 12 min. That's your target.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094C5BE5-9063-4A9B-A6BA-4EA7639EC592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1ADEDE4-6449-4D67-9737-45E6783BE9A8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9B96D9-B40A-4633-8C28-A8D847C6D56A}"/>
              </a:ext>
            </a:extLst>
          </p:cNvPr>
          <p:cNvSpPr>
            <a:spLocks noGrp="1"/>
          </p:cNvSpPr>
          <p:nvPr/>
        </p:nvSpPr>
        <p:spPr>
          <a:xfrm>
            <a:off x="266700" y="1200150"/>
            <a:ext cx="8610600" cy="3695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71" name="Picture 7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15075" y="1219200"/>
            <a:ext cx="4713851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941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F74F23-8DFD-4CE8-8E5E-93AB1E0A97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C63D188-E86E-4686-8F37-B18F68BD4B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CA7F8A0-6ED6-44F6-91FF-97B46EBEB2DE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98E00ED-9EE0-46BB-9BB5-4ADB994E6BF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2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C6C2A7-6BA7-43F5-89A7-88F3CB703128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4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0387EB2-7060-49B6-ADEE-061261541C5E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Observed recurrence and official ICNF structural hazard answer different questions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9C46A4F-2C20-4BB5-B622-B4903F54522F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9F15C07-AD15-4838-859B-716DE143258E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AE9BAC-298F-4719-B64C-08194776FF7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Observed recurrence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5AB7FE3-B928-4B27-897C-F1DE2FA3F2DE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ECF2ED-C68D-45FD-B4B4-CC2E8853E68F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2CCD9FA-AECB-497C-A48D-6CF2727316E8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Counts 2016–2025 burned years in the 2 km context around each 1 km cell.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29D9996-46C0-4BDF-A64B-7182E6D65EE0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808587C-E24A-4A02-8D12-70D56C366D77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1FD64B4-B3E5-4E4C-A615-3309CF07FFEF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Official structural hazard</a:t>
            </a:r>
            <a:endParaRPr sz="8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FD062BE-396B-4E0D-9DE6-68A65082559B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EB66CA8-79CE-44A6-B204-F0B71EED2974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ED348FC-A127-440A-A2DA-DF9CDC9009DB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Predominant valid official 25 m SRUP-CPIR class within the same 1 km cell.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77FC9BC-0450-4537-9C2D-7833D146223E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0ECE80A-81A0-42C3-B934-94F9A6429FA9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F65E3B9-9EDF-470E-8CCD-B6A01F904377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Why compare both?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C3D7806-8EA5-4956-8BD9-C1AFE67F5F3B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08AE7DB-687B-46B0-8049-C6C5EDC9CE3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DCCB269-C704-4A40-A0F7-3722ECF62C6E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Agreement is useful context; disagreement is expected because the layers use different methods and time frames.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46EC273C-6B39-45C7-B432-02A468058659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9F59274-DFE5-4A49-831D-2770A62C0AED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19BE9B5-67CE-4530-9C49-F22B4C0BE7B9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Important limit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C13D15E-B2B2-4E63-99AC-0406F74A2C16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F833621-490D-4997-B91D-2658E8AA22CC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A3FA14B-73A6-4F2A-898F-004C204CB0B0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2020–2030 source label is not an ICNF fire prediction for those years.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C9FAD6A-E886-44D7-915E-9732C3126F2C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6EB5A17-D1D3-417F-B31F-9A43D1DBABF8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BFB5025-46A1-44FA-8D8B-2161F12AFD53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Presentation guidance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4C1F6D6-A0DA-4692-9B81-25353AD98B8D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F725FCA-2B9C-4FE2-BC63-0E5A9FF5A529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9A323FC2-25AB-4FBA-A9B2-4F259229179A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D19D74F-8FBB-46EF-934B-07FE7CE7FC8E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Show the comparison as complementary evidence, not as a model accuracy test.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9D6E2415-0CD2-4D0A-A10E-B30B203F180B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B1CFA2EB-0AD3-4CE5-B255-4E6BED2A2EC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7087D71E-C60A-430E-B5C0-5E1E9DF27520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the maps to explain pattern differences—not to label a property safe or unsafe.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CF4749D9-C113-4C50-A97D-8607E609CA55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2BC218BA-9F11-4455-A928-72C63D4CEBE6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239A423-62FE-425B-9C69-D8964879E08E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Historical recurrence and structural hazard remain separate GIS layers.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1AA0B084-9EAA-4AF2-8329-534B0AEB3DE3}"/>
              </a:ext>
            </a:extLst>
          </p:cNvPr>
          <p:cNvSpPr>
            <a:spLocks noGrp="1"/>
          </p:cNvSpPr>
          <p:nvPr/>
        </p:nvSpPr>
        <p:spPr>
          <a:xfrm>
            <a:off x="4873752" y="31272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CCD34BD-591C-4CA4-A4F1-37560DC3C74F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Talk track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A2ACC0DE-2CE4-4B38-A819-9C007D6E38AD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evidence layers do not compete; they add context.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76E46170-5B1E-4CFD-AB8C-1EFDE4C48394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Each layer has its own source and interpretation.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C3ABA36-46A1-45DB-9C7E-C74ABB7D38D8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model uses a wider predictor set for annual estimation.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A6C14AAA-2AFF-495D-B3B1-8FED82846112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layer replaces local due diligence.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7EDEFC2A-20C3-4439-9E69-87DEC9C7DDE9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578A11-362D-4A23-9A66-3BEA1B575681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Official ICNF structural hazard is a reference layer; it is not this project’s ML prediction.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83AA2470-12A2-4CD1-B32F-2E5DFF5F5A9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B7B9049A-4DFF-4335-AA5F-21E97CFEA8D1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56756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1F5A8B-3D2C-4422-B21F-2A481397F2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B0F2DDD-0C6D-4D0F-B1E7-7CFFC38D9F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A5074B9-279C-4750-BD33-975049F5EA7E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B5B64D6-2782-4165-90D2-65984D90C91C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3 — MODEL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21574-2010-4CE1-93B1-AD3E3028CD92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5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33B28DF-15E0-48FF-BDC7-0715AAF4E04D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nine-feature model improves comparative ranking, but remains weak for extreme fire years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3E9D2A1-9FE5-4E1C-B6E6-9ECC86AAA2A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8595360" cy="749808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90D1230-24DE-4B0D-B085-46228BB2C1E6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128016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A2450B0-CBC6-4082-A11B-9F0C4667DE11}"/>
              </a:ext>
            </a:extLst>
          </p:cNvPr>
          <p:cNvSpPr>
            <a:spLocks noGrp="1"/>
          </p:cNvSpPr>
          <p:nvPr/>
        </p:nvSpPr>
        <p:spPr>
          <a:xfrm>
            <a:off x="475488" y="129844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C0392B"/>
                </a:solidFill>
              </a:rPr>
              <a:t>01</a:t>
            </a:r>
            <a:endParaRPr sz="1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DBCDB-2D69-4911-8250-CE5B4B0C844B}"/>
              </a:ext>
            </a:extLst>
          </p:cNvPr>
          <p:cNvSpPr>
            <a:spLocks noGrp="1"/>
          </p:cNvSpPr>
          <p:nvPr/>
        </p:nvSpPr>
        <p:spPr>
          <a:xfrm>
            <a:off x="932688" y="135331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Reading the slides out loud</a:t>
            </a:r>
            <a:endParaRPr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B5AC919-D585-4285-AFFF-F01BC700A300}"/>
              </a:ext>
            </a:extLst>
          </p:cNvPr>
          <p:cNvSpPr>
            <a:spLocks noGrp="1"/>
          </p:cNvSpPr>
          <p:nvPr/>
        </p:nvSpPr>
        <p:spPr>
          <a:xfrm>
            <a:off x="932688" y="166420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C0392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Your slides show the chart. You explain what it means. Script: "This chart shows X — what's interesting is Y, because Z."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11B07C6-33F0-424A-B60B-EE9CFE7D8B14}"/>
              </a:ext>
            </a:extLst>
          </p:cNvPr>
          <p:cNvSpPr>
            <a:spLocks noGrp="1"/>
          </p:cNvSpPr>
          <p:nvPr/>
        </p:nvSpPr>
        <p:spPr>
          <a:xfrm>
            <a:off x="274320" y="2121408"/>
            <a:ext cx="8595360" cy="749808"/>
          </a:xfrm>
          <a:prstGeom prst="rect">
            <a:avLst/>
          </a:prstGeom>
          <a:solidFill>
            <a:srgbClr val="FEF3E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2EF59BF-C8BB-40F4-8FDB-BD80DC43E477}"/>
              </a:ext>
            </a:extLst>
          </p:cNvPr>
          <p:cNvSpPr>
            <a:spLocks noGrp="1"/>
          </p:cNvSpPr>
          <p:nvPr/>
        </p:nvSpPr>
        <p:spPr>
          <a:xfrm>
            <a:off x="274320" y="2121408"/>
            <a:ext cx="128016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1F447B-6867-4B65-B629-CA2DD658674A}"/>
              </a:ext>
            </a:extLst>
          </p:cNvPr>
          <p:cNvSpPr>
            <a:spLocks noGrp="1"/>
          </p:cNvSpPr>
          <p:nvPr/>
        </p:nvSpPr>
        <p:spPr>
          <a:xfrm>
            <a:off x="475488" y="212140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E67E22"/>
                </a:solidFill>
              </a:rPr>
              <a:t>02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E122F3F-7F59-4731-950F-4ECB283C10D4}"/>
              </a:ext>
            </a:extLst>
          </p:cNvPr>
          <p:cNvSpPr>
            <a:spLocks noGrp="1"/>
          </p:cNvSpPr>
          <p:nvPr/>
        </p:nvSpPr>
        <p:spPr>
          <a:xfrm>
            <a:off x="932688" y="217627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Too many charts, not enough story</a:t>
            </a:r>
            <a:endParaRPr sz="10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ED2CCC6-E857-4628-9049-F83182BE0086}"/>
              </a:ext>
            </a:extLst>
          </p:cNvPr>
          <p:cNvSpPr>
            <a:spLocks noGrp="1"/>
          </p:cNvSpPr>
          <p:nvPr/>
        </p:nvSpPr>
        <p:spPr>
          <a:xfrm>
            <a:off x="932688" y="248716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Max 1 chart per slide. Ask: does removing this chart break the argument? If not, cut it.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D0BCBD9-93EC-4A68-B480-A03679B46015}"/>
              </a:ext>
            </a:extLst>
          </p:cNvPr>
          <p:cNvSpPr>
            <a:spLocks noGrp="1"/>
          </p:cNvSpPr>
          <p:nvPr/>
        </p:nvSpPr>
        <p:spPr>
          <a:xfrm>
            <a:off x="274320" y="2944368"/>
            <a:ext cx="8595360" cy="749808"/>
          </a:xfrm>
          <a:prstGeom prst="rect">
            <a:avLst/>
          </a:prstGeom>
          <a:solidFill>
            <a:srgbClr val="EBF0FD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FADD19D-D986-40B0-9ED5-8B64B8118EBD}"/>
              </a:ext>
            </a:extLst>
          </p:cNvPr>
          <p:cNvSpPr>
            <a:spLocks noGrp="1"/>
          </p:cNvSpPr>
          <p:nvPr/>
        </p:nvSpPr>
        <p:spPr>
          <a:xfrm>
            <a:off x="274320" y="2944368"/>
            <a:ext cx="128016" cy="7498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E8F8E68-0BBD-42C5-AAF4-A771B09F6919}"/>
              </a:ext>
            </a:extLst>
          </p:cNvPr>
          <p:cNvSpPr>
            <a:spLocks noGrp="1"/>
          </p:cNvSpPr>
          <p:nvPr/>
        </p:nvSpPr>
        <p:spPr>
          <a:xfrm>
            <a:off x="475488" y="294436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E6DB4"/>
                </a:solidFill>
              </a:rPr>
              <a:t>03</a:t>
            </a:r>
            <a:endParaRPr sz="18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021E36E-3A8D-4051-98E5-BF3B34085AA8}"/>
              </a:ext>
            </a:extLst>
          </p:cNvPr>
          <p:cNvSpPr>
            <a:spLocks noGrp="1"/>
          </p:cNvSpPr>
          <p:nvPr/>
        </p:nvSpPr>
        <p:spPr>
          <a:xfrm>
            <a:off x="932688" y="299923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Data without context</a:t>
            </a:r>
            <a:endParaRPr sz="1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42771AE-8CC3-4202-A591-0EDCCF3F0027}"/>
              </a:ext>
            </a:extLst>
          </p:cNvPr>
          <p:cNvSpPr>
            <a:spLocks noGrp="1"/>
          </p:cNvSpPr>
          <p:nvPr/>
        </p:nvSpPr>
        <p:spPr>
          <a:xfrm>
            <a:off x="932688" y="331012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Always say what the number means relative to something. "€1,847 average" means nothing. "€1,847 — 3x higher than online courses" means something.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2197B0-1928-4308-A6C8-B2DA86D43D79}"/>
              </a:ext>
            </a:extLst>
          </p:cNvPr>
          <p:cNvSpPr>
            <a:spLocks noGrp="1"/>
          </p:cNvSpPr>
          <p:nvPr/>
        </p:nvSpPr>
        <p:spPr>
          <a:xfrm>
            <a:off x="274320" y="3767328"/>
            <a:ext cx="8595360" cy="749808"/>
          </a:xfrm>
          <a:prstGeom prst="rect">
            <a:avLst/>
          </a:prstGeom>
          <a:solidFill>
            <a:srgbClr val="F3E8F7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D40D961-BB20-44B3-97CF-E8ED6176AE02}"/>
              </a:ext>
            </a:extLst>
          </p:cNvPr>
          <p:cNvSpPr>
            <a:spLocks noGrp="1"/>
          </p:cNvSpPr>
          <p:nvPr/>
        </p:nvSpPr>
        <p:spPr>
          <a:xfrm>
            <a:off x="274320" y="3767328"/>
            <a:ext cx="128016" cy="74980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FD72B34-DA77-4E4D-ADAB-8FFBE1E43AAE}"/>
              </a:ext>
            </a:extLst>
          </p:cNvPr>
          <p:cNvSpPr>
            <a:spLocks noGrp="1"/>
          </p:cNvSpPr>
          <p:nvPr/>
        </p:nvSpPr>
        <p:spPr>
          <a:xfrm>
            <a:off x="475488" y="376732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B2D8B"/>
                </a:solidFill>
              </a:rPr>
              <a:t>04</a:t>
            </a:r>
            <a:endParaRPr sz="18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F9E428B-8A4B-4BC7-B3D5-11EB624DD0B8}"/>
              </a:ext>
            </a:extLst>
          </p:cNvPr>
          <p:cNvSpPr>
            <a:spLocks noGrp="1"/>
          </p:cNvSpPr>
          <p:nvPr/>
        </p:nvSpPr>
        <p:spPr>
          <a:xfrm>
            <a:off x="932688" y="38221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Weak conclusions</a:t>
            </a:r>
            <a:endParaRPr sz="10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4C212F2-92D4-495D-A84D-0B53A85D436D}"/>
              </a:ext>
            </a:extLst>
          </p:cNvPr>
          <p:cNvSpPr>
            <a:spLocks noGrp="1"/>
          </p:cNvSpPr>
          <p:nvPr/>
        </p:nvSpPr>
        <p:spPr>
          <a:xfrm>
            <a:off x="932688" y="413308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7B2D8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Ban "in conclusion, more research may be needed." Replace with: "We recommend X. The data supports this because Y."</a:t>
            </a:r>
            <a:endParaRPr sz="8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2D7F5D2-27DF-46C3-B79F-6980530BDA69}"/>
              </a:ext>
            </a:extLst>
          </p:cNvPr>
          <p:cNvSpPr>
            <a:spLocks noGrp="1"/>
          </p:cNvSpPr>
          <p:nvPr/>
        </p:nvSpPr>
        <p:spPr>
          <a:xfrm>
            <a:off x="274320" y="4590288"/>
            <a:ext cx="8595360" cy="749808"/>
          </a:xfrm>
          <a:prstGeom prst="rect">
            <a:avLst/>
          </a:prstGeom>
          <a:solidFill>
            <a:srgbClr val="E6F5EE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145CC26-EBE1-4F96-B8C7-6F118B8D9228}"/>
              </a:ext>
            </a:extLst>
          </p:cNvPr>
          <p:cNvSpPr>
            <a:spLocks noGrp="1"/>
          </p:cNvSpPr>
          <p:nvPr/>
        </p:nvSpPr>
        <p:spPr>
          <a:xfrm>
            <a:off x="274320" y="4590288"/>
            <a:ext cx="128016" cy="7498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45A651A-60D7-4CFE-92AF-2C2AC6FEB376}"/>
              </a:ext>
            </a:extLst>
          </p:cNvPr>
          <p:cNvSpPr>
            <a:spLocks noGrp="1"/>
          </p:cNvSpPr>
          <p:nvPr/>
        </p:nvSpPr>
        <p:spPr>
          <a:xfrm>
            <a:off x="475488" y="459028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A9D61"/>
                </a:solidFill>
              </a:rPr>
              <a:t>05</a:t>
            </a:r>
            <a:endParaRPr sz="1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B7B308A-FC0D-4C68-AB89-0671F1BA07EB}"/>
              </a:ext>
            </a:extLst>
          </p:cNvPr>
          <p:cNvSpPr>
            <a:spLocks noGrp="1"/>
          </p:cNvSpPr>
          <p:nvPr/>
        </p:nvSpPr>
        <p:spPr>
          <a:xfrm>
            <a:off x="932688" y="464515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Going over time</a:t>
            </a:r>
            <a:endParaRPr sz="10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994B1AC-44F6-4ED7-9617-90DF151797FE}"/>
              </a:ext>
            </a:extLst>
          </p:cNvPr>
          <p:cNvSpPr>
            <a:spLocks noGrp="1"/>
          </p:cNvSpPr>
          <p:nvPr/>
        </p:nvSpPr>
        <p:spPr>
          <a:xfrm>
            <a:off x="932688" y="495604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Practice out loud with a timer. 8 slides x 1.5 min = 12 min. That's your target.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094C5BE5-9063-4A9B-A6BA-4EA7639EC592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1ADEDE4-6449-4D67-9737-45E6783BE9A8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9B96D9-B40A-4633-8C28-A8D847C6D56A}"/>
              </a:ext>
            </a:extLst>
          </p:cNvPr>
          <p:cNvSpPr>
            <a:spLocks noGrp="1"/>
          </p:cNvSpPr>
          <p:nvPr/>
        </p:nvSpPr>
        <p:spPr>
          <a:xfrm>
            <a:off x="266700" y="1200150"/>
            <a:ext cx="8610600" cy="3695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73" name="Picture 7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15075" y="1219200"/>
            <a:ext cx="4713851" cy="333375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9440DD4F-4EFB-4DF6-9CC8-969DD5C2FDE2}"/>
              </a:ext>
            </a:extLst>
          </p:cNvPr>
          <p:cNvSpPr>
            <a:spLocks noGrp="1"/>
          </p:cNvSpPr>
          <p:nvPr/>
        </p:nvSpPr>
        <p:spPr>
          <a:xfrm>
            <a:off x="266700" y="1200150"/>
            <a:ext cx="8610600" cy="3695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75" name="Picture 7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00050" y="1495215"/>
            <a:ext cx="8343900" cy="2667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94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94E0A0-3F0D-4477-84F5-FBB9BEF2C3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4064D27-5CE0-4B72-A0BE-4EC812B564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FF773FD-D1DB-417A-9701-BB04FF0D3D4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61997F5-CAEC-4D8F-9C0B-C2F45BC9BA80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RECOMMENDED USE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9629BB-7DF6-47B6-9161-2A05962A0DE2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6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4D2EA5-332E-4AB8-8C3C-2C6131452CF5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Use the 2026 estimate to prioritise broad areas for further research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497BAA-C99B-403C-81E0-52EAB3491A8A}"/>
              </a:ext>
            </a:extLst>
          </p:cNvPr>
          <p:cNvSpPr>
            <a:spLocks noGrp="1"/>
          </p:cNvSpPr>
          <p:nvPr/>
        </p:nvSpPr>
        <p:spPr>
          <a:xfrm>
            <a:off x="201168" y="1298448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37C035F-8C10-49E2-BEC5-065647134E65}"/>
              </a:ext>
            </a:extLst>
          </p:cNvPr>
          <p:cNvSpPr>
            <a:spLocks noGrp="1"/>
          </p:cNvSpPr>
          <p:nvPr/>
        </p:nvSpPr>
        <p:spPr>
          <a:xfrm>
            <a:off x="201168" y="1298448"/>
            <a:ext cx="109728" cy="98755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EEAE9EF-FD62-4AAD-A888-FFE034B4E89C}"/>
              </a:ext>
            </a:extLst>
          </p:cNvPr>
          <p:cNvSpPr>
            <a:spLocks noGrp="1"/>
          </p:cNvSpPr>
          <p:nvPr/>
        </p:nvSpPr>
        <p:spPr>
          <a:xfrm>
            <a:off x="384048" y="1335024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START WITH</a:t>
            </a:r>
            <a:endParaRPr sz="8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BC474C-D987-4C13-AC37-F484961787A8}"/>
              </a:ext>
            </a:extLst>
          </p:cNvPr>
          <p:cNvSpPr>
            <a:spLocks noGrp="1"/>
          </p:cNvSpPr>
          <p:nvPr/>
        </p:nvSpPr>
        <p:spPr>
          <a:xfrm>
            <a:off x="384048" y="1609344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2026 comparative estimate</a:t>
            </a:r>
            <a:endParaRPr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07EE660-4D09-4FF5-89F1-6C15AA7D2761}"/>
              </a:ext>
            </a:extLst>
          </p:cNvPr>
          <p:cNvSpPr>
            <a:spLocks noGrp="1"/>
          </p:cNvSpPr>
          <p:nvPr/>
        </p:nvSpPr>
        <p:spPr>
          <a:xfrm>
            <a:off x="3557016" y="1975104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E6DB4"/>
                </a:solidFill>
              </a:rPr>
              <a:t>A target-free estimate from 2025 predictor inputs, displayed as relative percentiles across mainland Portugal.</a:t>
            </a:r>
            <a:endParaRPr sz="6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CACD386-EF4D-45A0-B268-53B416D28C32}"/>
              </a:ext>
            </a:extLst>
          </p:cNvPr>
          <p:cNvSpPr>
            <a:spLocks noGrp="1"/>
          </p:cNvSpPr>
          <p:nvPr/>
        </p:nvSpPr>
        <p:spPr>
          <a:xfrm>
            <a:off x="4764024" y="1298448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3D95465-8D03-4DE8-B146-372CB59B4473}"/>
              </a:ext>
            </a:extLst>
          </p:cNvPr>
          <p:cNvSpPr>
            <a:spLocks noGrp="1"/>
          </p:cNvSpPr>
          <p:nvPr/>
        </p:nvSpPr>
        <p:spPr>
          <a:xfrm>
            <a:off x="4764024" y="1298448"/>
            <a:ext cx="109728" cy="98755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9F5F776-E0A5-4149-AF40-1AC1C60FA05C}"/>
              </a:ext>
            </a:extLst>
          </p:cNvPr>
          <p:cNvSpPr>
            <a:spLocks noGrp="1"/>
          </p:cNvSpPr>
          <p:nvPr/>
        </p:nvSpPr>
        <p:spPr>
          <a:xfrm>
            <a:off x="4946904" y="1335024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THEN CHECK</a:t>
            </a:r>
            <a:endParaRPr sz="8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A42B70C-D653-4D24-BBAB-F6F92C810A90}"/>
              </a:ext>
            </a:extLst>
          </p:cNvPr>
          <p:cNvSpPr>
            <a:spLocks noGrp="1"/>
          </p:cNvSpPr>
          <p:nvPr/>
        </p:nvSpPr>
        <p:spPr>
          <a:xfrm>
            <a:off x="4946904" y="1609344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Historical and official context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32D1B48-6179-4240-B457-B7BD2ECAE4D4}"/>
              </a:ext>
            </a:extLst>
          </p:cNvPr>
          <p:cNvSpPr>
            <a:spLocks noGrp="1"/>
          </p:cNvSpPr>
          <p:nvPr/>
        </p:nvSpPr>
        <p:spPr>
          <a:xfrm>
            <a:off x="8119872" y="1975104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E6DB4"/>
                </a:solidFill>
              </a:rPr>
              <a:t>Read the 2016–2025 recurrence layer and the official ICNF structural-hazard class beside the estimate.</a:t>
            </a:r>
            <a:endParaRPr sz="6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FEE05E0-16C2-4C5C-91DB-D52412FBC0A2}"/>
              </a:ext>
            </a:extLst>
          </p:cNvPr>
          <p:cNvSpPr>
            <a:spLocks noGrp="1"/>
          </p:cNvSpPr>
          <p:nvPr/>
        </p:nvSpPr>
        <p:spPr>
          <a:xfrm>
            <a:off x="201168" y="2377440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2BCF19-40A1-4AA5-948C-9387E60629DB}"/>
              </a:ext>
            </a:extLst>
          </p:cNvPr>
          <p:cNvSpPr>
            <a:spLocks noGrp="1"/>
          </p:cNvSpPr>
          <p:nvPr/>
        </p:nvSpPr>
        <p:spPr>
          <a:xfrm>
            <a:off x="201168" y="2377440"/>
            <a:ext cx="109728" cy="9875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2C81231-EFAB-445A-952D-1617CB63D4F4}"/>
              </a:ext>
            </a:extLst>
          </p:cNvPr>
          <p:cNvSpPr>
            <a:spLocks noGrp="1"/>
          </p:cNvSpPr>
          <p:nvPr/>
        </p:nvSpPr>
        <p:spPr>
          <a:xfrm>
            <a:off x="384048" y="2414016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NEXT ACTION</a:t>
            </a:r>
            <a:endParaRPr sz="8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9CC0FA7-276D-49E9-ADCD-6555BA2B8770}"/>
              </a:ext>
            </a:extLst>
          </p:cNvPr>
          <p:cNvSpPr>
            <a:spLocks noGrp="1"/>
          </p:cNvSpPr>
          <p:nvPr/>
        </p:nvSpPr>
        <p:spPr>
          <a:xfrm>
            <a:off x="384048" y="2688336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Investigate locally</a:t>
            </a:r>
            <a:endParaRPr sz="7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57992AF-AA9B-4C85-96DA-7DAC7E60C626}"/>
              </a:ext>
            </a:extLst>
          </p:cNvPr>
          <p:cNvSpPr>
            <a:spLocks noGrp="1"/>
          </p:cNvSpPr>
          <p:nvPr/>
        </p:nvSpPr>
        <p:spPr>
          <a:xfrm>
            <a:off x="3557016" y="3054096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E67E22"/>
                </a:solidFill>
              </a:rPr>
              <a:t>Use municipal, legal, insurance, access, vegetation and site-specific evidence before a property decision.</a:t>
            </a:r>
            <a:endParaRPr sz="6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1D59964-FA55-4F98-8605-4F6C17688E08}"/>
              </a:ext>
            </a:extLst>
          </p:cNvPr>
          <p:cNvSpPr>
            <a:spLocks noGrp="1"/>
          </p:cNvSpPr>
          <p:nvPr/>
        </p:nvSpPr>
        <p:spPr>
          <a:xfrm>
            <a:off x="4764024" y="2377440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E457D0FA-D5E3-403E-9EF3-D78B78248424}"/>
              </a:ext>
            </a:extLst>
          </p:cNvPr>
          <p:cNvSpPr>
            <a:spLocks noGrp="1"/>
          </p:cNvSpPr>
          <p:nvPr/>
        </p:nvSpPr>
        <p:spPr>
          <a:xfrm>
            <a:off x="4764024" y="2377440"/>
            <a:ext cx="109728" cy="9875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4050A3A-F4CB-47EB-8242-F66DD9FC07AC}"/>
              </a:ext>
            </a:extLst>
          </p:cNvPr>
          <p:cNvSpPr>
            <a:spLocks noGrp="1"/>
          </p:cNvSpPr>
          <p:nvPr/>
        </p:nvSpPr>
        <p:spPr>
          <a:xfrm>
            <a:off x="4946904" y="2414016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DO NOT USE AS</a:t>
            </a:r>
            <a:endParaRPr sz="8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57B408B-50A5-4E7F-9588-0B8D6FC4D1A8}"/>
              </a:ext>
            </a:extLst>
          </p:cNvPr>
          <p:cNvSpPr>
            <a:spLocks noGrp="1"/>
          </p:cNvSpPr>
          <p:nvPr/>
        </p:nvSpPr>
        <p:spPr>
          <a:xfrm>
            <a:off x="4946904" y="2688336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A probability or safety rating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8433B55-5AF5-4A8D-AABB-84FBAFAF4559}"/>
              </a:ext>
            </a:extLst>
          </p:cNvPr>
          <p:cNvSpPr>
            <a:spLocks noGrp="1"/>
          </p:cNvSpPr>
          <p:nvPr/>
        </p:nvSpPr>
        <p:spPr>
          <a:xfrm>
            <a:off x="8119872" y="3054096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E67E22"/>
                </a:solidFill>
              </a:rPr>
              <a:t>It is not an individual-fire forecast, safety guarantee, or buy / do-not-buy recommendation.</a:t>
            </a:r>
            <a:endParaRPr sz="6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2B74E25-F194-4353-B525-F42703EC3EB4}"/>
              </a:ext>
            </a:extLst>
          </p:cNvPr>
          <p:cNvSpPr>
            <a:spLocks noGrp="1"/>
          </p:cNvSpPr>
          <p:nvPr/>
        </p:nvSpPr>
        <p:spPr>
          <a:xfrm>
            <a:off x="201168" y="3456432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25081F5-170C-4CC6-9A76-FA54CF506879}"/>
              </a:ext>
            </a:extLst>
          </p:cNvPr>
          <p:cNvSpPr>
            <a:spLocks noGrp="1"/>
          </p:cNvSpPr>
          <p:nvPr/>
        </p:nvSpPr>
        <p:spPr>
          <a:xfrm>
            <a:off x="201168" y="3456432"/>
            <a:ext cx="109728" cy="9875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D3BC07C-37AB-4D66-8AB5-4E78BCCDFCC2}"/>
              </a:ext>
            </a:extLst>
          </p:cNvPr>
          <p:cNvSpPr>
            <a:spLocks noGrp="1"/>
          </p:cNvSpPr>
          <p:nvPr/>
        </p:nvSpPr>
        <p:spPr>
          <a:xfrm>
            <a:off x="384048" y="3493008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GIS OUTPUT</a:t>
            </a:r>
            <a:endParaRPr sz="85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70EBFCE-CC3C-49EF-9C46-EBB049DCB4C9}"/>
              </a:ext>
            </a:extLst>
          </p:cNvPr>
          <p:cNvSpPr>
            <a:spLocks noGrp="1"/>
          </p:cNvSpPr>
          <p:nvPr/>
        </p:nvSpPr>
        <p:spPr>
          <a:xfrm>
            <a:off x="384048" y="3767328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QGIS project available</a:t>
            </a:r>
            <a:endParaRPr sz="75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4797594-1794-4825-BC35-C4BCFAD4C7F2}"/>
              </a:ext>
            </a:extLst>
          </p:cNvPr>
          <p:cNvSpPr>
            <a:spLocks noGrp="1"/>
          </p:cNvSpPr>
          <p:nvPr/>
        </p:nvSpPr>
        <p:spPr>
          <a:xfrm>
            <a:off x="3557016" y="4133088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E67E22"/>
                </a:solidFill>
              </a:rPr>
              <a:t>wildfire_exposure_screening_portugal_2026.qgz contains the separate 2026 estimate alongside historical and official context.</a:t>
            </a:r>
            <a:endParaRPr sz="6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878D813C-4A30-4B13-BF7A-A46366BE989F}"/>
              </a:ext>
            </a:extLst>
          </p:cNvPr>
          <p:cNvSpPr>
            <a:spLocks noGrp="1"/>
          </p:cNvSpPr>
          <p:nvPr/>
        </p:nvSpPr>
        <p:spPr>
          <a:xfrm>
            <a:off x="4764024" y="3456432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BE800DD-76DE-4878-9DCB-F863CDE90EEB}"/>
              </a:ext>
            </a:extLst>
          </p:cNvPr>
          <p:cNvSpPr>
            <a:spLocks noGrp="1"/>
          </p:cNvSpPr>
          <p:nvPr/>
        </p:nvSpPr>
        <p:spPr>
          <a:xfrm>
            <a:off x="4764024" y="3456432"/>
            <a:ext cx="109728" cy="987552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9F15657-ED80-4CD4-9EBD-CFCF8DE48D91}"/>
              </a:ext>
            </a:extLst>
          </p:cNvPr>
          <p:cNvSpPr>
            <a:spLocks noGrp="1"/>
          </p:cNvSpPr>
          <p:nvPr/>
        </p:nvSpPr>
        <p:spPr>
          <a:xfrm>
            <a:off x="4946904" y="3493008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WHY THIS IS USEFUL</a:t>
            </a:r>
            <a:endParaRPr sz="8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2EDEA507-47C8-4F30-8B31-0BA2D6969107}"/>
              </a:ext>
            </a:extLst>
          </p:cNvPr>
          <p:cNvSpPr>
            <a:spLocks noGrp="1"/>
          </p:cNvSpPr>
          <p:nvPr/>
        </p:nvSpPr>
        <p:spPr>
          <a:xfrm>
            <a:off x="4946904" y="3767328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It turns a national search into a smaller set of areas that deserve careful follow-up.</a:t>
            </a:r>
            <a:endParaRPr sz="75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DBAE1EF3-A9D5-48A7-84A1-01FE0A1F14B1}"/>
              </a:ext>
            </a:extLst>
          </p:cNvPr>
          <p:cNvSpPr>
            <a:spLocks noGrp="1"/>
          </p:cNvSpPr>
          <p:nvPr/>
        </p:nvSpPr>
        <p:spPr>
          <a:xfrm>
            <a:off x="8119872" y="4133088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A9D61"/>
                </a:solidFill>
              </a:rPr>
              <a:t>It does not replace the follow-up.</a:t>
            </a:r>
            <a:endParaRPr sz="65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0E550BE8-4DED-458D-94A9-B0422E823F22}"/>
              </a:ext>
            </a:extLst>
          </p:cNvPr>
          <p:cNvSpPr>
            <a:spLocks noGrp="1"/>
          </p:cNvSpPr>
          <p:nvPr/>
        </p:nvSpPr>
        <p:spPr>
          <a:xfrm>
            <a:off x="201168" y="4535424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E4810ABD-592E-44DF-B309-513BC053EC48}"/>
              </a:ext>
            </a:extLst>
          </p:cNvPr>
          <p:cNvSpPr>
            <a:spLocks noGrp="1"/>
          </p:cNvSpPr>
          <p:nvPr/>
        </p:nvSpPr>
        <p:spPr>
          <a:xfrm>
            <a:off x="201168" y="4535424"/>
            <a:ext cx="109728" cy="987552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79067AA-4A69-47B5-8862-C302136C0EDD}"/>
              </a:ext>
            </a:extLst>
          </p:cNvPr>
          <p:cNvSpPr>
            <a:spLocks noGrp="1"/>
          </p:cNvSpPr>
          <p:nvPr/>
        </p:nvSpPr>
        <p:spPr>
          <a:xfrm>
            <a:off x="384048" y="457200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EVIDENCE STATUS</a:t>
            </a:r>
            <a:endParaRPr sz="85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29EDEF82-9897-4310-8438-AC201E5375FA}"/>
              </a:ext>
            </a:extLst>
          </p:cNvPr>
          <p:cNvSpPr>
            <a:spLocks noGrp="1"/>
          </p:cNvSpPr>
          <p:nvPr/>
        </p:nvSpPr>
        <p:spPr>
          <a:xfrm>
            <a:off x="384048" y="4846320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2026 has no observed outcome yet.</a:t>
            </a:r>
            <a:endParaRPr sz="75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3CC5F1E-A593-46D2-B3E1-8AA036539CF3}"/>
              </a:ext>
            </a:extLst>
          </p:cNvPr>
          <p:cNvSpPr>
            <a:spLocks noGrp="1"/>
          </p:cNvSpPr>
          <p:nvPr/>
        </p:nvSpPr>
        <p:spPr>
          <a:xfrm>
            <a:off x="3557016" y="5212080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A9D61"/>
                </a:solidFill>
              </a:rPr>
              <a:t>Its future accuracy must be assessed only when the next ICNF outcome becomes available.</a:t>
            </a:r>
            <a:endParaRPr sz="65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77822EB-7369-415C-B10A-8430B3D05938}"/>
              </a:ext>
            </a:extLst>
          </p:cNvPr>
          <p:cNvSpPr>
            <a:spLocks noGrp="1"/>
          </p:cNvSpPr>
          <p:nvPr/>
        </p:nvSpPr>
        <p:spPr>
          <a:xfrm>
            <a:off x="4764024" y="4535424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87C2B8E0-D11F-4782-9316-F174270925E8}"/>
              </a:ext>
            </a:extLst>
          </p:cNvPr>
          <p:cNvSpPr>
            <a:spLocks noGrp="1"/>
          </p:cNvSpPr>
          <p:nvPr/>
        </p:nvSpPr>
        <p:spPr>
          <a:xfrm>
            <a:off x="4764024" y="4535424"/>
            <a:ext cx="109728" cy="98755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D60FDC1A-75F3-4500-93B1-3CA6D02D8944}"/>
              </a:ext>
            </a:extLst>
          </p:cNvPr>
          <p:cNvSpPr>
            <a:spLocks noGrp="1"/>
          </p:cNvSpPr>
          <p:nvPr/>
        </p:nvSpPr>
        <p:spPr>
          <a:xfrm>
            <a:off x="4946904" y="457200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7B2D8B"/>
                </a:solidFill>
              </a:rPr>
              <a:t>Annual use cycle</a:t>
            </a:r>
            <a:endParaRPr sz="85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36C29D4-04DA-40AE-AAEA-96DCA3AAF706}"/>
              </a:ext>
            </a:extLst>
          </p:cNvPr>
          <p:cNvSpPr>
            <a:spLocks noGrp="1"/>
          </p:cNvSpPr>
          <p:nvPr/>
        </p:nvSpPr>
        <p:spPr>
          <a:xfrm>
            <a:off x="4946904" y="4846320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1. Refresh completed-year sources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791C9DB-9E49-4376-B0BA-C3E5D646093F}"/>
              </a:ext>
            </a:extLst>
          </p:cNvPr>
          <p:cNvSpPr>
            <a:spLocks noGrp="1"/>
          </p:cNvSpPr>
          <p:nvPr/>
        </p:nvSpPr>
        <p:spPr>
          <a:xfrm>
            <a:off x="8119872" y="5212080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7B2D8B"/>
                </a:solidFill>
              </a:rPr>
              <a:t>2. Refit the fixed pipeline</a:t>
            </a:r>
            <a:endParaRPr sz="6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1E75EFF8-1AEC-4FF1-9894-F6C57CD887DF}"/>
              </a:ext>
            </a:extLst>
          </p:cNvPr>
          <p:cNvSpPr>
            <a:spLocks noGrp="1"/>
          </p:cNvSpPr>
          <p:nvPr/>
        </p:nvSpPr>
        <p:spPr>
          <a:xfrm>
            <a:off x="274320" y="4773168"/>
            <a:ext cx="859536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i="1">
                <a:solidFill>
                  <a:srgbClr val="5B6880"/>
                </a:solidFill>
              </a:rPr>
              <a:t>3. Publish the next comparative estimate</a:t>
            </a:r>
            <a:endParaRPr sz="75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B21105DC-A6FD-4750-ADCA-1A4C08009F8B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1A2C5861-89E7-4D26-B441-C0C15E0198EF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98118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F74F23-8DFD-4CE8-8E5E-93AB1E0A97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C63D188-E86E-4686-8F37-B18F68BD4B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CA7F8A0-6ED6-44F6-91FF-97B46EBEB2DE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98E00ED-9EE0-46BB-9BB5-4ADB994E6BF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RESPONSIBLE DECISION PATH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C6C2A7-6BA7-43F5-89A7-88F3CB703128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7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0387EB2-7060-49B6-ADEE-061261541C5E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Use three evidence layers together, then verify locally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9C46A4F-2C20-4BB5-B622-B4903F54522F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9F15C07-AD15-4838-859B-716DE143258E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AE9BAC-298F-4719-B64C-08194776FF7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Recommended actions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5AB7FE3-B928-4B27-897C-F1DE2FA3F2DE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ECF2ED-C68D-45FD-B4B4-CC2E8853E68F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2CCD9FA-AECB-497C-A48D-6CF2727316E8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2026 comparative estimate to narrow broad-area research.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29D9996-46C0-4BDF-A64B-7182E6D65EE0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808587C-E24A-4A02-8D12-70D56C366D77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1FD64B4-B3E5-4E4C-A615-3309CF07FFEF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Check 2016–2025 observed recurrence in the 2 km context.</a:t>
            </a:r>
            <a:endParaRPr sz="8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FD062BE-396B-4E0D-9DE6-68A65082559B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EB66CA8-79CE-44A6-B204-F0B71EED2974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ED348FC-A127-440A-A2DA-DF9CDC9009DB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the separate official ICNF structural-hazard class.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77FC9BC-0450-4537-9C2D-7833D146223E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0ECE80A-81A0-42C3-B934-94F9A6429FA9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F65E3B9-9EDF-470E-8CCD-B6A01F904377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Investigate municipal plans, access, vegetation, insurance and site conditions.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C3D7806-8EA5-4956-8BD9-C1AFE67F5F3B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08AE7DB-687B-46B0-8049-C6C5EDC9CE3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DCCB269-C704-4A40-A0F7-3722ECF62C6E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Rebuild annually when new labelled outcomes and completed-year inputs are available.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46EC273C-6B39-45C7-B432-02A468058659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9F59274-DFE5-4A49-831D-2770A62C0AED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19BE9B5-67CE-4530-9C49-F22B4C0BE7B9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Keep source files, model version and forecast year traceable.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C13D15E-B2B2-4E63-99AC-0406F74A2C16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F833621-490D-4997-B91D-2658E8AA22CC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A3FA14B-73A6-4F2A-898F-004C204CB0B0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Do not treat a lower score as a safety guarantee.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C9FAD6A-E886-44D7-915E-9732C3126F2C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6EB5A17-D1D3-417F-B31F-9A43D1DBABF8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BFB5025-46A1-44FA-8D8B-2161F12AFD53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Why this matters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4C1F6D6-A0DA-4692-9B81-25353AD98B8D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F725FCA-2B9C-4FE2-BC63-0E5A9FF5A529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9A323FC2-25AB-4FBA-A9B2-4F259229179A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D19D74F-8FBB-46EF-934B-07FE7CE7FC8E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The project gives a reproducible first screen. A real property decision needs evidence that a national 1 km model cannot provide.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9D6E2415-0CD2-4D0A-A10E-B30B203F180B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B1CFA2EB-0AD3-4CE5-B255-4E6BED2A2EC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7087D71E-C60A-430E-B5C0-5E1E9DF27520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The workflow is designed to make uncertainty visible rather than hide it.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CF4749D9-C113-4C50-A97D-8607E609CA55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2BC218BA-9F11-4455-A928-72C63D4CEBE6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239A423-62FE-425B-9C69-D8964879E08E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The annual update process keeps the evidence current without changing the project’s scientific contract.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1AA0B084-9EAA-4AF2-8329-534B0AEB3DE3}"/>
              </a:ext>
            </a:extLst>
          </p:cNvPr>
          <p:cNvSpPr>
            <a:spLocks noGrp="1"/>
          </p:cNvSpPr>
          <p:nvPr/>
        </p:nvSpPr>
        <p:spPr>
          <a:xfrm>
            <a:off x="4873752" y="31272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CCD34BD-591C-4CA4-A4F1-37560DC3C74F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Talk track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A2ACC0DE-2CE4-4B38-A819-9C007D6E38AD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Start broad.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76E46170-5B1E-4CFD-AB8C-1EFDE4C48394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Compare multiple layers.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C3ABA36-46A1-45DB-9C7E-C74ABB7D38D8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Verify locally.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A6C14AAA-2AFF-495D-B3B1-8FED82846112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Make no unsupported safety claim.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7EDEFC2A-20C3-4439-9E69-87DEC9C7DDE9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578A11-362D-4A23-9A66-3BEA1B575681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The recommended decision is not ‘buy’ or ‘do not buy’: it is ‘which areas deserve deeper investigation first?’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83AA2470-12A2-4CD1-B32F-2E5DFF5F5A9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B7B9049A-4DFF-4335-AA5F-21E97CFEA8D1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56756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5CEFC6-DDBC-4FB7-9364-691BAD5D18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5B5870-EA27-4BED-A360-92989D1F59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465BE75-9DA1-44FC-A6AA-3F12930A0337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93C4C7-2F08-452E-9A57-A438BD703F0C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CONCLUSION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7DFDB9-E367-4AB4-B17C-BEF1CBFD50D9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8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A7B6B5-D5EE-4FF1-8DFC-195EBF9A5473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project delivers reproducible comparative evidence—not a property recommendation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DC1AF8C-3759-4175-A907-EA8973CCAAB7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111EC1F-A5CA-4E0B-B4A0-6B2221877121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9F754E6-7582-444C-A9B6-94D87EF4D700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DELIVERED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EAC9BD-DD9C-4D0F-B736-9228BEF85745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Reproducible national workflow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1506325-7096-4D53-9F8A-AE2E5B4EF82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Validated source checks, one consistent 1 km grid, QGIS layers, and an annual update path.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B599594-CCF4-485F-8192-561FC41FF104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5064BC7-0672-4ACA-9DCB-489A8CA02653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Historical evidence + GIS context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340BB7D-4645-4447-88CB-51AF5C87C596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A separate 2016–2025 recurrence screen and official ICNF structural-hazard comparison.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7363C4B-A141-4150-89D9-EEAF456FAC33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Transparent source roles and limitations.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BCFAEF-6796-4BB9-B110-221F7B86023F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E4D8F5A-F548-473C-BB9C-B152C0E21F1F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355F1E6-96D4-4CBE-BC12-C55252D03AD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D1AFDE3-4FD8-4035-BBC0-DB202824CA34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MODEL RESULT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96F280-BF93-4AF5-9DE1-0DC560995895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Hypothesis partially supported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F91279E-5BDC-48D5-BBAF-2794A19FABA1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nine-feature model improves selected comparative diagnostics, but does not solve extreme-event underprediction.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9FA68EF-2D4E-4720-BDE8-74D447D1C3F7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DDEDC41-7806-4CE8-BB23-79986CBB0BEE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2026 is target-free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8A78462-54B7-4E0A-9695-876768AC3755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Its future performance must be evaluated only after observed outcome data are available.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8DEDE3-9157-46BE-8AD4-2E3F9661A03E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retrospective claim about unknown outcomes.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33FF249-3114-487F-BB64-5512AC1AB8F3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1AB3FA8-5A3E-444F-BD7A-131F27A3B6F6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5603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D6D8A196-BEBD-4FF3-8711-1BCBC19DBE36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56032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C4ABF7E-0DC5-4097-B3B1-5727A659944B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 dirty="0">
                <a:solidFill>
                  <a:srgbClr val="FFFFFF"/>
                </a:solidFill>
              </a:rPr>
              <a:t>NEXT STEPS</a:t>
            </a:r>
            <a:endParaRPr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BF39345-D936-4805-A0ED-B71599D67C1A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Refresh, rebuild, validate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B722B79-9769-43BC-A7B7-DE1320782B2F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/>
              <a:t>Annual model update based on newly published official data set, verification</a:t>
            </a:r>
            <a:endParaRPr sz="85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8A31758-D4E6-4517-A66E-18291DA951B6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37744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8FE98B6-36C4-4713-89AF-01C2678FA6DC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1A2638"/>
                </a:solidFill>
              </a:rPr>
              <a:t>Refit the model with new validated data sources</a:t>
            </a:r>
            <a:endParaRPr sz="8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7585419-11E2-4D2D-B77C-3721AE22F296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 the maps to narrow broad areas, then check local site, planning, insurance and property evidence.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5D49781-5A9B-49FD-B5B4-7803FD571976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FF0000"/>
                </a:solidFill>
              </a:rPr>
              <a:t>The outputs support screening - not an automatic property decision.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3916C0C-4F20-4C8D-9038-3DC9F41DC210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AD43B130-B5A3-48D7-BAF8-55C92D4C6E37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Next milestone: the next completed-year rebuild and its later outcome validation.</a:t>
            </a:r>
            <a:endParaRPr sz="85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2D1742F3-E535-43E8-9597-67021862A392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B6379401-2C33-41A6-AE99-81402032712E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34968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94E0A0-3F0D-4477-84F5-FBB9BEF2C3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4064D27-5CE0-4B72-A0BE-4EC812B564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FF773FD-D1DB-417A-9701-BB04FF0D3D4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61997F5-CAEC-4D8F-9C0B-C2F45BC9BA80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APPENDIX A — MODEL CONTRACT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9629BB-7DF6-47B6-9161-2A05962A0DE2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A1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4D2EA5-332E-4AB8-8C3C-2C6131452CF5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Nine predictors and a leakage-safe temporal evaluation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497BAA-C99B-403C-81E0-52EAB3491A8A}"/>
              </a:ext>
            </a:extLst>
          </p:cNvPr>
          <p:cNvSpPr>
            <a:spLocks noGrp="1"/>
          </p:cNvSpPr>
          <p:nvPr/>
        </p:nvSpPr>
        <p:spPr>
          <a:xfrm>
            <a:off x="201168" y="1298448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37C035F-8C10-49E2-BEC5-065647134E65}"/>
              </a:ext>
            </a:extLst>
          </p:cNvPr>
          <p:cNvSpPr>
            <a:spLocks noGrp="1"/>
          </p:cNvSpPr>
          <p:nvPr/>
        </p:nvSpPr>
        <p:spPr>
          <a:xfrm>
            <a:off x="201168" y="1298448"/>
            <a:ext cx="109728" cy="98755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EEAE9EF-FD62-4AAD-A888-FFE034B4E89C}"/>
              </a:ext>
            </a:extLst>
          </p:cNvPr>
          <p:cNvSpPr>
            <a:spLocks noGrp="1"/>
          </p:cNvSpPr>
          <p:nvPr/>
        </p:nvSpPr>
        <p:spPr>
          <a:xfrm>
            <a:off x="384048" y="1335024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LANDSCAPE</a:t>
            </a:r>
            <a:endParaRPr sz="8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BC474C-D987-4C13-AC37-F484961787A8}"/>
              </a:ext>
            </a:extLst>
          </p:cNvPr>
          <p:cNvSpPr>
            <a:spLocks noGrp="1"/>
          </p:cNvSpPr>
          <p:nvPr/>
        </p:nvSpPr>
        <p:spPr>
          <a:xfrm>
            <a:off x="384048" y="1609344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Built-up share; forest/shrub share in the 2 km context</a:t>
            </a:r>
            <a:endParaRPr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07EE660-4D09-4FF5-89F1-6C15AA7D2761}"/>
              </a:ext>
            </a:extLst>
          </p:cNvPr>
          <p:cNvSpPr>
            <a:spLocks noGrp="1"/>
          </p:cNvSpPr>
          <p:nvPr/>
        </p:nvSpPr>
        <p:spPr>
          <a:xfrm>
            <a:off x="3557016" y="1975104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E6DB4"/>
                </a:solidFill>
              </a:rPr>
              <a:t>Governed CLC reference layer, never later than predictor year T.</a:t>
            </a:r>
            <a:endParaRPr sz="6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CACD386-EF4D-45A0-B268-53B416D28C32}"/>
              </a:ext>
            </a:extLst>
          </p:cNvPr>
          <p:cNvSpPr>
            <a:spLocks noGrp="1"/>
          </p:cNvSpPr>
          <p:nvPr/>
        </p:nvSpPr>
        <p:spPr>
          <a:xfrm>
            <a:off x="4764024" y="1298448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3D95465-8D03-4DE8-B146-372CB59B4473}"/>
              </a:ext>
            </a:extLst>
          </p:cNvPr>
          <p:cNvSpPr>
            <a:spLocks noGrp="1"/>
          </p:cNvSpPr>
          <p:nvPr/>
        </p:nvSpPr>
        <p:spPr>
          <a:xfrm>
            <a:off x="4764024" y="1298448"/>
            <a:ext cx="109728" cy="98755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9F5F776-E0A5-4149-AF40-1AC1C60FA05C}"/>
              </a:ext>
            </a:extLst>
          </p:cNvPr>
          <p:cNvSpPr>
            <a:spLocks noGrp="1"/>
          </p:cNvSpPr>
          <p:nvPr/>
        </p:nvSpPr>
        <p:spPr>
          <a:xfrm>
            <a:off x="4946904" y="1335024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TERRAIN</a:t>
            </a:r>
            <a:endParaRPr sz="8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A42B70C-D653-4D24-BBAB-F6F92C810A90}"/>
              </a:ext>
            </a:extLst>
          </p:cNvPr>
          <p:cNvSpPr>
            <a:spLocks noGrp="1"/>
          </p:cNvSpPr>
          <p:nvPr/>
        </p:nvSpPr>
        <p:spPr>
          <a:xfrm>
            <a:off x="4946904" y="1609344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Mean slope in the 2 km context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32D1B48-6179-4240-B457-B7BD2ECAE4D4}"/>
              </a:ext>
            </a:extLst>
          </p:cNvPr>
          <p:cNvSpPr>
            <a:spLocks noGrp="1"/>
          </p:cNvSpPr>
          <p:nvPr/>
        </p:nvSpPr>
        <p:spPr>
          <a:xfrm>
            <a:off x="8119872" y="1975104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E6DB4"/>
                </a:solidFill>
              </a:rPr>
              <a:t>Static Copernicus DEM GLO-30 context.</a:t>
            </a:r>
            <a:endParaRPr sz="6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FEE05E0-16C2-4C5C-91DB-D52412FBC0A2}"/>
              </a:ext>
            </a:extLst>
          </p:cNvPr>
          <p:cNvSpPr>
            <a:spLocks noGrp="1"/>
          </p:cNvSpPr>
          <p:nvPr/>
        </p:nvSpPr>
        <p:spPr>
          <a:xfrm>
            <a:off x="201168" y="2377440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2BCF19-40A1-4AA5-948C-9387E60629DB}"/>
              </a:ext>
            </a:extLst>
          </p:cNvPr>
          <p:cNvSpPr>
            <a:spLocks noGrp="1"/>
          </p:cNvSpPr>
          <p:nvPr/>
        </p:nvSpPr>
        <p:spPr>
          <a:xfrm>
            <a:off x="201168" y="2377440"/>
            <a:ext cx="109728" cy="9875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2C81231-EFAB-445A-952D-1617CB63D4F4}"/>
              </a:ext>
            </a:extLst>
          </p:cNvPr>
          <p:cNvSpPr>
            <a:spLocks noGrp="1"/>
          </p:cNvSpPr>
          <p:nvPr/>
        </p:nvSpPr>
        <p:spPr>
          <a:xfrm>
            <a:off x="384048" y="2414016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FIRE HISTORY</a:t>
            </a:r>
            <a:endParaRPr sz="8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9CC0FA7-276D-49E9-ADCD-6555BA2B8770}"/>
              </a:ext>
            </a:extLst>
          </p:cNvPr>
          <p:cNvSpPr>
            <a:spLocks noGrp="1"/>
          </p:cNvSpPr>
          <p:nvPr/>
        </p:nvSpPr>
        <p:spPr>
          <a:xfrm>
            <a:off x="384048" y="2688336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Prior ten-year distinct burned years in the 2 km context</a:t>
            </a:r>
            <a:endParaRPr sz="7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57992AF-AA9B-4C85-96DA-7DAC7E60C626}"/>
              </a:ext>
            </a:extLst>
          </p:cNvPr>
          <p:cNvSpPr>
            <a:spLocks noGrp="1"/>
          </p:cNvSpPr>
          <p:nvPr/>
        </p:nvSpPr>
        <p:spPr>
          <a:xfrm>
            <a:off x="3557016" y="3054096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E67E22"/>
                </a:solidFill>
              </a:rPr>
              <a:t>Strictly T−10 through T−1; never same-year or future ICNF data.</a:t>
            </a:r>
            <a:endParaRPr sz="6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1D59964-FA55-4F98-8605-4F6C17688E08}"/>
              </a:ext>
            </a:extLst>
          </p:cNvPr>
          <p:cNvSpPr>
            <a:spLocks noGrp="1"/>
          </p:cNvSpPr>
          <p:nvPr/>
        </p:nvSpPr>
        <p:spPr>
          <a:xfrm>
            <a:off x="4764024" y="2377440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E457D0FA-D5E3-403E-9EF3-D78B78248424}"/>
              </a:ext>
            </a:extLst>
          </p:cNvPr>
          <p:cNvSpPr>
            <a:spLocks noGrp="1"/>
          </p:cNvSpPr>
          <p:nvPr/>
        </p:nvSpPr>
        <p:spPr>
          <a:xfrm>
            <a:off x="4764024" y="2377440"/>
            <a:ext cx="109728" cy="9875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4050A3A-F4CB-47EB-8242-F66DD9FC07AC}"/>
              </a:ext>
            </a:extLst>
          </p:cNvPr>
          <p:cNvSpPr>
            <a:spLocks noGrp="1"/>
          </p:cNvSpPr>
          <p:nvPr/>
        </p:nvSpPr>
        <p:spPr>
          <a:xfrm>
            <a:off x="4946904" y="2414016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CLIMATE</a:t>
            </a:r>
            <a:endParaRPr sz="8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57B408B-50A5-4E7F-9588-0B8D6FC4D1A8}"/>
              </a:ext>
            </a:extLst>
          </p:cNvPr>
          <p:cNvSpPr>
            <a:spLocks noGrp="1"/>
          </p:cNvSpPr>
          <p:nvPr/>
        </p:nvSpPr>
        <p:spPr>
          <a:xfrm>
            <a:off x="4946904" y="2688336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Five JJAS ERA5-Land temperature, precipitation and soil-water features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8433B55-5AF5-4A8D-AABB-84FBAFAF4559}"/>
              </a:ext>
            </a:extLst>
          </p:cNvPr>
          <p:cNvSpPr>
            <a:spLocks noGrp="1"/>
          </p:cNvSpPr>
          <p:nvPr/>
        </p:nvSpPr>
        <p:spPr>
          <a:xfrm>
            <a:off x="8119872" y="3054096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E67E22"/>
                </a:solidFill>
              </a:rPr>
              <a:t>Predictor year T only; containing cell or validated nearest land fallback.</a:t>
            </a:r>
            <a:endParaRPr sz="6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2B74E25-F194-4353-B525-F42703EC3EB4}"/>
              </a:ext>
            </a:extLst>
          </p:cNvPr>
          <p:cNvSpPr>
            <a:spLocks noGrp="1"/>
          </p:cNvSpPr>
          <p:nvPr/>
        </p:nvSpPr>
        <p:spPr>
          <a:xfrm>
            <a:off x="201168" y="3456432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25081F5-170C-4CC6-9A76-FA54CF506879}"/>
              </a:ext>
            </a:extLst>
          </p:cNvPr>
          <p:cNvSpPr>
            <a:spLocks noGrp="1"/>
          </p:cNvSpPr>
          <p:nvPr/>
        </p:nvSpPr>
        <p:spPr>
          <a:xfrm>
            <a:off x="201168" y="3456432"/>
            <a:ext cx="109728" cy="9875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D3BC07C-37AB-4D66-8AB5-4E78BCCDFCC2}"/>
              </a:ext>
            </a:extLst>
          </p:cNvPr>
          <p:cNvSpPr>
            <a:spLocks noGrp="1"/>
          </p:cNvSpPr>
          <p:nvPr/>
        </p:nvSpPr>
        <p:spPr>
          <a:xfrm>
            <a:off x="384048" y="3493008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TIME SPLIT</a:t>
            </a:r>
            <a:endParaRPr sz="85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70EBFCE-CC3C-49EF-9C46-EBB049DCB4C9}"/>
              </a:ext>
            </a:extLst>
          </p:cNvPr>
          <p:cNvSpPr>
            <a:spLocks noGrp="1"/>
          </p:cNvSpPr>
          <p:nvPr/>
        </p:nvSpPr>
        <p:spPr>
          <a:xfrm>
            <a:off x="384048" y="3767328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Fit: T=2010–2019 | Validation: T=2020–2021 | Frozen final test: T=2022–2024</a:t>
            </a:r>
            <a:endParaRPr sz="75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4797594-1794-4825-BC35-C4BCFAD4C7F2}"/>
              </a:ext>
            </a:extLst>
          </p:cNvPr>
          <p:cNvSpPr>
            <a:spLocks noGrp="1"/>
          </p:cNvSpPr>
          <p:nvPr/>
        </p:nvSpPr>
        <p:spPr>
          <a:xfrm>
            <a:off x="3557016" y="4133088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E67E22"/>
                </a:solidFill>
              </a:rPr>
              <a:t>Observed target is burned share in T+1.</a:t>
            </a:r>
            <a:endParaRPr sz="6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878D813C-4A30-4B13-BF7A-A46366BE989F}"/>
              </a:ext>
            </a:extLst>
          </p:cNvPr>
          <p:cNvSpPr>
            <a:spLocks noGrp="1"/>
          </p:cNvSpPr>
          <p:nvPr/>
        </p:nvSpPr>
        <p:spPr>
          <a:xfrm>
            <a:off x="4764024" y="3456432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BE800DD-76DE-4878-9DCB-F863CDE90EEB}"/>
              </a:ext>
            </a:extLst>
          </p:cNvPr>
          <p:cNvSpPr>
            <a:spLocks noGrp="1"/>
          </p:cNvSpPr>
          <p:nvPr/>
        </p:nvSpPr>
        <p:spPr>
          <a:xfrm>
            <a:off x="4764024" y="3456432"/>
            <a:ext cx="109728" cy="987552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9F15657-ED80-4CD4-9EBD-CFCF8DE48D91}"/>
              </a:ext>
            </a:extLst>
          </p:cNvPr>
          <p:cNvSpPr>
            <a:spLocks noGrp="1"/>
          </p:cNvSpPr>
          <p:nvPr/>
        </p:nvSpPr>
        <p:spPr>
          <a:xfrm>
            <a:off x="4946904" y="3493008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TARGET</a:t>
            </a:r>
            <a:endParaRPr sz="8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2EDEA507-47C8-4F30-8B31-0BA2D6969107}"/>
              </a:ext>
            </a:extLst>
          </p:cNvPr>
          <p:cNvSpPr>
            <a:spLocks noGrp="1"/>
          </p:cNvSpPr>
          <p:nvPr/>
        </p:nvSpPr>
        <p:spPr>
          <a:xfrm>
            <a:off x="4946904" y="3767328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Continuous burned_share_next_year</a:t>
            </a:r>
            <a:endParaRPr sz="75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DBAE1EF3-A9D5-48A7-84A1-01FE0A1F14B1}"/>
              </a:ext>
            </a:extLst>
          </p:cNvPr>
          <p:cNvSpPr>
            <a:spLocks noGrp="1"/>
          </p:cNvSpPr>
          <p:nvPr/>
        </p:nvSpPr>
        <p:spPr>
          <a:xfrm>
            <a:off x="8119872" y="4133088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A9D61"/>
                </a:solidFill>
              </a:rPr>
              <a:t>Share of mainland cell land burned in the observed outcome year.</a:t>
            </a:r>
            <a:endParaRPr sz="65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0E550BE8-4DED-458D-94A9-B0422E823F22}"/>
              </a:ext>
            </a:extLst>
          </p:cNvPr>
          <p:cNvSpPr>
            <a:spLocks noGrp="1"/>
          </p:cNvSpPr>
          <p:nvPr/>
        </p:nvSpPr>
        <p:spPr>
          <a:xfrm>
            <a:off x="201168" y="4535424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E4810ABD-592E-44DF-B309-513BC053EC48}"/>
              </a:ext>
            </a:extLst>
          </p:cNvPr>
          <p:cNvSpPr>
            <a:spLocks noGrp="1"/>
          </p:cNvSpPr>
          <p:nvPr/>
        </p:nvSpPr>
        <p:spPr>
          <a:xfrm>
            <a:off x="201168" y="4535424"/>
            <a:ext cx="109728" cy="987552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79067AA-4A69-47B5-8862-C302136C0EDD}"/>
              </a:ext>
            </a:extLst>
          </p:cNvPr>
          <p:cNvSpPr>
            <a:spLocks noGrp="1"/>
          </p:cNvSpPr>
          <p:nvPr/>
        </p:nvSpPr>
        <p:spPr>
          <a:xfrm>
            <a:off x="384048" y="457200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MODEL</a:t>
            </a:r>
            <a:endParaRPr sz="85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29EDEF82-9897-4310-8438-AC201E5375FA}"/>
              </a:ext>
            </a:extLst>
          </p:cNvPr>
          <p:cNvSpPr>
            <a:spLocks noGrp="1"/>
          </p:cNvSpPr>
          <p:nvPr/>
        </p:nvSpPr>
        <p:spPr>
          <a:xfrm>
            <a:off x="384048" y="4846320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Two-part HistGradientBoosting regression</a:t>
            </a:r>
            <a:endParaRPr sz="75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3CC5F1E-A593-46D2-B3E1-8AA036539CF3}"/>
              </a:ext>
            </a:extLst>
          </p:cNvPr>
          <p:cNvSpPr>
            <a:spLocks noGrp="1"/>
          </p:cNvSpPr>
          <p:nvPr/>
        </p:nvSpPr>
        <p:spPr>
          <a:xfrm>
            <a:off x="3557016" y="5212080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2A9D61"/>
                </a:solidFill>
              </a:rPr>
              <a:t>Occurrence component plus positive-share component for the zero-heavy target.</a:t>
            </a:r>
            <a:endParaRPr sz="65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77822EB-7369-415C-B10A-8430B3D05938}"/>
              </a:ext>
            </a:extLst>
          </p:cNvPr>
          <p:cNvSpPr>
            <a:spLocks noGrp="1"/>
          </p:cNvSpPr>
          <p:nvPr/>
        </p:nvSpPr>
        <p:spPr>
          <a:xfrm>
            <a:off x="4764024" y="4535424"/>
            <a:ext cx="4160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87C2B8E0-D11F-4782-9316-F174270925E8}"/>
              </a:ext>
            </a:extLst>
          </p:cNvPr>
          <p:cNvSpPr>
            <a:spLocks noGrp="1"/>
          </p:cNvSpPr>
          <p:nvPr/>
        </p:nvSpPr>
        <p:spPr>
          <a:xfrm>
            <a:off x="4764024" y="4535424"/>
            <a:ext cx="109728" cy="98755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D60FDC1A-75F3-4500-93B1-3CA6D02D8944}"/>
              </a:ext>
            </a:extLst>
          </p:cNvPr>
          <p:cNvSpPr>
            <a:spLocks noGrp="1"/>
          </p:cNvSpPr>
          <p:nvPr/>
        </p:nvSpPr>
        <p:spPr>
          <a:xfrm>
            <a:off x="4946904" y="457200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7B2D8B"/>
                </a:solidFill>
              </a:rPr>
              <a:t>WHY IT MATTERS</a:t>
            </a:r>
            <a:endParaRPr sz="85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36C29D4-04DA-40AE-AAEA-96DCA3AAF706}"/>
              </a:ext>
            </a:extLst>
          </p:cNvPr>
          <p:cNvSpPr>
            <a:spLocks noGrp="1"/>
          </p:cNvSpPr>
          <p:nvPr/>
        </p:nvSpPr>
        <p:spPr>
          <a:xfrm>
            <a:off x="4946904" y="4846320"/>
            <a:ext cx="36576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>
                <a:solidFill>
                  <a:srgbClr val="1A2638"/>
                </a:solidFill>
              </a:rPr>
              <a:t>Temporal rules prevent future information from entering predictors.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791C9DB-9E49-4376-B0BA-C3E5D646093F}"/>
              </a:ext>
            </a:extLst>
          </p:cNvPr>
          <p:cNvSpPr>
            <a:spLocks noGrp="1"/>
          </p:cNvSpPr>
          <p:nvPr/>
        </p:nvSpPr>
        <p:spPr>
          <a:xfrm>
            <a:off x="8119872" y="5212080"/>
            <a:ext cx="749808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650" b="1">
                <a:solidFill>
                  <a:srgbClr val="7B2D8B"/>
                </a:solidFill>
              </a:rPr>
              <a:t>The final test was held back until model selection was complete.</a:t>
            </a:r>
            <a:endParaRPr sz="6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1E75EFF8-1AEC-4FF1-9894-F6C57CD887DF}"/>
              </a:ext>
            </a:extLst>
          </p:cNvPr>
          <p:cNvSpPr>
            <a:spLocks noGrp="1"/>
          </p:cNvSpPr>
          <p:nvPr/>
        </p:nvSpPr>
        <p:spPr>
          <a:xfrm>
            <a:off x="274320" y="4773168"/>
            <a:ext cx="859536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i="1">
                <a:solidFill>
                  <a:srgbClr val="5B6880"/>
                </a:solidFill>
              </a:rPr>
              <a:t>The model is associative, not causal.</a:t>
            </a:r>
            <a:endParaRPr sz="75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B21105DC-A6FD-4750-ADCA-1A4C08009F8B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1A2C5861-89E7-4D26-B441-C0C15E0198EF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981184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1F5A8B-3D2C-4422-B21F-2A481397F2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B0F2DDD-0C6D-4D0F-B1E7-7CFFC38D9F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A5074B9-279C-4750-BD33-975049F5EA7E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B5B64D6-2782-4165-90D2-65984D90C91C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APPENDIX B — EVALUATION TERMS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21574-2010-4CE1-93B1-AD3E3028CD92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A2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33B28DF-15E0-48FF-BDC7-0715AAF4E04D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How final-test evidence was interpreted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3E9D2A1-9FE5-4E1C-B6E6-9ECC86AAA2A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8595360" cy="548640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90D1230-24DE-4B0D-B085-46228BB2C1E6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128016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A2450B0-CBC6-4082-A11B-9F0C4667DE11}"/>
              </a:ext>
            </a:extLst>
          </p:cNvPr>
          <p:cNvSpPr>
            <a:spLocks noGrp="1"/>
          </p:cNvSpPr>
          <p:nvPr/>
        </p:nvSpPr>
        <p:spPr>
          <a:xfrm>
            <a:off x="475488" y="1298448"/>
            <a:ext cx="4114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C0392B"/>
                </a:solidFill>
              </a:rPr>
              <a:t>01</a:t>
            </a:r>
            <a:endParaRPr sz="1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DBCDB-2D69-4911-8250-CE5B4B0C844B}"/>
              </a:ext>
            </a:extLst>
          </p:cNvPr>
          <p:cNvSpPr>
            <a:spLocks noGrp="1"/>
          </p:cNvSpPr>
          <p:nvPr/>
        </p:nvSpPr>
        <p:spPr>
          <a:xfrm>
            <a:off x="886968" y="1221256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dirty="0">
                <a:solidFill>
                  <a:srgbClr val="1A2638"/>
                </a:solidFill>
              </a:rPr>
              <a:t>MAE — average absolute burned-share error</a:t>
            </a:r>
            <a:endParaRPr sz="1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B5AC919-D585-4285-AFFF-F01BC700A300}"/>
              </a:ext>
            </a:extLst>
          </p:cNvPr>
          <p:cNvSpPr>
            <a:spLocks noGrp="1"/>
          </p:cNvSpPr>
          <p:nvPr/>
        </p:nvSpPr>
        <p:spPr>
          <a:xfrm>
            <a:off x="896112" y="1593874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 dirty="0">
                <a:solidFill>
                  <a:srgbClr val="C0392B"/>
                </a:solidFill>
              </a:rPr>
              <a:t>Lower is better. It improved for the nine-feature model over all held-out rows.</a:t>
            </a:r>
            <a:endParaRPr sz="8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11B07C6-33F0-424A-B60B-EE9CFE7D8B14}"/>
              </a:ext>
            </a:extLst>
          </p:cNvPr>
          <p:cNvSpPr>
            <a:spLocks noGrp="1"/>
          </p:cNvSpPr>
          <p:nvPr/>
        </p:nvSpPr>
        <p:spPr>
          <a:xfrm>
            <a:off x="274320" y="1951288"/>
            <a:ext cx="8595360" cy="548640"/>
          </a:xfrm>
          <a:prstGeom prst="rect">
            <a:avLst/>
          </a:prstGeom>
          <a:solidFill>
            <a:srgbClr val="FEF3E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2EF59BF-C8BB-40F4-8FDB-BD80DC43E477}"/>
              </a:ext>
            </a:extLst>
          </p:cNvPr>
          <p:cNvSpPr>
            <a:spLocks noGrp="1"/>
          </p:cNvSpPr>
          <p:nvPr/>
        </p:nvSpPr>
        <p:spPr>
          <a:xfrm>
            <a:off x="274320" y="1951288"/>
            <a:ext cx="128016" cy="5486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1F447B-6867-4B65-B629-CA2DD658674A}"/>
              </a:ext>
            </a:extLst>
          </p:cNvPr>
          <p:cNvSpPr>
            <a:spLocks noGrp="1"/>
          </p:cNvSpPr>
          <p:nvPr/>
        </p:nvSpPr>
        <p:spPr>
          <a:xfrm>
            <a:off x="475488" y="1951288"/>
            <a:ext cx="4114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E67E22"/>
                </a:solidFill>
              </a:rPr>
              <a:t>02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E122F3F-7F59-4731-950F-4ECB283C10D4}"/>
              </a:ext>
            </a:extLst>
          </p:cNvPr>
          <p:cNvSpPr>
            <a:spLocks noGrp="1"/>
          </p:cNvSpPr>
          <p:nvPr/>
        </p:nvSpPr>
        <p:spPr>
          <a:xfrm>
            <a:off x="932688" y="1852990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dirty="0">
                <a:solidFill>
                  <a:srgbClr val="1A2638"/>
                </a:solidFill>
              </a:rPr>
              <a:t>RMSE — error that gives more weight to larger mistakes</a:t>
            </a:r>
            <a:endParaRPr sz="1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ED2CCC6-E857-4628-9049-F83182BE0086}"/>
              </a:ext>
            </a:extLst>
          </p:cNvPr>
          <p:cNvSpPr>
            <a:spLocks noGrp="1"/>
          </p:cNvSpPr>
          <p:nvPr/>
        </p:nvSpPr>
        <p:spPr>
          <a:xfrm>
            <a:off x="932688" y="2262472"/>
            <a:ext cx="7772400" cy="1754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 dirty="0">
                <a:solidFill>
                  <a:srgbClr val="E67E22"/>
                </a:solidFill>
              </a:rPr>
              <a:t>It was similar between models; high-burn outcomes remain difficult.</a:t>
            </a:r>
            <a:endParaRPr sz="8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D0BCBD9-93EC-4A68-B480-A03679B46015}"/>
              </a:ext>
            </a:extLst>
          </p:cNvPr>
          <p:cNvSpPr>
            <a:spLocks noGrp="1"/>
          </p:cNvSpPr>
          <p:nvPr/>
        </p:nvSpPr>
        <p:spPr>
          <a:xfrm>
            <a:off x="274320" y="2626296"/>
            <a:ext cx="8595360" cy="548640"/>
          </a:xfrm>
          <a:prstGeom prst="rect">
            <a:avLst/>
          </a:prstGeom>
          <a:solidFill>
            <a:srgbClr val="EBF0FD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FADD19D-D986-40B0-9ED5-8B64B8118EBD}"/>
              </a:ext>
            </a:extLst>
          </p:cNvPr>
          <p:cNvSpPr>
            <a:spLocks noGrp="1"/>
          </p:cNvSpPr>
          <p:nvPr/>
        </p:nvSpPr>
        <p:spPr>
          <a:xfrm>
            <a:off x="274320" y="2626296"/>
            <a:ext cx="128016" cy="548640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E8F8E68-0BBD-42C5-AAF4-A771B09F6919}"/>
              </a:ext>
            </a:extLst>
          </p:cNvPr>
          <p:cNvSpPr>
            <a:spLocks noGrp="1"/>
          </p:cNvSpPr>
          <p:nvPr/>
        </p:nvSpPr>
        <p:spPr>
          <a:xfrm>
            <a:off x="475488" y="2626296"/>
            <a:ext cx="4114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E6DB4"/>
                </a:solidFill>
              </a:rPr>
              <a:t>03</a:t>
            </a:r>
            <a:endParaRPr sz="18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021E36E-3A8D-4051-98E5-BF3B34085AA8}"/>
              </a:ext>
            </a:extLst>
          </p:cNvPr>
          <p:cNvSpPr>
            <a:spLocks noGrp="1"/>
          </p:cNvSpPr>
          <p:nvPr/>
        </p:nvSpPr>
        <p:spPr>
          <a:xfrm>
            <a:off x="932688" y="2544239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dirty="0">
                <a:solidFill>
                  <a:srgbClr val="1A2638"/>
                </a:solidFill>
              </a:rPr>
              <a:t>Positive-target error — error where some burning actually occurred</a:t>
            </a:r>
            <a:endParaRPr sz="10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42771AE-8CC3-4202-A591-0EDCCF3F0027}"/>
              </a:ext>
            </a:extLst>
          </p:cNvPr>
          <p:cNvSpPr>
            <a:spLocks noGrp="1"/>
          </p:cNvSpPr>
          <p:nvPr/>
        </p:nvSpPr>
        <p:spPr>
          <a:xfrm>
            <a:off x="932688" y="2928048"/>
            <a:ext cx="7772400" cy="15468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 dirty="0">
                <a:solidFill>
                  <a:srgbClr val="2E6DB4"/>
                </a:solidFill>
              </a:rPr>
              <a:t>The nine-feature model did not improve this measure, so its limitation must remain visible.</a:t>
            </a:r>
            <a:endParaRPr sz="8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2197B0-1928-4308-A6C8-B2DA86D43D79}"/>
              </a:ext>
            </a:extLst>
          </p:cNvPr>
          <p:cNvSpPr>
            <a:spLocks noGrp="1"/>
          </p:cNvSpPr>
          <p:nvPr/>
        </p:nvSpPr>
        <p:spPr>
          <a:xfrm>
            <a:off x="266700" y="3301304"/>
            <a:ext cx="8595360" cy="548640"/>
          </a:xfrm>
          <a:prstGeom prst="rect">
            <a:avLst/>
          </a:prstGeom>
          <a:solidFill>
            <a:srgbClr val="F3E8F7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D40D961-BB20-44B3-97CF-E8ED6176AE02}"/>
              </a:ext>
            </a:extLst>
          </p:cNvPr>
          <p:cNvSpPr>
            <a:spLocks noGrp="1"/>
          </p:cNvSpPr>
          <p:nvPr/>
        </p:nvSpPr>
        <p:spPr>
          <a:xfrm>
            <a:off x="266700" y="3301304"/>
            <a:ext cx="128016" cy="54864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FD72B34-DA77-4E4D-ADAB-8FFBE1E43AAE}"/>
              </a:ext>
            </a:extLst>
          </p:cNvPr>
          <p:cNvSpPr>
            <a:spLocks noGrp="1"/>
          </p:cNvSpPr>
          <p:nvPr/>
        </p:nvSpPr>
        <p:spPr>
          <a:xfrm>
            <a:off x="467868" y="3301304"/>
            <a:ext cx="4114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B2D8B"/>
                </a:solidFill>
              </a:rPr>
              <a:t>04</a:t>
            </a:r>
            <a:endParaRPr sz="18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F9E428B-8A4B-4BC7-B3D5-11EB624DD0B8}"/>
              </a:ext>
            </a:extLst>
          </p:cNvPr>
          <p:cNvSpPr>
            <a:spLocks noGrp="1"/>
          </p:cNvSpPr>
          <p:nvPr/>
        </p:nvSpPr>
        <p:spPr>
          <a:xfrm>
            <a:off x="925068" y="3371151"/>
            <a:ext cx="4114800" cy="19126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dirty="0">
                <a:solidFill>
                  <a:srgbClr val="1A2638"/>
                </a:solidFill>
              </a:rPr>
              <a:t>Capture@20% — technical ranking diagnostic</a:t>
            </a:r>
            <a:endParaRPr sz="10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4C212F2-92D4-495D-A84D-0B53A85D436D}"/>
              </a:ext>
            </a:extLst>
          </p:cNvPr>
          <p:cNvSpPr>
            <a:spLocks noGrp="1"/>
          </p:cNvSpPr>
          <p:nvPr/>
        </p:nvSpPr>
        <p:spPr>
          <a:xfrm>
            <a:off x="925068" y="3589721"/>
            <a:ext cx="7772400" cy="19164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 dirty="0">
                <a:solidFill>
                  <a:srgbClr val="7B2D8B"/>
                </a:solidFill>
              </a:rPr>
              <a:t>It asks how much observed burned share lies among the highest-ranked 20% of cells. It is not a buyer threshold.</a:t>
            </a:r>
            <a:endParaRPr sz="8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2D7F5D2-27DF-46C3-B79F-6980530BDA69}"/>
              </a:ext>
            </a:extLst>
          </p:cNvPr>
          <p:cNvSpPr>
            <a:spLocks noGrp="1"/>
          </p:cNvSpPr>
          <p:nvPr/>
        </p:nvSpPr>
        <p:spPr>
          <a:xfrm>
            <a:off x="266700" y="3895344"/>
            <a:ext cx="8595360" cy="749808"/>
          </a:xfrm>
          <a:prstGeom prst="rect">
            <a:avLst/>
          </a:prstGeom>
          <a:solidFill>
            <a:srgbClr val="E6F5EE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145CC26-EBE1-4F96-B8C7-6F118B8D9228}"/>
              </a:ext>
            </a:extLst>
          </p:cNvPr>
          <p:cNvSpPr>
            <a:spLocks noGrp="1"/>
          </p:cNvSpPr>
          <p:nvPr/>
        </p:nvSpPr>
        <p:spPr>
          <a:xfrm>
            <a:off x="274320" y="3886200"/>
            <a:ext cx="128016" cy="7498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45A651A-60D7-4CFE-92AF-2C2AC6FEB376}"/>
              </a:ext>
            </a:extLst>
          </p:cNvPr>
          <p:cNvSpPr>
            <a:spLocks noGrp="1"/>
          </p:cNvSpPr>
          <p:nvPr/>
        </p:nvSpPr>
        <p:spPr>
          <a:xfrm>
            <a:off x="475488" y="459028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2A9D61"/>
                </a:solidFill>
              </a:rPr>
              <a:t>05</a:t>
            </a:r>
            <a:endParaRPr sz="18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B7B308A-FC0D-4C68-AB89-0671F1BA07EB}"/>
              </a:ext>
            </a:extLst>
          </p:cNvPr>
          <p:cNvSpPr>
            <a:spLocks noGrp="1"/>
          </p:cNvSpPr>
          <p:nvPr/>
        </p:nvSpPr>
        <p:spPr>
          <a:xfrm>
            <a:off x="925068" y="395935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 dirty="0">
                <a:solidFill>
                  <a:srgbClr val="1A2638"/>
                </a:solidFill>
              </a:rPr>
              <a:t>Going over time</a:t>
            </a:r>
            <a:endParaRPr sz="10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994B1AC-44F6-4ED7-9617-90DF151797FE}"/>
              </a:ext>
            </a:extLst>
          </p:cNvPr>
          <p:cNvSpPr>
            <a:spLocks noGrp="1"/>
          </p:cNvSpPr>
          <p:nvPr/>
        </p:nvSpPr>
        <p:spPr>
          <a:xfrm>
            <a:off x="925068" y="4306824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Practice out loud with a timer. 8 slides x 1.5 min = 12 min. That's your target.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094C5BE5-9063-4A9B-A6BA-4EA7639EC592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1ADEDE4-6449-4D67-9737-45E6783BE9A8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 dirty="0">
                <a:solidFill>
                  <a:srgbClr val="E8A020"/>
                </a:solidFill>
              </a:rPr>
              <a:t>Serhii Diadechko  |  Data Scienc</a:t>
            </a:r>
            <a:r>
              <a:rPr lang="en-US" sz="800" b="1" dirty="0">
                <a:solidFill>
                  <a:srgbClr val="E8A020"/>
                </a:solidFill>
              </a:rPr>
              <a:t>e</a:t>
            </a:r>
            <a:r>
              <a:rPr sz="800" b="1" dirty="0">
                <a:solidFill>
                  <a:srgbClr val="E8A020"/>
                </a:solidFill>
              </a:rPr>
              <a:t> &amp; Machine Learning Capstone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215941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2424</Words>
  <Application>Microsoft Office PowerPoint</Application>
  <DocSecurity>0</DocSecurity>
  <PresentationFormat>On-screen Show (16:9)</PresentationFormat>
  <Paragraphs>287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Sergey Dyadechko</cp:lastModifiedBy>
  <cp:revision>2</cp:revision>
  <dcterms:created xsi:type="dcterms:W3CDTF">2026-08-08T10:41:51Z</dcterms:created>
  <dcterms:modified xsi:type="dcterms:W3CDTF">2026-08-08T10:57:56Z</dcterms:modified>
</cp:coreProperties>
</file>