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296" autoAdjust="0"/>
  </p:normalViewPr>
  <p:slideViewPr>
    <p:cSldViewPr snapToGrid="0" snapToObjects="1">
      <p:cViewPr varScale="1">
        <p:scale>
          <a:sx n="98" d="100"/>
          <a:sy n="98" d="100"/>
        </p:scale>
        <p:origin x="1173" y="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decision problem. A person may need to compare broad parts of mainland Portugal before spending time on municipal, site and property-specific checks. The project offers comparative evidence, not a property recommendation.</a:t>
            </a:r>
          </a:p>
          <a:p>
            <a:endParaRPr/>
          </a:p>
          <a:p>
            <a:r>
              <a:t>[Sources]</a:t>
            </a:r>
          </a:p>
          <a:p>
            <a:r>
              <a:t>Project README; docs/project_brief.md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record represents one mainland Portugal 1 km × 1 km cell in predictor year T. Its target is the burned share observed in T+1—the proportion of the cell’s land area covered by burned-area polygons.</a:t>
            </a:r>
            <a:br>
              <a:rPr lang="en-US" dirty="0"/>
            </a:br>
            <a:endParaRPr lang="en-US" dirty="0"/>
          </a:p>
          <a:p>
            <a:r>
              <a:rPr lang="en-US" dirty="0"/>
              <a:t>ICNF supplies observed fire history and outcomes. Copernicus CLC and DEM provide land-cover and terrain context. ERA5-Land supplies T-only warm-season climate context.</a:t>
            </a:r>
            <a:br>
              <a:rPr lang="en-US" dirty="0"/>
            </a:br>
            <a:endParaRPr lang="en-US" dirty="0"/>
          </a:p>
          <a:p>
            <a:r>
              <a:rPr lang="en-US" dirty="0"/>
              <a:t>The 2 km area is an outward context buffer around each 1 km cell, not a second grid. ERA5-Land values come from the coarse climate grid without interpolation or downscaling.</a:t>
            </a:r>
            <a:br>
              <a:rPr lang="en-US" dirty="0"/>
            </a:br>
            <a:endParaRPr lang="en-US" dirty="0"/>
          </a:p>
          <a:p>
            <a:r>
              <a:rPr lang="en-US" dirty="0"/>
              <a:t>[Sources]</a:t>
            </a:r>
            <a:br>
              <a:rPr lang="en-US" dirty="0"/>
            </a:br>
            <a:r>
              <a:rPr lang="en-US"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t>
            </a:r>
            <a:r>
              <a:rPr lang="en-US" dirty="0" err="1"/>
              <a:t>slode</a:t>
            </a:r>
            <a:r>
              <a:rPr lang="en-US" dirty="0"/>
              <a:t> shows observed historical evidence, official ICNF planning of burns and 2026 prediction.</a:t>
            </a:r>
          </a:p>
          <a:p>
            <a:r>
              <a:rPr lang="en-US" dirty="0"/>
              <a:t>Each 1 km cell is </a:t>
            </a:r>
            <a:r>
              <a:rPr lang="en-US" dirty="0" err="1"/>
              <a:t>coloured</a:t>
            </a:r>
            <a:r>
              <a:rPr lang="en-US" dirty="0"/>
              <a:t> by the number of distinct burned years from 2016–2025 within its mainland-masked 2 km context.</a:t>
            </a:r>
          </a:p>
          <a:p>
            <a:endParaRPr lang="en-US" dirty="0"/>
          </a:p>
          <a:p>
            <a:r>
              <a:rPr lang="en-US" dirty="0"/>
              <a:t>The three comparison layers should be read separately:</a:t>
            </a:r>
          </a:p>
          <a:p>
            <a:pPr>
              <a:buFont typeface="Arial" panose="020B0604020202020204" pitchFamily="34" charset="0"/>
              <a:buChar char="•"/>
            </a:pPr>
            <a:r>
              <a:rPr lang="en-US" b="1" dirty="0"/>
              <a:t>Historical recurrence:</a:t>
            </a:r>
            <a:r>
              <a:rPr lang="en-US" dirty="0"/>
              <a:t> what was observed to burn.</a:t>
            </a:r>
          </a:p>
          <a:p>
            <a:pPr>
              <a:buFont typeface="Arial" panose="020B0604020202020204" pitchFamily="34" charset="0"/>
              <a:buChar char="•"/>
            </a:pPr>
            <a:r>
              <a:rPr lang="en-US" b="1" dirty="0"/>
              <a:t>Official ICNF structural hazard:</a:t>
            </a:r>
            <a:r>
              <a:rPr lang="en-US" dirty="0"/>
              <a:t> an independent classification of underlying landscape hazard conditions.</a:t>
            </a:r>
          </a:p>
          <a:p>
            <a:pPr>
              <a:buFont typeface="Arial" panose="020B0604020202020204" pitchFamily="34" charset="0"/>
              <a:buChar char="•"/>
            </a:pPr>
            <a:r>
              <a:rPr lang="en-US" b="1" dirty="0"/>
              <a:t>2026 estimated comparative exposure:</a:t>
            </a:r>
            <a:r>
              <a:rPr lang="en-US" dirty="0"/>
              <a:t> the model’s target-free cell-level estimate based on predictor data.</a:t>
            </a:r>
          </a:p>
          <a:p>
            <a:pPr>
              <a:buFont typeface="Arial" panose="020B0604020202020204" pitchFamily="34" charset="0"/>
              <a:buChar char="•"/>
            </a:pPr>
            <a:endParaRPr lang="en-US" dirty="0"/>
          </a:p>
          <a:p>
            <a:r>
              <a:rPr lang="en-US" dirty="0"/>
              <a:t>These layers provide different types of evidence and should not be added together or interpreted as one score. The comparison helps identify broad areas for further investigation; it does not certify a location.</a:t>
            </a:r>
          </a:p>
          <a:p>
            <a:endParaRPr lang="en-US" dirty="0"/>
          </a:p>
          <a:p>
            <a:r>
              <a:rPr lang="en-US" dirty="0"/>
              <a:t>[Sources]</a:t>
            </a:r>
            <a:br>
              <a:rPr lang="en-US" dirty="0"/>
            </a:br>
            <a:r>
              <a:rPr lang="en-US" dirty="0"/>
              <a:t>reports/figures/historical_wildfire_exposure_screening_mainland_portugal.png; reports/validation/historical_exposure_screening_and_icnf_comparison.md; </a:t>
            </a:r>
            <a:r>
              <a:rPr lang="en-US" dirty="0" err="1"/>
              <a:t>qgis</a:t>
            </a:r>
            <a:r>
              <a:rPr lang="en-US"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speaker notes for Slide 4:</a:t>
            </a:r>
          </a:p>
          <a:p>
            <a:r>
              <a:rPr lang="en-US" dirty="0"/>
              <a:t>This slide compares two different types of wildfire evidence. Historical recurrence records what actually burned during 2016–2025, counting distinct burned years within the 2 km context around each 1 km cell.</a:t>
            </a:r>
            <a:br>
              <a:rPr lang="en-US" dirty="0"/>
            </a:br>
            <a:endParaRPr lang="en-US" dirty="0"/>
          </a:p>
          <a:p>
            <a:r>
              <a:rPr lang="en-US" dirty="0"/>
              <a:t>The official ICNF structural-hazard layer describes relatively persistent landscape conditions associated with wildfire hazard. Its original 25 m classes were </a:t>
            </a:r>
            <a:r>
              <a:rPr lang="en-US" dirty="0" err="1"/>
              <a:t>summarised</a:t>
            </a:r>
            <a:r>
              <a:rPr lang="en-US" dirty="0"/>
              <a:t> to the predominant class in each 1 km cell. It is an official reference layer, not a forecast and not the project’s ML output.</a:t>
            </a:r>
            <a:br>
              <a:rPr lang="en-US" dirty="0"/>
            </a:br>
            <a:endParaRPr lang="en-US" dirty="0"/>
          </a:p>
          <a:p>
            <a:r>
              <a:rPr lang="en-US" dirty="0"/>
              <a:t>The story is not that one layer is correct and the other is wrong. They answer different questions and use different methods. Areas where they agree provide consistent context; areas where they differ show where further investigation may be useful.</a:t>
            </a:r>
            <a:br>
              <a:rPr lang="en-US" dirty="0"/>
            </a:br>
            <a:endParaRPr lang="en-US" dirty="0"/>
          </a:p>
          <a:p>
            <a:r>
              <a:rPr lang="en-US" dirty="0"/>
              <a:t>The comparison is descriptive only. It is not a model-accuracy test, a buyer threshold or a certification of any location.</a:t>
            </a:r>
            <a:br>
              <a:rPr lang="en-US" dirty="0"/>
            </a:br>
            <a:endParaRPr lang="en-US" dirty="0"/>
          </a:p>
          <a:p>
            <a:r>
              <a:rPr lang="en-US" dirty="0"/>
              <a:t>[Sources]</a:t>
            </a:r>
            <a:br>
              <a:rPr lang="en-US" dirty="0"/>
            </a:br>
            <a:r>
              <a:rPr lang="en-US" dirty="0" err="1"/>
              <a:t>qgis</a:t>
            </a:r>
            <a:r>
              <a:rPr lang="en-US" dirty="0"/>
              <a:t>/README.md;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transparent historical-recurrence baseline with the nine-feature two-part regression model.</a:t>
            </a:r>
          </a:p>
          <a:p>
            <a:r>
              <a:rPr lang="en-US" dirty="0"/>
              <a:t>The baseline is a project-specific benchmark, not a library model. It groups training records by the number of previously burned years in the 2 km context and calculates the average next-year burned share for each group.</a:t>
            </a:r>
          </a:p>
          <a:p>
            <a:endParaRPr lang="en-US" dirty="0"/>
          </a:p>
          <a:p>
            <a:r>
              <a:rPr lang="en-US" dirty="0"/>
              <a:t>The nine-feature model uses scikit-</a:t>
            </a:r>
            <a:r>
              <a:rPr lang="en-US" dirty="0" err="1"/>
              <a:t>learn’s</a:t>
            </a:r>
            <a:r>
              <a:rPr lang="en-US" dirty="0"/>
              <a:t> </a:t>
            </a:r>
            <a:r>
              <a:rPr lang="en-US" dirty="0" err="1"/>
              <a:t>HistGradientBoosting</a:t>
            </a:r>
            <a:r>
              <a:rPr lang="en-US" dirty="0"/>
              <a:t> algorithms. One component handles whether burning is expected; the other estimates how much of the cell may burn when burning occurs. Together, they produce one continuous burned-share estimate for the following year.</a:t>
            </a:r>
          </a:p>
          <a:p>
            <a:r>
              <a:rPr lang="en-US" dirty="0"/>
              <a:t>The table shows the frozen final temporal comparison. The arrows run from the historical baseline to the nine-feature model. MAE measures average burned-share error; RMSE gives more weight to larger errors.</a:t>
            </a:r>
          </a:p>
          <a:p>
            <a:endParaRPr lang="en-US" dirty="0"/>
          </a:p>
          <a:p>
            <a:r>
              <a:rPr lang="en-US" dirty="0"/>
              <a:t>Yes, that makes sense. Use explicit predictor and outcome years:</a:t>
            </a:r>
          </a:p>
          <a:p>
            <a:r>
              <a:rPr lang="en-US" b="1" dirty="0"/>
              <a:t>Capture@20% is a validation test of the ranking.</a:t>
            </a:r>
            <a:r>
              <a:rPr lang="en-US" dirty="0"/>
              <a:t> For each predictor year, the model ranks cells using data from year </a:t>
            </a:r>
            <a:r>
              <a:rPr lang="en-US" b="1" dirty="0"/>
              <a:t>T</a:t>
            </a:r>
            <a:r>
              <a:rPr lang="en-US" dirty="0"/>
              <a:t> and estimates burned share for </a:t>
            </a:r>
            <a:r>
              <a:rPr lang="en-US" b="1" dirty="0"/>
              <a:t>T+1</a:t>
            </a:r>
            <a:r>
              <a:rPr lang="en-US" dirty="0"/>
              <a:t>. For example, for </a:t>
            </a:r>
            <a:r>
              <a:rPr lang="en-US" b="1" dirty="0"/>
              <a:t>T = 2024</a:t>
            </a:r>
            <a:r>
              <a:rPr lang="en-US" dirty="0"/>
              <a:t>, it ranks cells using 2024 predictor data and is later checked against the actual ICNF burned areas observed in </a:t>
            </a:r>
            <a:r>
              <a:rPr lang="en-US" b="1" dirty="0"/>
              <a:t>2025</a:t>
            </a:r>
            <a:r>
              <a:rPr lang="en-US" dirty="0"/>
              <a:t>.</a:t>
            </a:r>
          </a:p>
          <a:p>
            <a:r>
              <a:rPr lang="en-US" dirty="0"/>
              <a:t>The final evaluation covers the year pairs </a:t>
            </a:r>
            <a:r>
              <a:rPr lang="en-US" b="1" dirty="0"/>
              <a:t>2022→2023, 2023→2024 and 2024→2025</a:t>
            </a:r>
            <a:r>
              <a:rPr lang="en-US" dirty="0"/>
              <a:t>. For each pair, we select the highest-scored 20% of cells and measure how much of the burned share observed in </a:t>
            </a:r>
            <a:r>
              <a:rPr lang="en-US" b="1" dirty="0"/>
              <a:t>T+1</a:t>
            </a:r>
            <a:r>
              <a:rPr lang="en-US" dirty="0"/>
              <a:t> occurred in those cells.</a:t>
            </a:r>
          </a:p>
          <a:p>
            <a:r>
              <a:rPr lang="en-US" dirty="0"/>
              <a:t>Across the final test, the historical baseline captured </a:t>
            </a:r>
            <a:r>
              <a:rPr lang="en-US" b="1" dirty="0"/>
              <a:t>48.2%</a:t>
            </a:r>
            <a:r>
              <a:rPr lang="en-US" dirty="0"/>
              <a:t> of observed burned share in its top-ranked 20% of cells. The nine-feature model captured </a:t>
            </a:r>
            <a:r>
              <a:rPr lang="en-US" b="1" dirty="0"/>
              <a:t>50.0%</a:t>
            </a:r>
            <a:r>
              <a:rPr lang="en-US" dirty="0"/>
              <a:t>.</a:t>
            </a:r>
          </a:p>
          <a:p>
            <a:r>
              <a:rPr lang="en-US" dirty="0"/>
              <a:t>This does not mean that 20% of the land burned. It is only a retrospective ranking diagnostic. In a future cycle, the same logic would apply to </a:t>
            </a:r>
            <a:r>
              <a:rPr lang="en-US" b="1" dirty="0"/>
              <a:t>2035→2036</a:t>
            </a:r>
            <a:r>
              <a:rPr lang="en-US" dirty="0"/>
              <a:t>, but only after the 2036 outcome data became available.</a:t>
            </a:r>
          </a:p>
          <a:p>
            <a:endParaRPr lang="en-US" dirty="0"/>
          </a:p>
          <a:p>
            <a:r>
              <a:rPr lang="en-US" dirty="0"/>
              <a:t>[Sources]</a:t>
            </a:r>
            <a:br>
              <a:rPr lang="en-US" dirty="0"/>
            </a:br>
            <a:r>
              <a:rPr lang="en-US" dirty="0"/>
              <a:t>reports/validation/model_final_decision.md;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the practical use of the project. The 2026 QGIS layer is a comparative, target-free model estimate. It helps narrow broad location-search areas for more detailed investigation. </a:t>
            </a:r>
            <a:r>
              <a:t>The estimate is cell-level context and must be followed by local evidence.</a:t>
            </a:r>
          </a:p>
          <a:p>
            <a:endParaRPr/>
          </a:p>
          <a:p>
            <a:r>
              <a:rPr dirty="0"/>
              <a:t>[Sources]</a:t>
            </a:r>
          </a:p>
          <a:p>
            <a:r>
              <a:rPr dirty="0" err="1"/>
              <a:t>qgis</a:t>
            </a:r>
            <a:r>
              <a:rPr dirty="0"/>
              <a:t>/wildfire_exposure_screening_portugal_2026.qgz;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narrows the broad search area, then hands the decision to local investigation. Read the three layers together, keep their source roles distinct, and retain traceability when the annual update is run.</a:t>
            </a:r>
          </a:p>
          <a:p>
            <a:endParaRPr/>
          </a:p>
          <a:p>
            <a:r>
              <a:t>[Sources]</a:t>
            </a:r>
          </a:p>
          <a:p>
            <a:r>
              <a:t>README.md; docs/operational_forecast_cycle.md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with the repeatable project cycle: refresh completed-year inputs, rebuild the target-free estimate, use the maps to narrow broad areas, and evaluate the estimate when the observed outcome becomes available. The project’s practical result is a focused search area and a traceable evidence workflow.</a:t>
            </a:r>
          </a:p>
          <a:p>
            <a:endParaRPr/>
          </a:p>
          <a:p>
            <a:r>
              <a:t>[Sources]</a:t>
            </a:r>
          </a:p>
          <a:p>
            <a:r>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&amp; ML CAPSTONE</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1</a:t>
            </a:r>
            <a:endParaRPr sz="1100"/>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dirty="0">
                <a:solidFill>
                  <a:srgbClr val="1A2638"/>
                </a:solidFill>
              </a:rPr>
              <a:t>Historical wildfire recurrence is uneven across mainland Portugal</a:t>
            </a:r>
            <a:r>
              <a:rPr lang="en-US" sz="1600" b="1" dirty="0">
                <a:solidFill>
                  <a:srgbClr val="1A2638"/>
                </a:solidFill>
              </a:rPr>
              <a:t> (left map)</a:t>
            </a:r>
            <a:endParaRPr sz="1600" dirty="0"/>
          </a:p>
        </p:txBody>
      </p:sp>
      <p:sp>
        <p:nvSpPr>
          <p:cNvPr id="8" name="Shape 6">
            <a:extLst>
              <a:ext uri="{FF2B5EF4-FFF2-40B4-BE49-F238E27FC236}">
                <a16:creationId xmlns:a16="http://schemas.microsoft.com/office/drawing/2014/main" id="{021BB8D3-723F-4991-A475-17320C3772BC}"/>
              </a:ext>
            </a:extLst>
          </p:cNvPr>
          <p:cNvSpPr>
            <a:spLocks noGrp="1"/>
          </p:cNvSpPr>
          <p:nvPr/>
        </p:nvSpPr>
        <p:spPr>
          <a:xfrm>
            <a:off x="274320" y="1298448"/>
            <a:ext cx="8595360" cy="749808"/>
          </a:xfrm>
          <a:prstGeom prst="rect">
            <a:avLst/>
          </a:prstGeom>
          <a:solidFill>
            <a:srgbClr val="FDE8E8"/>
          </a:solidFill>
          <a:ln w="12700">
            <a:solidFill>
              <a:srgbClr val="C0392B"/>
            </a:solidFill>
            <a:prstDash val="solid"/>
          </a:ln>
        </p:spPr>
      </p:sp>
      <p:sp>
        <p:nvSpPr>
          <p:cNvPr id="9" name="Shape 7">
            <a:extLst>
              <a:ext uri="{FF2B5EF4-FFF2-40B4-BE49-F238E27FC236}">
                <a16:creationId xmlns:a16="http://schemas.microsoft.com/office/drawing/2014/main" id="{B4EBC4C6-D447-4B5F-9E95-5E50F6C0F1DC}"/>
              </a:ext>
            </a:extLst>
          </p:cNvPr>
          <p:cNvSpPr>
            <a:spLocks noGrp="1"/>
          </p:cNvSpPr>
          <p:nvPr/>
        </p:nvSpPr>
        <p:spPr>
          <a:xfrm>
            <a:off x="274320" y="1298448"/>
            <a:ext cx="128016" cy="749808"/>
          </a:xfrm>
          <a:prstGeom prst="rect">
            <a:avLst/>
          </a:prstGeom>
          <a:solidFill>
            <a:srgbClr val="C0392B"/>
          </a:solidFill>
          <a:ln w="12700">
            <a:solidFill>
              <a:srgbClr val="C0392B"/>
            </a:solidFill>
            <a:prstDash val="solid"/>
          </a:ln>
        </p:spPr>
      </p:sp>
      <p:sp>
        <p:nvSpPr>
          <p:cNvPr id="10" name="Text 8">
            <a:extLst>
              <a:ext uri="{FF2B5EF4-FFF2-40B4-BE49-F238E27FC236}">
                <a16:creationId xmlns:a16="http://schemas.microsoft.com/office/drawing/2014/main" id="{AF3F9A90-A64A-44E4-8B61-269E127D3AC6}"/>
              </a:ext>
            </a:extLst>
          </p:cNvPr>
          <p:cNvSpPr>
            <a:spLocks noGrp="1"/>
          </p:cNvSpPr>
          <p:nvPr/>
        </p:nvSpPr>
        <p:spPr>
          <a:xfrm>
            <a:off x="475488" y="1298448"/>
            <a:ext cx="411480" cy="749808"/>
          </a:xfrm>
          <a:prstGeom prst="rect">
            <a:avLst/>
          </a:prstGeom>
          <a:noFill/>
        </p:spPr>
        <p:txBody>
          <a:bodyPr wrap="square" lIns="0" tIns="0" rIns="0" bIns="0" anchor="ctr"/>
          <a:lstStyle/>
          <a:p>
            <a:pPr marL="0" indent="0" algn="ctr">
              <a:buNone/>
            </a:pPr>
            <a:r>
              <a:rPr sz="1800" b="1">
                <a:solidFill>
                  <a:srgbClr val="C0392B"/>
                </a:solidFill>
              </a:rPr>
              <a:t>01</a:t>
            </a:r>
            <a:endParaRPr sz="1800"/>
          </a:p>
        </p:txBody>
      </p:sp>
      <p:sp>
        <p:nvSpPr>
          <p:cNvPr id="11" name="Text 9">
            <a:extLst>
              <a:ext uri="{FF2B5EF4-FFF2-40B4-BE49-F238E27FC236}">
                <a16:creationId xmlns:a16="http://schemas.microsoft.com/office/drawing/2014/main" id="{EECD7901-FF1F-4AD5-BD05-D2EAF149B834}"/>
              </a:ext>
            </a:extLst>
          </p:cNvPr>
          <p:cNvSpPr>
            <a:spLocks noGrp="1"/>
          </p:cNvSpPr>
          <p:nvPr/>
        </p:nvSpPr>
        <p:spPr>
          <a:xfrm>
            <a:off x="932688" y="1353312"/>
            <a:ext cx="4114800" cy="310896"/>
          </a:xfrm>
          <a:prstGeom prst="rect">
            <a:avLst/>
          </a:prstGeom>
          <a:noFill/>
        </p:spPr>
        <p:txBody>
          <a:bodyPr wrap="square" lIns="0" tIns="0" rIns="0" bIns="0" anchor="ctr"/>
          <a:lstStyle/>
          <a:p>
            <a:pPr marL="0" indent="0">
              <a:buNone/>
            </a:pPr>
            <a:r>
              <a:rPr sz="1000" b="1">
                <a:solidFill>
                  <a:srgbClr val="1A2638"/>
                </a:solidFill>
              </a:rPr>
              <a:t>Reading the slides out loud</a:t>
            </a:r>
            <a:endParaRPr sz="1000"/>
          </a:p>
        </p:txBody>
      </p:sp>
      <p:sp>
        <p:nvSpPr>
          <p:cNvPr id="12" name="Text 10">
            <a:extLst>
              <a:ext uri="{FF2B5EF4-FFF2-40B4-BE49-F238E27FC236}">
                <a16:creationId xmlns:a16="http://schemas.microsoft.com/office/drawing/2014/main" id="{99D47A8B-8774-4620-BDFB-D07CF55F8ABB}"/>
              </a:ext>
            </a:extLst>
          </p:cNvPr>
          <p:cNvSpPr>
            <a:spLocks noGrp="1"/>
          </p:cNvSpPr>
          <p:nvPr/>
        </p:nvSpPr>
        <p:spPr>
          <a:xfrm>
            <a:off x="932688" y="1664208"/>
            <a:ext cx="7772400" cy="347472"/>
          </a:xfrm>
          <a:prstGeom prst="rect">
            <a:avLst/>
          </a:prstGeom>
          <a:noFill/>
        </p:spPr>
        <p:txBody>
          <a:bodyPr wrap="square" lIns="0" tIns="0" rIns="0" bIns="0" anchor="t"/>
          <a:lstStyle/>
          <a:p>
            <a:pPr marL="0" indent="0">
              <a:buNone/>
            </a:pPr>
            <a:r>
              <a:rPr sz="850" b="1">
                <a:solidFill>
                  <a:srgbClr val="C0392B"/>
                </a:solidFill>
              </a:rPr>
              <a:t>Fix: </a:t>
            </a:r>
            <a:r>
              <a:rPr sz="850">
                <a:solidFill>
                  <a:srgbClr val="1A2638"/>
                </a:solidFill>
              </a:rPr>
              <a:t>Your slides show the chart. You explain what it means. Script: "This chart shows X — what's interesting is Y, because Z."</a:t>
            </a:r>
            <a:endParaRPr sz="850"/>
          </a:p>
        </p:txBody>
      </p:sp>
      <p:sp>
        <p:nvSpPr>
          <p:cNvPr id="13" name="Shape 11">
            <a:extLst>
              <a:ext uri="{FF2B5EF4-FFF2-40B4-BE49-F238E27FC236}">
                <a16:creationId xmlns:a16="http://schemas.microsoft.com/office/drawing/2014/main" id="{9AF904D4-1953-4361-98CD-B6C1318DAD13}"/>
              </a:ext>
            </a:extLst>
          </p:cNvPr>
          <p:cNvSpPr>
            <a:spLocks noGrp="1"/>
          </p:cNvSpPr>
          <p:nvPr/>
        </p:nvSpPr>
        <p:spPr>
          <a:xfrm>
            <a:off x="274320" y="2121408"/>
            <a:ext cx="8595360" cy="749808"/>
          </a:xfrm>
          <a:prstGeom prst="rect">
            <a:avLst/>
          </a:prstGeom>
          <a:solidFill>
            <a:srgbClr val="FEF3E2"/>
          </a:solidFill>
          <a:ln w="12700">
            <a:solidFill>
              <a:srgbClr val="E67E22"/>
            </a:solidFill>
            <a:prstDash val="solid"/>
          </a:ln>
        </p:spPr>
      </p:sp>
      <p:sp>
        <p:nvSpPr>
          <p:cNvPr id="14" name="Shape 12">
            <a:extLst>
              <a:ext uri="{FF2B5EF4-FFF2-40B4-BE49-F238E27FC236}">
                <a16:creationId xmlns:a16="http://schemas.microsoft.com/office/drawing/2014/main" id="{26F18261-0B59-40F2-909D-5E0D887A7F2D}"/>
              </a:ext>
            </a:extLst>
          </p:cNvPr>
          <p:cNvSpPr>
            <a:spLocks noGrp="1"/>
          </p:cNvSpPr>
          <p:nvPr/>
        </p:nvSpPr>
        <p:spPr>
          <a:xfrm>
            <a:off x="274320" y="2121408"/>
            <a:ext cx="128016" cy="749808"/>
          </a:xfrm>
          <a:prstGeom prst="rect">
            <a:avLst/>
          </a:prstGeom>
          <a:solidFill>
            <a:srgbClr val="E67E22"/>
          </a:solidFill>
          <a:ln w="12700">
            <a:solidFill>
              <a:srgbClr val="E67E22"/>
            </a:solidFill>
            <a:prstDash val="solid"/>
          </a:ln>
        </p:spPr>
      </p:sp>
      <p:sp>
        <p:nvSpPr>
          <p:cNvPr id="15" name="Text 13">
            <a:extLst>
              <a:ext uri="{FF2B5EF4-FFF2-40B4-BE49-F238E27FC236}">
                <a16:creationId xmlns:a16="http://schemas.microsoft.com/office/drawing/2014/main" id="{324C7072-A5D1-41E5-AF09-50C809B5F6AC}"/>
              </a:ext>
            </a:extLst>
          </p:cNvPr>
          <p:cNvSpPr>
            <a:spLocks noGrp="1"/>
          </p:cNvSpPr>
          <p:nvPr/>
        </p:nvSpPr>
        <p:spPr>
          <a:xfrm>
            <a:off x="475488" y="2121408"/>
            <a:ext cx="411480" cy="749808"/>
          </a:xfrm>
          <a:prstGeom prst="rect">
            <a:avLst/>
          </a:prstGeom>
          <a:noFill/>
        </p:spPr>
        <p:txBody>
          <a:bodyPr wrap="square" lIns="0" tIns="0" rIns="0" bIns="0" anchor="ctr"/>
          <a:lstStyle/>
          <a:p>
            <a:pPr marL="0" indent="0" algn="ctr">
              <a:buNone/>
            </a:pPr>
            <a:r>
              <a:rPr sz="1800" b="1">
                <a:solidFill>
                  <a:srgbClr val="E67E22"/>
                </a:solidFill>
              </a:rPr>
              <a:t>02</a:t>
            </a:r>
            <a:endParaRPr sz="1800"/>
          </a:p>
        </p:txBody>
      </p:sp>
      <p:sp>
        <p:nvSpPr>
          <p:cNvPr id="16" name="Text 14">
            <a:extLst>
              <a:ext uri="{FF2B5EF4-FFF2-40B4-BE49-F238E27FC236}">
                <a16:creationId xmlns:a16="http://schemas.microsoft.com/office/drawing/2014/main" id="{A194C2BB-26D7-41F8-99E2-0E08561EB4B3}"/>
              </a:ext>
            </a:extLst>
          </p:cNvPr>
          <p:cNvSpPr>
            <a:spLocks noGrp="1"/>
          </p:cNvSpPr>
          <p:nvPr/>
        </p:nvSpPr>
        <p:spPr>
          <a:xfrm>
            <a:off x="932688" y="2176272"/>
            <a:ext cx="4114800" cy="310896"/>
          </a:xfrm>
          <a:prstGeom prst="rect">
            <a:avLst/>
          </a:prstGeom>
          <a:noFill/>
        </p:spPr>
        <p:txBody>
          <a:bodyPr wrap="square" lIns="0" tIns="0" rIns="0" bIns="0" anchor="ctr"/>
          <a:lstStyle/>
          <a:p>
            <a:pPr marL="0" indent="0">
              <a:buNone/>
            </a:pPr>
            <a:r>
              <a:rPr sz="1000" b="1">
                <a:solidFill>
                  <a:srgbClr val="1A2638"/>
                </a:solidFill>
              </a:rPr>
              <a:t>Too many charts, not enough story</a:t>
            </a:r>
            <a:endParaRPr sz="1000"/>
          </a:p>
        </p:txBody>
      </p:sp>
      <p:sp>
        <p:nvSpPr>
          <p:cNvPr id="17" name="Text 15">
            <a:extLst>
              <a:ext uri="{FF2B5EF4-FFF2-40B4-BE49-F238E27FC236}">
                <a16:creationId xmlns:a16="http://schemas.microsoft.com/office/drawing/2014/main" id="{E04F7CD5-4B32-4EC8-B1FA-B54C12F261F5}"/>
              </a:ext>
            </a:extLst>
          </p:cNvPr>
          <p:cNvSpPr>
            <a:spLocks noGrp="1"/>
          </p:cNvSpPr>
          <p:nvPr/>
        </p:nvSpPr>
        <p:spPr>
          <a:xfrm>
            <a:off x="932688" y="2487168"/>
            <a:ext cx="7772400" cy="347472"/>
          </a:xfrm>
          <a:prstGeom prst="rect">
            <a:avLst/>
          </a:prstGeom>
          <a:noFill/>
        </p:spPr>
        <p:txBody>
          <a:bodyPr wrap="square" lIns="0" tIns="0" rIns="0" bIns="0" anchor="t"/>
          <a:lstStyle/>
          <a:p>
            <a:pPr marL="0" indent="0">
              <a:buNone/>
            </a:pPr>
            <a:r>
              <a:rPr sz="850" b="1">
                <a:solidFill>
                  <a:srgbClr val="E67E22"/>
                </a:solidFill>
              </a:rPr>
              <a:t>Fix: </a:t>
            </a:r>
            <a:r>
              <a:rPr sz="850">
                <a:solidFill>
                  <a:srgbClr val="1A2638"/>
                </a:solidFill>
              </a:rPr>
              <a:t>Max 1 chart per slide. Ask: does removing this chart break the argument? If not, cut it.</a:t>
            </a:r>
            <a:endParaRPr sz="850"/>
          </a:p>
        </p:txBody>
      </p:sp>
      <p:sp>
        <p:nvSpPr>
          <p:cNvPr id="18" name="Shape 16">
            <a:extLst>
              <a:ext uri="{FF2B5EF4-FFF2-40B4-BE49-F238E27FC236}">
                <a16:creationId xmlns:a16="http://schemas.microsoft.com/office/drawing/2014/main" id="{35666D60-5174-46D3-A3BC-CBDD5C36493C}"/>
              </a:ext>
            </a:extLst>
          </p:cNvPr>
          <p:cNvSpPr>
            <a:spLocks noGrp="1"/>
          </p:cNvSpPr>
          <p:nvPr/>
        </p:nvSpPr>
        <p:spPr>
          <a:xfrm>
            <a:off x="274320" y="2944368"/>
            <a:ext cx="8595360" cy="749808"/>
          </a:xfrm>
          <a:prstGeom prst="rect">
            <a:avLst/>
          </a:prstGeom>
          <a:solidFill>
            <a:srgbClr val="EBF0FD"/>
          </a:solidFill>
          <a:ln w="12700">
            <a:solidFill>
              <a:srgbClr val="2E6DB4"/>
            </a:solidFill>
            <a:prstDash val="solid"/>
          </a:ln>
        </p:spPr>
      </p:sp>
      <p:sp>
        <p:nvSpPr>
          <p:cNvPr id="19" name="Shape 17">
            <a:extLst>
              <a:ext uri="{FF2B5EF4-FFF2-40B4-BE49-F238E27FC236}">
                <a16:creationId xmlns:a16="http://schemas.microsoft.com/office/drawing/2014/main" id="{4CEC4C53-0577-45FB-8EDC-DA224AD08FAD}"/>
              </a:ext>
            </a:extLst>
          </p:cNvPr>
          <p:cNvSpPr>
            <a:spLocks noGrp="1"/>
          </p:cNvSpPr>
          <p:nvPr/>
        </p:nvSpPr>
        <p:spPr>
          <a:xfrm>
            <a:off x="274320" y="2944368"/>
            <a:ext cx="128016" cy="749808"/>
          </a:xfrm>
          <a:prstGeom prst="rect">
            <a:avLst/>
          </a:prstGeom>
          <a:solidFill>
            <a:srgbClr val="2E6DB4"/>
          </a:solidFill>
          <a:ln w="12700">
            <a:solidFill>
              <a:srgbClr val="2E6DB4"/>
            </a:solidFill>
            <a:prstDash val="solid"/>
          </a:ln>
        </p:spPr>
      </p:sp>
      <p:sp>
        <p:nvSpPr>
          <p:cNvPr id="20" name="Text 18">
            <a:extLst>
              <a:ext uri="{FF2B5EF4-FFF2-40B4-BE49-F238E27FC236}">
                <a16:creationId xmlns:a16="http://schemas.microsoft.com/office/drawing/2014/main" id="{59F80E8F-8BB5-41D6-83D6-61200F38318E}"/>
              </a:ext>
            </a:extLst>
          </p:cNvPr>
          <p:cNvSpPr>
            <a:spLocks noGrp="1"/>
          </p:cNvSpPr>
          <p:nvPr/>
        </p:nvSpPr>
        <p:spPr>
          <a:xfrm>
            <a:off x="475488" y="2944368"/>
            <a:ext cx="411480" cy="749808"/>
          </a:xfrm>
          <a:prstGeom prst="rect">
            <a:avLst/>
          </a:prstGeom>
          <a:noFill/>
        </p:spPr>
        <p:txBody>
          <a:bodyPr wrap="square" lIns="0" tIns="0" rIns="0" bIns="0" anchor="ctr"/>
          <a:lstStyle/>
          <a:p>
            <a:pPr marL="0" indent="0" algn="ctr">
              <a:buNone/>
            </a:pPr>
            <a:r>
              <a:rPr sz="1800" b="1">
                <a:solidFill>
                  <a:srgbClr val="2E6DB4"/>
                </a:solidFill>
              </a:rPr>
              <a:t>03</a:t>
            </a:r>
            <a:endParaRPr sz="1800"/>
          </a:p>
        </p:txBody>
      </p:sp>
      <p:sp>
        <p:nvSpPr>
          <p:cNvPr id="21" name="Text 19">
            <a:extLst>
              <a:ext uri="{FF2B5EF4-FFF2-40B4-BE49-F238E27FC236}">
                <a16:creationId xmlns:a16="http://schemas.microsoft.com/office/drawing/2014/main" id="{96F4D743-7166-4C64-ACF2-234AB2EC7C8C}"/>
              </a:ext>
            </a:extLst>
          </p:cNvPr>
          <p:cNvSpPr>
            <a:spLocks noGrp="1"/>
          </p:cNvSpPr>
          <p:nvPr/>
        </p:nvSpPr>
        <p:spPr>
          <a:xfrm>
            <a:off x="932688" y="2999232"/>
            <a:ext cx="4114800" cy="310896"/>
          </a:xfrm>
          <a:prstGeom prst="rect">
            <a:avLst/>
          </a:prstGeom>
          <a:noFill/>
        </p:spPr>
        <p:txBody>
          <a:bodyPr wrap="square" lIns="0" tIns="0" rIns="0" bIns="0" anchor="ctr"/>
          <a:lstStyle/>
          <a:p>
            <a:pPr marL="0" indent="0">
              <a:buNone/>
            </a:pPr>
            <a:r>
              <a:rPr sz="1000" b="1">
                <a:solidFill>
                  <a:srgbClr val="1A2638"/>
                </a:solidFill>
              </a:rPr>
              <a:t>Data without context</a:t>
            </a:r>
            <a:endParaRPr sz="1000"/>
          </a:p>
        </p:txBody>
      </p:sp>
      <p:sp>
        <p:nvSpPr>
          <p:cNvPr id="22" name="Text 20">
            <a:extLst>
              <a:ext uri="{FF2B5EF4-FFF2-40B4-BE49-F238E27FC236}">
                <a16:creationId xmlns:a16="http://schemas.microsoft.com/office/drawing/2014/main" id="{3D3590A5-0038-4FF2-9E08-71324661CCA1}"/>
              </a:ext>
            </a:extLst>
          </p:cNvPr>
          <p:cNvSpPr>
            <a:spLocks noGrp="1"/>
          </p:cNvSpPr>
          <p:nvPr/>
        </p:nvSpPr>
        <p:spPr>
          <a:xfrm>
            <a:off x="932688" y="3310128"/>
            <a:ext cx="7772400" cy="347472"/>
          </a:xfrm>
          <a:prstGeom prst="rect">
            <a:avLst/>
          </a:prstGeom>
          <a:noFill/>
        </p:spPr>
        <p:txBody>
          <a:bodyPr wrap="square" lIns="0" tIns="0" rIns="0" bIns="0" anchor="t"/>
          <a:lstStyle/>
          <a:p>
            <a:pPr marL="0" indent="0">
              <a:buNone/>
            </a:pPr>
            <a:r>
              <a:rPr sz="850" b="1">
                <a:solidFill>
                  <a:srgbClr val="2E6DB4"/>
                </a:solidFill>
              </a:rPr>
              <a:t>Fix: </a:t>
            </a:r>
            <a:r>
              <a:rPr sz="850">
                <a:solidFill>
                  <a:srgbClr val="1A2638"/>
                </a:solidFill>
              </a:rPr>
              <a:t>Always say what the number means relative to something. "€1,847 average" means nothing. "€1,847 — 3x higher than online courses" means something.</a:t>
            </a:r>
            <a:endParaRPr sz="850"/>
          </a:p>
        </p:txBody>
      </p:sp>
      <p:sp>
        <p:nvSpPr>
          <p:cNvPr id="23" name="Shape 21">
            <a:extLst>
              <a:ext uri="{FF2B5EF4-FFF2-40B4-BE49-F238E27FC236}">
                <a16:creationId xmlns:a16="http://schemas.microsoft.com/office/drawing/2014/main" id="{DF6DDFBC-DA0D-4E16-8419-87C24D8B083F}"/>
              </a:ext>
            </a:extLst>
          </p:cNvPr>
          <p:cNvSpPr>
            <a:spLocks noGrp="1"/>
          </p:cNvSpPr>
          <p:nvPr/>
        </p:nvSpPr>
        <p:spPr>
          <a:xfrm>
            <a:off x="274320" y="3767328"/>
            <a:ext cx="8595360" cy="749808"/>
          </a:xfrm>
          <a:prstGeom prst="rect">
            <a:avLst/>
          </a:prstGeom>
          <a:solidFill>
            <a:srgbClr val="F3E8F7"/>
          </a:solidFill>
          <a:ln w="12700">
            <a:solidFill>
              <a:srgbClr val="7B2D8B"/>
            </a:solidFill>
            <a:prstDash val="solid"/>
          </a:ln>
        </p:spPr>
      </p:sp>
      <p:sp>
        <p:nvSpPr>
          <p:cNvPr id="24" name="Shape 22">
            <a:extLst>
              <a:ext uri="{FF2B5EF4-FFF2-40B4-BE49-F238E27FC236}">
                <a16:creationId xmlns:a16="http://schemas.microsoft.com/office/drawing/2014/main" id="{4B71F646-FDF1-472F-894C-B09E4E53D18F}"/>
              </a:ext>
            </a:extLst>
          </p:cNvPr>
          <p:cNvSpPr>
            <a:spLocks noGrp="1"/>
          </p:cNvSpPr>
          <p:nvPr/>
        </p:nvSpPr>
        <p:spPr>
          <a:xfrm>
            <a:off x="274320" y="3767328"/>
            <a:ext cx="128016" cy="749808"/>
          </a:xfrm>
          <a:prstGeom prst="rect">
            <a:avLst/>
          </a:prstGeom>
          <a:solidFill>
            <a:srgbClr val="7B2D8B"/>
          </a:solidFill>
          <a:ln w="12700">
            <a:solidFill>
              <a:srgbClr val="7B2D8B"/>
            </a:solidFill>
            <a:prstDash val="solid"/>
          </a:ln>
        </p:spPr>
      </p:sp>
      <p:sp>
        <p:nvSpPr>
          <p:cNvPr id="25" name="Text 23">
            <a:extLst>
              <a:ext uri="{FF2B5EF4-FFF2-40B4-BE49-F238E27FC236}">
                <a16:creationId xmlns:a16="http://schemas.microsoft.com/office/drawing/2014/main" id="{3001E16E-E869-4684-B29F-D534238B7E05}"/>
              </a:ext>
            </a:extLst>
          </p:cNvPr>
          <p:cNvSpPr>
            <a:spLocks noGrp="1"/>
          </p:cNvSpPr>
          <p:nvPr/>
        </p:nvSpPr>
        <p:spPr>
          <a:xfrm>
            <a:off x="475488" y="3767328"/>
            <a:ext cx="411480" cy="749808"/>
          </a:xfrm>
          <a:prstGeom prst="rect">
            <a:avLst/>
          </a:prstGeom>
          <a:noFill/>
        </p:spPr>
        <p:txBody>
          <a:bodyPr wrap="square" lIns="0" tIns="0" rIns="0" bIns="0" anchor="ctr"/>
          <a:lstStyle/>
          <a:p>
            <a:pPr marL="0" indent="0" algn="ctr">
              <a:buNone/>
            </a:pPr>
            <a:r>
              <a:rPr sz="1800" b="1">
                <a:solidFill>
                  <a:srgbClr val="7B2D8B"/>
                </a:solidFill>
              </a:rPr>
              <a:t>04</a:t>
            </a:r>
            <a:endParaRPr sz="1800"/>
          </a:p>
        </p:txBody>
      </p:sp>
      <p:sp>
        <p:nvSpPr>
          <p:cNvPr id="26" name="Text 24">
            <a:extLst>
              <a:ext uri="{FF2B5EF4-FFF2-40B4-BE49-F238E27FC236}">
                <a16:creationId xmlns:a16="http://schemas.microsoft.com/office/drawing/2014/main" id="{142521F6-A952-4571-99D0-D1B95A87A2CF}"/>
              </a:ext>
            </a:extLst>
          </p:cNvPr>
          <p:cNvSpPr>
            <a:spLocks noGrp="1"/>
          </p:cNvSpPr>
          <p:nvPr/>
        </p:nvSpPr>
        <p:spPr>
          <a:xfrm>
            <a:off x="932688" y="3822192"/>
            <a:ext cx="4114800" cy="310896"/>
          </a:xfrm>
          <a:prstGeom prst="rect">
            <a:avLst/>
          </a:prstGeom>
          <a:noFill/>
        </p:spPr>
        <p:txBody>
          <a:bodyPr wrap="square" lIns="0" tIns="0" rIns="0" bIns="0" anchor="ctr"/>
          <a:lstStyle/>
          <a:p>
            <a:pPr marL="0" indent="0">
              <a:buNone/>
            </a:pPr>
            <a:r>
              <a:rPr sz="1000" b="1">
                <a:solidFill>
                  <a:srgbClr val="1A2638"/>
                </a:solidFill>
              </a:rPr>
              <a:t>Weak conclusions</a:t>
            </a:r>
            <a:endParaRPr sz="1000"/>
          </a:p>
        </p:txBody>
      </p:sp>
      <p:sp>
        <p:nvSpPr>
          <p:cNvPr id="27" name="Text 25">
            <a:extLst>
              <a:ext uri="{FF2B5EF4-FFF2-40B4-BE49-F238E27FC236}">
                <a16:creationId xmlns:a16="http://schemas.microsoft.com/office/drawing/2014/main" id="{1DE35A4F-5401-4E71-BF6E-CE246A9E00A6}"/>
              </a:ext>
            </a:extLst>
          </p:cNvPr>
          <p:cNvSpPr>
            <a:spLocks noGrp="1"/>
          </p:cNvSpPr>
          <p:nvPr/>
        </p:nvSpPr>
        <p:spPr>
          <a:xfrm>
            <a:off x="932688" y="4133088"/>
            <a:ext cx="7772400" cy="347472"/>
          </a:xfrm>
          <a:prstGeom prst="rect">
            <a:avLst/>
          </a:prstGeom>
          <a:noFill/>
        </p:spPr>
        <p:txBody>
          <a:bodyPr wrap="square" lIns="0" tIns="0" rIns="0" bIns="0" anchor="t"/>
          <a:lstStyle/>
          <a:p>
            <a:pPr marL="0" indent="0">
              <a:buNone/>
            </a:pPr>
            <a:r>
              <a:rPr sz="850" b="1">
                <a:solidFill>
                  <a:srgbClr val="7B2D8B"/>
                </a:solidFill>
              </a:rPr>
              <a:t>Fix: </a:t>
            </a:r>
            <a:r>
              <a:rPr sz="850">
                <a:solidFill>
                  <a:srgbClr val="1A2638"/>
                </a:solidFill>
              </a:rPr>
              <a:t>Ban "in conclusion, more research may be needed." Replace with: "We recommend X. The data supports this because Y."</a:t>
            </a:r>
            <a:endParaRPr sz="850"/>
          </a:p>
        </p:txBody>
      </p:sp>
      <p:sp>
        <p:nvSpPr>
          <p:cNvPr id="30" name="Text 28">
            <a:extLst>
              <a:ext uri="{FF2B5EF4-FFF2-40B4-BE49-F238E27FC236}">
                <a16:creationId xmlns:a16="http://schemas.microsoft.com/office/drawing/2014/main" id="{57800076-1163-4370-A185-DB36BF86952B}"/>
              </a:ext>
            </a:extLst>
          </p:cNvPr>
          <p:cNvSpPr>
            <a:spLocks noGrp="1"/>
          </p:cNvSpPr>
          <p:nvPr/>
        </p:nvSpPr>
        <p:spPr>
          <a:xfrm>
            <a:off x="475488" y="4590288"/>
            <a:ext cx="411480" cy="749808"/>
          </a:xfrm>
          <a:prstGeom prst="rect">
            <a:avLst/>
          </a:prstGeom>
          <a:noFill/>
        </p:spPr>
        <p:txBody>
          <a:bodyPr wrap="square" lIns="0" tIns="0" rIns="0" bIns="0" anchor="ctr"/>
          <a:lstStyle/>
          <a:p>
            <a:pPr marL="0" indent="0" algn="ctr">
              <a:buNone/>
            </a:pPr>
            <a:r>
              <a:rPr sz="1800" b="1">
                <a:solidFill>
                  <a:srgbClr val="2A9D61"/>
                </a:solidFill>
              </a:rPr>
              <a:t>05</a:t>
            </a:r>
            <a:endParaRPr sz="1800"/>
          </a:p>
        </p:txBody>
      </p:sp>
      <p:sp>
        <p:nvSpPr>
          <p:cNvPr id="31" name="Text 29">
            <a:extLst>
              <a:ext uri="{FF2B5EF4-FFF2-40B4-BE49-F238E27FC236}">
                <a16:creationId xmlns:a16="http://schemas.microsoft.com/office/drawing/2014/main" id="{7228FE94-2214-4A82-AFE2-3F267A1D4424}"/>
              </a:ext>
            </a:extLst>
          </p:cNvPr>
          <p:cNvSpPr>
            <a:spLocks noGrp="1"/>
          </p:cNvSpPr>
          <p:nvPr/>
        </p:nvSpPr>
        <p:spPr>
          <a:xfrm>
            <a:off x="932688" y="4645152"/>
            <a:ext cx="4114800" cy="310896"/>
          </a:xfrm>
          <a:prstGeom prst="rect">
            <a:avLst/>
          </a:prstGeom>
          <a:noFill/>
        </p:spPr>
        <p:txBody>
          <a:bodyPr wrap="square" lIns="0" tIns="0" rIns="0" bIns="0" anchor="ctr"/>
          <a:lstStyle/>
          <a:p>
            <a:pPr marL="0" indent="0">
              <a:buNone/>
            </a:pPr>
            <a:r>
              <a:rPr sz="1000" b="1">
                <a:solidFill>
                  <a:srgbClr val="1A2638"/>
                </a:solidFill>
              </a:rPr>
              <a:t>Going over time</a:t>
            </a:r>
            <a:endParaRPr sz="1000"/>
          </a:p>
        </p:txBody>
      </p:sp>
      <p:sp>
        <p:nvSpPr>
          <p:cNvPr id="32" name="Text 30">
            <a:extLst>
              <a:ext uri="{FF2B5EF4-FFF2-40B4-BE49-F238E27FC236}">
                <a16:creationId xmlns:a16="http://schemas.microsoft.com/office/drawing/2014/main" id="{BD7EEF37-68F4-4EDC-BFAF-6B828C194374}"/>
              </a:ext>
            </a:extLst>
          </p:cNvPr>
          <p:cNvSpPr>
            <a:spLocks noGrp="1"/>
          </p:cNvSpPr>
          <p:nvPr/>
        </p:nvSpPr>
        <p:spPr>
          <a:xfrm>
            <a:off x="932688" y="4956048"/>
            <a:ext cx="7772400" cy="347472"/>
          </a:xfrm>
          <a:prstGeom prst="rect">
            <a:avLst/>
          </a:prstGeom>
          <a:noFill/>
        </p:spPr>
        <p:txBody>
          <a:bodyPr wrap="square" lIns="0" tIns="0" rIns="0" bIns="0" anchor="t"/>
          <a:lstStyle/>
          <a:p>
            <a:pPr marL="0" indent="0">
              <a:buNone/>
            </a:pPr>
            <a:r>
              <a:rPr sz="850" b="1">
                <a:solidFill>
                  <a:srgbClr val="2A9D61"/>
                </a:solidFill>
              </a:rPr>
              <a:t>Fix: </a:t>
            </a:r>
            <a:r>
              <a:rPr sz="850">
                <a:solidFill>
                  <a:srgbClr val="1A2638"/>
                </a:solidFill>
              </a:rPr>
              <a:t>Practice out loud with a timer. 8 slides x 1.5 min = 12 min. That's your target.</a:t>
            </a:r>
            <a:endParaRPr sz="85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35" name="Rectangle 34">
            <a:extLst>
              <a:ext uri="{FF2B5EF4-FFF2-40B4-BE49-F238E27FC236}">
                <a16:creationId xmlns:a16="http://schemas.microsoft.com/office/drawing/2014/main" id="{D9F4B17D-4C76-48E1-9681-BAFF543DC330}"/>
              </a:ext>
            </a:extLst>
          </p:cNvPr>
          <p:cNvSpPr>
            <a:spLocks noGrp="1"/>
          </p:cNvSpPr>
          <p:nvPr/>
        </p:nvSpPr>
        <p:spPr>
          <a:xfrm>
            <a:off x="266700" y="1200150"/>
            <a:ext cx="8610600" cy="3695700"/>
          </a:xfrm>
          <a:prstGeom prst="rect">
            <a:avLst/>
          </a:prstGeom>
          <a:solidFill>
            <a:srgbClr val="FFFFFF"/>
          </a:solidFill>
          <a:ln w="0">
            <a:noFill/>
            <a:prstDash val="solid"/>
          </a:ln>
        </p:spPr>
      </p:sp>
      <p:pic>
        <p:nvPicPr>
          <p:cNvPr id="37" name="Picture 36">
            <a:extLst>
              <a:ext uri="{FF2B5EF4-FFF2-40B4-BE49-F238E27FC236}">
                <a16:creationId xmlns:a16="http://schemas.microsoft.com/office/drawing/2014/main" id="{30BF1E9C-C046-6643-AEB4-49A5663E4874}"/>
              </a:ext>
            </a:extLst>
          </p:cNvPr>
          <p:cNvPicPr>
            <a:picLocks noChangeAspect="1"/>
          </p:cNvPicPr>
          <p:nvPr/>
        </p:nvPicPr>
        <p:blipFill>
          <a:blip r:embed="rId3"/>
          <a:stretch>
            <a:fillRect/>
          </a:stretch>
        </p:blipFill>
        <p:spPr>
          <a:xfrm>
            <a:off x="886968" y="1200150"/>
            <a:ext cx="7318584" cy="3628257"/>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2</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lang="en-US" dirty="0"/>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dirty="0">
                <a:solidFill>
                  <a:srgbClr val="5B6880"/>
                </a:solidFill>
              </a:rPr>
              <a:t>Delivery Tips</a:t>
            </a:r>
            <a:endParaRPr sz="800" dirty="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dirty="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3 — MODEL</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lang="en-US" dirty="0"/>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dirty="0">
                <a:solidFill>
                  <a:srgbClr val="1A2638"/>
                </a:solidFill>
              </a:rPr>
              <a:t>Baseline </a:t>
            </a:r>
            <a:r>
              <a:rPr lang="en-US" sz="850" dirty="0">
                <a:solidFill>
                  <a:srgbClr val="1A2638"/>
                </a:solidFill>
              </a:rPr>
              <a:t>-&gt;</a:t>
            </a:r>
            <a:r>
              <a:rPr sz="850" dirty="0">
                <a:solidFill>
                  <a:srgbClr val="1A2638"/>
                </a:solidFill>
              </a:rPr>
              <a:t> nine-feature model</a:t>
            </a:r>
            <a:endParaRPr sz="850" dirty="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dirty="0">
                <a:solidFill>
                  <a:srgbClr val="1A2638"/>
                </a:solidFill>
              </a:rPr>
              <a:t>Historical recurrence baseline</a:t>
            </a:r>
            <a:r>
              <a:rPr lang="en-US" sz="850" dirty="0">
                <a:solidFill>
                  <a:srgbClr val="1A2638"/>
                </a:solidFill>
              </a:rPr>
              <a:t> </a:t>
            </a:r>
            <a:r>
              <a:rPr lang="en-US" sz="800" b="1" dirty="0">
                <a:solidFill>
                  <a:srgbClr val="1A2638"/>
                </a:solidFill>
              </a:rPr>
              <a:t>- </a:t>
            </a:r>
            <a:r>
              <a:rPr lang="en-US" sz="800" b="1" dirty="0"/>
              <a:t>groups training records by the number of previously burned years </a:t>
            </a:r>
            <a:r>
              <a:rPr lang="en-US" sz="800" b="1" dirty="0">
                <a:solidFill>
                  <a:srgbClr val="1A2638"/>
                </a:solidFill>
              </a:rPr>
              <a:t> </a:t>
            </a:r>
            <a:endParaRPr sz="800" b="1" dirty="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dirty="0">
                <a:solidFill>
                  <a:srgbClr val="1A2638"/>
                </a:solidFill>
              </a:rPr>
              <a:t>Nine-feature hurdle model</a:t>
            </a:r>
            <a:r>
              <a:rPr lang="en-US" sz="850" dirty="0">
                <a:solidFill>
                  <a:srgbClr val="1A2638"/>
                </a:solidFill>
              </a:rPr>
              <a:t> - </a:t>
            </a:r>
            <a:r>
              <a:rPr lang="en-US" sz="850" b="1" dirty="0" err="1">
                <a:solidFill>
                  <a:srgbClr val="1A2638"/>
                </a:solidFill>
              </a:rPr>
              <a:t>HistGradientBoosting</a:t>
            </a:r>
            <a:endParaRPr sz="850" b="1" dirty="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dirty="0">
                <a:solidFill>
                  <a:srgbClr val="1A2638"/>
                </a:solidFill>
              </a:rPr>
              <a:t>MAE: 0.029  </a:t>
            </a:r>
            <a:r>
              <a:rPr lang="en-US" sz="850" dirty="0">
                <a:solidFill>
                  <a:srgbClr val="1A2638"/>
                </a:solidFill>
              </a:rPr>
              <a:t>-&gt;</a:t>
            </a:r>
            <a:r>
              <a:rPr sz="850" dirty="0">
                <a:solidFill>
                  <a:srgbClr val="1A2638"/>
                </a:solidFill>
              </a:rPr>
              <a:t>  0.021</a:t>
            </a:r>
            <a:endParaRPr sz="850" dirty="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dirty="0">
                <a:solidFill>
                  <a:srgbClr val="1A2638"/>
                </a:solidFill>
              </a:rPr>
              <a:t>RMSE: 0.111  </a:t>
            </a:r>
            <a:r>
              <a:rPr lang="en-US" sz="850" dirty="0">
                <a:solidFill>
                  <a:srgbClr val="1A2638"/>
                </a:solidFill>
              </a:rPr>
              <a:t>-&gt;</a:t>
            </a:r>
            <a:r>
              <a:rPr sz="850" dirty="0">
                <a:solidFill>
                  <a:srgbClr val="1A2638"/>
                </a:solidFill>
              </a:rPr>
              <a:t>  0.111</a:t>
            </a:r>
            <a:endParaRPr sz="850" dirty="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dirty="0">
                <a:solidFill>
                  <a:srgbClr val="1A2638"/>
                </a:solidFill>
              </a:rPr>
              <a:t>Capture@20%: 0.482  </a:t>
            </a:r>
            <a:r>
              <a:rPr lang="en-US" sz="850" dirty="0">
                <a:solidFill>
                  <a:srgbClr val="1A2638"/>
                </a:solidFill>
              </a:rPr>
              <a:t>-&gt;</a:t>
            </a:r>
            <a:r>
              <a:rPr sz="850" dirty="0">
                <a:solidFill>
                  <a:srgbClr val="1A2638"/>
                </a:solidFill>
              </a:rPr>
              <a:t>  0.500</a:t>
            </a:r>
            <a:endParaRPr sz="850" dirty="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Final temporal test: T=2022–2024; outcomes in T+1.</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dirty="0">
                <a:solidFill>
                  <a:srgbClr val="1A2638"/>
                </a:solidFill>
              </a:rPr>
              <a:t>RMSE gives more weight to larger errors; lower is better.</a:t>
            </a:r>
            <a:endParaRPr sz="800" dirty="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dirty="0">
                <a:solidFill>
                  <a:srgbClr val="E8A020"/>
                </a:solidFill>
              </a:rPr>
              <a:t>It is a ranking diagnostic, not a buyer threshold.</a:t>
            </a:r>
            <a:endParaRPr sz="750" dirty="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Use the 2026 estimate to prioritise broad areas for further research</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Target-free estimate from 2025 predictor inputs, shown as relative cell percentiles.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official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Read recurrence and the ICNF structural-hazard class beside the estimate.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Then compare the patterns.</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NEXT ACTION</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Investigate locally</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planning, access, insurance, terrain and property evidence next.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NEXT STEPS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Refresh, rebuild, validate</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Add completed-year sources, rebuild the QGIS layer, then evaluate the estimate after its observed outcome arrives.</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HOW TO USE THE OUTPUTS</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Narrow broad areas first</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Use the maps to focus local research; the estimate compares cells, not individual properties.</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EVIDENCE STATUS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2026 target-free estimate</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Evaluate it when the next ICNF outcome arrives.</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project narrows the search area; local evidence completes the decision.</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RESPONSIBLE DECISION PATH</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Use three evidence layers together,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Recommended actions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broad-area research.</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separate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Investigate municipal plans, access, vegetation, insurance and site conditions.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Rebuild annually when new labelled outcomes and completed-year inputs are available.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Keep source files, model version and forecast year traceable.</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Keep local verification in the workflow.</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Why this matters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The project gives a reproducible first screen. A real property decision needs evidence that a national 1 km model cannot provide.</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The workflow is designed to make uncertainty visible rather than hide it.</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annual update process keeps the evidence current without changing the project’s scientific contract.</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Talk track</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Start broad.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practical question is: which areas deserve deeper investigation first?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workflow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Validated source checks, one consistent 1 km grid, QGIS layers, and an annual update path.</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evidence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A separate 2016–2025 recurrence screen and official ICNF structural-hazard comparison.</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Transparent source roles and limitations.</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Hypothesis partially supported</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comparative diagnostics, but does not solve extreme-event underprediction.</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2026 is target-free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Its future performance must be evaluated only after observed outcome data are available.</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retrospective claim about unknown outcomes.</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STEPS FOR THIS PROJECT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rebuild, validate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1. Add the latest completed-year sources. 2. Rebuild the target-free estimate and QGIS layer. 3. When outcomes arrive, evaluate the estimate. 4. Repeat annually.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HOW TO USE THE OUTPUTS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the maps to narrow broad areas, then check local site, planning, insurance and property evidence.</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The outputs support screening; the next decision still requires local evidence.</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Next milestone: refresh with new data and evaluate when the observed outcome arrives.</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TotalTime>
  <Words>2498</Words>
  <Application>Microsoft Office PowerPoint</Application>
  <DocSecurity>0</DocSecurity>
  <PresentationFormat>On-screen Show (16:9)</PresentationFormat>
  <Paragraphs>259</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Sergey Dyadechko</cp:lastModifiedBy>
  <cp:revision>8</cp:revision>
  <dcterms:created xsi:type="dcterms:W3CDTF">2026-08-08T11:29:27Z</dcterms:created>
  <dcterms:modified xsi:type="dcterms:W3CDTF">2026-08-08T12:17:40Z</dcterms:modified>
</cp:coreProperties>
</file>