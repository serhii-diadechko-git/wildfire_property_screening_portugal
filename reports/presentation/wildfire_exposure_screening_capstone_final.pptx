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296" autoAdjust="0"/>
  </p:normalViewPr>
  <p:slideViewPr>
    <p:cSldViewPr snapToGrid="0" snapToObjects="1">
      <p:cViewPr varScale="1">
        <p:scale>
          <a:sx n="98" d="100"/>
          <a:sy n="98" d="100"/>
        </p:scale>
        <p:origin x="1173" y="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decision problem. A person may need to compare broad parts of mainland Portugal before spending time on municipal, site and property-specific checks. The project offers comparative evidence, not a property recommendation.</a:t>
            </a:r>
          </a:p>
          <a:p>
            <a:endParaRPr/>
          </a:p>
          <a:p>
            <a:r>
              <a:t>[Sources]</a:t>
            </a:r>
          </a:p>
          <a:p>
            <a:r>
              <a:t>Project README; docs/project_brief.md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record represents one mainland Portugal 1 km × 1 km cell in predictor year T. Its target is the burned share observed in T+1—the proportion of the cell’s land area covered by burned-area polygons.</a:t>
            </a:r>
            <a:br>
              <a:rPr lang="en-US" dirty="0"/>
            </a:br>
            <a:endParaRPr lang="en-US" dirty="0"/>
          </a:p>
          <a:p>
            <a:r>
              <a:rPr lang="en-US" dirty="0"/>
              <a:t>ICNF supplies observed fire history and outcomes. Copernicus CLC and DEM provide land-cover and terrain context. ERA5-Land supplies T-only warm-season climate context.</a:t>
            </a:r>
            <a:br>
              <a:rPr lang="en-US" dirty="0"/>
            </a:br>
            <a:endParaRPr lang="en-US" dirty="0"/>
          </a:p>
          <a:p>
            <a:r>
              <a:rPr lang="en-US" dirty="0"/>
              <a:t>The 2 km area is an outward context buffer around each 1 km cell, not a second grid. ERA5-Land values come from the coarse climate grid without interpolation or downscaling.</a:t>
            </a:r>
            <a:br>
              <a:rPr lang="en-US" dirty="0"/>
            </a:br>
            <a:endParaRPr lang="en-US" dirty="0"/>
          </a:p>
          <a:p>
            <a:r>
              <a:rPr lang="en-US" dirty="0"/>
              <a:t>[Sources]</a:t>
            </a:r>
            <a:br>
              <a:rPr lang="en-US" dirty="0"/>
            </a:br>
            <a:r>
              <a:rPr lang="en-US" dirty="0"/>
              <a:t>docs/data_dictionary.md; reports/validation/canonical_full_scope_readiness.md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t>
            </a:r>
            <a:r>
              <a:rPr lang="en-US" dirty="0" err="1"/>
              <a:t>slode</a:t>
            </a:r>
            <a:r>
              <a:rPr lang="en-US" dirty="0"/>
              <a:t> shows observed historical evidence, official ICNF planning of burns and 2026 prediction.</a:t>
            </a:r>
          </a:p>
          <a:p>
            <a:r>
              <a:rPr lang="en-US" dirty="0"/>
              <a:t>Each 1 km cell is </a:t>
            </a:r>
            <a:r>
              <a:rPr lang="en-US" dirty="0" err="1"/>
              <a:t>coloured</a:t>
            </a:r>
            <a:r>
              <a:rPr lang="en-US" dirty="0"/>
              <a:t> by the number of distinct burned years from 2016–2025 within its mainland-masked 2 km context.</a:t>
            </a:r>
          </a:p>
          <a:p>
            <a:endParaRPr lang="en-US" dirty="0"/>
          </a:p>
          <a:p>
            <a:r>
              <a:rPr lang="en-US" dirty="0"/>
              <a:t>The three comparison layers should be read separately:</a:t>
            </a:r>
          </a:p>
          <a:p>
            <a:pPr>
              <a:buFont typeface="Arial" panose="020B0604020202020204" pitchFamily="34" charset="0"/>
              <a:buChar char="•"/>
            </a:pPr>
            <a:r>
              <a:rPr lang="en-US" b="1" dirty="0"/>
              <a:t>Historical recurrence:</a:t>
            </a:r>
            <a:r>
              <a:rPr lang="en-US" dirty="0"/>
              <a:t> what was observed to burn.</a:t>
            </a:r>
          </a:p>
          <a:p>
            <a:pPr>
              <a:buFont typeface="Arial" panose="020B0604020202020204" pitchFamily="34" charset="0"/>
              <a:buChar char="•"/>
            </a:pPr>
            <a:r>
              <a:rPr lang="en-US" b="1" dirty="0"/>
              <a:t>Official ICNF structural hazard:</a:t>
            </a:r>
            <a:r>
              <a:rPr lang="en-US" dirty="0"/>
              <a:t> an independent classification of underlying landscape hazard conditions.</a:t>
            </a:r>
          </a:p>
          <a:p>
            <a:pPr>
              <a:buFont typeface="Arial" panose="020B0604020202020204" pitchFamily="34" charset="0"/>
              <a:buChar char="•"/>
            </a:pPr>
            <a:r>
              <a:rPr lang="en-US" b="1" dirty="0"/>
              <a:t>2026 estimated comparative exposure:</a:t>
            </a:r>
            <a:r>
              <a:rPr lang="en-US" dirty="0"/>
              <a:t> the model’s target-free cell-level estimate based on predictor data.</a:t>
            </a:r>
          </a:p>
          <a:p>
            <a:pPr>
              <a:buFont typeface="Arial" panose="020B0604020202020204" pitchFamily="34" charset="0"/>
              <a:buChar char="•"/>
            </a:pPr>
            <a:endParaRPr lang="en-US" dirty="0"/>
          </a:p>
          <a:p>
            <a:r>
              <a:rPr lang="en-US" dirty="0"/>
              <a:t>These layers provide different types of evidence and should not be added together or interpreted as one score. The comparison helps identify broad areas for further investigation; it does not certify a location.</a:t>
            </a:r>
          </a:p>
          <a:p>
            <a:endParaRPr lang="en-US" dirty="0"/>
          </a:p>
          <a:p>
            <a:r>
              <a:rPr lang="en-US" dirty="0"/>
              <a:t>[Sources]</a:t>
            </a:r>
            <a:br>
              <a:rPr lang="en-US" dirty="0"/>
            </a:br>
            <a:r>
              <a:rPr lang="en-US" dirty="0"/>
              <a:t>reports/figures/historical_wildfire_exposure_screening_mainland_portugal.png; reports/validation/historical_exposure_screening_and_icnf_comparison.md; </a:t>
            </a:r>
            <a:r>
              <a:rPr lang="en-US" dirty="0" err="1"/>
              <a:t>qgis</a:t>
            </a:r>
            <a:r>
              <a:rPr lang="en-US" dirty="0"/>
              <a:t>/README.md; reports/validation/operational_forecast_2026_validation.md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speaker notes for Slide 4:</a:t>
            </a:r>
          </a:p>
          <a:p>
            <a:r>
              <a:rPr lang="en-US" dirty="0"/>
              <a:t>This slide compares two different types of wildfire evidence. Historical recurrence records what actually burned during 2016–2025, counting distinct burned years within the 2 km context around each 1 km cell.</a:t>
            </a:r>
            <a:br>
              <a:rPr lang="en-US" dirty="0"/>
            </a:br>
            <a:endParaRPr lang="en-US" dirty="0"/>
          </a:p>
          <a:p>
            <a:r>
              <a:rPr lang="en-US" dirty="0"/>
              <a:t>The official ICNF structural-hazard layer describes relatively persistent landscape conditions associated with wildfire hazard. Its original 25 m classes were </a:t>
            </a:r>
            <a:r>
              <a:rPr lang="en-US" dirty="0" err="1"/>
              <a:t>summarised</a:t>
            </a:r>
            <a:r>
              <a:rPr lang="en-US" dirty="0"/>
              <a:t> to the predominant class in each 1 km cell. It is an official reference layer, not a forecast and not the project’s ML output.</a:t>
            </a:r>
            <a:br>
              <a:rPr lang="en-US" dirty="0"/>
            </a:br>
            <a:endParaRPr lang="en-US" dirty="0"/>
          </a:p>
          <a:p>
            <a:r>
              <a:rPr lang="en-US" dirty="0"/>
              <a:t>The story is not that one layer is correct and the other is wrong. They answer different questions and use different methods. Areas where they agree provide consistent context; areas where they differ show where further investigation may be useful.</a:t>
            </a:r>
            <a:br>
              <a:rPr lang="en-US" dirty="0"/>
            </a:br>
            <a:endParaRPr lang="en-US" dirty="0"/>
          </a:p>
          <a:p>
            <a:r>
              <a:rPr lang="en-US" dirty="0"/>
              <a:t>The comparison is descriptive only. It is not a model-accuracy test, a buyer threshold or a certification of any location.</a:t>
            </a:r>
            <a:br>
              <a:rPr lang="en-US" dirty="0"/>
            </a:br>
            <a:endParaRPr lang="en-US" dirty="0"/>
          </a:p>
          <a:p>
            <a:r>
              <a:rPr lang="en-US" dirty="0"/>
              <a:t>[Sources]</a:t>
            </a:r>
            <a:br>
              <a:rPr lang="en-US" dirty="0"/>
            </a:br>
            <a:r>
              <a:rPr lang="en-US" dirty="0" err="1"/>
              <a:t>qgis</a:t>
            </a:r>
            <a:r>
              <a:rPr lang="en-US" dirty="0"/>
              <a:t>/README.md; docs/data_dictionary.md; reports/figures/historical_exposure_by_icnf_structural_hazard_crosstab.png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compares the transparent historical-recurrence baseline with the nine-feature two-part regression model.</a:t>
            </a:r>
          </a:p>
          <a:p>
            <a:r>
              <a:rPr lang="en-US" dirty="0"/>
              <a:t>The baseline is a project-specific benchmark, not a library model. It groups training records by the number of previously burned years in the 2 km context and calculates the average next-year burned share for each group.</a:t>
            </a:r>
          </a:p>
          <a:p>
            <a:endParaRPr lang="en-US" dirty="0"/>
          </a:p>
          <a:p>
            <a:r>
              <a:rPr lang="en-US" dirty="0"/>
              <a:t>The nine-feature model uses scikit-</a:t>
            </a:r>
            <a:r>
              <a:rPr lang="en-US" dirty="0" err="1"/>
              <a:t>learn’s</a:t>
            </a:r>
            <a:r>
              <a:rPr lang="en-US" dirty="0"/>
              <a:t> </a:t>
            </a:r>
            <a:r>
              <a:rPr lang="en-US" dirty="0" err="1"/>
              <a:t>HistGradientBoosting</a:t>
            </a:r>
            <a:r>
              <a:rPr lang="en-US" dirty="0"/>
              <a:t> algorithms. One component handles whether burning is expected; the other estimates how much of the cell may burn when burning occurs. Together, they produce one continuous burned-share estimate for the following year.</a:t>
            </a:r>
          </a:p>
          <a:p>
            <a:r>
              <a:rPr lang="en-US" dirty="0"/>
              <a:t>The table shows the frozen final temporal comparison. The arrows run from the historical baseline to the nine-feature model. MAE measures average burned-share error; RMSE gives more weight to larger errors.</a:t>
            </a:r>
          </a:p>
          <a:p>
            <a:endParaRPr lang="en-US" dirty="0"/>
          </a:p>
          <a:p>
            <a:r>
              <a:rPr lang="en-US" dirty="0"/>
              <a:t>Yes, that makes sense. Use explicit predictor and outcome years:</a:t>
            </a:r>
          </a:p>
          <a:p>
            <a:r>
              <a:rPr lang="en-US" b="1" dirty="0"/>
              <a:t>Capture@20% is a validation test of the ranking.</a:t>
            </a:r>
            <a:r>
              <a:rPr lang="en-US" dirty="0"/>
              <a:t> For each predictor year, the model ranks cells using data from year </a:t>
            </a:r>
            <a:r>
              <a:rPr lang="en-US" b="1" dirty="0"/>
              <a:t>T</a:t>
            </a:r>
            <a:r>
              <a:rPr lang="en-US" dirty="0"/>
              <a:t> and estimates burned share for </a:t>
            </a:r>
            <a:r>
              <a:rPr lang="en-US" b="1" dirty="0"/>
              <a:t>T+1</a:t>
            </a:r>
            <a:r>
              <a:rPr lang="en-US" dirty="0"/>
              <a:t>. For example, for </a:t>
            </a:r>
            <a:r>
              <a:rPr lang="en-US" b="1" dirty="0"/>
              <a:t>T = 2024</a:t>
            </a:r>
            <a:r>
              <a:rPr lang="en-US" dirty="0"/>
              <a:t>, it ranks cells using 2024 predictor data and is later checked against the actual ICNF burned areas observed in </a:t>
            </a:r>
            <a:r>
              <a:rPr lang="en-US" b="1" dirty="0"/>
              <a:t>2025</a:t>
            </a:r>
            <a:r>
              <a:rPr lang="en-US" dirty="0"/>
              <a:t>.</a:t>
            </a:r>
          </a:p>
          <a:p>
            <a:r>
              <a:rPr lang="en-US" dirty="0"/>
              <a:t>The final evaluation covers the year pairs </a:t>
            </a:r>
            <a:r>
              <a:rPr lang="en-US" b="1" dirty="0"/>
              <a:t>2022→2023, 2023→2024 and 2024→2025</a:t>
            </a:r>
            <a:r>
              <a:rPr lang="en-US" dirty="0"/>
              <a:t>. For each pair, we select the highest-scored 20% of cells and measure how much of the burned share observed in </a:t>
            </a:r>
            <a:r>
              <a:rPr lang="en-US" b="1" dirty="0"/>
              <a:t>T+1</a:t>
            </a:r>
            <a:r>
              <a:rPr lang="en-US" dirty="0"/>
              <a:t> occurred in those cells.</a:t>
            </a:r>
          </a:p>
          <a:p>
            <a:r>
              <a:rPr lang="en-US" dirty="0"/>
              <a:t>Across the final test, the historical baseline captured </a:t>
            </a:r>
            <a:r>
              <a:rPr lang="en-US" b="1" dirty="0"/>
              <a:t>48.2%</a:t>
            </a:r>
            <a:r>
              <a:rPr lang="en-US" dirty="0"/>
              <a:t> of observed burned share in its top-ranked 20% of cells. The nine-feature model captured </a:t>
            </a:r>
            <a:r>
              <a:rPr lang="en-US" b="1" dirty="0"/>
              <a:t>50.0%</a:t>
            </a:r>
            <a:r>
              <a:rPr lang="en-US" dirty="0"/>
              <a:t>.</a:t>
            </a:r>
          </a:p>
          <a:p>
            <a:r>
              <a:rPr lang="en-US" dirty="0"/>
              <a:t>This does not mean that 20% of the land burned. It is only a retrospective ranking diagnostic. In a future cycle, the same logic would apply to </a:t>
            </a:r>
            <a:r>
              <a:rPr lang="en-US" b="1" dirty="0"/>
              <a:t>2035→2036</a:t>
            </a:r>
            <a:r>
              <a:rPr lang="en-US" dirty="0"/>
              <a:t>, but only after the 2036 outcome data became available.</a:t>
            </a:r>
          </a:p>
          <a:p>
            <a:endParaRPr lang="en-US" dirty="0"/>
          </a:p>
          <a:p>
            <a:r>
              <a:rPr lang="en-US" dirty="0"/>
              <a:t>[Sources]</a:t>
            </a:r>
            <a:br>
              <a:rPr lang="en-US" dirty="0"/>
            </a:br>
            <a:r>
              <a:rPr lang="en-US" dirty="0"/>
              <a:t>reports/validation/model_final_decision.md; reports/figures/model_final_test_metric_comparison.png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simple scenario: a prospective buyer is considering several broad areas in mainland Portugal. Start with the 2026 comparative estimate, which ranks 1 km cells using 2025 predictor inputs. Then read the historical recurrence and official ICNF structural-hazard layers alongside it; these are separate evidence layers, not one combined score. The practical output is a shorter list of broad areas to visit and investigate first. Local planning, access, insurance, terrain and property-specific evidence still complete the decision.</a:t>
            </a:r>
          </a:p>
          <a:p>
            <a:endParaRPr lang="en-US" dirty="0"/>
          </a:p>
          <a:p>
            <a:r>
              <a:rPr lang="en-US" dirty="0"/>
              <a:t>[Sources]</a:t>
            </a:r>
          </a:p>
          <a:p>
            <a:r>
              <a:rPr lang="en-US" dirty="0" err="1"/>
              <a:t>qgis</a:t>
            </a:r>
            <a:r>
              <a:rPr lang="en-US" dirty="0"/>
              <a:t>/wildfire_exposure_screening_portugal_2026.qgz; </a:t>
            </a:r>
            <a:r>
              <a:rPr lang="en-US" dirty="0" err="1"/>
              <a:t>qgis</a:t>
            </a:r>
            <a:r>
              <a:rPr lang="en-US"/>
              <a:t>/README.md; reports/validation/operational_forecast_2026_validation.md</a:t>
            </a:r>
            <a:endParaRPr lang="en-US"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project narrows the broad search area, then hands the decision to local investigation. Read the three layers together, keep their source roles distinct, and retain traceability when the annual update is run.</a:t>
            </a:r>
          </a:p>
          <a:p>
            <a:endParaRPr/>
          </a:p>
          <a:p>
            <a:r>
              <a:t>[Sources]</a:t>
            </a:r>
          </a:p>
          <a:p>
            <a:r>
              <a:t>README.md; docs/operational_forecast_cycle.md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the repeatable project cycle: refresh completed-year inputs, rebuild the target-free estimate, use the maps to narrow broad areas, and evaluate the estimate when the observed outcome becomes available. The project’s practical result is a focused search area and a traceable evidence workflow.</a:t>
            </a:r>
          </a:p>
          <a:p>
            <a:endParaRPr/>
          </a:p>
          <a:p>
            <a:r>
              <a:t>[Sources]</a:t>
            </a:r>
          </a:p>
          <a:p>
            <a:r>
              <a:t>README.md; reports/validation/model_final_decision.md; reports/validation/operational_forecast_readiness.md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7271A54-A21F-461B-81FE-9352EC032ECA}"/>
              </a:ext>
            </a:extLst>
          </p:cNvPr>
          <p:cNvSpPr>
            <a:spLocks noGrp="1"/>
          </p:cNvSpPr>
          <p:nvPr/>
        </p:nvSpPr>
        <p:spPr>
          <a:xfrm>
            <a:off x="0" y="0"/>
            <a:ext cx="9144000" cy="5143500"/>
          </a:xfrm>
          <a:prstGeom prst="rect">
            <a:avLst/>
          </a:prstGeom>
          <a:solidFill>
            <a:srgbClr val="0D1F2D"/>
          </a:solidFill>
          <a:ln w="12700">
            <a:solidFill>
              <a:srgbClr val="0D1F2D"/>
            </a:solidFill>
            <a:prstDash val="solid"/>
          </a:ln>
        </p:spPr>
      </p:sp>
      <p:sp>
        <p:nvSpPr>
          <p:cNvPr id="3" name="Shape 1">
            <a:extLst>
              <a:ext uri="{FF2B5EF4-FFF2-40B4-BE49-F238E27FC236}">
                <a16:creationId xmlns:a16="http://schemas.microsoft.com/office/drawing/2014/main" id="{DDACC1B4-1154-4329-A73F-48B1DC582792}"/>
              </a:ext>
            </a:extLst>
          </p:cNvPr>
          <p:cNvSpPr>
            <a:spLocks noGrp="1"/>
          </p:cNvSpPr>
          <p:nvPr/>
        </p:nvSpPr>
        <p:spPr>
          <a:xfrm>
            <a:off x="0" y="0"/>
            <a:ext cx="228600" cy="5143500"/>
          </a:xfrm>
          <a:prstGeom prst="rect">
            <a:avLst/>
          </a:prstGeom>
          <a:solidFill>
            <a:srgbClr val="E8A020"/>
          </a:solidFill>
          <a:ln w="12700">
            <a:solidFill>
              <a:srgbClr val="E8A020"/>
            </a:solidFill>
            <a:prstDash val="solid"/>
          </a:ln>
        </p:spPr>
      </p:sp>
      <p:sp>
        <p:nvSpPr>
          <p:cNvPr id="4" name="Shape 2">
            <a:extLst>
              <a:ext uri="{FF2B5EF4-FFF2-40B4-BE49-F238E27FC236}">
                <a16:creationId xmlns:a16="http://schemas.microsoft.com/office/drawing/2014/main" id="{321EBCE3-53B5-467C-8E29-72B844CA383B}"/>
              </a:ext>
            </a:extLst>
          </p:cNvPr>
          <p:cNvSpPr>
            <a:spLocks noGrp="1"/>
          </p:cNvSpPr>
          <p:nvPr/>
        </p:nvSpPr>
        <p:spPr>
          <a:xfrm>
            <a:off x="0" y="0"/>
            <a:ext cx="9144000" cy="64008"/>
          </a:xfrm>
          <a:prstGeom prst="rect">
            <a:avLst/>
          </a:prstGeom>
          <a:solidFill>
            <a:srgbClr val="E8A020"/>
          </a:solidFill>
          <a:ln w="12700">
            <a:solidFill>
              <a:srgbClr val="E8A020"/>
            </a:solidFill>
            <a:prstDash val="solid"/>
          </a:ln>
        </p:spPr>
      </p:sp>
      <p:sp>
        <p:nvSpPr>
          <p:cNvPr id="5" name="Shape 3">
            <a:extLst>
              <a:ext uri="{FF2B5EF4-FFF2-40B4-BE49-F238E27FC236}">
                <a16:creationId xmlns:a16="http://schemas.microsoft.com/office/drawing/2014/main" id="{9017F92D-E245-4025-90D8-8EDF916CA9EF}"/>
              </a:ext>
            </a:extLst>
          </p:cNvPr>
          <p:cNvSpPr>
            <a:spLocks noGrp="1"/>
          </p:cNvSpPr>
          <p:nvPr/>
        </p:nvSpPr>
        <p:spPr>
          <a:xfrm>
            <a:off x="320040" y="137160"/>
            <a:ext cx="1417320" cy="292608"/>
          </a:xfrm>
          <a:prstGeom prst="rect">
            <a:avLst/>
          </a:prstGeom>
          <a:solidFill>
            <a:srgbClr val="1E3A50"/>
          </a:solidFill>
          <a:ln w="12700">
            <a:solidFill>
              <a:srgbClr val="1E3A50"/>
            </a:solidFill>
            <a:prstDash val="solid"/>
          </a:ln>
        </p:spPr>
      </p:sp>
      <p:sp>
        <p:nvSpPr>
          <p:cNvPr id="6" name="Text 4">
            <a:extLst>
              <a:ext uri="{FF2B5EF4-FFF2-40B4-BE49-F238E27FC236}">
                <a16:creationId xmlns:a16="http://schemas.microsoft.com/office/drawing/2014/main" id="{50F063B7-97FC-4057-91C5-01147213D4BB}"/>
              </a:ext>
            </a:extLst>
          </p:cNvPr>
          <p:cNvSpPr>
            <a:spLocks noGrp="1"/>
          </p:cNvSpPr>
          <p:nvPr/>
        </p:nvSpPr>
        <p:spPr>
          <a:xfrm>
            <a:off x="320040" y="137160"/>
            <a:ext cx="1417320" cy="292608"/>
          </a:xfrm>
          <a:prstGeom prst="rect">
            <a:avLst/>
          </a:prstGeom>
          <a:noFill/>
        </p:spPr>
        <p:txBody>
          <a:bodyPr wrap="square" lIns="0" tIns="0" rIns="0" bIns="0" anchor="ctr"/>
          <a:lstStyle/>
          <a:p>
            <a:pPr marL="0" indent="0" algn="ctr">
              <a:buNone/>
            </a:pPr>
            <a:r>
              <a:rPr sz="750">
                <a:solidFill>
                  <a:srgbClr val="E1E8EF"/>
                </a:solidFill>
              </a:rPr>
              <a:t>DATA SCIENCE &amp; ML CAPSTONE</a:t>
            </a:r>
            <a:endParaRPr sz="750"/>
          </a:p>
        </p:txBody>
      </p:sp>
      <p:sp>
        <p:nvSpPr>
          <p:cNvPr id="7" name="Shape 5">
            <a:extLst>
              <a:ext uri="{FF2B5EF4-FFF2-40B4-BE49-F238E27FC236}">
                <a16:creationId xmlns:a16="http://schemas.microsoft.com/office/drawing/2014/main" id="{70C36328-C5D1-4010-B8F0-E622D0A879DF}"/>
              </a:ext>
            </a:extLst>
          </p:cNvPr>
          <p:cNvSpPr>
            <a:spLocks noGrp="1"/>
          </p:cNvSpPr>
          <p:nvPr/>
        </p:nvSpPr>
        <p:spPr>
          <a:xfrm>
            <a:off x="7498080" y="137160"/>
            <a:ext cx="1417320" cy="292608"/>
          </a:xfrm>
          <a:prstGeom prst="rect">
            <a:avLst/>
          </a:prstGeom>
          <a:solidFill>
            <a:srgbClr val="E8A020"/>
          </a:solidFill>
          <a:ln w="12700">
            <a:solidFill>
              <a:srgbClr val="E8A020"/>
            </a:solidFill>
            <a:prstDash val="solid"/>
          </a:ln>
        </p:spPr>
      </p:sp>
      <p:sp>
        <p:nvSpPr>
          <p:cNvPr id="8" name="Text 6">
            <a:extLst>
              <a:ext uri="{FF2B5EF4-FFF2-40B4-BE49-F238E27FC236}">
                <a16:creationId xmlns:a16="http://schemas.microsoft.com/office/drawing/2014/main" id="{65A06437-0A3C-43F1-8C4D-8B11B9E4BD63}"/>
              </a:ext>
            </a:extLst>
          </p:cNvPr>
          <p:cNvSpPr>
            <a:spLocks noGrp="1"/>
          </p:cNvSpPr>
          <p:nvPr/>
        </p:nvSpPr>
        <p:spPr>
          <a:xfrm>
            <a:off x="7498080" y="137160"/>
            <a:ext cx="1417320" cy="292608"/>
          </a:xfrm>
          <a:prstGeom prst="rect">
            <a:avLst/>
          </a:prstGeom>
          <a:noFill/>
        </p:spPr>
        <p:txBody>
          <a:bodyPr wrap="square" lIns="0" tIns="0" rIns="0" bIns="0" anchor="ctr"/>
          <a:lstStyle/>
          <a:p>
            <a:pPr marL="0" indent="0" algn="ctr">
              <a:buNone/>
            </a:pPr>
            <a:r>
              <a:rPr sz="750" b="1">
                <a:solidFill>
                  <a:srgbClr val="0D1F2D"/>
                </a:solidFill>
              </a:rPr>
              <a:t>2026</a:t>
            </a:r>
            <a:endParaRPr sz="750"/>
          </a:p>
        </p:txBody>
      </p:sp>
      <p:sp>
        <p:nvSpPr>
          <p:cNvPr id="9" name="Text 7">
            <a:extLst>
              <a:ext uri="{FF2B5EF4-FFF2-40B4-BE49-F238E27FC236}">
                <a16:creationId xmlns:a16="http://schemas.microsoft.com/office/drawing/2014/main" id="{9BC5597E-259F-4375-AD7E-442DC35DA9BA}"/>
              </a:ext>
            </a:extLst>
          </p:cNvPr>
          <p:cNvSpPr>
            <a:spLocks noGrp="1"/>
          </p:cNvSpPr>
          <p:nvPr/>
        </p:nvSpPr>
        <p:spPr>
          <a:xfrm>
            <a:off x="365760" y="566928"/>
            <a:ext cx="5486400" cy="320040"/>
          </a:xfrm>
          <a:prstGeom prst="rect">
            <a:avLst/>
          </a:prstGeom>
          <a:noFill/>
        </p:spPr>
        <p:txBody>
          <a:bodyPr wrap="square" lIns="0" tIns="0" rIns="0" bIns="0" anchor="ctr"/>
          <a:lstStyle/>
          <a:p>
            <a:pPr marL="0" indent="0">
              <a:buNone/>
            </a:pPr>
            <a:r>
              <a:rPr sz="1000" b="1">
                <a:solidFill>
                  <a:srgbClr val="E8A020"/>
                </a:solidFill>
              </a:rPr>
              <a:t>WILDFIRE EXPOSURE SCREENING</a:t>
            </a:r>
            <a:endParaRPr sz="1000"/>
          </a:p>
        </p:txBody>
      </p:sp>
      <p:sp>
        <p:nvSpPr>
          <p:cNvPr id="10" name="Text 8">
            <a:extLst>
              <a:ext uri="{FF2B5EF4-FFF2-40B4-BE49-F238E27FC236}">
                <a16:creationId xmlns:a16="http://schemas.microsoft.com/office/drawing/2014/main" id="{104374D4-53B8-40B4-AD27-574FDD973E4D}"/>
              </a:ext>
            </a:extLst>
          </p:cNvPr>
          <p:cNvSpPr>
            <a:spLocks noGrp="1"/>
          </p:cNvSpPr>
          <p:nvPr/>
        </p:nvSpPr>
        <p:spPr>
          <a:xfrm>
            <a:off x="365760" y="914400"/>
            <a:ext cx="5577840" cy="1828800"/>
          </a:xfrm>
          <a:prstGeom prst="rect">
            <a:avLst/>
          </a:prstGeom>
          <a:noFill/>
        </p:spPr>
        <p:txBody>
          <a:bodyPr wrap="square" lIns="0" tIns="0" rIns="0" bIns="0" anchor="t"/>
          <a:lstStyle/>
          <a:p>
            <a:pPr marL="0" indent="0">
              <a:buNone/>
            </a:pPr>
            <a:r>
              <a:rPr sz="5200" b="1">
                <a:solidFill>
                  <a:srgbClr val="FFFFFF"/>
                </a:solidFill>
              </a:rPr>
              <a:t>Wildfire Exposure</a:t>
            </a:r>
            <a:endParaRPr sz="5200"/>
          </a:p>
          <a:p>
            <a:pPr marL="0" indent="0">
              <a:buNone/>
            </a:pPr>
            <a:r>
              <a:rPr sz="5200" b="1">
                <a:solidFill>
                  <a:srgbClr val="FFFFFF"/>
                </a:solidFill>
              </a:rPr>
              <a:t>Screening</a:t>
            </a:r>
            <a:endParaRPr sz="5200"/>
          </a:p>
        </p:txBody>
      </p:sp>
      <p:sp>
        <p:nvSpPr>
          <p:cNvPr id="11" name="Text 9">
            <a:extLst>
              <a:ext uri="{FF2B5EF4-FFF2-40B4-BE49-F238E27FC236}">
                <a16:creationId xmlns:a16="http://schemas.microsoft.com/office/drawing/2014/main" id="{20E7387F-C7E0-45B4-95FC-3980C4673C6B}"/>
              </a:ext>
            </a:extLst>
          </p:cNvPr>
          <p:cNvSpPr>
            <a:spLocks noGrp="1"/>
          </p:cNvSpPr>
          <p:nvPr/>
        </p:nvSpPr>
        <p:spPr>
          <a:xfrm>
            <a:off x="365760" y="2834640"/>
            <a:ext cx="5577840" cy="411480"/>
          </a:xfrm>
          <a:prstGeom prst="rect">
            <a:avLst/>
          </a:prstGeom>
          <a:noFill/>
        </p:spPr>
        <p:txBody>
          <a:bodyPr wrap="square" lIns="0" tIns="0" rIns="0" bIns="0" anchor="ctr"/>
          <a:lstStyle/>
          <a:p>
            <a:pPr marL="0" indent="0">
              <a:buNone/>
            </a:pPr>
            <a:r>
              <a:rPr sz="1300" i="1">
                <a:solidFill>
                  <a:srgbClr val="A8C4D8"/>
                </a:solidFill>
              </a:rPr>
              <a:t>A reproducible GIS and machine-learning workflow for broad-area location research.</a:t>
            </a:r>
            <a:endParaRPr sz="1300"/>
          </a:p>
        </p:txBody>
      </p:sp>
      <p:sp>
        <p:nvSpPr>
          <p:cNvPr id="12" name="Shape 10">
            <a:extLst>
              <a:ext uri="{FF2B5EF4-FFF2-40B4-BE49-F238E27FC236}">
                <a16:creationId xmlns:a16="http://schemas.microsoft.com/office/drawing/2014/main" id="{84D7FAF1-5834-4AFE-87A0-3EB7DF4F1C96}"/>
              </a:ext>
            </a:extLst>
          </p:cNvPr>
          <p:cNvSpPr>
            <a:spLocks noGrp="1"/>
          </p:cNvSpPr>
          <p:nvPr/>
        </p:nvSpPr>
        <p:spPr>
          <a:xfrm>
            <a:off x="365760" y="3310128"/>
            <a:ext cx="5303520" cy="22860"/>
          </a:xfrm>
          <a:prstGeom prst="rect">
            <a:avLst/>
          </a:prstGeom>
          <a:solidFill>
            <a:srgbClr val="E8A020"/>
          </a:solidFill>
          <a:ln w="12700">
            <a:solidFill>
              <a:srgbClr val="E8A020"/>
            </a:solidFill>
            <a:prstDash val="solid"/>
          </a:ln>
        </p:spPr>
      </p:sp>
      <p:sp>
        <p:nvSpPr>
          <p:cNvPr id="13" name="Text 11">
            <a:extLst>
              <a:ext uri="{FF2B5EF4-FFF2-40B4-BE49-F238E27FC236}">
                <a16:creationId xmlns:a16="http://schemas.microsoft.com/office/drawing/2014/main" id="{55AB15B4-F408-4652-B072-3916646D6B7A}"/>
              </a:ext>
            </a:extLst>
          </p:cNvPr>
          <p:cNvSpPr>
            <a:spLocks noGrp="1"/>
          </p:cNvSpPr>
          <p:nvPr/>
        </p:nvSpPr>
        <p:spPr>
          <a:xfrm>
            <a:off x="365760" y="3383280"/>
            <a:ext cx="5303520" cy="320040"/>
          </a:xfrm>
          <a:prstGeom prst="rect">
            <a:avLst/>
          </a:prstGeom>
          <a:noFill/>
        </p:spPr>
        <p:txBody>
          <a:bodyPr wrap="square" lIns="0" tIns="0" rIns="0" bIns="0" anchor="ctr"/>
          <a:lstStyle/>
          <a:p>
            <a:pPr marL="0" indent="0">
              <a:buNone/>
            </a:pPr>
            <a:r>
              <a:rPr sz="1100">
                <a:solidFill>
                  <a:srgbClr val="E1E8EF"/>
                </a:solidFill>
              </a:rPr>
              <a:t>Serhii Diadechko</a:t>
            </a:r>
            <a:endParaRPr sz="1100"/>
          </a:p>
        </p:txBody>
      </p:sp>
      <p:sp>
        <p:nvSpPr>
          <p:cNvPr id="14" name="Shape 12">
            <a:extLst>
              <a:ext uri="{FF2B5EF4-FFF2-40B4-BE49-F238E27FC236}">
                <a16:creationId xmlns:a16="http://schemas.microsoft.com/office/drawing/2014/main" id="{9BEE0D39-8F48-47D0-AC97-A5C1383B7E0E}"/>
              </a:ext>
            </a:extLst>
          </p:cNvPr>
          <p:cNvSpPr>
            <a:spLocks noGrp="1"/>
          </p:cNvSpPr>
          <p:nvPr/>
        </p:nvSpPr>
        <p:spPr>
          <a:xfrm>
            <a:off x="6080760" y="777240"/>
            <a:ext cx="2834640" cy="3931920"/>
          </a:xfrm>
          <a:prstGeom prst="rect">
            <a:avLst/>
          </a:prstGeom>
          <a:solidFill>
            <a:srgbClr val="1E3A50"/>
          </a:solidFill>
          <a:ln w="12700">
            <a:solidFill>
              <a:srgbClr val="1E3A50"/>
            </a:solidFill>
            <a:prstDash val="solid"/>
          </a:ln>
        </p:spPr>
      </p:sp>
      <p:sp>
        <p:nvSpPr>
          <p:cNvPr id="15" name="Text 13">
            <a:extLst>
              <a:ext uri="{FF2B5EF4-FFF2-40B4-BE49-F238E27FC236}">
                <a16:creationId xmlns:a16="http://schemas.microsoft.com/office/drawing/2014/main" id="{B9DF6536-1C4E-4314-9CB6-ABE7AFD6C0A3}"/>
              </a:ext>
            </a:extLst>
          </p:cNvPr>
          <p:cNvSpPr>
            <a:spLocks noGrp="1"/>
          </p:cNvSpPr>
          <p:nvPr/>
        </p:nvSpPr>
        <p:spPr>
          <a:xfrm>
            <a:off x="6080760" y="822960"/>
            <a:ext cx="2834640" cy="320040"/>
          </a:xfrm>
          <a:prstGeom prst="rect">
            <a:avLst/>
          </a:prstGeom>
          <a:noFill/>
        </p:spPr>
        <p:txBody>
          <a:bodyPr wrap="square" lIns="0" tIns="0" rIns="0" bIns="0" anchor="ctr"/>
          <a:lstStyle/>
          <a:p>
            <a:pPr marL="0" indent="0" algn="ctr">
              <a:buNone/>
            </a:pPr>
            <a:r>
              <a:rPr sz="900" b="1">
                <a:solidFill>
                  <a:srgbClr val="E8A020"/>
                </a:solidFill>
              </a:rPr>
              <a:t>Purpose</a:t>
            </a:r>
            <a:endParaRPr sz="900"/>
          </a:p>
        </p:txBody>
      </p:sp>
      <p:sp>
        <p:nvSpPr>
          <p:cNvPr id="16" name="Shape 14">
            <a:extLst>
              <a:ext uri="{FF2B5EF4-FFF2-40B4-BE49-F238E27FC236}">
                <a16:creationId xmlns:a16="http://schemas.microsoft.com/office/drawing/2014/main" id="{5B21C9E4-9D51-47F8-A634-86927AA3DBCF}"/>
              </a:ext>
            </a:extLst>
          </p:cNvPr>
          <p:cNvSpPr>
            <a:spLocks noGrp="1"/>
          </p:cNvSpPr>
          <p:nvPr/>
        </p:nvSpPr>
        <p:spPr>
          <a:xfrm>
            <a:off x="6217920" y="1170432"/>
            <a:ext cx="2560320" cy="22860"/>
          </a:xfrm>
          <a:prstGeom prst="rect">
            <a:avLst/>
          </a:prstGeom>
          <a:solidFill>
            <a:srgbClr val="E8A020"/>
          </a:solidFill>
          <a:ln w="12700">
            <a:solidFill>
              <a:srgbClr val="E8A020"/>
            </a:solidFill>
            <a:prstDash val="solid"/>
          </a:ln>
        </p:spPr>
      </p:sp>
      <p:sp>
        <p:nvSpPr>
          <p:cNvPr id="17" name="Text 15">
            <a:extLst>
              <a:ext uri="{FF2B5EF4-FFF2-40B4-BE49-F238E27FC236}">
                <a16:creationId xmlns:a16="http://schemas.microsoft.com/office/drawing/2014/main" id="{F36FA1E7-8AA0-4F97-BCC4-F9EF38BF02CA}"/>
              </a:ext>
            </a:extLst>
          </p:cNvPr>
          <p:cNvSpPr>
            <a:spLocks noGrp="1"/>
          </p:cNvSpPr>
          <p:nvPr/>
        </p:nvSpPr>
        <p:spPr>
          <a:xfrm>
            <a:off x="6217920" y="1261872"/>
            <a:ext cx="2560320" cy="438912"/>
          </a:xfrm>
          <a:prstGeom prst="rect">
            <a:avLst/>
          </a:prstGeom>
          <a:noFill/>
        </p:spPr>
        <p:txBody>
          <a:bodyPr wrap="square" lIns="0" tIns="0" rIns="0" bIns="0" anchor="ctr"/>
          <a:lstStyle/>
          <a:p>
            <a:pPr marL="0" indent="0">
              <a:buNone/>
            </a:pPr>
            <a:r>
              <a:rPr sz="1050" b="1">
                <a:solidFill>
                  <a:srgbClr val="E8A020"/>
                </a:solidFill>
              </a:rPr>
              <a:t>Observed history</a:t>
            </a:r>
            <a:endParaRPr sz="1050"/>
          </a:p>
        </p:txBody>
      </p:sp>
      <p:sp>
        <p:nvSpPr>
          <p:cNvPr id="18" name="Text 16">
            <a:extLst>
              <a:ext uri="{FF2B5EF4-FFF2-40B4-BE49-F238E27FC236}">
                <a16:creationId xmlns:a16="http://schemas.microsoft.com/office/drawing/2014/main" id="{E78B0B14-0C2A-4376-A31F-8BD2A8320B1B}"/>
              </a:ext>
            </a:extLst>
          </p:cNvPr>
          <p:cNvSpPr>
            <a:spLocks noGrp="1"/>
          </p:cNvSpPr>
          <p:nvPr/>
        </p:nvSpPr>
        <p:spPr>
          <a:xfrm>
            <a:off x="6217920" y="1792224"/>
            <a:ext cx="2560320" cy="438912"/>
          </a:xfrm>
          <a:prstGeom prst="rect">
            <a:avLst/>
          </a:prstGeom>
          <a:noFill/>
        </p:spPr>
        <p:txBody>
          <a:bodyPr wrap="square" lIns="0" tIns="0" rIns="0" bIns="0" anchor="ctr"/>
          <a:lstStyle/>
          <a:p>
            <a:pPr marL="0" indent="0">
              <a:buNone/>
            </a:pPr>
            <a:r>
              <a:rPr sz="1050" b="1">
                <a:solidFill>
                  <a:srgbClr val="E8A020"/>
                </a:solidFill>
              </a:rPr>
              <a:t>Landscape, terrain and climate</a:t>
            </a:r>
            <a:endParaRPr sz="1050"/>
          </a:p>
        </p:txBody>
      </p:sp>
      <p:sp>
        <p:nvSpPr>
          <p:cNvPr id="19" name="Text 17">
            <a:extLst>
              <a:ext uri="{FF2B5EF4-FFF2-40B4-BE49-F238E27FC236}">
                <a16:creationId xmlns:a16="http://schemas.microsoft.com/office/drawing/2014/main" id="{AE7E2DF4-82FF-4297-BC2B-22C484A80CC8}"/>
              </a:ext>
            </a:extLst>
          </p:cNvPr>
          <p:cNvSpPr>
            <a:spLocks noGrp="1"/>
          </p:cNvSpPr>
          <p:nvPr/>
        </p:nvSpPr>
        <p:spPr>
          <a:xfrm>
            <a:off x="6217920" y="2322576"/>
            <a:ext cx="2560320" cy="438912"/>
          </a:xfrm>
          <a:prstGeom prst="rect">
            <a:avLst/>
          </a:prstGeom>
          <a:noFill/>
        </p:spPr>
        <p:txBody>
          <a:bodyPr wrap="square" lIns="0" tIns="0" rIns="0" bIns="0" anchor="ctr"/>
          <a:lstStyle/>
          <a:p>
            <a:pPr marL="0" indent="0">
              <a:buNone/>
            </a:pPr>
            <a:r>
              <a:rPr sz="1050" b="1">
                <a:solidFill>
                  <a:srgbClr val="E8A020"/>
                </a:solidFill>
              </a:rPr>
              <a:t>Comparative 2026 estimate</a:t>
            </a:r>
            <a:endParaRPr sz="1050"/>
          </a:p>
        </p:txBody>
      </p:sp>
      <p:sp>
        <p:nvSpPr>
          <p:cNvPr id="20" name="Text 18">
            <a:extLst>
              <a:ext uri="{FF2B5EF4-FFF2-40B4-BE49-F238E27FC236}">
                <a16:creationId xmlns:a16="http://schemas.microsoft.com/office/drawing/2014/main" id="{DD6F7EF9-033D-4506-9EBE-BFE18477DBE8}"/>
              </a:ext>
            </a:extLst>
          </p:cNvPr>
          <p:cNvSpPr>
            <a:spLocks noGrp="1"/>
          </p:cNvSpPr>
          <p:nvPr/>
        </p:nvSpPr>
        <p:spPr>
          <a:xfrm>
            <a:off x="6217920" y="2852928"/>
            <a:ext cx="2560320" cy="438912"/>
          </a:xfrm>
          <a:prstGeom prst="rect">
            <a:avLst/>
          </a:prstGeom>
          <a:noFill/>
        </p:spPr>
        <p:txBody>
          <a:bodyPr wrap="square" lIns="0" tIns="0" rIns="0" bIns="0" anchor="ctr"/>
          <a:lstStyle/>
          <a:p>
            <a:pPr marL="0" indent="0">
              <a:buNone/>
            </a:pPr>
            <a:r>
              <a:rPr sz="1050" b="1">
                <a:solidFill>
                  <a:srgbClr val="E8A020"/>
                </a:solidFill>
              </a:rPr>
              <a:t>Narrow broad search areas</a:t>
            </a:r>
            <a:endParaRPr sz="1050"/>
          </a:p>
        </p:txBody>
      </p:sp>
      <p:sp>
        <p:nvSpPr>
          <p:cNvPr id="21" name="Text 19">
            <a:extLst>
              <a:ext uri="{FF2B5EF4-FFF2-40B4-BE49-F238E27FC236}">
                <a16:creationId xmlns:a16="http://schemas.microsoft.com/office/drawing/2014/main" id="{A8932156-3970-4237-A76D-30F8D26A7793}"/>
              </a:ext>
            </a:extLst>
          </p:cNvPr>
          <p:cNvSpPr>
            <a:spLocks noGrp="1"/>
          </p:cNvSpPr>
          <p:nvPr/>
        </p:nvSpPr>
        <p:spPr>
          <a:xfrm>
            <a:off x="6217920" y="3383280"/>
            <a:ext cx="2560320" cy="438912"/>
          </a:xfrm>
          <a:prstGeom prst="rect">
            <a:avLst/>
          </a:prstGeom>
          <a:noFill/>
        </p:spPr>
        <p:txBody>
          <a:bodyPr wrap="square" lIns="0" tIns="0" rIns="0" bIns="0" anchor="ctr"/>
          <a:lstStyle/>
          <a:p>
            <a:pPr marL="0" indent="0">
              <a:buNone/>
            </a:pPr>
            <a:r>
              <a:rPr sz="1050" b="1">
                <a:solidFill>
                  <a:srgbClr val="E8A020"/>
                </a:solidFill>
              </a:rPr>
              <a:t>Then continue with local evidence</a:t>
            </a:r>
            <a:endParaRPr sz="1050"/>
          </a:p>
        </p:txBody>
      </p:sp>
      <p:sp>
        <p:nvSpPr>
          <p:cNvPr id="22" name="Shape 20">
            <a:extLst>
              <a:ext uri="{FF2B5EF4-FFF2-40B4-BE49-F238E27FC236}">
                <a16:creationId xmlns:a16="http://schemas.microsoft.com/office/drawing/2014/main" id="{60B28163-A49C-4C75-B149-473B24134259}"/>
              </a:ext>
            </a:extLst>
          </p:cNvPr>
          <p:cNvSpPr>
            <a:spLocks noGrp="1"/>
          </p:cNvSpPr>
          <p:nvPr/>
        </p:nvSpPr>
        <p:spPr>
          <a:xfrm>
            <a:off x="0" y="4919472"/>
            <a:ext cx="9144000" cy="224028"/>
          </a:xfrm>
          <a:prstGeom prst="rect">
            <a:avLst/>
          </a:prstGeom>
          <a:solidFill>
            <a:srgbClr val="162B3D"/>
          </a:solidFill>
          <a:ln w="12700">
            <a:solidFill>
              <a:srgbClr val="162B3D"/>
            </a:solidFill>
            <a:prstDash val="solid"/>
          </a:ln>
        </p:spPr>
      </p:sp>
      <p:sp>
        <p:nvSpPr>
          <p:cNvPr id="23" name="Text 21">
            <a:extLst>
              <a:ext uri="{FF2B5EF4-FFF2-40B4-BE49-F238E27FC236}">
                <a16:creationId xmlns:a16="http://schemas.microsoft.com/office/drawing/2014/main" id="{D759CE5D-7A30-48C4-B49F-00835A05CFBA}"/>
              </a:ext>
            </a:extLst>
          </p:cNvPr>
          <p:cNvSpPr>
            <a:spLocks noGrp="1"/>
          </p:cNvSpPr>
          <p:nvPr/>
        </p:nvSpPr>
        <p:spPr>
          <a:xfrm>
            <a:off x="274320" y="4919472"/>
            <a:ext cx="8595360" cy="224028"/>
          </a:xfrm>
          <a:prstGeom prst="rect">
            <a:avLst/>
          </a:prstGeom>
          <a:noFill/>
        </p:spPr>
        <p:txBody>
          <a:bodyPr wrap="square" lIns="0" tIns="0" rIns="0" bIns="0" anchor="ctr"/>
          <a:lstStyle/>
          <a:p>
            <a:pPr marL="0" indent="0">
              <a:buNone/>
            </a:pPr>
            <a:r>
              <a:rPr sz="800" b="1">
                <a:solidFill>
                  <a:srgbClr val="E8A020"/>
                </a:solidFill>
              </a:rPr>
              <a:t>Serhii Diadechko  |  Data Science &amp; Machine Learning Capstone</a:t>
            </a:r>
            <a:endParaRPr sz="800"/>
          </a:p>
        </p:txBody>
      </p:sp>
    </p:spTree>
    <p:extLst>
      <p:ext uri="{BB962C8B-B14F-4D97-AF65-F5344CB8AC3E}">
        <p14:creationId xmlns:p14="http://schemas.microsoft.com/office/powerpoint/2010/main" val="1915963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A86A1C8-DB06-4DCE-9DAF-693B7C77942A}"/>
              </a:ext>
            </a:extLst>
          </p:cNvPr>
          <p:cNvSpPr>
            <a:spLocks noGrp="1"/>
          </p:cNvSpPr>
          <p:nvPr/>
        </p:nvSpPr>
        <p:spPr>
          <a:xfrm>
            <a:off x="0" y="0"/>
            <a:ext cx="9144000" cy="5143500"/>
          </a:xfrm>
          <a:prstGeom prst="rect">
            <a:avLst/>
          </a:prstGeom>
          <a:solidFill>
            <a:srgbClr val="F3F6F9"/>
          </a:solidFill>
          <a:ln w="12700">
            <a:solidFill>
              <a:srgbClr val="F3F6F9"/>
            </a:solidFill>
            <a:prstDash val="solid"/>
          </a:ln>
        </p:spPr>
      </p:sp>
      <p:sp>
        <p:nvSpPr>
          <p:cNvPr id="3" name="Shape 1">
            <a:extLst>
              <a:ext uri="{FF2B5EF4-FFF2-40B4-BE49-F238E27FC236}">
                <a16:creationId xmlns:a16="http://schemas.microsoft.com/office/drawing/2014/main" id="{D197F66D-6C57-4707-8514-4D78C9DEF865}"/>
              </a:ext>
            </a:extLst>
          </p:cNvPr>
          <p:cNvSpPr>
            <a:spLocks noGrp="1"/>
          </p:cNvSpPr>
          <p:nvPr/>
        </p:nvSpPr>
        <p:spPr>
          <a:xfrm>
            <a:off x="0" y="0"/>
            <a:ext cx="9144000" cy="64008"/>
          </a:xfrm>
          <a:prstGeom prst="rect">
            <a:avLst/>
          </a:prstGeom>
          <a:solidFill>
            <a:srgbClr val="E8A020"/>
          </a:solidFill>
          <a:ln w="12700">
            <a:solidFill>
              <a:srgbClr val="E8A020"/>
            </a:solidFill>
            <a:prstDash val="solid"/>
          </a:ln>
        </p:spPr>
      </p:sp>
      <p:sp>
        <p:nvSpPr>
          <p:cNvPr id="4" name="Shape 2">
            <a:extLst>
              <a:ext uri="{FF2B5EF4-FFF2-40B4-BE49-F238E27FC236}">
                <a16:creationId xmlns:a16="http://schemas.microsoft.com/office/drawing/2014/main" id="{BCC99481-8AFC-45E5-8E41-5D92798EEDD0}"/>
              </a:ext>
            </a:extLst>
          </p:cNvPr>
          <p:cNvSpPr>
            <a:spLocks noGrp="1"/>
          </p:cNvSpPr>
          <p:nvPr/>
        </p:nvSpPr>
        <p:spPr>
          <a:xfrm>
            <a:off x="0" y="64008"/>
            <a:ext cx="9144000" cy="658368"/>
          </a:xfrm>
          <a:prstGeom prst="rect">
            <a:avLst/>
          </a:prstGeom>
          <a:solidFill>
            <a:srgbClr val="1E3A50"/>
          </a:solidFill>
          <a:ln w="12700">
            <a:solidFill>
              <a:srgbClr val="1E3A50"/>
            </a:solidFill>
            <a:prstDash val="solid"/>
          </a:ln>
        </p:spPr>
      </p:sp>
      <p:sp>
        <p:nvSpPr>
          <p:cNvPr id="5" name="Text 3">
            <a:extLst>
              <a:ext uri="{FF2B5EF4-FFF2-40B4-BE49-F238E27FC236}">
                <a16:creationId xmlns:a16="http://schemas.microsoft.com/office/drawing/2014/main" id="{6BEB6717-FD6D-4B81-81A9-77D30FCEDB7F}"/>
              </a:ext>
            </a:extLst>
          </p:cNvPr>
          <p:cNvSpPr>
            <a:spLocks noGrp="1"/>
          </p:cNvSpPr>
          <p:nvPr/>
        </p:nvSpPr>
        <p:spPr>
          <a:xfrm>
            <a:off x="274320" y="64008"/>
            <a:ext cx="7315200" cy="658368"/>
          </a:xfrm>
          <a:prstGeom prst="rect">
            <a:avLst/>
          </a:prstGeom>
          <a:noFill/>
        </p:spPr>
        <p:txBody>
          <a:bodyPr wrap="square" lIns="0" tIns="0" rIns="0" bIns="0" anchor="ctr"/>
          <a:lstStyle/>
          <a:p>
            <a:pPr marL="0" indent="0">
              <a:buNone/>
            </a:pPr>
            <a:r>
              <a:rPr sz="1100" b="1">
                <a:solidFill>
                  <a:srgbClr val="E8A020"/>
                </a:solidFill>
              </a:rPr>
              <a:t>DATASET OVERVIEW</a:t>
            </a:r>
            <a:endParaRPr sz="1100"/>
          </a:p>
        </p:txBody>
      </p:sp>
      <p:sp>
        <p:nvSpPr>
          <p:cNvPr id="6" name="Text 4">
            <a:extLst>
              <a:ext uri="{FF2B5EF4-FFF2-40B4-BE49-F238E27FC236}">
                <a16:creationId xmlns:a16="http://schemas.microsoft.com/office/drawing/2014/main" id="{6C101844-9940-49BE-8B17-716FB787513D}"/>
              </a:ext>
            </a:extLst>
          </p:cNvPr>
          <p:cNvSpPr>
            <a:spLocks noGrp="1"/>
          </p:cNvSpPr>
          <p:nvPr/>
        </p:nvSpPr>
        <p:spPr>
          <a:xfrm>
            <a:off x="6858000" y="64008"/>
            <a:ext cx="2011680" cy="658368"/>
          </a:xfrm>
          <a:prstGeom prst="rect">
            <a:avLst/>
          </a:prstGeom>
          <a:noFill/>
        </p:spPr>
        <p:txBody>
          <a:bodyPr wrap="square" lIns="0" tIns="0" rIns="0" bIns="0" anchor="ctr"/>
          <a:lstStyle/>
          <a:p>
            <a:pPr marL="0" indent="0" algn="r">
              <a:buNone/>
            </a:pPr>
            <a:r>
              <a:rPr sz="1100" b="1">
                <a:solidFill>
                  <a:srgbClr val="E1E8EF"/>
                </a:solidFill>
              </a:rPr>
              <a:t>2 / 8</a:t>
            </a:r>
            <a:endParaRPr sz="1100"/>
          </a:p>
        </p:txBody>
      </p:sp>
      <p:sp>
        <p:nvSpPr>
          <p:cNvPr id="7" name="Text 5">
            <a:extLst>
              <a:ext uri="{FF2B5EF4-FFF2-40B4-BE49-F238E27FC236}">
                <a16:creationId xmlns:a16="http://schemas.microsoft.com/office/drawing/2014/main" id="{0121B0D7-68D2-4F3B-B4D9-855405D8279A}"/>
              </a:ext>
            </a:extLst>
          </p:cNvPr>
          <p:cNvSpPr>
            <a:spLocks noGrp="1"/>
          </p:cNvSpPr>
          <p:nvPr/>
        </p:nvSpPr>
        <p:spPr>
          <a:xfrm>
            <a:off x="274320" y="804672"/>
            <a:ext cx="8595360" cy="475488"/>
          </a:xfrm>
          <a:prstGeom prst="rect">
            <a:avLst/>
          </a:prstGeom>
          <a:noFill/>
        </p:spPr>
        <p:txBody>
          <a:bodyPr wrap="square" lIns="0" tIns="0" rIns="0" bIns="0" anchor="ctr"/>
          <a:lstStyle/>
          <a:p>
            <a:pPr marL="0" indent="0">
              <a:buNone/>
            </a:pPr>
            <a:r>
              <a:rPr sz="1600" b="1">
                <a:solidFill>
                  <a:srgbClr val="1A2638"/>
                </a:solidFill>
              </a:rPr>
              <a:t>One 1 km mainland cell per year makes the evidence comparable</a:t>
            </a:r>
            <a:endParaRPr sz="1600"/>
          </a:p>
        </p:txBody>
      </p:sp>
      <p:sp>
        <p:nvSpPr>
          <p:cNvPr id="8" name="Shape 6">
            <a:extLst>
              <a:ext uri="{FF2B5EF4-FFF2-40B4-BE49-F238E27FC236}">
                <a16:creationId xmlns:a16="http://schemas.microsoft.com/office/drawing/2014/main" id="{6015B360-BBBA-4DE0-9795-57F031507AC6}"/>
              </a:ext>
            </a:extLst>
          </p:cNvPr>
          <p:cNvSpPr>
            <a:spLocks noGrp="1"/>
          </p:cNvSpPr>
          <p:nvPr/>
        </p:nvSpPr>
        <p:spPr>
          <a:xfrm>
            <a:off x="274320" y="1371600"/>
            <a:ext cx="2651760" cy="2834640"/>
          </a:xfrm>
          <a:prstGeom prst="rect">
            <a:avLst/>
          </a:prstGeom>
          <a:solidFill>
            <a:srgbClr val="FFFFFF"/>
          </a:solidFill>
          <a:ln w="12700">
            <a:solidFill>
              <a:srgbClr val="2E6DB4"/>
            </a:solidFill>
            <a:prstDash val="solid"/>
          </a:ln>
          <a:effectLst>
            <a:outerShdw blurRad="101600" dist="38100" dir="8100000" algn="bl" rotWithShape="0">
              <a:srgbClr val="000000">
                <a:alpha val="10000"/>
              </a:srgbClr>
            </a:outerShdw>
          </a:effectLst>
        </p:spPr>
      </p:sp>
      <p:sp>
        <p:nvSpPr>
          <p:cNvPr id="9" name="Shape 7">
            <a:extLst>
              <a:ext uri="{FF2B5EF4-FFF2-40B4-BE49-F238E27FC236}">
                <a16:creationId xmlns:a16="http://schemas.microsoft.com/office/drawing/2014/main" id="{5C07B9EA-88EE-49EE-B7D4-7BDB797C5482}"/>
              </a:ext>
            </a:extLst>
          </p:cNvPr>
          <p:cNvSpPr>
            <a:spLocks noGrp="1"/>
          </p:cNvSpPr>
          <p:nvPr/>
        </p:nvSpPr>
        <p:spPr>
          <a:xfrm>
            <a:off x="274320" y="1371600"/>
            <a:ext cx="2651760" cy="384048"/>
          </a:xfrm>
          <a:prstGeom prst="rect">
            <a:avLst/>
          </a:prstGeom>
          <a:solidFill>
            <a:srgbClr val="2E6DB4"/>
          </a:solidFill>
          <a:ln w="12700">
            <a:solidFill>
              <a:srgbClr val="2E6DB4"/>
            </a:solidFill>
            <a:prstDash val="solid"/>
          </a:ln>
        </p:spPr>
      </p:sp>
      <p:sp>
        <p:nvSpPr>
          <p:cNvPr id="10" name="Text 8">
            <a:extLst>
              <a:ext uri="{FF2B5EF4-FFF2-40B4-BE49-F238E27FC236}">
                <a16:creationId xmlns:a16="http://schemas.microsoft.com/office/drawing/2014/main" id="{D9484D15-B5B7-461A-BAA9-47327A4B2126}"/>
              </a:ext>
            </a:extLst>
          </p:cNvPr>
          <p:cNvSpPr>
            <a:spLocks noGrp="1"/>
          </p:cNvSpPr>
          <p:nvPr/>
        </p:nvSpPr>
        <p:spPr>
          <a:xfrm>
            <a:off x="274320" y="1371600"/>
            <a:ext cx="2651760" cy="384048"/>
          </a:xfrm>
          <a:prstGeom prst="rect">
            <a:avLst/>
          </a:prstGeom>
          <a:noFill/>
        </p:spPr>
        <p:txBody>
          <a:bodyPr wrap="square" lIns="0" tIns="0" rIns="0" bIns="0" anchor="ctr"/>
          <a:lstStyle/>
          <a:p>
            <a:pPr marL="0" indent="0" algn="ctr">
              <a:buNone/>
            </a:pPr>
            <a:r>
              <a:rPr sz="1100" b="1">
                <a:solidFill>
                  <a:srgbClr val="FFFFFF"/>
                </a:solidFill>
              </a:rPr>
              <a:t>OBSERVED FIRE</a:t>
            </a:r>
            <a:endParaRPr sz="1100"/>
          </a:p>
        </p:txBody>
      </p:sp>
      <p:sp>
        <p:nvSpPr>
          <p:cNvPr id="11" name="Text 9">
            <a:extLst>
              <a:ext uri="{FF2B5EF4-FFF2-40B4-BE49-F238E27FC236}">
                <a16:creationId xmlns:a16="http://schemas.microsoft.com/office/drawing/2014/main" id="{67C6A5B0-CECC-4ACC-9832-24A59DDB136C}"/>
              </a:ext>
            </a:extLst>
          </p:cNvPr>
          <p:cNvSpPr>
            <a:spLocks noGrp="1"/>
          </p:cNvSpPr>
          <p:nvPr/>
        </p:nvSpPr>
        <p:spPr>
          <a:xfrm>
            <a:off x="365760" y="1792224"/>
            <a:ext cx="2468880" cy="256032"/>
          </a:xfrm>
          <a:prstGeom prst="rect">
            <a:avLst/>
          </a:prstGeom>
          <a:noFill/>
        </p:spPr>
        <p:txBody>
          <a:bodyPr wrap="square" lIns="0" tIns="0" rIns="0" bIns="0" anchor="ctr"/>
          <a:lstStyle/>
          <a:p>
            <a:pPr marL="0" indent="0">
              <a:buNone/>
            </a:pPr>
            <a:r>
              <a:rPr sz="800">
                <a:solidFill>
                  <a:srgbClr val="2E6DB4"/>
                </a:solidFill>
              </a:rPr>
              <a:t>ICNF annual burned areas</a:t>
            </a:r>
            <a:endParaRPr sz="800"/>
          </a:p>
        </p:txBody>
      </p:sp>
      <p:sp>
        <p:nvSpPr>
          <p:cNvPr id="12" name="Text 10">
            <a:extLst>
              <a:ext uri="{FF2B5EF4-FFF2-40B4-BE49-F238E27FC236}">
                <a16:creationId xmlns:a16="http://schemas.microsoft.com/office/drawing/2014/main" id="{22DC359E-9E6E-4E9F-BF48-BEF9690E6A70}"/>
              </a:ext>
            </a:extLst>
          </p:cNvPr>
          <p:cNvSpPr>
            <a:spLocks noGrp="1"/>
          </p:cNvSpPr>
          <p:nvPr/>
        </p:nvSpPr>
        <p:spPr>
          <a:xfrm>
            <a:off x="365760" y="2048256"/>
            <a:ext cx="2468880" cy="502920"/>
          </a:xfrm>
          <a:prstGeom prst="rect">
            <a:avLst/>
          </a:prstGeom>
          <a:noFill/>
        </p:spPr>
        <p:txBody>
          <a:bodyPr wrap="square" lIns="0" tIns="0" rIns="0" bIns="0" anchor="t"/>
          <a:lstStyle/>
          <a:p>
            <a:pPr marL="0" indent="0">
              <a:buNone/>
            </a:pPr>
            <a:r>
              <a:rPr sz="850">
                <a:solidFill>
                  <a:srgbClr val="1A2638"/>
                </a:solidFill>
              </a:rPr>
              <a:t>Historical occurrence and next-year burned-share outcomes. Fire recurrence is measured in a 2 km context buffer.</a:t>
            </a:r>
            <a:endParaRPr sz="850"/>
          </a:p>
        </p:txBody>
      </p:sp>
      <p:sp>
        <p:nvSpPr>
          <p:cNvPr id="13" name="Shape 11">
            <a:extLst>
              <a:ext uri="{FF2B5EF4-FFF2-40B4-BE49-F238E27FC236}">
                <a16:creationId xmlns:a16="http://schemas.microsoft.com/office/drawing/2014/main" id="{1CD4E307-F1DC-41BD-A2A0-EF4229C67E73}"/>
              </a:ext>
            </a:extLst>
          </p:cNvPr>
          <p:cNvSpPr>
            <a:spLocks noGrp="1"/>
          </p:cNvSpPr>
          <p:nvPr/>
        </p:nvSpPr>
        <p:spPr>
          <a:xfrm>
            <a:off x="365760" y="2578608"/>
            <a:ext cx="2468880" cy="502920"/>
          </a:xfrm>
          <a:prstGeom prst="rect">
            <a:avLst/>
          </a:prstGeom>
          <a:solidFill>
            <a:srgbClr val="EBF0FD"/>
          </a:solidFill>
          <a:ln w="12700">
            <a:solidFill>
              <a:srgbClr val="EBF0FD"/>
            </a:solidFill>
            <a:prstDash val="solid"/>
          </a:ln>
        </p:spPr>
      </p:sp>
      <p:sp>
        <p:nvSpPr>
          <p:cNvPr id="14" name="Text 12">
            <a:extLst>
              <a:ext uri="{FF2B5EF4-FFF2-40B4-BE49-F238E27FC236}">
                <a16:creationId xmlns:a16="http://schemas.microsoft.com/office/drawing/2014/main" id="{C2C8DE72-7721-45D6-B469-D1F7820E4A35}"/>
              </a:ext>
            </a:extLst>
          </p:cNvPr>
          <p:cNvSpPr>
            <a:spLocks noGrp="1"/>
          </p:cNvSpPr>
          <p:nvPr/>
        </p:nvSpPr>
        <p:spPr>
          <a:xfrm>
            <a:off x="411480" y="2578608"/>
            <a:ext cx="2377440" cy="502920"/>
          </a:xfrm>
          <a:prstGeom prst="rect">
            <a:avLst/>
          </a:prstGeom>
          <a:noFill/>
        </p:spPr>
        <p:txBody>
          <a:bodyPr wrap="square" lIns="0" tIns="0" rIns="0" bIns="0" anchor="ctr"/>
          <a:lstStyle/>
          <a:p>
            <a:pPr marL="0" indent="0">
              <a:buNone/>
            </a:pPr>
            <a:r>
              <a:rPr sz="800" i="1">
                <a:solidFill>
                  <a:srgbClr val="1A2638"/>
                </a:solidFill>
              </a:rPr>
              <a:t>2000–2025 coverage</a:t>
            </a:r>
            <a:endParaRPr sz="800"/>
          </a:p>
        </p:txBody>
      </p:sp>
      <p:sp>
        <p:nvSpPr>
          <p:cNvPr id="15" name="Text 13">
            <a:extLst>
              <a:ext uri="{FF2B5EF4-FFF2-40B4-BE49-F238E27FC236}">
                <a16:creationId xmlns:a16="http://schemas.microsoft.com/office/drawing/2014/main" id="{A0536C49-BFED-466A-8A4F-1AF9F8838334}"/>
              </a:ext>
            </a:extLst>
          </p:cNvPr>
          <p:cNvSpPr>
            <a:spLocks noGrp="1"/>
          </p:cNvSpPr>
          <p:nvPr/>
        </p:nvSpPr>
        <p:spPr>
          <a:xfrm>
            <a:off x="365760" y="3145536"/>
            <a:ext cx="2468880" cy="502920"/>
          </a:xfrm>
          <a:prstGeom prst="rect">
            <a:avLst/>
          </a:prstGeom>
          <a:noFill/>
        </p:spPr>
        <p:txBody>
          <a:bodyPr wrap="square" lIns="0" tIns="0" rIns="0" bIns="0" anchor="t"/>
          <a:lstStyle/>
          <a:p>
            <a:pPr marL="0" indent="0">
              <a:buNone/>
            </a:pPr>
            <a:r>
              <a:rPr sz="750" b="1">
                <a:solidFill>
                  <a:srgbClr val="2A9D61"/>
                </a:solidFill>
              </a:rPr>
              <a:t>Use: observed history and outcome labels</a:t>
            </a:r>
            <a:endParaRPr sz="750"/>
          </a:p>
        </p:txBody>
      </p:sp>
      <p:sp>
        <p:nvSpPr>
          <p:cNvPr id="16" name="Text 14">
            <a:extLst>
              <a:ext uri="{FF2B5EF4-FFF2-40B4-BE49-F238E27FC236}">
                <a16:creationId xmlns:a16="http://schemas.microsoft.com/office/drawing/2014/main" id="{061C0752-DC49-4F35-AFC7-AB88C79FAF0D}"/>
              </a:ext>
            </a:extLst>
          </p:cNvPr>
          <p:cNvSpPr>
            <a:spLocks noGrp="1"/>
          </p:cNvSpPr>
          <p:nvPr/>
        </p:nvSpPr>
        <p:spPr>
          <a:xfrm>
            <a:off x="365760" y="3675888"/>
            <a:ext cx="2468880" cy="502920"/>
          </a:xfrm>
          <a:prstGeom prst="rect">
            <a:avLst/>
          </a:prstGeom>
          <a:noFill/>
        </p:spPr>
        <p:txBody>
          <a:bodyPr wrap="square" lIns="0" tIns="0" rIns="0" bIns="0" anchor="t"/>
          <a:lstStyle/>
          <a:p>
            <a:pPr marL="0" indent="0">
              <a:buNone/>
            </a:pPr>
            <a:r>
              <a:rPr sz="750" b="1">
                <a:solidFill>
                  <a:srgbClr val="C0392B"/>
                </a:solidFill>
              </a:rPr>
              <a:t>Burned share = burned land area / cell land area.</a:t>
            </a:r>
            <a:endParaRPr sz="750"/>
          </a:p>
        </p:txBody>
      </p:sp>
      <p:sp>
        <p:nvSpPr>
          <p:cNvPr id="17" name="Text 15">
            <a:extLst>
              <a:ext uri="{FF2B5EF4-FFF2-40B4-BE49-F238E27FC236}">
                <a16:creationId xmlns:a16="http://schemas.microsoft.com/office/drawing/2014/main" id="{E4724BAC-EE83-433E-87E5-BC0E996BDFFC}"/>
              </a:ext>
            </a:extLst>
          </p:cNvPr>
          <p:cNvSpPr>
            <a:spLocks noGrp="1"/>
          </p:cNvSpPr>
          <p:nvPr/>
        </p:nvSpPr>
        <p:spPr>
          <a:xfrm>
            <a:off x="2962656" y="2560320"/>
            <a:ext cx="320040" cy="457200"/>
          </a:xfrm>
          <a:prstGeom prst="rect">
            <a:avLst/>
          </a:prstGeom>
          <a:noFill/>
        </p:spPr>
        <p:txBody>
          <a:bodyPr wrap="square" lIns="0" tIns="0" rIns="0" bIns="0" anchor="ctr"/>
          <a:lstStyle/>
          <a:p>
            <a:pPr marL="0" indent="0" algn="ctr">
              <a:buNone/>
            </a:pPr>
            <a:r>
              <a:rPr sz="2000" b="1">
                <a:solidFill>
                  <a:srgbClr val="E8A020"/>
                </a:solidFill>
              </a:rPr>
              <a:t>→</a:t>
            </a:r>
            <a:endParaRPr sz="2000"/>
          </a:p>
        </p:txBody>
      </p:sp>
      <p:sp>
        <p:nvSpPr>
          <p:cNvPr id="18" name="Shape 16">
            <a:extLst>
              <a:ext uri="{FF2B5EF4-FFF2-40B4-BE49-F238E27FC236}">
                <a16:creationId xmlns:a16="http://schemas.microsoft.com/office/drawing/2014/main" id="{88BDC9BD-5FAD-4BBE-B51A-B021702F2F4D}"/>
              </a:ext>
            </a:extLst>
          </p:cNvPr>
          <p:cNvSpPr>
            <a:spLocks noGrp="1"/>
          </p:cNvSpPr>
          <p:nvPr/>
        </p:nvSpPr>
        <p:spPr>
          <a:xfrm>
            <a:off x="3310128" y="1371600"/>
            <a:ext cx="2651760" cy="2834640"/>
          </a:xfrm>
          <a:prstGeom prst="rect">
            <a:avLst/>
          </a:prstGeom>
          <a:solidFill>
            <a:srgbClr val="FFFFFF"/>
          </a:solidFill>
          <a:ln w="12700">
            <a:solidFill>
              <a:srgbClr val="E67E22"/>
            </a:solidFill>
            <a:prstDash val="solid"/>
          </a:ln>
          <a:effectLst>
            <a:outerShdw blurRad="101600" dist="38100" dir="8100000" algn="bl" rotWithShape="0">
              <a:srgbClr val="000000">
                <a:alpha val="10000"/>
              </a:srgbClr>
            </a:outerShdw>
          </a:effectLst>
        </p:spPr>
      </p:sp>
      <p:sp>
        <p:nvSpPr>
          <p:cNvPr id="19" name="Shape 17">
            <a:extLst>
              <a:ext uri="{FF2B5EF4-FFF2-40B4-BE49-F238E27FC236}">
                <a16:creationId xmlns:a16="http://schemas.microsoft.com/office/drawing/2014/main" id="{8FE4F804-F3B6-4684-BFCD-653595482E22}"/>
              </a:ext>
            </a:extLst>
          </p:cNvPr>
          <p:cNvSpPr>
            <a:spLocks noGrp="1"/>
          </p:cNvSpPr>
          <p:nvPr/>
        </p:nvSpPr>
        <p:spPr>
          <a:xfrm>
            <a:off x="3310128" y="1371600"/>
            <a:ext cx="2651760" cy="384048"/>
          </a:xfrm>
          <a:prstGeom prst="rect">
            <a:avLst/>
          </a:prstGeom>
          <a:solidFill>
            <a:srgbClr val="E67E22"/>
          </a:solidFill>
          <a:ln w="12700">
            <a:solidFill>
              <a:srgbClr val="E67E22"/>
            </a:solidFill>
            <a:prstDash val="solid"/>
          </a:ln>
        </p:spPr>
      </p:sp>
      <p:sp>
        <p:nvSpPr>
          <p:cNvPr id="20" name="Text 18">
            <a:extLst>
              <a:ext uri="{FF2B5EF4-FFF2-40B4-BE49-F238E27FC236}">
                <a16:creationId xmlns:a16="http://schemas.microsoft.com/office/drawing/2014/main" id="{F823FAC1-C9B5-4631-81A0-0779D0A744E5}"/>
              </a:ext>
            </a:extLst>
          </p:cNvPr>
          <p:cNvSpPr>
            <a:spLocks noGrp="1"/>
          </p:cNvSpPr>
          <p:nvPr/>
        </p:nvSpPr>
        <p:spPr>
          <a:xfrm>
            <a:off x="3310128" y="1371600"/>
            <a:ext cx="2651760" cy="384048"/>
          </a:xfrm>
          <a:prstGeom prst="rect">
            <a:avLst/>
          </a:prstGeom>
          <a:noFill/>
        </p:spPr>
        <p:txBody>
          <a:bodyPr wrap="square" lIns="0" tIns="0" rIns="0" bIns="0" anchor="ctr"/>
          <a:lstStyle/>
          <a:p>
            <a:pPr marL="0" indent="0" algn="ctr">
              <a:buNone/>
            </a:pPr>
            <a:r>
              <a:rPr sz="1100" b="1">
                <a:solidFill>
                  <a:srgbClr val="FFFFFF"/>
                </a:solidFill>
              </a:rPr>
              <a:t>PLACE CONTEXT</a:t>
            </a:r>
            <a:endParaRPr sz="1100"/>
          </a:p>
        </p:txBody>
      </p:sp>
      <p:sp>
        <p:nvSpPr>
          <p:cNvPr id="21" name="Text 19">
            <a:extLst>
              <a:ext uri="{FF2B5EF4-FFF2-40B4-BE49-F238E27FC236}">
                <a16:creationId xmlns:a16="http://schemas.microsoft.com/office/drawing/2014/main" id="{CDF192D1-D9B3-4618-B786-9A11E17D0DE9}"/>
              </a:ext>
            </a:extLst>
          </p:cNvPr>
          <p:cNvSpPr>
            <a:spLocks noGrp="1"/>
          </p:cNvSpPr>
          <p:nvPr/>
        </p:nvSpPr>
        <p:spPr>
          <a:xfrm>
            <a:off x="3401568" y="1792224"/>
            <a:ext cx="2468880" cy="256032"/>
          </a:xfrm>
          <a:prstGeom prst="rect">
            <a:avLst/>
          </a:prstGeom>
          <a:noFill/>
        </p:spPr>
        <p:txBody>
          <a:bodyPr wrap="square" lIns="0" tIns="0" rIns="0" bIns="0" anchor="ctr"/>
          <a:lstStyle/>
          <a:p>
            <a:pPr marL="0" indent="0">
              <a:buNone/>
            </a:pPr>
            <a:r>
              <a:rPr sz="800">
                <a:solidFill>
                  <a:srgbClr val="E67E22"/>
                </a:solidFill>
              </a:rPr>
              <a:t>CLC and Copernicus DEM</a:t>
            </a:r>
            <a:endParaRPr sz="800"/>
          </a:p>
        </p:txBody>
      </p:sp>
      <p:sp>
        <p:nvSpPr>
          <p:cNvPr id="22" name="Text 20">
            <a:extLst>
              <a:ext uri="{FF2B5EF4-FFF2-40B4-BE49-F238E27FC236}">
                <a16:creationId xmlns:a16="http://schemas.microsoft.com/office/drawing/2014/main" id="{35B99BF9-D34E-45F7-A42A-E1EE7420E18A}"/>
              </a:ext>
            </a:extLst>
          </p:cNvPr>
          <p:cNvSpPr>
            <a:spLocks noGrp="1"/>
          </p:cNvSpPr>
          <p:nvPr/>
        </p:nvSpPr>
        <p:spPr>
          <a:xfrm>
            <a:off x="3401568" y="2048256"/>
            <a:ext cx="2468880" cy="502920"/>
          </a:xfrm>
          <a:prstGeom prst="rect">
            <a:avLst/>
          </a:prstGeom>
          <a:noFill/>
        </p:spPr>
        <p:txBody>
          <a:bodyPr wrap="square" lIns="0" tIns="0" rIns="0" bIns="0" anchor="t"/>
          <a:lstStyle/>
          <a:p>
            <a:pPr marL="0" indent="0">
              <a:buNone/>
            </a:pPr>
            <a:r>
              <a:rPr sz="850">
                <a:solidFill>
                  <a:srgbClr val="1A2638"/>
                </a:solidFill>
              </a:rPr>
              <a:t>Built-up share, forest/shrub context and mean slope describe the surrounding landscape.</a:t>
            </a:r>
            <a:endParaRPr sz="850"/>
          </a:p>
        </p:txBody>
      </p:sp>
      <p:sp>
        <p:nvSpPr>
          <p:cNvPr id="23" name="Shape 21">
            <a:extLst>
              <a:ext uri="{FF2B5EF4-FFF2-40B4-BE49-F238E27FC236}">
                <a16:creationId xmlns:a16="http://schemas.microsoft.com/office/drawing/2014/main" id="{6F886BEF-D149-4B22-AB28-BF3F16160D69}"/>
              </a:ext>
            </a:extLst>
          </p:cNvPr>
          <p:cNvSpPr>
            <a:spLocks noGrp="1"/>
          </p:cNvSpPr>
          <p:nvPr/>
        </p:nvSpPr>
        <p:spPr>
          <a:xfrm>
            <a:off x="3401568" y="2578608"/>
            <a:ext cx="2468880" cy="502920"/>
          </a:xfrm>
          <a:prstGeom prst="rect">
            <a:avLst/>
          </a:prstGeom>
          <a:solidFill>
            <a:srgbClr val="FEF3E2"/>
          </a:solidFill>
          <a:ln w="12700">
            <a:solidFill>
              <a:srgbClr val="FEF3E2"/>
            </a:solidFill>
            <a:prstDash val="solid"/>
          </a:ln>
        </p:spPr>
      </p:sp>
      <p:sp>
        <p:nvSpPr>
          <p:cNvPr id="24" name="Text 22">
            <a:extLst>
              <a:ext uri="{FF2B5EF4-FFF2-40B4-BE49-F238E27FC236}">
                <a16:creationId xmlns:a16="http://schemas.microsoft.com/office/drawing/2014/main" id="{80A0214D-E33A-4BF0-8D70-726CFE0375AB}"/>
              </a:ext>
            </a:extLst>
          </p:cNvPr>
          <p:cNvSpPr>
            <a:spLocks noGrp="1"/>
          </p:cNvSpPr>
          <p:nvPr/>
        </p:nvSpPr>
        <p:spPr>
          <a:xfrm>
            <a:off x="3447288" y="2578608"/>
            <a:ext cx="2377440" cy="502920"/>
          </a:xfrm>
          <a:prstGeom prst="rect">
            <a:avLst/>
          </a:prstGeom>
          <a:noFill/>
        </p:spPr>
        <p:txBody>
          <a:bodyPr wrap="square" lIns="0" tIns="0" rIns="0" bIns="0" anchor="ctr"/>
          <a:lstStyle/>
          <a:p>
            <a:pPr marL="0" indent="0">
              <a:buNone/>
            </a:pPr>
            <a:r>
              <a:rPr sz="800" i="1">
                <a:solidFill>
                  <a:srgbClr val="1A2638"/>
                </a:solidFill>
              </a:rPr>
              <a:t>Static or governed historical layers</a:t>
            </a:r>
            <a:endParaRPr sz="800"/>
          </a:p>
        </p:txBody>
      </p:sp>
      <p:sp>
        <p:nvSpPr>
          <p:cNvPr id="25" name="Text 23">
            <a:extLst>
              <a:ext uri="{FF2B5EF4-FFF2-40B4-BE49-F238E27FC236}">
                <a16:creationId xmlns:a16="http://schemas.microsoft.com/office/drawing/2014/main" id="{EDB0DD6E-990A-42DB-9875-F090FBA9738B}"/>
              </a:ext>
            </a:extLst>
          </p:cNvPr>
          <p:cNvSpPr>
            <a:spLocks noGrp="1"/>
          </p:cNvSpPr>
          <p:nvPr/>
        </p:nvSpPr>
        <p:spPr>
          <a:xfrm>
            <a:off x="3401568" y="3145536"/>
            <a:ext cx="2468880" cy="502920"/>
          </a:xfrm>
          <a:prstGeom prst="rect">
            <a:avLst/>
          </a:prstGeom>
          <a:noFill/>
        </p:spPr>
        <p:txBody>
          <a:bodyPr wrap="square" lIns="0" tIns="0" rIns="0" bIns="0" anchor="t"/>
          <a:lstStyle/>
          <a:p>
            <a:pPr marL="0" indent="0">
              <a:buNone/>
            </a:pPr>
            <a:r>
              <a:rPr sz="750" b="1">
                <a:solidFill>
                  <a:srgbClr val="2A9D61"/>
                </a:solidFill>
              </a:rPr>
              <a:t>Use: landscape and terrain predictors</a:t>
            </a:r>
            <a:endParaRPr sz="750"/>
          </a:p>
        </p:txBody>
      </p:sp>
      <p:sp>
        <p:nvSpPr>
          <p:cNvPr id="26" name="Text 24">
            <a:extLst>
              <a:ext uri="{FF2B5EF4-FFF2-40B4-BE49-F238E27FC236}">
                <a16:creationId xmlns:a16="http://schemas.microsoft.com/office/drawing/2014/main" id="{C7AC1FC5-9639-4DA9-B51C-80DD5E469942}"/>
              </a:ext>
            </a:extLst>
          </p:cNvPr>
          <p:cNvSpPr>
            <a:spLocks noGrp="1"/>
          </p:cNvSpPr>
          <p:nvPr/>
        </p:nvSpPr>
        <p:spPr>
          <a:xfrm>
            <a:off x="3401568" y="3675888"/>
            <a:ext cx="2468880" cy="502920"/>
          </a:xfrm>
          <a:prstGeom prst="rect">
            <a:avLst/>
          </a:prstGeom>
          <a:noFill/>
        </p:spPr>
        <p:txBody>
          <a:bodyPr wrap="square" lIns="0" tIns="0" rIns="0" bIns="0" anchor="t"/>
          <a:lstStyle/>
          <a:p>
            <a:pPr marL="0" indent="0">
              <a:buNone/>
            </a:pPr>
            <a:r>
              <a:rPr sz="750" b="1">
                <a:solidFill>
                  <a:srgbClr val="C0392B"/>
                </a:solidFill>
              </a:rPr>
              <a:t>No parcel-level claim.</a:t>
            </a:r>
            <a:endParaRPr sz="750"/>
          </a:p>
        </p:txBody>
      </p:sp>
      <p:sp>
        <p:nvSpPr>
          <p:cNvPr id="27" name="Text 25">
            <a:extLst>
              <a:ext uri="{FF2B5EF4-FFF2-40B4-BE49-F238E27FC236}">
                <a16:creationId xmlns:a16="http://schemas.microsoft.com/office/drawing/2014/main" id="{44357DB5-05F8-4CF5-8D21-E89F0DFA12F8}"/>
              </a:ext>
            </a:extLst>
          </p:cNvPr>
          <p:cNvSpPr>
            <a:spLocks noGrp="1"/>
          </p:cNvSpPr>
          <p:nvPr/>
        </p:nvSpPr>
        <p:spPr>
          <a:xfrm>
            <a:off x="5998464" y="2560320"/>
            <a:ext cx="320040" cy="457200"/>
          </a:xfrm>
          <a:prstGeom prst="rect">
            <a:avLst/>
          </a:prstGeom>
          <a:noFill/>
        </p:spPr>
        <p:txBody>
          <a:bodyPr wrap="square" lIns="0" tIns="0" rIns="0" bIns="0" anchor="ctr"/>
          <a:lstStyle/>
          <a:p>
            <a:pPr marL="0" indent="0" algn="ctr">
              <a:buNone/>
            </a:pPr>
            <a:r>
              <a:rPr sz="2000" b="1">
                <a:solidFill>
                  <a:srgbClr val="E8A020"/>
                </a:solidFill>
              </a:rPr>
              <a:t>→</a:t>
            </a:r>
            <a:endParaRPr sz="2000"/>
          </a:p>
        </p:txBody>
      </p:sp>
      <p:sp>
        <p:nvSpPr>
          <p:cNvPr id="28" name="Shape 26">
            <a:extLst>
              <a:ext uri="{FF2B5EF4-FFF2-40B4-BE49-F238E27FC236}">
                <a16:creationId xmlns:a16="http://schemas.microsoft.com/office/drawing/2014/main" id="{C1EB402B-5D07-41FD-A88B-C668B30929ED}"/>
              </a:ext>
            </a:extLst>
          </p:cNvPr>
          <p:cNvSpPr>
            <a:spLocks noGrp="1"/>
          </p:cNvSpPr>
          <p:nvPr/>
        </p:nvSpPr>
        <p:spPr>
          <a:xfrm>
            <a:off x="6345936" y="1371600"/>
            <a:ext cx="2651760" cy="2834640"/>
          </a:xfrm>
          <a:prstGeom prst="rect">
            <a:avLst/>
          </a:prstGeom>
          <a:solidFill>
            <a:srgbClr val="FFFFFF"/>
          </a:solidFill>
          <a:ln w="12700">
            <a:solidFill>
              <a:srgbClr val="2A9D61"/>
            </a:solidFill>
            <a:prstDash val="solid"/>
          </a:ln>
          <a:effectLst>
            <a:outerShdw blurRad="101600" dist="38100" dir="8100000" algn="bl" rotWithShape="0">
              <a:srgbClr val="000000">
                <a:alpha val="10000"/>
              </a:srgbClr>
            </a:outerShdw>
          </a:effectLst>
        </p:spPr>
      </p:sp>
      <p:sp>
        <p:nvSpPr>
          <p:cNvPr id="29" name="Shape 27">
            <a:extLst>
              <a:ext uri="{FF2B5EF4-FFF2-40B4-BE49-F238E27FC236}">
                <a16:creationId xmlns:a16="http://schemas.microsoft.com/office/drawing/2014/main" id="{CB31566B-19C9-48AC-A726-E822C5985068}"/>
              </a:ext>
            </a:extLst>
          </p:cNvPr>
          <p:cNvSpPr>
            <a:spLocks noGrp="1"/>
          </p:cNvSpPr>
          <p:nvPr/>
        </p:nvSpPr>
        <p:spPr>
          <a:xfrm>
            <a:off x="6345936" y="1371600"/>
            <a:ext cx="2651760" cy="384048"/>
          </a:xfrm>
          <a:prstGeom prst="rect">
            <a:avLst/>
          </a:prstGeom>
          <a:solidFill>
            <a:srgbClr val="2A9D61"/>
          </a:solidFill>
          <a:ln w="12700">
            <a:solidFill>
              <a:srgbClr val="2A9D61"/>
            </a:solidFill>
            <a:prstDash val="solid"/>
          </a:ln>
        </p:spPr>
      </p:sp>
      <p:sp>
        <p:nvSpPr>
          <p:cNvPr id="30" name="Text 28">
            <a:extLst>
              <a:ext uri="{FF2B5EF4-FFF2-40B4-BE49-F238E27FC236}">
                <a16:creationId xmlns:a16="http://schemas.microsoft.com/office/drawing/2014/main" id="{576FE3D7-10A4-4179-9328-3F34C913B9ED}"/>
              </a:ext>
            </a:extLst>
          </p:cNvPr>
          <p:cNvSpPr>
            <a:spLocks noGrp="1"/>
          </p:cNvSpPr>
          <p:nvPr/>
        </p:nvSpPr>
        <p:spPr>
          <a:xfrm>
            <a:off x="6345936" y="1371600"/>
            <a:ext cx="2651760" cy="384048"/>
          </a:xfrm>
          <a:prstGeom prst="rect">
            <a:avLst/>
          </a:prstGeom>
          <a:noFill/>
        </p:spPr>
        <p:txBody>
          <a:bodyPr wrap="square" lIns="0" tIns="0" rIns="0" bIns="0" anchor="ctr"/>
          <a:lstStyle/>
          <a:p>
            <a:pPr marL="0" indent="0" algn="ctr">
              <a:buNone/>
            </a:pPr>
            <a:r>
              <a:rPr sz="1100" b="1">
                <a:solidFill>
                  <a:srgbClr val="FFFFFF"/>
                </a:solidFill>
              </a:rPr>
              <a:t>CLIMATE CONTEXT</a:t>
            </a:r>
            <a:endParaRPr sz="1100"/>
          </a:p>
        </p:txBody>
      </p:sp>
      <p:sp>
        <p:nvSpPr>
          <p:cNvPr id="31" name="Text 29">
            <a:extLst>
              <a:ext uri="{FF2B5EF4-FFF2-40B4-BE49-F238E27FC236}">
                <a16:creationId xmlns:a16="http://schemas.microsoft.com/office/drawing/2014/main" id="{088C263C-A0CB-4982-A338-F3A1BB2F9F95}"/>
              </a:ext>
            </a:extLst>
          </p:cNvPr>
          <p:cNvSpPr>
            <a:spLocks noGrp="1"/>
          </p:cNvSpPr>
          <p:nvPr/>
        </p:nvSpPr>
        <p:spPr>
          <a:xfrm>
            <a:off x="6437376" y="1792224"/>
            <a:ext cx="2468880" cy="256032"/>
          </a:xfrm>
          <a:prstGeom prst="rect">
            <a:avLst/>
          </a:prstGeom>
          <a:noFill/>
        </p:spPr>
        <p:txBody>
          <a:bodyPr wrap="square" lIns="0" tIns="0" rIns="0" bIns="0" anchor="ctr"/>
          <a:lstStyle/>
          <a:p>
            <a:pPr marL="0" indent="0">
              <a:buNone/>
            </a:pPr>
            <a:r>
              <a:rPr sz="800">
                <a:solidFill>
                  <a:srgbClr val="2A9D61"/>
                </a:solidFill>
              </a:rPr>
              <a:t>ERA5-Land JJAS</a:t>
            </a:r>
            <a:endParaRPr sz="800"/>
          </a:p>
        </p:txBody>
      </p:sp>
      <p:sp>
        <p:nvSpPr>
          <p:cNvPr id="32" name="Text 30">
            <a:extLst>
              <a:ext uri="{FF2B5EF4-FFF2-40B4-BE49-F238E27FC236}">
                <a16:creationId xmlns:a16="http://schemas.microsoft.com/office/drawing/2014/main" id="{3591A679-B15E-406C-86A0-00F6CAE7220A}"/>
              </a:ext>
            </a:extLst>
          </p:cNvPr>
          <p:cNvSpPr>
            <a:spLocks noGrp="1"/>
          </p:cNvSpPr>
          <p:nvPr/>
        </p:nvSpPr>
        <p:spPr>
          <a:xfrm>
            <a:off x="6437376" y="2048256"/>
            <a:ext cx="2468880" cy="502920"/>
          </a:xfrm>
          <a:prstGeom prst="rect">
            <a:avLst/>
          </a:prstGeom>
          <a:noFill/>
        </p:spPr>
        <p:txBody>
          <a:bodyPr wrap="square" lIns="0" tIns="0" rIns="0" bIns="0" anchor="t"/>
          <a:lstStyle/>
          <a:p>
            <a:pPr marL="0" indent="0">
              <a:buNone/>
            </a:pPr>
            <a:r>
              <a:rPr sz="850">
                <a:solidFill>
                  <a:srgbClr val="1A2638"/>
                </a:solidFill>
              </a:rPr>
              <a:t>Warm-season temperature, precipitation and shallow soil-water conditions from predictor year T only.</a:t>
            </a:r>
            <a:endParaRPr sz="850"/>
          </a:p>
        </p:txBody>
      </p:sp>
      <p:sp>
        <p:nvSpPr>
          <p:cNvPr id="33" name="Shape 31">
            <a:extLst>
              <a:ext uri="{FF2B5EF4-FFF2-40B4-BE49-F238E27FC236}">
                <a16:creationId xmlns:a16="http://schemas.microsoft.com/office/drawing/2014/main" id="{21F582AF-C78B-4E58-9B57-6833B74F7712}"/>
              </a:ext>
            </a:extLst>
          </p:cNvPr>
          <p:cNvSpPr>
            <a:spLocks noGrp="1"/>
          </p:cNvSpPr>
          <p:nvPr/>
        </p:nvSpPr>
        <p:spPr>
          <a:xfrm>
            <a:off x="6437376" y="2578608"/>
            <a:ext cx="2468880" cy="502920"/>
          </a:xfrm>
          <a:prstGeom prst="rect">
            <a:avLst/>
          </a:prstGeom>
          <a:solidFill>
            <a:srgbClr val="E6F5EE"/>
          </a:solidFill>
          <a:ln w="12700">
            <a:solidFill>
              <a:srgbClr val="E6F5EE"/>
            </a:solidFill>
            <a:prstDash val="solid"/>
          </a:ln>
        </p:spPr>
      </p:sp>
      <p:sp>
        <p:nvSpPr>
          <p:cNvPr id="34" name="Text 32">
            <a:extLst>
              <a:ext uri="{FF2B5EF4-FFF2-40B4-BE49-F238E27FC236}">
                <a16:creationId xmlns:a16="http://schemas.microsoft.com/office/drawing/2014/main" id="{131D7657-5536-4C80-9B52-926E19C32495}"/>
              </a:ext>
            </a:extLst>
          </p:cNvPr>
          <p:cNvSpPr>
            <a:spLocks noGrp="1"/>
          </p:cNvSpPr>
          <p:nvPr/>
        </p:nvSpPr>
        <p:spPr>
          <a:xfrm>
            <a:off x="6483096" y="2578608"/>
            <a:ext cx="2377440" cy="502920"/>
          </a:xfrm>
          <a:prstGeom prst="rect">
            <a:avLst/>
          </a:prstGeom>
          <a:noFill/>
        </p:spPr>
        <p:txBody>
          <a:bodyPr wrap="square" lIns="0" tIns="0" rIns="0" bIns="0" anchor="ctr"/>
          <a:lstStyle/>
          <a:p>
            <a:pPr marL="0" indent="0">
              <a:buNone/>
            </a:pPr>
            <a:r>
              <a:rPr sz="800" i="1">
                <a:solidFill>
                  <a:srgbClr val="1A2638"/>
                </a:solidFill>
              </a:rPr>
              <a:t>0.1° regional climate cells</a:t>
            </a:r>
            <a:endParaRPr sz="800"/>
          </a:p>
        </p:txBody>
      </p:sp>
      <p:sp>
        <p:nvSpPr>
          <p:cNvPr id="35" name="Text 33">
            <a:extLst>
              <a:ext uri="{FF2B5EF4-FFF2-40B4-BE49-F238E27FC236}">
                <a16:creationId xmlns:a16="http://schemas.microsoft.com/office/drawing/2014/main" id="{555C2D91-F1C0-4C81-A522-273CE805D265}"/>
              </a:ext>
            </a:extLst>
          </p:cNvPr>
          <p:cNvSpPr>
            <a:spLocks noGrp="1"/>
          </p:cNvSpPr>
          <p:nvPr/>
        </p:nvSpPr>
        <p:spPr>
          <a:xfrm>
            <a:off x="6437376" y="3145536"/>
            <a:ext cx="2468880" cy="502920"/>
          </a:xfrm>
          <a:prstGeom prst="rect">
            <a:avLst/>
          </a:prstGeom>
          <a:noFill/>
        </p:spPr>
        <p:txBody>
          <a:bodyPr wrap="square" lIns="0" tIns="0" rIns="0" bIns="0" anchor="t"/>
          <a:lstStyle/>
          <a:p>
            <a:pPr marL="0" indent="0">
              <a:buNone/>
            </a:pPr>
            <a:r>
              <a:rPr sz="750" b="1">
                <a:solidFill>
                  <a:srgbClr val="2A9D61"/>
                </a:solidFill>
              </a:rPr>
              <a:t>Use: predictor-year climate context</a:t>
            </a:r>
            <a:endParaRPr sz="750"/>
          </a:p>
        </p:txBody>
      </p:sp>
      <p:sp>
        <p:nvSpPr>
          <p:cNvPr id="36" name="Text 34">
            <a:extLst>
              <a:ext uri="{FF2B5EF4-FFF2-40B4-BE49-F238E27FC236}">
                <a16:creationId xmlns:a16="http://schemas.microsoft.com/office/drawing/2014/main" id="{348B69A9-A889-4CDD-892E-2DD982669C0A}"/>
              </a:ext>
            </a:extLst>
          </p:cNvPr>
          <p:cNvSpPr>
            <a:spLocks noGrp="1"/>
          </p:cNvSpPr>
          <p:nvPr/>
        </p:nvSpPr>
        <p:spPr>
          <a:xfrm>
            <a:off x="6437376" y="3675888"/>
            <a:ext cx="2468880" cy="502920"/>
          </a:xfrm>
          <a:prstGeom prst="rect">
            <a:avLst/>
          </a:prstGeom>
          <a:noFill/>
        </p:spPr>
        <p:txBody>
          <a:bodyPr wrap="square" lIns="0" tIns="0" rIns="0" bIns="0" anchor="t"/>
          <a:lstStyle/>
          <a:p>
            <a:pPr marL="0" indent="0">
              <a:buNone/>
            </a:pPr>
            <a:r>
              <a:rPr sz="750" b="1">
                <a:solidFill>
                  <a:srgbClr val="C0392B"/>
                </a:solidFill>
              </a:rPr>
              <a:t>No interpolation or downscaling.</a:t>
            </a:r>
            <a:endParaRPr sz="750"/>
          </a:p>
        </p:txBody>
      </p:sp>
      <p:sp>
        <p:nvSpPr>
          <p:cNvPr id="37" name="Shape 35">
            <a:extLst>
              <a:ext uri="{FF2B5EF4-FFF2-40B4-BE49-F238E27FC236}">
                <a16:creationId xmlns:a16="http://schemas.microsoft.com/office/drawing/2014/main" id="{1CF7DD12-EEE0-44CF-90BD-A5A6555384C9}"/>
              </a:ext>
            </a:extLst>
          </p:cNvPr>
          <p:cNvSpPr>
            <a:spLocks noGrp="1"/>
          </p:cNvSpPr>
          <p:nvPr/>
        </p:nvSpPr>
        <p:spPr>
          <a:xfrm>
            <a:off x="274320" y="4315968"/>
            <a:ext cx="8595360" cy="457200"/>
          </a:xfrm>
          <a:prstGeom prst="rect">
            <a:avLst/>
          </a:prstGeom>
          <a:solidFill>
            <a:srgbClr val="0D1F2D"/>
          </a:solidFill>
          <a:ln w="12700">
            <a:solidFill>
              <a:srgbClr val="0D1F2D"/>
            </a:solidFill>
            <a:prstDash val="solid"/>
          </a:ln>
        </p:spPr>
      </p:sp>
      <p:sp>
        <p:nvSpPr>
          <p:cNvPr id="38" name="Text 36">
            <a:extLst>
              <a:ext uri="{FF2B5EF4-FFF2-40B4-BE49-F238E27FC236}">
                <a16:creationId xmlns:a16="http://schemas.microsoft.com/office/drawing/2014/main" id="{437652F4-0A68-4E8D-8FB1-0D1F3BBDF796}"/>
              </a:ext>
            </a:extLst>
          </p:cNvPr>
          <p:cNvSpPr>
            <a:spLocks noGrp="1"/>
          </p:cNvSpPr>
          <p:nvPr/>
        </p:nvSpPr>
        <p:spPr>
          <a:xfrm>
            <a:off x="411480" y="4315968"/>
            <a:ext cx="8321040" cy="457200"/>
          </a:xfrm>
          <a:prstGeom prst="rect">
            <a:avLst/>
          </a:prstGeom>
          <a:noFill/>
        </p:spPr>
        <p:txBody>
          <a:bodyPr wrap="square" lIns="0" tIns="0" rIns="0" bIns="0" anchor="ctr"/>
          <a:lstStyle/>
          <a:p>
            <a:pPr marL="0" indent="0">
              <a:buNone/>
            </a:pPr>
            <a:r>
              <a:rPr sz="850" b="1">
                <a:solidFill>
                  <a:srgbClr val="E8A020"/>
                </a:solidFill>
              </a:rPr>
              <a:t>89,112 mainland cells; one EPSG:3763 1 km cell × predictor year record.</a:t>
            </a:r>
            <a:endParaRPr sz="850"/>
          </a:p>
        </p:txBody>
      </p:sp>
      <p:sp>
        <p:nvSpPr>
          <p:cNvPr id="39" name="Shape 37">
            <a:extLst>
              <a:ext uri="{FF2B5EF4-FFF2-40B4-BE49-F238E27FC236}">
                <a16:creationId xmlns:a16="http://schemas.microsoft.com/office/drawing/2014/main" id="{49A759C5-57AB-43DF-B3F0-A2B8CCABD533}"/>
              </a:ext>
            </a:extLst>
          </p:cNvPr>
          <p:cNvSpPr>
            <a:spLocks noGrp="1"/>
          </p:cNvSpPr>
          <p:nvPr/>
        </p:nvSpPr>
        <p:spPr>
          <a:xfrm>
            <a:off x="0" y="4919472"/>
            <a:ext cx="9144000" cy="224028"/>
          </a:xfrm>
          <a:prstGeom prst="rect">
            <a:avLst/>
          </a:prstGeom>
          <a:solidFill>
            <a:srgbClr val="162B3D"/>
          </a:solidFill>
          <a:ln w="12700">
            <a:solidFill>
              <a:srgbClr val="162B3D"/>
            </a:solidFill>
            <a:prstDash val="solid"/>
          </a:ln>
        </p:spPr>
      </p:sp>
      <p:sp>
        <p:nvSpPr>
          <p:cNvPr id="40" name="Text 38">
            <a:extLst>
              <a:ext uri="{FF2B5EF4-FFF2-40B4-BE49-F238E27FC236}">
                <a16:creationId xmlns:a16="http://schemas.microsoft.com/office/drawing/2014/main" id="{D0C3C7AC-0669-4B0F-BD8F-AB88AC487A35}"/>
              </a:ext>
            </a:extLst>
          </p:cNvPr>
          <p:cNvSpPr>
            <a:spLocks noGrp="1"/>
          </p:cNvSpPr>
          <p:nvPr/>
        </p:nvSpPr>
        <p:spPr>
          <a:xfrm>
            <a:off x="274320" y="4919472"/>
            <a:ext cx="8595360" cy="224028"/>
          </a:xfrm>
          <a:prstGeom prst="rect">
            <a:avLst/>
          </a:prstGeom>
          <a:noFill/>
        </p:spPr>
        <p:txBody>
          <a:bodyPr wrap="square" lIns="0" tIns="0" rIns="0" bIns="0" anchor="ctr"/>
          <a:lstStyle/>
          <a:p>
            <a:pPr marL="0" indent="0">
              <a:buNone/>
            </a:pPr>
            <a:r>
              <a:rPr sz="800" b="1">
                <a:solidFill>
                  <a:srgbClr val="E8A020"/>
                </a:solidFill>
              </a:rPr>
              <a:t>Serhii Diadechko  |  Data Science &amp; Machine Learning Capstone</a:t>
            </a:r>
            <a:endParaRPr sz="800"/>
          </a:p>
        </p:txBody>
      </p:sp>
    </p:spTree>
    <p:extLst>
      <p:ext uri="{BB962C8B-B14F-4D97-AF65-F5344CB8AC3E}">
        <p14:creationId xmlns:p14="http://schemas.microsoft.com/office/powerpoint/2010/main" val="1799266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916D61E-8D80-4696-BE48-571111EE6D65}"/>
              </a:ext>
            </a:extLst>
          </p:cNvPr>
          <p:cNvSpPr>
            <a:spLocks noGrp="1"/>
          </p:cNvSpPr>
          <p:nvPr/>
        </p:nvSpPr>
        <p:spPr>
          <a:xfrm>
            <a:off x="0" y="0"/>
            <a:ext cx="9144000" cy="5143500"/>
          </a:xfrm>
          <a:prstGeom prst="rect">
            <a:avLst/>
          </a:prstGeom>
          <a:solidFill>
            <a:srgbClr val="F3F6F9"/>
          </a:solidFill>
          <a:ln w="12700">
            <a:solidFill>
              <a:srgbClr val="F3F6F9"/>
            </a:solidFill>
            <a:prstDash val="solid"/>
          </a:ln>
        </p:spPr>
      </p:sp>
      <p:sp>
        <p:nvSpPr>
          <p:cNvPr id="3" name="Shape 1">
            <a:extLst>
              <a:ext uri="{FF2B5EF4-FFF2-40B4-BE49-F238E27FC236}">
                <a16:creationId xmlns:a16="http://schemas.microsoft.com/office/drawing/2014/main" id="{7C197073-0349-496C-B731-E02726BC0FD2}"/>
              </a:ext>
            </a:extLst>
          </p:cNvPr>
          <p:cNvSpPr>
            <a:spLocks noGrp="1"/>
          </p:cNvSpPr>
          <p:nvPr/>
        </p:nvSpPr>
        <p:spPr>
          <a:xfrm>
            <a:off x="0" y="0"/>
            <a:ext cx="9144000" cy="64008"/>
          </a:xfrm>
          <a:prstGeom prst="rect">
            <a:avLst/>
          </a:prstGeom>
          <a:solidFill>
            <a:srgbClr val="E8A020"/>
          </a:solidFill>
          <a:ln w="12700">
            <a:solidFill>
              <a:srgbClr val="E8A020"/>
            </a:solidFill>
            <a:prstDash val="solid"/>
          </a:ln>
        </p:spPr>
      </p:sp>
      <p:sp>
        <p:nvSpPr>
          <p:cNvPr id="4" name="Shape 2">
            <a:extLst>
              <a:ext uri="{FF2B5EF4-FFF2-40B4-BE49-F238E27FC236}">
                <a16:creationId xmlns:a16="http://schemas.microsoft.com/office/drawing/2014/main" id="{5344C750-A1AC-4D96-B5ED-2E59EAB552A3}"/>
              </a:ext>
            </a:extLst>
          </p:cNvPr>
          <p:cNvSpPr>
            <a:spLocks noGrp="1"/>
          </p:cNvSpPr>
          <p:nvPr/>
        </p:nvSpPr>
        <p:spPr>
          <a:xfrm>
            <a:off x="0" y="64008"/>
            <a:ext cx="9144000" cy="658368"/>
          </a:xfrm>
          <a:prstGeom prst="rect">
            <a:avLst/>
          </a:prstGeom>
          <a:solidFill>
            <a:srgbClr val="1E3A50"/>
          </a:solidFill>
          <a:ln w="12700">
            <a:solidFill>
              <a:srgbClr val="1E3A50"/>
            </a:solidFill>
            <a:prstDash val="solid"/>
          </a:ln>
        </p:spPr>
      </p:sp>
      <p:sp>
        <p:nvSpPr>
          <p:cNvPr id="5" name="Text 3">
            <a:extLst>
              <a:ext uri="{FF2B5EF4-FFF2-40B4-BE49-F238E27FC236}">
                <a16:creationId xmlns:a16="http://schemas.microsoft.com/office/drawing/2014/main" id="{4BCF9260-F9BB-427A-A715-0CA619DDD669}"/>
              </a:ext>
            </a:extLst>
          </p:cNvPr>
          <p:cNvSpPr>
            <a:spLocks noGrp="1"/>
          </p:cNvSpPr>
          <p:nvPr/>
        </p:nvSpPr>
        <p:spPr>
          <a:xfrm>
            <a:off x="274320" y="64008"/>
            <a:ext cx="7315200" cy="658368"/>
          </a:xfrm>
          <a:prstGeom prst="rect">
            <a:avLst/>
          </a:prstGeom>
          <a:noFill/>
        </p:spPr>
        <p:txBody>
          <a:bodyPr wrap="square" lIns="0" tIns="0" rIns="0" bIns="0" anchor="ctr"/>
          <a:lstStyle/>
          <a:p>
            <a:pPr marL="0" indent="0">
              <a:buNone/>
            </a:pPr>
            <a:r>
              <a:rPr sz="1100" b="1">
                <a:solidFill>
                  <a:srgbClr val="E8A020"/>
                </a:solidFill>
              </a:rPr>
              <a:t>KEY FINDING 1</a:t>
            </a:r>
            <a:endParaRPr sz="1100"/>
          </a:p>
        </p:txBody>
      </p:sp>
      <p:sp>
        <p:nvSpPr>
          <p:cNvPr id="6" name="Text 4">
            <a:extLst>
              <a:ext uri="{FF2B5EF4-FFF2-40B4-BE49-F238E27FC236}">
                <a16:creationId xmlns:a16="http://schemas.microsoft.com/office/drawing/2014/main" id="{7C069EAE-F0EA-403F-93EC-4D5FAD01EDA4}"/>
              </a:ext>
            </a:extLst>
          </p:cNvPr>
          <p:cNvSpPr>
            <a:spLocks noGrp="1"/>
          </p:cNvSpPr>
          <p:nvPr/>
        </p:nvSpPr>
        <p:spPr>
          <a:xfrm>
            <a:off x="6858000" y="64008"/>
            <a:ext cx="2011680" cy="658368"/>
          </a:xfrm>
          <a:prstGeom prst="rect">
            <a:avLst/>
          </a:prstGeom>
          <a:noFill/>
        </p:spPr>
        <p:txBody>
          <a:bodyPr wrap="square" lIns="0" tIns="0" rIns="0" bIns="0" anchor="ctr"/>
          <a:lstStyle/>
          <a:p>
            <a:pPr marL="0" indent="0" algn="r">
              <a:buNone/>
            </a:pPr>
            <a:r>
              <a:rPr sz="1100" b="1">
                <a:solidFill>
                  <a:srgbClr val="E1E8EF"/>
                </a:solidFill>
              </a:rPr>
              <a:t>3 / 8</a:t>
            </a:r>
            <a:endParaRPr sz="1100"/>
          </a:p>
        </p:txBody>
      </p:sp>
      <p:sp>
        <p:nvSpPr>
          <p:cNvPr id="7" name="Text 5">
            <a:extLst>
              <a:ext uri="{FF2B5EF4-FFF2-40B4-BE49-F238E27FC236}">
                <a16:creationId xmlns:a16="http://schemas.microsoft.com/office/drawing/2014/main" id="{166943B0-65A2-4E8E-A093-55763EACAA06}"/>
              </a:ext>
            </a:extLst>
          </p:cNvPr>
          <p:cNvSpPr>
            <a:spLocks noGrp="1"/>
          </p:cNvSpPr>
          <p:nvPr/>
        </p:nvSpPr>
        <p:spPr>
          <a:xfrm>
            <a:off x="274320" y="804672"/>
            <a:ext cx="8595360" cy="411480"/>
          </a:xfrm>
          <a:prstGeom prst="rect">
            <a:avLst/>
          </a:prstGeom>
          <a:noFill/>
        </p:spPr>
        <p:txBody>
          <a:bodyPr wrap="square" lIns="0" tIns="0" rIns="0" bIns="0" anchor="ctr"/>
          <a:lstStyle/>
          <a:p>
            <a:pPr marL="0" indent="0">
              <a:buNone/>
            </a:pPr>
            <a:r>
              <a:rPr sz="1600" b="1" dirty="0">
                <a:solidFill>
                  <a:srgbClr val="1A2638"/>
                </a:solidFill>
              </a:rPr>
              <a:t>Historical wildfire recurrence is uneven across mainland Portugal</a:t>
            </a:r>
            <a:r>
              <a:rPr lang="en-US" sz="1600" b="1" dirty="0">
                <a:solidFill>
                  <a:srgbClr val="1A2638"/>
                </a:solidFill>
              </a:rPr>
              <a:t> (left map)</a:t>
            </a:r>
            <a:endParaRPr sz="1600" dirty="0"/>
          </a:p>
        </p:txBody>
      </p:sp>
      <p:sp>
        <p:nvSpPr>
          <p:cNvPr id="8" name="Shape 6">
            <a:extLst>
              <a:ext uri="{FF2B5EF4-FFF2-40B4-BE49-F238E27FC236}">
                <a16:creationId xmlns:a16="http://schemas.microsoft.com/office/drawing/2014/main" id="{021BB8D3-723F-4991-A475-17320C3772BC}"/>
              </a:ext>
            </a:extLst>
          </p:cNvPr>
          <p:cNvSpPr>
            <a:spLocks noGrp="1"/>
          </p:cNvSpPr>
          <p:nvPr/>
        </p:nvSpPr>
        <p:spPr>
          <a:xfrm>
            <a:off x="274320" y="1298448"/>
            <a:ext cx="8595360" cy="749808"/>
          </a:xfrm>
          <a:prstGeom prst="rect">
            <a:avLst/>
          </a:prstGeom>
          <a:solidFill>
            <a:srgbClr val="FDE8E8"/>
          </a:solidFill>
          <a:ln w="12700">
            <a:solidFill>
              <a:srgbClr val="C0392B"/>
            </a:solidFill>
            <a:prstDash val="solid"/>
          </a:ln>
        </p:spPr>
      </p:sp>
      <p:sp>
        <p:nvSpPr>
          <p:cNvPr id="9" name="Shape 7">
            <a:extLst>
              <a:ext uri="{FF2B5EF4-FFF2-40B4-BE49-F238E27FC236}">
                <a16:creationId xmlns:a16="http://schemas.microsoft.com/office/drawing/2014/main" id="{B4EBC4C6-D447-4B5F-9E95-5E50F6C0F1DC}"/>
              </a:ext>
            </a:extLst>
          </p:cNvPr>
          <p:cNvSpPr>
            <a:spLocks noGrp="1"/>
          </p:cNvSpPr>
          <p:nvPr/>
        </p:nvSpPr>
        <p:spPr>
          <a:xfrm>
            <a:off x="274320" y="1298448"/>
            <a:ext cx="128016" cy="749808"/>
          </a:xfrm>
          <a:prstGeom prst="rect">
            <a:avLst/>
          </a:prstGeom>
          <a:solidFill>
            <a:srgbClr val="C0392B"/>
          </a:solidFill>
          <a:ln w="12700">
            <a:solidFill>
              <a:srgbClr val="C0392B"/>
            </a:solidFill>
            <a:prstDash val="solid"/>
          </a:ln>
        </p:spPr>
      </p:sp>
      <p:sp>
        <p:nvSpPr>
          <p:cNvPr id="10" name="Text 8">
            <a:extLst>
              <a:ext uri="{FF2B5EF4-FFF2-40B4-BE49-F238E27FC236}">
                <a16:creationId xmlns:a16="http://schemas.microsoft.com/office/drawing/2014/main" id="{AF3F9A90-A64A-44E4-8B61-269E127D3AC6}"/>
              </a:ext>
            </a:extLst>
          </p:cNvPr>
          <p:cNvSpPr>
            <a:spLocks noGrp="1"/>
          </p:cNvSpPr>
          <p:nvPr/>
        </p:nvSpPr>
        <p:spPr>
          <a:xfrm>
            <a:off x="475488" y="1298448"/>
            <a:ext cx="411480" cy="749808"/>
          </a:xfrm>
          <a:prstGeom prst="rect">
            <a:avLst/>
          </a:prstGeom>
          <a:noFill/>
        </p:spPr>
        <p:txBody>
          <a:bodyPr wrap="square" lIns="0" tIns="0" rIns="0" bIns="0" anchor="ctr"/>
          <a:lstStyle/>
          <a:p>
            <a:pPr marL="0" indent="0" algn="ctr">
              <a:buNone/>
            </a:pPr>
            <a:r>
              <a:rPr sz="1800" b="1">
                <a:solidFill>
                  <a:srgbClr val="C0392B"/>
                </a:solidFill>
              </a:rPr>
              <a:t>01</a:t>
            </a:r>
            <a:endParaRPr sz="1800"/>
          </a:p>
        </p:txBody>
      </p:sp>
      <p:sp>
        <p:nvSpPr>
          <p:cNvPr id="11" name="Text 9">
            <a:extLst>
              <a:ext uri="{FF2B5EF4-FFF2-40B4-BE49-F238E27FC236}">
                <a16:creationId xmlns:a16="http://schemas.microsoft.com/office/drawing/2014/main" id="{EECD7901-FF1F-4AD5-BD05-D2EAF149B834}"/>
              </a:ext>
            </a:extLst>
          </p:cNvPr>
          <p:cNvSpPr>
            <a:spLocks noGrp="1"/>
          </p:cNvSpPr>
          <p:nvPr/>
        </p:nvSpPr>
        <p:spPr>
          <a:xfrm>
            <a:off x="932688" y="1353312"/>
            <a:ext cx="4114800" cy="310896"/>
          </a:xfrm>
          <a:prstGeom prst="rect">
            <a:avLst/>
          </a:prstGeom>
          <a:noFill/>
        </p:spPr>
        <p:txBody>
          <a:bodyPr wrap="square" lIns="0" tIns="0" rIns="0" bIns="0" anchor="ctr"/>
          <a:lstStyle/>
          <a:p>
            <a:pPr marL="0" indent="0">
              <a:buNone/>
            </a:pPr>
            <a:r>
              <a:rPr sz="1000" b="1">
                <a:solidFill>
                  <a:srgbClr val="1A2638"/>
                </a:solidFill>
              </a:rPr>
              <a:t>Reading the slides out loud</a:t>
            </a:r>
            <a:endParaRPr sz="1000"/>
          </a:p>
        </p:txBody>
      </p:sp>
      <p:sp>
        <p:nvSpPr>
          <p:cNvPr id="12" name="Text 10">
            <a:extLst>
              <a:ext uri="{FF2B5EF4-FFF2-40B4-BE49-F238E27FC236}">
                <a16:creationId xmlns:a16="http://schemas.microsoft.com/office/drawing/2014/main" id="{99D47A8B-8774-4620-BDFB-D07CF55F8ABB}"/>
              </a:ext>
            </a:extLst>
          </p:cNvPr>
          <p:cNvSpPr>
            <a:spLocks noGrp="1"/>
          </p:cNvSpPr>
          <p:nvPr/>
        </p:nvSpPr>
        <p:spPr>
          <a:xfrm>
            <a:off x="932688" y="1664208"/>
            <a:ext cx="7772400" cy="347472"/>
          </a:xfrm>
          <a:prstGeom prst="rect">
            <a:avLst/>
          </a:prstGeom>
          <a:noFill/>
        </p:spPr>
        <p:txBody>
          <a:bodyPr wrap="square" lIns="0" tIns="0" rIns="0" bIns="0" anchor="t"/>
          <a:lstStyle/>
          <a:p>
            <a:pPr marL="0" indent="0">
              <a:buNone/>
            </a:pPr>
            <a:r>
              <a:rPr sz="850" b="1">
                <a:solidFill>
                  <a:srgbClr val="C0392B"/>
                </a:solidFill>
              </a:rPr>
              <a:t>Fix: </a:t>
            </a:r>
            <a:r>
              <a:rPr sz="850">
                <a:solidFill>
                  <a:srgbClr val="1A2638"/>
                </a:solidFill>
              </a:rPr>
              <a:t>Your slides show the chart. You explain what it means. Script: "This chart shows X — what's interesting is Y, because Z."</a:t>
            </a:r>
            <a:endParaRPr sz="850"/>
          </a:p>
        </p:txBody>
      </p:sp>
      <p:sp>
        <p:nvSpPr>
          <p:cNvPr id="13" name="Shape 11">
            <a:extLst>
              <a:ext uri="{FF2B5EF4-FFF2-40B4-BE49-F238E27FC236}">
                <a16:creationId xmlns:a16="http://schemas.microsoft.com/office/drawing/2014/main" id="{9AF904D4-1953-4361-98CD-B6C1318DAD13}"/>
              </a:ext>
            </a:extLst>
          </p:cNvPr>
          <p:cNvSpPr>
            <a:spLocks noGrp="1"/>
          </p:cNvSpPr>
          <p:nvPr/>
        </p:nvSpPr>
        <p:spPr>
          <a:xfrm>
            <a:off x="274320" y="2121408"/>
            <a:ext cx="8595360" cy="749808"/>
          </a:xfrm>
          <a:prstGeom prst="rect">
            <a:avLst/>
          </a:prstGeom>
          <a:solidFill>
            <a:srgbClr val="FEF3E2"/>
          </a:solidFill>
          <a:ln w="12700">
            <a:solidFill>
              <a:srgbClr val="E67E22"/>
            </a:solidFill>
            <a:prstDash val="solid"/>
          </a:ln>
        </p:spPr>
      </p:sp>
      <p:sp>
        <p:nvSpPr>
          <p:cNvPr id="14" name="Shape 12">
            <a:extLst>
              <a:ext uri="{FF2B5EF4-FFF2-40B4-BE49-F238E27FC236}">
                <a16:creationId xmlns:a16="http://schemas.microsoft.com/office/drawing/2014/main" id="{26F18261-0B59-40F2-909D-5E0D887A7F2D}"/>
              </a:ext>
            </a:extLst>
          </p:cNvPr>
          <p:cNvSpPr>
            <a:spLocks noGrp="1"/>
          </p:cNvSpPr>
          <p:nvPr/>
        </p:nvSpPr>
        <p:spPr>
          <a:xfrm>
            <a:off x="274320" y="2121408"/>
            <a:ext cx="128016" cy="749808"/>
          </a:xfrm>
          <a:prstGeom prst="rect">
            <a:avLst/>
          </a:prstGeom>
          <a:solidFill>
            <a:srgbClr val="E67E22"/>
          </a:solidFill>
          <a:ln w="12700">
            <a:solidFill>
              <a:srgbClr val="E67E22"/>
            </a:solidFill>
            <a:prstDash val="solid"/>
          </a:ln>
        </p:spPr>
      </p:sp>
      <p:sp>
        <p:nvSpPr>
          <p:cNvPr id="15" name="Text 13">
            <a:extLst>
              <a:ext uri="{FF2B5EF4-FFF2-40B4-BE49-F238E27FC236}">
                <a16:creationId xmlns:a16="http://schemas.microsoft.com/office/drawing/2014/main" id="{324C7072-A5D1-41E5-AF09-50C809B5F6AC}"/>
              </a:ext>
            </a:extLst>
          </p:cNvPr>
          <p:cNvSpPr>
            <a:spLocks noGrp="1"/>
          </p:cNvSpPr>
          <p:nvPr/>
        </p:nvSpPr>
        <p:spPr>
          <a:xfrm>
            <a:off x="475488" y="2121408"/>
            <a:ext cx="411480" cy="749808"/>
          </a:xfrm>
          <a:prstGeom prst="rect">
            <a:avLst/>
          </a:prstGeom>
          <a:noFill/>
        </p:spPr>
        <p:txBody>
          <a:bodyPr wrap="square" lIns="0" tIns="0" rIns="0" bIns="0" anchor="ctr"/>
          <a:lstStyle/>
          <a:p>
            <a:pPr marL="0" indent="0" algn="ctr">
              <a:buNone/>
            </a:pPr>
            <a:r>
              <a:rPr sz="1800" b="1">
                <a:solidFill>
                  <a:srgbClr val="E67E22"/>
                </a:solidFill>
              </a:rPr>
              <a:t>02</a:t>
            </a:r>
            <a:endParaRPr sz="1800"/>
          </a:p>
        </p:txBody>
      </p:sp>
      <p:sp>
        <p:nvSpPr>
          <p:cNvPr id="16" name="Text 14">
            <a:extLst>
              <a:ext uri="{FF2B5EF4-FFF2-40B4-BE49-F238E27FC236}">
                <a16:creationId xmlns:a16="http://schemas.microsoft.com/office/drawing/2014/main" id="{A194C2BB-26D7-41F8-99E2-0E08561EB4B3}"/>
              </a:ext>
            </a:extLst>
          </p:cNvPr>
          <p:cNvSpPr>
            <a:spLocks noGrp="1"/>
          </p:cNvSpPr>
          <p:nvPr/>
        </p:nvSpPr>
        <p:spPr>
          <a:xfrm>
            <a:off x="932688" y="2176272"/>
            <a:ext cx="4114800" cy="310896"/>
          </a:xfrm>
          <a:prstGeom prst="rect">
            <a:avLst/>
          </a:prstGeom>
          <a:noFill/>
        </p:spPr>
        <p:txBody>
          <a:bodyPr wrap="square" lIns="0" tIns="0" rIns="0" bIns="0" anchor="ctr"/>
          <a:lstStyle/>
          <a:p>
            <a:pPr marL="0" indent="0">
              <a:buNone/>
            </a:pPr>
            <a:r>
              <a:rPr sz="1000" b="1">
                <a:solidFill>
                  <a:srgbClr val="1A2638"/>
                </a:solidFill>
              </a:rPr>
              <a:t>Too many charts, not enough story</a:t>
            </a:r>
            <a:endParaRPr sz="1000"/>
          </a:p>
        </p:txBody>
      </p:sp>
      <p:sp>
        <p:nvSpPr>
          <p:cNvPr id="17" name="Text 15">
            <a:extLst>
              <a:ext uri="{FF2B5EF4-FFF2-40B4-BE49-F238E27FC236}">
                <a16:creationId xmlns:a16="http://schemas.microsoft.com/office/drawing/2014/main" id="{E04F7CD5-4B32-4EC8-B1FA-B54C12F261F5}"/>
              </a:ext>
            </a:extLst>
          </p:cNvPr>
          <p:cNvSpPr>
            <a:spLocks noGrp="1"/>
          </p:cNvSpPr>
          <p:nvPr/>
        </p:nvSpPr>
        <p:spPr>
          <a:xfrm>
            <a:off x="932688" y="2487168"/>
            <a:ext cx="7772400" cy="347472"/>
          </a:xfrm>
          <a:prstGeom prst="rect">
            <a:avLst/>
          </a:prstGeom>
          <a:noFill/>
        </p:spPr>
        <p:txBody>
          <a:bodyPr wrap="square" lIns="0" tIns="0" rIns="0" bIns="0" anchor="t"/>
          <a:lstStyle/>
          <a:p>
            <a:pPr marL="0" indent="0">
              <a:buNone/>
            </a:pPr>
            <a:r>
              <a:rPr sz="850" b="1">
                <a:solidFill>
                  <a:srgbClr val="E67E22"/>
                </a:solidFill>
              </a:rPr>
              <a:t>Fix: </a:t>
            </a:r>
            <a:r>
              <a:rPr sz="850">
                <a:solidFill>
                  <a:srgbClr val="1A2638"/>
                </a:solidFill>
              </a:rPr>
              <a:t>Max 1 chart per slide. Ask: does removing this chart break the argument? If not, cut it.</a:t>
            </a:r>
            <a:endParaRPr sz="850"/>
          </a:p>
        </p:txBody>
      </p:sp>
      <p:sp>
        <p:nvSpPr>
          <p:cNvPr id="18" name="Shape 16">
            <a:extLst>
              <a:ext uri="{FF2B5EF4-FFF2-40B4-BE49-F238E27FC236}">
                <a16:creationId xmlns:a16="http://schemas.microsoft.com/office/drawing/2014/main" id="{35666D60-5174-46D3-A3BC-CBDD5C36493C}"/>
              </a:ext>
            </a:extLst>
          </p:cNvPr>
          <p:cNvSpPr>
            <a:spLocks noGrp="1"/>
          </p:cNvSpPr>
          <p:nvPr/>
        </p:nvSpPr>
        <p:spPr>
          <a:xfrm>
            <a:off x="274320" y="2944368"/>
            <a:ext cx="8595360" cy="749808"/>
          </a:xfrm>
          <a:prstGeom prst="rect">
            <a:avLst/>
          </a:prstGeom>
          <a:solidFill>
            <a:srgbClr val="EBF0FD"/>
          </a:solidFill>
          <a:ln w="12700">
            <a:solidFill>
              <a:srgbClr val="2E6DB4"/>
            </a:solidFill>
            <a:prstDash val="solid"/>
          </a:ln>
        </p:spPr>
      </p:sp>
      <p:sp>
        <p:nvSpPr>
          <p:cNvPr id="19" name="Shape 17">
            <a:extLst>
              <a:ext uri="{FF2B5EF4-FFF2-40B4-BE49-F238E27FC236}">
                <a16:creationId xmlns:a16="http://schemas.microsoft.com/office/drawing/2014/main" id="{4CEC4C53-0577-45FB-8EDC-DA224AD08FAD}"/>
              </a:ext>
            </a:extLst>
          </p:cNvPr>
          <p:cNvSpPr>
            <a:spLocks noGrp="1"/>
          </p:cNvSpPr>
          <p:nvPr/>
        </p:nvSpPr>
        <p:spPr>
          <a:xfrm>
            <a:off x="274320" y="2944368"/>
            <a:ext cx="128016" cy="749808"/>
          </a:xfrm>
          <a:prstGeom prst="rect">
            <a:avLst/>
          </a:prstGeom>
          <a:solidFill>
            <a:srgbClr val="2E6DB4"/>
          </a:solidFill>
          <a:ln w="12700">
            <a:solidFill>
              <a:srgbClr val="2E6DB4"/>
            </a:solidFill>
            <a:prstDash val="solid"/>
          </a:ln>
        </p:spPr>
      </p:sp>
      <p:sp>
        <p:nvSpPr>
          <p:cNvPr id="20" name="Text 18">
            <a:extLst>
              <a:ext uri="{FF2B5EF4-FFF2-40B4-BE49-F238E27FC236}">
                <a16:creationId xmlns:a16="http://schemas.microsoft.com/office/drawing/2014/main" id="{59F80E8F-8BB5-41D6-83D6-61200F38318E}"/>
              </a:ext>
            </a:extLst>
          </p:cNvPr>
          <p:cNvSpPr>
            <a:spLocks noGrp="1"/>
          </p:cNvSpPr>
          <p:nvPr/>
        </p:nvSpPr>
        <p:spPr>
          <a:xfrm>
            <a:off x="475488" y="2944368"/>
            <a:ext cx="411480" cy="749808"/>
          </a:xfrm>
          <a:prstGeom prst="rect">
            <a:avLst/>
          </a:prstGeom>
          <a:noFill/>
        </p:spPr>
        <p:txBody>
          <a:bodyPr wrap="square" lIns="0" tIns="0" rIns="0" bIns="0" anchor="ctr"/>
          <a:lstStyle/>
          <a:p>
            <a:pPr marL="0" indent="0" algn="ctr">
              <a:buNone/>
            </a:pPr>
            <a:r>
              <a:rPr sz="1800" b="1">
                <a:solidFill>
                  <a:srgbClr val="2E6DB4"/>
                </a:solidFill>
              </a:rPr>
              <a:t>03</a:t>
            </a:r>
            <a:endParaRPr sz="1800"/>
          </a:p>
        </p:txBody>
      </p:sp>
      <p:sp>
        <p:nvSpPr>
          <p:cNvPr id="21" name="Text 19">
            <a:extLst>
              <a:ext uri="{FF2B5EF4-FFF2-40B4-BE49-F238E27FC236}">
                <a16:creationId xmlns:a16="http://schemas.microsoft.com/office/drawing/2014/main" id="{96F4D743-7166-4C64-ACF2-234AB2EC7C8C}"/>
              </a:ext>
            </a:extLst>
          </p:cNvPr>
          <p:cNvSpPr>
            <a:spLocks noGrp="1"/>
          </p:cNvSpPr>
          <p:nvPr/>
        </p:nvSpPr>
        <p:spPr>
          <a:xfrm>
            <a:off x="932688" y="2999232"/>
            <a:ext cx="4114800" cy="310896"/>
          </a:xfrm>
          <a:prstGeom prst="rect">
            <a:avLst/>
          </a:prstGeom>
          <a:noFill/>
        </p:spPr>
        <p:txBody>
          <a:bodyPr wrap="square" lIns="0" tIns="0" rIns="0" bIns="0" anchor="ctr"/>
          <a:lstStyle/>
          <a:p>
            <a:pPr marL="0" indent="0">
              <a:buNone/>
            </a:pPr>
            <a:r>
              <a:rPr sz="1000" b="1">
                <a:solidFill>
                  <a:srgbClr val="1A2638"/>
                </a:solidFill>
              </a:rPr>
              <a:t>Data without context</a:t>
            </a:r>
            <a:endParaRPr sz="1000"/>
          </a:p>
        </p:txBody>
      </p:sp>
      <p:sp>
        <p:nvSpPr>
          <p:cNvPr id="22" name="Text 20">
            <a:extLst>
              <a:ext uri="{FF2B5EF4-FFF2-40B4-BE49-F238E27FC236}">
                <a16:creationId xmlns:a16="http://schemas.microsoft.com/office/drawing/2014/main" id="{3D3590A5-0038-4FF2-9E08-71324661CCA1}"/>
              </a:ext>
            </a:extLst>
          </p:cNvPr>
          <p:cNvSpPr>
            <a:spLocks noGrp="1"/>
          </p:cNvSpPr>
          <p:nvPr/>
        </p:nvSpPr>
        <p:spPr>
          <a:xfrm>
            <a:off x="932688" y="3310128"/>
            <a:ext cx="7772400" cy="347472"/>
          </a:xfrm>
          <a:prstGeom prst="rect">
            <a:avLst/>
          </a:prstGeom>
          <a:noFill/>
        </p:spPr>
        <p:txBody>
          <a:bodyPr wrap="square" lIns="0" tIns="0" rIns="0" bIns="0" anchor="t"/>
          <a:lstStyle/>
          <a:p>
            <a:pPr marL="0" indent="0">
              <a:buNone/>
            </a:pPr>
            <a:r>
              <a:rPr sz="850" b="1">
                <a:solidFill>
                  <a:srgbClr val="2E6DB4"/>
                </a:solidFill>
              </a:rPr>
              <a:t>Fix: </a:t>
            </a:r>
            <a:r>
              <a:rPr sz="850">
                <a:solidFill>
                  <a:srgbClr val="1A2638"/>
                </a:solidFill>
              </a:rPr>
              <a:t>Always say what the number means relative to something. "€1,847 average" means nothing. "€1,847 — 3x higher than online courses" means something.</a:t>
            </a:r>
            <a:endParaRPr sz="850"/>
          </a:p>
        </p:txBody>
      </p:sp>
      <p:sp>
        <p:nvSpPr>
          <p:cNvPr id="23" name="Shape 21">
            <a:extLst>
              <a:ext uri="{FF2B5EF4-FFF2-40B4-BE49-F238E27FC236}">
                <a16:creationId xmlns:a16="http://schemas.microsoft.com/office/drawing/2014/main" id="{DF6DDFBC-DA0D-4E16-8419-87C24D8B083F}"/>
              </a:ext>
            </a:extLst>
          </p:cNvPr>
          <p:cNvSpPr>
            <a:spLocks noGrp="1"/>
          </p:cNvSpPr>
          <p:nvPr/>
        </p:nvSpPr>
        <p:spPr>
          <a:xfrm>
            <a:off x="274320" y="3767328"/>
            <a:ext cx="8595360" cy="749808"/>
          </a:xfrm>
          <a:prstGeom prst="rect">
            <a:avLst/>
          </a:prstGeom>
          <a:solidFill>
            <a:srgbClr val="F3E8F7"/>
          </a:solidFill>
          <a:ln w="12700">
            <a:solidFill>
              <a:srgbClr val="7B2D8B"/>
            </a:solidFill>
            <a:prstDash val="solid"/>
          </a:ln>
        </p:spPr>
      </p:sp>
      <p:sp>
        <p:nvSpPr>
          <p:cNvPr id="24" name="Shape 22">
            <a:extLst>
              <a:ext uri="{FF2B5EF4-FFF2-40B4-BE49-F238E27FC236}">
                <a16:creationId xmlns:a16="http://schemas.microsoft.com/office/drawing/2014/main" id="{4B71F646-FDF1-472F-894C-B09E4E53D18F}"/>
              </a:ext>
            </a:extLst>
          </p:cNvPr>
          <p:cNvSpPr>
            <a:spLocks noGrp="1"/>
          </p:cNvSpPr>
          <p:nvPr/>
        </p:nvSpPr>
        <p:spPr>
          <a:xfrm>
            <a:off x="274320" y="3767328"/>
            <a:ext cx="128016" cy="749808"/>
          </a:xfrm>
          <a:prstGeom prst="rect">
            <a:avLst/>
          </a:prstGeom>
          <a:solidFill>
            <a:srgbClr val="7B2D8B"/>
          </a:solidFill>
          <a:ln w="12700">
            <a:solidFill>
              <a:srgbClr val="7B2D8B"/>
            </a:solidFill>
            <a:prstDash val="solid"/>
          </a:ln>
        </p:spPr>
      </p:sp>
      <p:sp>
        <p:nvSpPr>
          <p:cNvPr id="25" name="Text 23">
            <a:extLst>
              <a:ext uri="{FF2B5EF4-FFF2-40B4-BE49-F238E27FC236}">
                <a16:creationId xmlns:a16="http://schemas.microsoft.com/office/drawing/2014/main" id="{3001E16E-E869-4684-B29F-D534238B7E05}"/>
              </a:ext>
            </a:extLst>
          </p:cNvPr>
          <p:cNvSpPr>
            <a:spLocks noGrp="1"/>
          </p:cNvSpPr>
          <p:nvPr/>
        </p:nvSpPr>
        <p:spPr>
          <a:xfrm>
            <a:off x="475488" y="3767328"/>
            <a:ext cx="411480" cy="749808"/>
          </a:xfrm>
          <a:prstGeom prst="rect">
            <a:avLst/>
          </a:prstGeom>
          <a:noFill/>
        </p:spPr>
        <p:txBody>
          <a:bodyPr wrap="square" lIns="0" tIns="0" rIns="0" bIns="0" anchor="ctr"/>
          <a:lstStyle/>
          <a:p>
            <a:pPr marL="0" indent="0" algn="ctr">
              <a:buNone/>
            </a:pPr>
            <a:r>
              <a:rPr sz="1800" b="1">
                <a:solidFill>
                  <a:srgbClr val="7B2D8B"/>
                </a:solidFill>
              </a:rPr>
              <a:t>04</a:t>
            </a:r>
            <a:endParaRPr sz="1800"/>
          </a:p>
        </p:txBody>
      </p:sp>
      <p:sp>
        <p:nvSpPr>
          <p:cNvPr id="26" name="Text 24">
            <a:extLst>
              <a:ext uri="{FF2B5EF4-FFF2-40B4-BE49-F238E27FC236}">
                <a16:creationId xmlns:a16="http://schemas.microsoft.com/office/drawing/2014/main" id="{142521F6-A952-4571-99D0-D1B95A87A2CF}"/>
              </a:ext>
            </a:extLst>
          </p:cNvPr>
          <p:cNvSpPr>
            <a:spLocks noGrp="1"/>
          </p:cNvSpPr>
          <p:nvPr/>
        </p:nvSpPr>
        <p:spPr>
          <a:xfrm>
            <a:off x="932688" y="3822192"/>
            <a:ext cx="4114800" cy="310896"/>
          </a:xfrm>
          <a:prstGeom prst="rect">
            <a:avLst/>
          </a:prstGeom>
          <a:noFill/>
        </p:spPr>
        <p:txBody>
          <a:bodyPr wrap="square" lIns="0" tIns="0" rIns="0" bIns="0" anchor="ctr"/>
          <a:lstStyle/>
          <a:p>
            <a:pPr marL="0" indent="0">
              <a:buNone/>
            </a:pPr>
            <a:r>
              <a:rPr sz="1000" b="1">
                <a:solidFill>
                  <a:srgbClr val="1A2638"/>
                </a:solidFill>
              </a:rPr>
              <a:t>Weak conclusions</a:t>
            </a:r>
            <a:endParaRPr sz="1000"/>
          </a:p>
        </p:txBody>
      </p:sp>
      <p:sp>
        <p:nvSpPr>
          <p:cNvPr id="27" name="Text 25">
            <a:extLst>
              <a:ext uri="{FF2B5EF4-FFF2-40B4-BE49-F238E27FC236}">
                <a16:creationId xmlns:a16="http://schemas.microsoft.com/office/drawing/2014/main" id="{1DE35A4F-5401-4E71-BF6E-CE246A9E00A6}"/>
              </a:ext>
            </a:extLst>
          </p:cNvPr>
          <p:cNvSpPr>
            <a:spLocks noGrp="1"/>
          </p:cNvSpPr>
          <p:nvPr/>
        </p:nvSpPr>
        <p:spPr>
          <a:xfrm>
            <a:off x="932688" y="4133088"/>
            <a:ext cx="7772400" cy="347472"/>
          </a:xfrm>
          <a:prstGeom prst="rect">
            <a:avLst/>
          </a:prstGeom>
          <a:noFill/>
        </p:spPr>
        <p:txBody>
          <a:bodyPr wrap="square" lIns="0" tIns="0" rIns="0" bIns="0" anchor="t"/>
          <a:lstStyle/>
          <a:p>
            <a:pPr marL="0" indent="0">
              <a:buNone/>
            </a:pPr>
            <a:r>
              <a:rPr sz="850" b="1">
                <a:solidFill>
                  <a:srgbClr val="7B2D8B"/>
                </a:solidFill>
              </a:rPr>
              <a:t>Fix: </a:t>
            </a:r>
            <a:r>
              <a:rPr sz="850">
                <a:solidFill>
                  <a:srgbClr val="1A2638"/>
                </a:solidFill>
              </a:rPr>
              <a:t>Ban "in conclusion, more research may be needed." Replace with: "We recommend X. The data supports this because Y."</a:t>
            </a:r>
            <a:endParaRPr sz="850"/>
          </a:p>
        </p:txBody>
      </p:sp>
      <p:sp>
        <p:nvSpPr>
          <p:cNvPr id="30" name="Text 28">
            <a:extLst>
              <a:ext uri="{FF2B5EF4-FFF2-40B4-BE49-F238E27FC236}">
                <a16:creationId xmlns:a16="http://schemas.microsoft.com/office/drawing/2014/main" id="{57800076-1163-4370-A185-DB36BF86952B}"/>
              </a:ext>
            </a:extLst>
          </p:cNvPr>
          <p:cNvSpPr>
            <a:spLocks noGrp="1"/>
          </p:cNvSpPr>
          <p:nvPr/>
        </p:nvSpPr>
        <p:spPr>
          <a:xfrm>
            <a:off x="475488" y="4590288"/>
            <a:ext cx="411480" cy="749808"/>
          </a:xfrm>
          <a:prstGeom prst="rect">
            <a:avLst/>
          </a:prstGeom>
          <a:noFill/>
        </p:spPr>
        <p:txBody>
          <a:bodyPr wrap="square" lIns="0" tIns="0" rIns="0" bIns="0" anchor="ctr"/>
          <a:lstStyle/>
          <a:p>
            <a:pPr marL="0" indent="0" algn="ctr">
              <a:buNone/>
            </a:pPr>
            <a:r>
              <a:rPr sz="1800" b="1">
                <a:solidFill>
                  <a:srgbClr val="2A9D61"/>
                </a:solidFill>
              </a:rPr>
              <a:t>05</a:t>
            </a:r>
            <a:endParaRPr sz="1800"/>
          </a:p>
        </p:txBody>
      </p:sp>
      <p:sp>
        <p:nvSpPr>
          <p:cNvPr id="31" name="Text 29">
            <a:extLst>
              <a:ext uri="{FF2B5EF4-FFF2-40B4-BE49-F238E27FC236}">
                <a16:creationId xmlns:a16="http://schemas.microsoft.com/office/drawing/2014/main" id="{7228FE94-2214-4A82-AFE2-3F267A1D4424}"/>
              </a:ext>
            </a:extLst>
          </p:cNvPr>
          <p:cNvSpPr>
            <a:spLocks noGrp="1"/>
          </p:cNvSpPr>
          <p:nvPr/>
        </p:nvSpPr>
        <p:spPr>
          <a:xfrm>
            <a:off x="932688" y="4645152"/>
            <a:ext cx="4114800" cy="310896"/>
          </a:xfrm>
          <a:prstGeom prst="rect">
            <a:avLst/>
          </a:prstGeom>
          <a:noFill/>
        </p:spPr>
        <p:txBody>
          <a:bodyPr wrap="square" lIns="0" tIns="0" rIns="0" bIns="0" anchor="ctr"/>
          <a:lstStyle/>
          <a:p>
            <a:pPr marL="0" indent="0">
              <a:buNone/>
            </a:pPr>
            <a:r>
              <a:rPr sz="1000" b="1">
                <a:solidFill>
                  <a:srgbClr val="1A2638"/>
                </a:solidFill>
              </a:rPr>
              <a:t>Going over time</a:t>
            </a:r>
            <a:endParaRPr sz="1000"/>
          </a:p>
        </p:txBody>
      </p:sp>
      <p:sp>
        <p:nvSpPr>
          <p:cNvPr id="32" name="Text 30">
            <a:extLst>
              <a:ext uri="{FF2B5EF4-FFF2-40B4-BE49-F238E27FC236}">
                <a16:creationId xmlns:a16="http://schemas.microsoft.com/office/drawing/2014/main" id="{BD7EEF37-68F4-4EDC-BFAF-6B828C194374}"/>
              </a:ext>
            </a:extLst>
          </p:cNvPr>
          <p:cNvSpPr>
            <a:spLocks noGrp="1"/>
          </p:cNvSpPr>
          <p:nvPr/>
        </p:nvSpPr>
        <p:spPr>
          <a:xfrm>
            <a:off x="932688" y="4956048"/>
            <a:ext cx="7772400" cy="347472"/>
          </a:xfrm>
          <a:prstGeom prst="rect">
            <a:avLst/>
          </a:prstGeom>
          <a:noFill/>
        </p:spPr>
        <p:txBody>
          <a:bodyPr wrap="square" lIns="0" tIns="0" rIns="0" bIns="0" anchor="t"/>
          <a:lstStyle/>
          <a:p>
            <a:pPr marL="0" indent="0">
              <a:buNone/>
            </a:pPr>
            <a:r>
              <a:rPr sz="850" b="1">
                <a:solidFill>
                  <a:srgbClr val="2A9D61"/>
                </a:solidFill>
              </a:rPr>
              <a:t>Fix: </a:t>
            </a:r>
            <a:r>
              <a:rPr sz="850">
                <a:solidFill>
                  <a:srgbClr val="1A2638"/>
                </a:solidFill>
              </a:rPr>
              <a:t>Practice out loud with a timer. 8 slides x 1.5 min = 12 min. That's your target.</a:t>
            </a:r>
            <a:endParaRPr sz="850"/>
          </a:p>
        </p:txBody>
      </p:sp>
      <p:sp>
        <p:nvSpPr>
          <p:cNvPr id="33" name="Shape 31">
            <a:extLst>
              <a:ext uri="{FF2B5EF4-FFF2-40B4-BE49-F238E27FC236}">
                <a16:creationId xmlns:a16="http://schemas.microsoft.com/office/drawing/2014/main" id="{35375F54-2542-44E4-9AE4-25E5F5E7CCD6}"/>
              </a:ext>
            </a:extLst>
          </p:cNvPr>
          <p:cNvSpPr>
            <a:spLocks noGrp="1"/>
          </p:cNvSpPr>
          <p:nvPr/>
        </p:nvSpPr>
        <p:spPr>
          <a:xfrm>
            <a:off x="0" y="4919472"/>
            <a:ext cx="9144000" cy="224028"/>
          </a:xfrm>
          <a:prstGeom prst="rect">
            <a:avLst/>
          </a:prstGeom>
          <a:solidFill>
            <a:srgbClr val="162B3D"/>
          </a:solidFill>
          <a:ln w="12700">
            <a:solidFill>
              <a:srgbClr val="162B3D"/>
            </a:solidFill>
            <a:prstDash val="solid"/>
          </a:ln>
        </p:spPr>
      </p:sp>
      <p:sp>
        <p:nvSpPr>
          <p:cNvPr id="34" name="Text 32">
            <a:extLst>
              <a:ext uri="{FF2B5EF4-FFF2-40B4-BE49-F238E27FC236}">
                <a16:creationId xmlns:a16="http://schemas.microsoft.com/office/drawing/2014/main" id="{311C9A05-ACCC-4E9D-9690-B5C3213DD01B}"/>
              </a:ext>
            </a:extLst>
          </p:cNvPr>
          <p:cNvSpPr>
            <a:spLocks noGrp="1"/>
          </p:cNvSpPr>
          <p:nvPr/>
        </p:nvSpPr>
        <p:spPr>
          <a:xfrm>
            <a:off x="274320" y="4919472"/>
            <a:ext cx="8595360" cy="224028"/>
          </a:xfrm>
          <a:prstGeom prst="rect">
            <a:avLst/>
          </a:prstGeom>
          <a:noFill/>
        </p:spPr>
        <p:txBody>
          <a:bodyPr wrap="square" lIns="0" tIns="0" rIns="0" bIns="0" anchor="ctr"/>
          <a:lstStyle/>
          <a:p>
            <a:pPr marL="0" indent="0">
              <a:buNone/>
            </a:pPr>
            <a:r>
              <a:rPr sz="800" b="1">
                <a:solidFill>
                  <a:srgbClr val="E8A020"/>
                </a:solidFill>
              </a:rPr>
              <a:t>Serhii Diadechko  |  Data Science &amp; Machine Learning Capstone</a:t>
            </a:r>
            <a:endParaRPr sz="800"/>
          </a:p>
        </p:txBody>
      </p:sp>
      <p:sp>
        <p:nvSpPr>
          <p:cNvPr id="35" name="Rectangle 34">
            <a:extLst>
              <a:ext uri="{FF2B5EF4-FFF2-40B4-BE49-F238E27FC236}">
                <a16:creationId xmlns:a16="http://schemas.microsoft.com/office/drawing/2014/main" id="{D9F4B17D-4C76-48E1-9681-BAFF543DC330}"/>
              </a:ext>
            </a:extLst>
          </p:cNvPr>
          <p:cNvSpPr>
            <a:spLocks noGrp="1"/>
          </p:cNvSpPr>
          <p:nvPr/>
        </p:nvSpPr>
        <p:spPr>
          <a:xfrm>
            <a:off x="266700" y="1200150"/>
            <a:ext cx="8610600" cy="3695700"/>
          </a:xfrm>
          <a:prstGeom prst="rect">
            <a:avLst/>
          </a:prstGeom>
          <a:solidFill>
            <a:srgbClr val="FFFFFF"/>
          </a:solidFill>
          <a:ln w="0">
            <a:noFill/>
            <a:prstDash val="solid"/>
          </a:ln>
        </p:spPr>
      </p:sp>
      <p:pic>
        <p:nvPicPr>
          <p:cNvPr id="37" name="Picture 36">
            <a:extLst>
              <a:ext uri="{FF2B5EF4-FFF2-40B4-BE49-F238E27FC236}">
                <a16:creationId xmlns:a16="http://schemas.microsoft.com/office/drawing/2014/main" id="{30BF1E9C-C046-6643-AEB4-49A5663E4874}"/>
              </a:ext>
            </a:extLst>
          </p:cNvPr>
          <p:cNvPicPr>
            <a:picLocks noChangeAspect="1"/>
          </p:cNvPicPr>
          <p:nvPr/>
        </p:nvPicPr>
        <p:blipFill>
          <a:blip r:embed="rId3"/>
          <a:stretch>
            <a:fillRect/>
          </a:stretch>
        </p:blipFill>
        <p:spPr>
          <a:xfrm>
            <a:off x="886968" y="1200150"/>
            <a:ext cx="7318584" cy="3628257"/>
          </a:xfrm>
          <a:prstGeom prst="rect">
            <a:avLst/>
          </a:prstGeom>
        </p:spPr>
      </p:pic>
    </p:spTree>
    <p:extLst>
      <p:ext uri="{BB962C8B-B14F-4D97-AF65-F5344CB8AC3E}">
        <p14:creationId xmlns:p14="http://schemas.microsoft.com/office/powerpoint/2010/main" val="612534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433246D-B8F5-43EE-AF32-B05C98498242}"/>
              </a:ext>
            </a:extLst>
          </p:cNvPr>
          <p:cNvSpPr>
            <a:spLocks noGrp="1"/>
          </p:cNvSpPr>
          <p:nvPr/>
        </p:nvSpPr>
        <p:spPr>
          <a:xfrm>
            <a:off x="0" y="0"/>
            <a:ext cx="9144000" cy="5143500"/>
          </a:xfrm>
          <a:prstGeom prst="rect">
            <a:avLst/>
          </a:prstGeom>
          <a:solidFill>
            <a:srgbClr val="F3F6F9"/>
          </a:solidFill>
          <a:ln w="12700">
            <a:solidFill>
              <a:srgbClr val="F3F6F9"/>
            </a:solidFill>
            <a:prstDash val="solid"/>
          </a:ln>
        </p:spPr>
      </p:sp>
      <p:sp>
        <p:nvSpPr>
          <p:cNvPr id="3" name="Shape 1">
            <a:extLst>
              <a:ext uri="{FF2B5EF4-FFF2-40B4-BE49-F238E27FC236}">
                <a16:creationId xmlns:a16="http://schemas.microsoft.com/office/drawing/2014/main" id="{B9907FB8-8328-4B2E-B5E1-84E6FBE1233F}"/>
              </a:ext>
            </a:extLst>
          </p:cNvPr>
          <p:cNvSpPr>
            <a:spLocks noGrp="1"/>
          </p:cNvSpPr>
          <p:nvPr/>
        </p:nvSpPr>
        <p:spPr>
          <a:xfrm>
            <a:off x="0" y="0"/>
            <a:ext cx="9144000" cy="64008"/>
          </a:xfrm>
          <a:prstGeom prst="rect">
            <a:avLst/>
          </a:prstGeom>
          <a:solidFill>
            <a:srgbClr val="E8A020"/>
          </a:solidFill>
          <a:ln w="12700">
            <a:solidFill>
              <a:srgbClr val="E8A020"/>
            </a:solidFill>
            <a:prstDash val="solid"/>
          </a:ln>
        </p:spPr>
      </p:sp>
      <p:sp>
        <p:nvSpPr>
          <p:cNvPr id="4" name="Shape 2">
            <a:extLst>
              <a:ext uri="{FF2B5EF4-FFF2-40B4-BE49-F238E27FC236}">
                <a16:creationId xmlns:a16="http://schemas.microsoft.com/office/drawing/2014/main" id="{F3F02133-847A-404E-9F4B-6A7DE78DB92B}"/>
              </a:ext>
            </a:extLst>
          </p:cNvPr>
          <p:cNvSpPr>
            <a:spLocks noGrp="1"/>
          </p:cNvSpPr>
          <p:nvPr/>
        </p:nvSpPr>
        <p:spPr>
          <a:xfrm>
            <a:off x="0" y="64008"/>
            <a:ext cx="9144000" cy="658368"/>
          </a:xfrm>
          <a:prstGeom prst="rect">
            <a:avLst/>
          </a:prstGeom>
          <a:solidFill>
            <a:srgbClr val="1E3A50"/>
          </a:solidFill>
          <a:ln w="12700">
            <a:solidFill>
              <a:srgbClr val="1E3A50"/>
            </a:solidFill>
            <a:prstDash val="solid"/>
          </a:ln>
        </p:spPr>
      </p:sp>
      <p:sp>
        <p:nvSpPr>
          <p:cNvPr id="5" name="Text 3">
            <a:extLst>
              <a:ext uri="{FF2B5EF4-FFF2-40B4-BE49-F238E27FC236}">
                <a16:creationId xmlns:a16="http://schemas.microsoft.com/office/drawing/2014/main" id="{59F12DB4-3B5B-4A67-979D-6151E1B67D1F}"/>
              </a:ext>
            </a:extLst>
          </p:cNvPr>
          <p:cNvSpPr>
            <a:spLocks noGrp="1"/>
          </p:cNvSpPr>
          <p:nvPr/>
        </p:nvSpPr>
        <p:spPr>
          <a:xfrm>
            <a:off x="274320" y="64008"/>
            <a:ext cx="7315200" cy="658368"/>
          </a:xfrm>
          <a:prstGeom prst="rect">
            <a:avLst/>
          </a:prstGeom>
          <a:noFill/>
        </p:spPr>
        <p:txBody>
          <a:bodyPr wrap="square" lIns="0" tIns="0" rIns="0" bIns="0" anchor="ctr"/>
          <a:lstStyle/>
          <a:p>
            <a:pPr marL="0" indent="0">
              <a:buNone/>
            </a:pPr>
            <a:r>
              <a:rPr sz="1100" b="1">
                <a:solidFill>
                  <a:srgbClr val="E8A020"/>
                </a:solidFill>
              </a:rPr>
              <a:t>KEY FINDING 2</a:t>
            </a:r>
            <a:endParaRPr sz="1100"/>
          </a:p>
        </p:txBody>
      </p:sp>
      <p:sp>
        <p:nvSpPr>
          <p:cNvPr id="6" name="Text 4">
            <a:extLst>
              <a:ext uri="{FF2B5EF4-FFF2-40B4-BE49-F238E27FC236}">
                <a16:creationId xmlns:a16="http://schemas.microsoft.com/office/drawing/2014/main" id="{157AA592-FB08-4D64-B87E-9FC8E806087F}"/>
              </a:ext>
            </a:extLst>
          </p:cNvPr>
          <p:cNvSpPr>
            <a:spLocks noGrp="1"/>
          </p:cNvSpPr>
          <p:nvPr/>
        </p:nvSpPr>
        <p:spPr>
          <a:xfrm>
            <a:off x="6858000" y="64008"/>
            <a:ext cx="2011680" cy="658368"/>
          </a:xfrm>
          <a:prstGeom prst="rect">
            <a:avLst/>
          </a:prstGeom>
          <a:noFill/>
        </p:spPr>
        <p:txBody>
          <a:bodyPr wrap="square" lIns="0" tIns="0" rIns="0" bIns="0" anchor="ctr"/>
          <a:lstStyle/>
          <a:p>
            <a:pPr marL="0" indent="0" algn="r">
              <a:buNone/>
            </a:pPr>
            <a:r>
              <a:rPr sz="1100" b="1">
                <a:solidFill>
                  <a:srgbClr val="E1E8EF"/>
                </a:solidFill>
              </a:rPr>
              <a:t>4 / 8</a:t>
            </a:r>
            <a:endParaRPr sz="1100"/>
          </a:p>
        </p:txBody>
      </p:sp>
      <p:sp>
        <p:nvSpPr>
          <p:cNvPr id="7" name="Text 5">
            <a:extLst>
              <a:ext uri="{FF2B5EF4-FFF2-40B4-BE49-F238E27FC236}">
                <a16:creationId xmlns:a16="http://schemas.microsoft.com/office/drawing/2014/main" id="{9FAC5376-DFD7-4DF7-A857-0C2FD5CBD7A4}"/>
              </a:ext>
            </a:extLst>
          </p:cNvPr>
          <p:cNvSpPr>
            <a:spLocks noGrp="1"/>
          </p:cNvSpPr>
          <p:nvPr/>
        </p:nvSpPr>
        <p:spPr>
          <a:xfrm>
            <a:off x="274320" y="804672"/>
            <a:ext cx="8595360" cy="411480"/>
          </a:xfrm>
          <a:prstGeom prst="rect">
            <a:avLst/>
          </a:prstGeom>
          <a:noFill/>
        </p:spPr>
        <p:txBody>
          <a:bodyPr wrap="square" lIns="0" tIns="0" rIns="0" bIns="0" anchor="ctr"/>
          <a:lstStyle/>
          <a:p>
            <a:pPr marL="0" indent="0">
              <a:buNone/>
            </a:pPr>
            <a:r>
              <a:rPr sz="1600" b="1">
                <a:solidFill>
                  <a:srgbClr val="1A2638"/>
                </a:solidFill>
              </a:rPr>
              <a:t>Historical recurrence and structural hazard provide complementary context</a:t>
            </a:r>
            <a:endParaRPr sz="1600"/>
          </a:p>
        </p:txBody>
      </p:sp>
      <p:sp>
        <p:nvSpPr>
          <p:cNvPr id="8" name="Shape 6">
            <a:extLst>
              <a:ext uri="{FF2B5EF4-FFF2-40B4-BE49-F238E27FC236}">
                <a16:creationId xmlns:a16="http://schemas.microsoft.com/office/drawing/2014/main" id="{5A356FE9-CB03-42D1-9C21-8542E6BF0EFC}"/>
              </a:ext>
            </a:extLst>
          </p:cNvPr>
          <p:cNvSpPr>
            <a:spLocks noGrp="1"/>
          </p:cNvSpPr>
          <p:nvPr/>
        </p:nvSpPr>
        <p:spPr>
          <a:xfrm>
            <a:off x="274320" y="1298448"/>
            <a:ext cx="4160520" cy="3291840"/>
          </a:xfrm>
          <a:prstGeom prst="rect">
            <a:avLst/>
          </a:prstGeom>
          <a:solidFill>
            <a:srgbClr val="FFFFFF"/>
          </a:solidFill>
          <a:ln w="12700">
            <a:solidFill>
              <a:srgbClr val="E1E8EF"/>
            </a:solidFill>
            <a:prstDash val="solid"/>
          </a:ln>
          <a:effectLst>
            <a:outerShdw blurRad="101600" dist="38100" dir="8100000" algn="bl" rotWithShape="0">
              <a:srgbClr val="000000">
                <a:alpha val="10000"/>
              </a:srgbClr>
            </a:outerShdw>
          </a:effectLst>
        </p:spPr>
      </p:sp>
      <p:sp>
        <p:nvSpPr>
          <p:cNvPr id="9" name="Shape 7">
            <a:extLst>
              <a:ext uri="{FF2B5EF4-FFF2-40B4-BE49-F238E27FC236}">
                <a16:creationId xmlns:a16="http://schemas.microsoft.com/office/drawing/2014/main" id="{C9A34953-58C7-478E-9736-94E8E8AC9D55}"/>
              </a:ext>
            </a:extLst>
          </p:cNvPr>
          <p:cNvSpPr>
            <a:spLocks noGrp="1"/>
          </p:cNvSpPr>
          <p:nvPr/>
        </p:nvSpPr>
        <p:spPr>
          <a:xfrm>
            <a:off x="274320" y="1298448"/>
            <a:ext cx="4160520" cy="384048"/>
          </a:xfrm>
          <a:prstGeom prst="rect">
            <a:avLst/>
          </a:prstGeom>
          <a:solidFill>
            <a:srgbClr val="1E3A50"/>
          </a:solidFill>
          <a:ln w="12700">
            <a:solidFill>
              <a:srgbClr val="1E3A50"/>
            </a:solidFill>
            <a:prstDash val="solid"/>
          </a:ln>
        </p:spPr>
      </p:sp>
      <p:sp>
        <p:nvSpPr>
          <p:cNvPr id="10" name="Text 8">
            <a:extLst>
              <a:ext uri="{FF2B5EF4-FFF2-40B4-BE49-F238E27FC236}">
                <a16:creationId xmlns:a16="http://schemas.microsoft.com/office/drawing/2014/main" id="{0138816D-F851-4B14-B5E7-C78921973D27}"/>
              </a:ext>
            </a:extLst>
          </p:cNvPr>
          <p:cNvSpPr>
            <a:spLocks noGrp="1"/>
          </p:cNvSpPr>
          <p:nvPr/>
        </p:nvSpPr>
        <p:spPr>
          <a:xfrm>
            <a:off x="274320" y="1298448"/>
            <a:ext cx="4160520" cy="384048"/>
          </a:xfrm>
          <a:prstGeom prst="rect">
            <a:avLst/>
          </a:prstGeom>
          <a:noFill/>
        </p:spPr>
        <p:txBody>
          <a:bodyPr wrap="square" lIns="0" tIns="0" rIns="0" bIns="0" anchor="ctr"/>
          <a:lstStyle/>
          <a:p>
            <a:pPr marL="0" indent="0" algn="ctr">
              <a:buNone/>
            </a:pPr>
            <a:r>
              <a:rPr sz="1000" b="1">
                <a:solidFill>
                  <a:srgbClr val="FFFFFF"/>
                </a:solidFill>
              </a:rPr>
              <a:t>Evidence layers</a:t>
            </a:r>
            <a:endParaRPr sz="1000"/>
          </a:p>
        </p:txBody>
      </p:sp>
      <p:sp>
        <p:nvSpPr>
          <p:cNvPr id="11" name="Shape 9">
            <a:extLst>
              <a:ext uri="{FF2B5EF4-FFF2-40B4-BE49-F238E27FC236}">
                <a16:creationId xmlns:a16="http://schemas.microsoft.com/office/drawing/2014/main" id="{A48F928C-F102-49B4-A59E-1D4EE3D1DC18}"/>
              </a:ext>
            </a:extLst>
          </p:cNvPr>
          <p:cNvSpPr>
            <a:spLocks noGrp="1"/>
          </p:cNvSpPr>
          <p:nvPr/>
        </p:nvSpPr>
        <p:spPr>
          <a:xfrm>
            <a:off x="438912" y="1810512"/>
            <a:ext cx="201168" cy="201168"/>
          </a:xfrm>
          <a:prstGeom prst="rect">
            <a:avLst/>
          </a:prstGeom>
          <a:solidFill>
            <a:srgbClr val="2A9D61"/>
          </a:solidFill>
          <a:ln w="12700">
            <a:solidFill>
              <a:srgbClr val="2A9D61"/>
            </a:solidFill>
            <a:prstDash val="solid"/>
          </a:ln>
        </p:spPr>
      </p:sp>
      <p:sp>
        <p:nvSpPr>
          <p:cNvPr id="12" name="Text 10">
            <a:extLst>
              <a:ext uri="{FF2B5EF4-FFF2-40B4-BE49-F238E27FC236}">
                <a16:creationId xmlns:a16="http://schemas.microsoft.com/office/drawing/2014/main" id="{BD60D940-2AB4-4323-ACDD-A19A5EA667C8}"/>
              </a:ext>
            </a:extLst>
          </p:cNvPr>
          <p:cNvSpPr>
            <a:spLocks noGrp="1"/>
          </p:cNvSpPr>
          <p:nvPr/>
        </p:nvSpPr>
        <p:spPr>
          <a:xfrm>
            <a:off x="438912" y="1810512"/>
            <a:ext cx="201168" cy="201168"/>
          </a:xfrm>
          <a:prstGeom prst="rect">
            <a:avLst/>
          </a:prstGeom>
          <a:noFill/>
        </p:spPr>
        <p:txBody>
          <a:bodyPr wrap="square" lIns="0" tIns="0" rIns="0" bIns="0" anchor="ctr"/>
          <a:lstStyle/>
          <a:p>
            <a:pPr marL="0" indent="0" algn="ctr">
              <a:buNone/>
            </a:pPr>
            <a:r>
              <a:rPr sz="800" b="1">
                <a:solidFill>
                  <a:srgbClr val="FFFFFF"/>
                </a:solidFill>
              </a:rPr>
              <a:t>v</a:t>
            </a:r>
            <a:endParaRPr sz="800"/>
          </a:p>
        </p:txBody>
      </p:sp>
      <p:sp>
        <p:nvSpPr>
          <p:cNvPr id="13" name="Text 11">
            <a:extLst>
              <a:ext uri="{FF2B5EF4-FFF2-40B4-BE49-F238E27FC236}">
                <a16:creationId xmlns:a16="http://schemas.microsoft.com/office/drawing/2014/main" id="{433F46A5-1D2D-44A3-B1A4-F5935365DDDC}"/>
              </a:ext>
            </a:extLst>
          </p:cNvPr>
          <p:cNvSpPr>
            <a:spLocks noGrp="1"/>
          </p:cNvSpPr>
          <p:nvPr/>
        </p:nvSpPr>
        <p:spPr>
          <a:xfrm>
            <a:off x="713232" y="1773936"/>
            <a:ext cx="3611880" cy="347472"/>
          </a:xfrm>
          <a:prstGeom prst="rect">
            <a:avLst/>
          </a:prstGeom>
          <a:noFill/>
        </p:spPr>
        <p:txBody>
          <a:bodyPr wrap="square" lIns="0" tIns="0" rIns="0" bIns="0" anchor="ctr"/>
          <a:lstStyle/>
          <a:p>
            <a:pPr marL="0" indent="0">
              <a:buNone/>
            </a:pPr>
            <a:r>
              <a:rPr sz="850">
                <a:solidFill>
                  <a:srgbClr val="1A2638"/>
                </a:solidFill>
              </a:rPr>
              <a:t>Counts 2016–2025 burned years in the 2 km context around each 1 km cell.</a:t>
            </a:r>
            <a:endParaRPr sz="850"/>
          </a:p>
        </p:txBody>
      </p:sp>
      <p:sp>
        <p:nvSpPr>
          <p:cNvPr id="14" name="Shape 12">
            <a:extLst>
              <a:ext uri="{FF2B5EF4-FFF2-40B4-BE49-F238E27FC236}">
                <a16:creationId xmlns:a16="http://schemas.microsoft.com/office/drawing/2014/main" id="{9A77203C-C6FB-43FE-9635-189E862BC538}"/>
              </a:ext>
            </a:extLst>
          </p:cNvPr>
          <p:cNvSpPr>
            <a:spLocks noGrp="1"/>
          </p:cNvSpPr>
          <p:nvPr/>
        </p:nvSpPr>
        <p:spPr>
          <a:xfrm>
            <a:off x="438912" y="2212848"/>
            <a:ext cx="201168" cy="201168"/>
          </a:xfrm>
          <a:prstGeom prst="rect">
            <a:avLst/>
          </a:prstGeom>
          <a:solidFill>
            <a:srgbClr val="2A9D61"/>
          </a:solidFill>
          <a:ln w="12700">
            <a:solidFill>
              <a:srgbClr val="2A9D61"/>
            </a:solidFill>
            <a:prstDash val="solid"/>
          </a:ln>
        </p:spPr>
      </p:sp>
      <p:sp>
        <p:nvSpPr>
          <p:cNvPr id="15" name="Text 13">
            <a:extLst>
              <a:ext uri="{FF2B5EF4-FFF2-40B4-BE49-F238E27FC236}">
                <a16:creationId xmlns:a16="http://schemas.microsoft.com/office/drawing/2014/main" id="{C4054035-0280-46D0-8271-E333012C74D8}"/>
              </a:ext>
            </a:extLst>
          </p:cNvPr>
          <p:cNvSpPr>
            <a:spLocks noGrp="1"/>
          </p:cNvSpPr>
          <p:nvPr/>
        </p:nvSpPr>
        <p:spPr>
          <a:xfrm>
            <a:off x="438912" y="2212848"/>
            <a:ext cx="201168" cy="201168"/>
          </a:xfrm>
          <a:prstGeom prst="rect">
            <a:avLst/>
          </a:prstGeom>
          <a:noFill/>
        </p:spPr>
        <p:txBody>
          <a:bodyPr wrap="square" lIns="0" tIns="0" rIns="0" bIns="0" anchor="ctr"/>
          <a:lstStyle/>
          <a:p>
            <a:pPr marL="0" indent="0" algn="ctr">
              <a:buNone/>
            </a:pPr>
            <a:r>
              <a:rPr sz="800" b="1">
                <a:solidFill>
                  <a:srgbClr val="FFFFFF"/>
                </a:solidFill>
              </a:rPr>
              <a:t>v</a:t>
            </a:r>
            <a:endParaRPr sz="800"/>
          </a:p>
        </p:txBody>
      </p:sp>
      <p:sp>
        <p:nvSpPr>
          <p:cNvPr id="16" name="Text 14">
            <a:extLst>
              <a:ext uri="{FF2B5EF4-FFF2-40B4-BE49-F238E27FC236}">
                <a16:creationId xmlns:a16="http://schemas.microsoft.com/office/drawing/2014/main" id="{3A866D65-32E1-4D14-85BC-277D343C0267}"/>
              </a:ext>
            </a:extLst>
          </p:cNvPr>
          <p:cNvSpPr>
            <a:spLocks noGrp="1"/>
          </p:cNvSpPr>
          <p:nvPr/>
        </p:nvSpPr>
        <p:spPr>
          <a:xfrm>
            <a:off x="713232" y="2176272"/>
            <a:ext cx="3611880" cy="347472"/>
          </a:xfrm>
          <a:prstGeom prst="rect">
            <a:avLst/>
          </a:prstGeom>
          <a:noFill/>
        </p:spPr>
        <p:txBody>
          <a:bodyPr wrap="square" lIns="0" tIns="0" rIns="0" bIns="0" anchor="ctr"/>
          <a:lstStyle/>
          <a:p>
            <a:pPr marL="0" indent="0">
              <a:buNone/>
            </a:pPr>
            <a:r>
              <a:rPr sz="850">
                <a:solidFill>
                  <a:srgbClr val="1A2638"/>
                </a:solidFill>
              </a:rPr>
              <a:t>Official structural hazard</a:t>
            </a:r>
            <a:endParaRPr sz="850"/>
          </a:p>
        </p:txBody>
      </p:sp>
      <p:sp>
        <p:nvSpPr>
          <p:cNvPr id="17" name="Shape 15">
            <a:extLst>
              <a:ext uri="{FF2B5EF4-FFF2-40B4-BE49-F238E27FC236}">
                <a16:creationId xmlns:a16="http://schemas.microsoft.com/office/drawing/2014/main" id="{340346DD-06C1-46D3-B84B-71D11B0BD4C8}"/>
              </a:ext>
            </a:extLst>
          </p:cNvPr>
          <p:cNvSpPr>
            <a:spLocks noGrp="1"/>
          </p:cNvSpPr>
          <p:nvPr/>
        </p:nvSpPr>
        <p:spPr>
          <a:xfrm>
            <a:off x="438912" y="2615184"/>
            <a:ext cx="201168" cy="201168"/>
          </a:xfrm>
          <a:prstGeom prst="rect">
            <a:avLst/>
          </a:prstGeom>
          <a:solidFill>
            <a:srgbClr val="2A9D61"/>
          </a:solidFill>
          <a:ln w="12700">
            <a:solidFill>
              <a:srgbClr val="2A9D61"/>
            </a:solidFill>
            <a:prstDash val="solid"/>
          </a:ln>
        </p:spPr>
      </p:sp>
      <p:sp>
        <p:nvSpPr>
          <p:cNvPr id="18" name="Text 16">
            <a:extLst>
              <a:ext uri="{FF2B5EF4-FFF2-40B4-BE49-F238E27FC236}">
                <a16:creationId xmlns:a16="http://schemas.microsoft.com/office/drawing/2014/main" id="{54CE7231-C7DF-4668-B5A1-98622531C369}"/>
              </a:ext>
            </a:extLst>
          </p:cNvPr>
          <p:cNvSpPr>
            <a:spLocks noGrp="1"/>
          </p:cNvSpPr>
          <p:nvPr/>
        </p:nvSpPr>
        <p:spPr>
          <a:xfrm>
            <a:off x="438912" y="2615184"/>
            <a:ext cx="201168" cy="201168"/>
          </a:xfrm>
          <a:prstGeom prst="rect">
            <a:avLst/>
          </a:prstGeom>
          <a:noFill/>
        </p:spPr>
        <p:txBody>
          <a:bodyPr wrap="square" lIns="0" tIns="0" rIns="0" bIns="0" anchor="ctr"/>
          <a:lstStyle/>
          <a:p>
            <a:pPr marL="0" indent="0" algn="ctr">
              <a:buNone/>
            </a:pPr>
            <a:r>
              <a:rPr sz="800" b="1">
                <a:solidFill>
                  <a:srgbClr val="FFFFFF"/>
                </a:solidFill>
              </a:rPr>
              <a:t>v</a:t>
            </a:r>
            <a:endParaRPr sz="800"/>
          </a:p>
        </p:txBody>
      </p:sp>
      <p:sp>
        <p:nvSpPr>
          <p:cNvPr id="19" name="Text 17">
            <a:extLst>
              <a:ext uri="{FF2B5EF4-FFF2-40B4-BE49-F238E27FC236}">
                <a16:creationId xmlns:a16="http://schemas.microsoft.com/office/drawing/2014/main" id="{62EF2D98-2C4B-4478-B6DE-59400CA06235}"/>
              </a:ext>
            </a:extLst>
          </p:cNvPr>
          <p:cNvSpPr>
            <a:spLocks noGrp="1"/>
          </p:cNvSpPr>
          <p:nvPr/>
        </p:nvSpPr>
        <p:spPr>
          <a:xfrm>
            <a:off x="713232" y="2578608"/>
            <a:ext cx="3611880" cy="347472"/>
          </a:xfrm>
          <a:prstGeom prst="rect">
            <a:avLst/>
          </a:prstGeom>
          <a:noFill/>
        </p:spPr>
        <p:txBody>
          <a:bodyPr wrap="square" lIns="0" tIns="0" rIns="0" bIns="0" anchor="ctr"/>
          <a:lstStyle/>
          <a:p>
            <a:pPr marL="0" indent="0">
              <a:buNone/>
            </a:pPr>
            <a:r>
              <a:rPr sz="850">
                <a:solidFill>
                  <a:srgbClr val="1A2638"/>
                </a:solidFill>
              </a:rPr>
              <a:t>An official ICNF classification of underlying landscape hazard conditions, summarised from 25 m classes to the predominant 1 km class.</a:t>
            </a:r>
            <a:endParaRPr sz="850"/>
          </a:p>
        </p:txBody>
      </p:sp>
      <p:sp>
        <p:nvSpPr>
          <p:cNvPr id="20" name="Shape 18">
            <a:extLst>
              <a:ext uri="{FF2B5EF4-FFF2-40B4-BE49-F238E27FC236}">
                <a16:creationId xmlns:a16="http://schemas.microsoft.com/office/drawing/2014/main" id="{ACCE5F55-0293-4ED9-B7A2-2A8422E5B9D4}"/>
              </a:ext>
            </a:extLst>
          </p:cNvPr>
          <p:cNvSpPr>
            <a:spLocks noGrp="1"/>
          </p:cNvSpPr>
          <p:nvPr/>
        </p:nvSpPr>
        <p:spPr>
          <a:xfrm>
            <a:off x="438912" y="3017520"/>
            <a:ext cx="201168" cy="201168"/>
          </a:xfrm>
          <a:prstGeom prst="rect">
            <a:avLst/>
          </a:prstGeom>
          <a:solidFill>
            <a:srgbClr val="2A9D61"/>
          </a:solidFill>
          <a:ln w="12700">
            <a:solidFill>
              <a:srgbClr val="2A9D61"/>
            </a:solidFill>
            <a:prstDash val="solid"/>
          </a:ln>
        </p:spPr>
      </p:sp>
      <p:sp>
        <p:nvSpPr>
          <p:cNvPr id="21" name="Text 19">
            <a:extLst>
              <a:ext uri="{FF2B5EF4-FFF2-40B4-BE49-F238E27FC236}">
                <a16:creationId xmlns:a16="http://schemas.microsoft.com/office/drawing/2014/main" id="{021FABFD-07BB-4CB1-9DF3-6AB4C7F7418A}"/>
              </a:ext>
            </a:extLst>
          </p:cNvPr>
          <p:cNvSpPr>
            <a:spLocks noGrp="1"/>
          </p:cNvSpPr>
          <p:nvPr/>
        </p:nvSpPr>
        <p:spPr>
          <a:xfrm>
            <a:off x="438912" y="3017520"/>
            <a:ext cx="201168" cy="201168"/>
          </a:xfrm>
          <a:prstGeom prst="rect">
            <a:avLst/>
          </a:prstGeom>
          <a:noFill/>
        </p:spPr>
        <p:txBody>
          <a:bodyPr wrap="square" lIns="0" tIns="0" rIns="0" bIns="0" anchor="ctr"/>
          <a:lstStyle/>
          <a:p>
            <a:pPr marL="0" indent="0" algn="ctr">
              <a:buNone/>
            </a:pPr>
            <a:r>
              <a:rPr sz="800" b="1">
                <a:solidFill>
                  <a:srgbClr val="FFFFFF"/>
                </a:solidFill>
              </a:rPr>
              <a:t>v</a:t>
            </a:r>
            <a:endParaRPr sz="800"/>
          </a:p>
        </p:txBody>
      </p:sp>
      <p:sp>
        <p:nvSpPr>
          <p:cNvPr id="22" name="Text 20">
            <a:extLst>
              <a:ext uri="{FF2B5EF4-FFF2-40B4-BE49-F238E27FC236}">
                <a16:creationId xmlns:a16="http://schemas.microsoft.com/office/drawing/2014/main" id="{DF395E92-F661-43E4-B279-247D4D7CBDF8}"/>
              </a:ext>
            </a:extLst>
          </p:cNvPr>
          <p:cNvSpPr>
            <a:spLocks noGrp="1"/>
          </p:cNvSpPr>
          <p:nvPr/>
        </p:nvSpPr>
        <p:spPr>
          <a:xfrm>
            <a:off x="713232" y="2980944"/>
            <a:ext cx="3611880" cy="347472"/>
          </a:xfrm>
          <a:prstGeom prst="rect">
            <a:avLst/>
          </a:prstGeom>
          <a:noFill/>
        </p:spPr>
        <p:txBody>
          <a:bodyPr wrap="square" lIns="0" tIns="0" rIns="0" bIns="0" anchor="ctr"/>
          <a:lstStyle/>
          <a:p>
            <a:pPr marL="0" indent="0">
              <a:buNone/>
            </a:pPr>
            <a:r>
              <a:rPr sz="850">
                <a:solidFill>
                  <a:srgbClr val="1A2638"/>
                </a:solidFill>
              </a:rPr>
              <a:t>Why compare both?</a:t>
            </a:r>
            <a:endParaRPr sz="850"/>
          </a:p>
        </p:txBody>
      </p:sp>
      <p:sp>
        <p:nvSpPr>
          <p:cNvPr id="23" name="Shape 21">
            <a:extLst>
              <a:ext uri="{FF2B5EF4-FFF2-40B4-BE49-F238E27FC236}">
                <a16:creationId xmlns:a16="http://schemas.microsoft.com/office/drawing/2014/main" id="{488D5AAF-075C-4381-8425-C89597170446}"/>
              </a:ext>
            </a:extLst>
          </p:cNvPr>
          <p:cNvSpPr>
            <a:spLocks noGrp="1"/>
          </p:cNvSpPr>
          <p:nvPr/>
        </p:nvSpPr>
        <p:spPr>
          <a:xfrm>
            <a:off x="438912" y="3419856"/>
            <a:ext cx="201168" cy="201168"/>
          </a:xfrm>
          <a:prstGeom prst="rect">
            <a:avLst/>
          </a:prstGeom>
          <a:solidFill>
            <a:srgbClr val="2A9D61"/>
          </a:solidFill>
          <a:ln w="12700">
            <a:solidFill>
              <a:srgbClr val="2A9D61"/>
            </a:solidFill>
            <a:prstDash val="solid"/>
          </a:ln>
        </p:spPr>
      </p:sp>
      <p:sp>
        <p:nvSpPr>
          <p:cNvPr id="24" name="Text 22">
            <a:extLst>
              <a:ext uri="{FF2B5EF4-FFF2-40B4-BE49-F238E27FC236}">
                <a16:creationId xmlns:a16="http://schemas.microsoft.com/office/drawing/2014/main" id="{3E83D27C-B8E2-4DEE-B204-D31E94B3282A}"/>
              </a:ext>
            </a:extLst>
          </p:cNvPr>
          <p:cNvSpPr>
            <a:spLocks noGrp="1"/>
          </p:cNvSpPr>
          <p:nvPr/>
        </p:nvSpPr>
        <p:spPr>
          <a:xfrm>
            <a:off x="438912" y="3419856"/>
            <a:ext cx="201168" cy="201168"/>
          </a:xfrm>
          <a:prstGeom prst="rect">
            <a:avLst/>
          </a:prstGeom>
          <a:noFill/>
        </p:spPr>
        <p:txBody>
          <a:bodyPr wrap="square" lIns="0" tIns="0" rIns="0" bIns="0" anchor="ctr"/>
          <a:lstStyle/>
          <a:p>
            <a:pPr marL="0" indent="0" algn="ctr">
              <a:buNone/>
            </a:pPr>
            <a:r>
              <a:rPr sz="800" b="1">
                <a:solidFill>
                  <a:srgbClr val="FFFFFF"/>
                </a:solidFill>
              </a:rPr>
              <a:t>v</a:t>
            </a:r>
            <a:endParaRPr sz="800"/>
          </a:p>
        </p:txBody>
      </p:sp>
      <p:sp>
        <p:nvSpPr>
          <p:cNvPr id="25" name="Text 23">
            <a:extLst>
              <a:ext uri="{FF2B5EF4-FFF2-40B4-BE49-F238E27FC236}">
                <a16:creationId xmlns:a16="http://schemas.microsoft.com/office/drawing/2014/main" id="{38E3C507-F339-4F2F-954D-39C52FC073E3}"/>
              </a:ext>
            </a:extLst>
          </p:cNvPr>
          <p:cNvSpPr>
            <a:spLocks noGrp="1"/>
          </p:cNvSpPr>
          <p:nvPr/>
        </p:nvSpPr>
        <p:spPr>
          <a:xfrm>
            <a:off x="713232" y="3383280"/>
            <a:ext cx="3611880" cy="347472"/>
          </a:xfrm>
          <a:prstGeom prst="rect">
            <a:avLst/>
          </a:prstGeom>
          <a:noFill/>
        </p:spPr>
        <p:txBody>
          <a:bodyPr wrap="square" lIns="0" tIns="0" rIns="0" bIns="0" anchor="ctr"/>
          <a:lstStyle/>
          <a:p>
            <a:pPr marL="0" indent="0">
              <a:buNone/>
            </a:pPr>
            <a:r>
              <a:rPr sz="850">
                <a:solidFill>
                  <a:srgbClr val="1A2638"/>
                </a:solidFill>
              </a:rPr>
              <a:t>They use different methods and time frames, so agreement or disagreement adds context.</a:t>
            </a:r>
            <a:endParaRPr sz="850"/>
          </a:p>
        </p:txBody>
      </p:sp>
      <p:sp>
        <p:nvSpPr>
          <p:cNvPr id="26" name="Shape 24">
            <a:extLst>
              <a:ext uri="{FF2B5EF4-FFF2-40B4-BE49-F238E27FC236}">
                <a16:creationId xmlns:a16="http://schemas.microsoft.com/office/drawing/2014/main" id="{08C68075-9284-4574-87C1-08DABFEF76DE}"/>
              </a:ext>
            </a:extLst>
          </p:cNvPr>
          <p:cNvSpPr>
            <a:spLocks noGrp="1"/>
          </p:cNvSpPr>
          <p:nvPr/>
        </p:nvSpPr>
        <p:spPr>
          <a:xfrm>
            <a:off x="438912" y="3822192"/>
            <a:ext cx="201168" cy="201168"/>
          </a:xfrm>
          <a:prstGeom prst="rect">
            <a:avLst/>
          </a:prstGeom>
          <a:solidFill>
            <a:srgbClr val="2A9D61"/>
          </a:solidFill>
          <a:ln w="12700">
            <a:solidFill>
              <a:srgbClr val="2A9D61"/>
            </a:solidFill>
            <a:prstDash val="solid"/>
          </a:ln>
        </p:spPr>
      </p:sp>
      <p:sp>
        <p:nvSpPr>
          <p:cNvPr id="27" name="Text 25">
            <a:extLst>
              <a:ext uri="{FF2B5EF4-FFF2-40B4-BE49-F238E27FC236}">
                <a16:creationId xmlns:a16="http://schemas.microsoft.com/office/drawing/2014/main" id="{E6782FB0-9CF8-4988-961D-609E903C78A1}"/>
              </a:ext>
            </a:extLst>
          </p:cNvPr>
          <p:cNvSpPr>
            <a:spLocks noGrp="1"/>
          </p:cNvSpPr>
          <p:nvPr/>
        </p:nvSpPr>
        <p:spPr>
          <a:xfrm>
            <a:off x="438912" y="3822192"/>
            <a:ext cx="201168" cy="201168"/>
          </a:xfrm>
          <a:prstGeom prst="rect">
            <a:avLst/>
          </a:prstGeom>
          <a:noFill/>
        </p:spPr>
        <p:txBody>
          <a:bodyPr wrap="square" lIns="0" tIns="0" rIns="0" bIns="0" anchor="ctr"/>
          <a:lstStyle/>
          <a:p>
            <a:pPr marL="0" indent="0" algn="ctr">
              <a:buNone/>
            </a:pPr>
            <a:r>
              <a:rPr sz="800" b="1">
                <a:solidFill>
                  <a:srgbClr val="FFFFFF"/>
                </a:solidFill>
              </a:rPr>
              <a:t>v</a:t>
            </a:r>
            <a:endParaRPr sz="800"/>
          </a:p>
        </p:txBody>
      </p:sp>
      <p:sp>
        <p:nvSpPr>
          <p:cNvPr id="28" name="Text 26">
            <a:extLst>
              <a:ext uri="{FF2B5EF4-FFF2-40B4-BE49-F238E27FC236}">
                <a16:creationId xmlns:a16="http://schemas.microsoft.com/office/drawing/2014/main" id="{70F27152-BCAD-46B7-826B-959E39FABFED}"/>
              </a:ext>
            </a:extLst>
          </p:cNvPr>
          <p:cNvSpPr>
            <a:spLocks noGrp="1"/>
          </p:cNvSpPr>
          <p:nvPr/>
        </p:nvSpPr>
        <p:spPr>
          <a:xfrm>
            <a:off x="713232" y="3785616"/>
            <a:ext cx="3611880" cy="347472"/>
          </a:xfrm>
          <a:prstGeom prst="rect">
            <a:avLst/>
          </a:prstGeom>
          <a:noFill/>
        </p:spPr>
        <p:txBody>
          <a:bodyPr wrap="square" lIns="0" tIns="0" rIns="0" bIns="0" anchor="ctr"/>
          <a:lstStyle/>
          <a:p>
            <a:pPr marL="0" indent="0">
              <a:buNone/>
            </a:pPr>
            <a:r>
              <a:rPr sz="850">
                <a:solidFill>
                  <a:srgbClr val="1A2638"/>
                </a:solidFill>
              </a:rPr>
              <a:t>Interpretation</a:t>
            </a:r>
            <a:endParaRPr sz="850"/>
          </a:p>
        </p:txBody>
      </p:sp>
      <p:sp>
        <p:nvSpPr>
          <p:cNvPr id="29" name="Shape 27">
            <a:extLst>
              <a:ext uri="{FF2B5EF4-FFF2-40B4-BE49-F238E27FC236}">
                <a16:creationId xmlns:a16="http://schemas.microsoft.com/office/drawing/2014/main" id="{6FE7194F-DD64-44E7-98A2-9C4D403266C2}"/>
              </a:ext>
            </a:extLst>
          </p:cNvPr>
          <p:cNvSpPr>
            <a:spLocks noGrp="1"/>
          </p:cNvSpPr>
          <p:nvPr/>
        </p:nvSpPr>
        <p:spPr>
          <a:xfrm>
            <a:off x="438912" y="4224528"/>
            <a:ext cx="201168" cy="201168"/>
          </a:xfrm>
          <a:prstGeom prst="rect">
            <a:avLst/>
          </a:prstGeom>
          <a:solidFill>
            <a:srgbClr val="2A9D61"/>
          </a:solidFill>
          <a:ln w="12700">
            <a:solidFill>
              <a:srgbClr val="2A9D61"/>
            </a:solidFill>
            <a:prstDash val="solid"/>
          </a:ln>
        </p:spPr>
      </p:sp>
      <p:sp>
        <p:nvSpPr>
          <p:cNvPr id="30" name="Text 28">
            <a:extLst>
              <a:ext uri="{FF2B5EF4-FFF2-40B4-BE49-F238E27FC236}">
                <a16:creationId xmlns:a16="http://schemas.microsoft.com/office/drawing/2014/main" id="{6BF79431-F44F-4E26-8B43-6D69C49965C2}"/>
              </a:ext>
            </a:extLst>
          </p:cNvPr>
          <p:cNvSpPr>
            <a:spLocks noGrp="1"/>
          </p:cNvSpPr>
          <p:nvPr/>
        </p:nvSpPr>
        <p:spPr>
          <a:xfrm>
            <a:off x="438912" y="4224528"/>
            <a:ext cx="201168" cy="201168"/>
          </a:xfrm>
          <a:prstGeom prst="rect">
            <a:avLst/>
          </a:prstGeom>
          <a:noFill/>
        </p:spPr>
        <p:txBody>
          <a:bodyPr wrap="square" lIns="0" tIns="0" rIns="0" bIns="0" anchor="ctr"/>
          <a:lstStyle/>
          <a:p>
            <a:pPr marL="0" indent="0" algn="ctr">
              <a:buNone/>
            </a:pPr>
            <a:r>
              <a:rPr sz="800" b="1">
                <a:solidFill>
                  <a:srgbClr val="FFFFFF"/>
                </a:solidFill>
              </a:rPr>
              <a:t>v</a:t>
            </a:r>
            <a:endParaRPr sz="800"/>
          </a:p>
        </p:txBody>
      </p:sp>
      <p:sp>
        <p:nvSpPr>
          <p:cNvPr id="31" name="Text 29">
            <a:extLst>
              <a:ext uri="{FF2B5EF4-FFF2-40B4-BE49-F238E27FC236}">
                <a16:creationId xmlns:a16="http://schemas.microsoft.com/office/drawing/2014/main" id="{234F4672-94F5-40EC-848A-2B04CEEC2D52}"/>
              </a:ext>
            </a:extLst>
          </p:cNvPr>
          <p:cNvSpPr>
            <a:spLocks noGrp="1"/>
          </p:cNvSpPr>
          <p:nvPr/>
        </p:nvSpPr>
        <p:spPr>
          <a:xfrm>
            <a:off x="713232" y="4187952"/>
            <a:ext cx="3611880" cy="347472"/>
          </a:xfrm>
          <a:prstGeom prst="rect">
            <a:avLst/>
          </a:prstGeom>
          <a:noFill/>
        </p:spPr>
        <p:txBody>
          <a:bodyPr wrap="square" lIns="0" tIns="0" rIns="0" bIns="0" anchor="ctr"/>
          <a:lstStyle/>
          <a:p>
            <a:pPr marL="0" indent="0">
              <a:buNone/>
            </a:pPr>
            <a:r>
              <a:rPr sz="850">
                <a:solidFill>
                  <a:srgbClr val="1A2638"/>
                </a:solidFill>
              </a:rPr>
              <a:t>Structural hazard is not this project’s prediction and does not describe one particular year’s burned area.</a:t>
            </a:r>
            <a:endParaRPr sz="850"/>
          </a:p>
        </p:txBody>
      </p:sp>
      <p:sp>
        <p:nvSpPr>
          <p:cNvPr id="32" name="Shape 30">
            <a:extLst>
              <a:ext uri="{FF2B5EF4-FFF2-40B4-BE49-F238E27FC236}">
                <a16:creationId xmlns:a16="http://schemas.microsoft.com/office/drawing/2014/main" id="{8CFE47B9-6214-49BF-BAB5-E46AF5D658EC}"/>
              </a:ext>
            </a:extLst>
          </p:cNvPr>
          <p:cNvSpPr>
            <a:spLocks noGrp="1"/>
          </p:cNvSpPr>
          <p:nvPr/>
        </p:nvSpPr>
        <p:spPr>
          <a:xfrm>
            <a:off x="4764024" y="1554480"/>
            <a:ext cx="4160520" cy="3291840"/>
          </a:xfrm>
          <a:prstGeom prst="rect">
            <a:avLst/>
          </a:prstGeom>
          <a:solidFill>
            <a:srgbClr val="FFFFFF"/>
          </a:solidFill>
          <a:ln w="12700">
            <a:solidFill>
              <a:srgbClr val="E1E8EF"/>
            </a:solidFill>
            <a:prstDash val="solid"/>
          </a:ln>
          <a:effectLst>
            <a:outerShdw blurRad="101600" dist="38100" dir="8100000" algn="bl" rotWithShape="0">
              <a:srgbClr val="000000">
                <a:alpha val="10000"/>
              </a:srgbClr>
            </a:outerShdw>
          </a:effectLst>
        </p:spPr>
        <p:txBody>
          <a:bodyPr/>
          <a:lstStyle/>
          <a:p>
            <a:endParaRPr lang="en-US" dirty="0"/>
          </a:p>
        </p:txBody>
      </p:sp>
      <p:sp>
        <p:nvSpPr>
          <p:cNvPr id="33" name="Shape 31">
            <a:extLst>
              <a:ext uri="{FF2B5EF4-FFF2-40B4-BE49-F238E27FC236}">
                <a16:creationId xmlns:a16="http://schemas.microsoft.com/office/drawing/2014/main" id="{A8D64D74-58C5-46B8-81B3-038E3D611275}"/>
              </a:ext>
            </a:extLst>
          </p:cNvPr>
          <p:cNvSpPr>
            <a:spLocks noGrp="1"/>
          </p:cNvSpPr>
          <p:nvPr/>
        </p:nvSpPr>
        <p:spPr>
          <a:xfrm>
            <a:off x="4709160" y="1298448"/>
            <a:ext cx="4160520" cy="384048"/>
          </a:xfrm>
          <a:prstGeom prst="rect">
            <a:avLst/>
          </a:prstGeom>
          <a:solidFill>
            <a:srgbClr val="1E3A50"/>
          </a:solidFill>
          <a:ln w="12700">
            <a:solidFill>
              <a:srgbClr val="1E3A50"/>
            </a:solidFill>
            <a:prstDash val="solid"/>
          </a:ln>
        </p:spPr>
      </p:sp>
      <p:sp>
        <p:nvSpPr>
          <p:cNvPr id="34" name="Text 32">
            <a:extLst>
              <a:ext uri="{FF2B5EF4-FFF2-40B4-BE49-F238E27FC236}">
                <a16:creationId xmlns:a16="http://schemas.microsoft.com/office/drawing/2014/main" id="{94210AFE-3DED-4395-AC76-61EA6433B9A0}"/>
              </a:ext>
            </a:extLst>
          </p:cNvPr>
          <p:cNvSpPr>
            <a:spLocks noGrp="1"/>
          </p:cNvSpPr>
          <p:nvPr/>
        </p:nvSpPr>
        <p:spPr>
          <a:xfrm>
            <a:off x="4709160" y="1298448"/>
            <a:ext cx="4160520" cy="384048"/>
          </a:xfrm>
          <a:prstGeom prst="rect">
            <a:avLst/>
          </a:prstGeom>
          <a:noFill/>
        </p:spPr>
        <p:txBody>
          <a:bodyPr wrap="square" lIns="0" tIns="0" rIns="0" bIns="0" anchor="ctr"/>
          <a:lstStyle/>
          <a:p>
            <a:pPr marL="0" indent="0" algn="ctr">
              <a:buNone/>
            </a:pPr>
            <a:r>
              <a:rPr sz="1000" b="1">
                <a:solidFill>
                  <a:srgbClr val="FFFFFF"/>
                </a:solidFill>
              </a:rPr>
              <a:t>One comparison, two sources</a:t>
            </a:r>
            <a:endParaRPr sz="1000"/>
          </a:p>
        </p:txBody>
      </p:sp>
      <p:sp>
        <p:nvSpPr>
          <p:cNvPr id="35" name="Text 33">
            <a:extLst>
              <a:ext uri="{FF2B5EF4-FFF2-40B4-BE49-F238E27FC236}">
                <a16:creationId xmlns:a16="http://schemas.microsoft.com/office/drawing/2014/main" id="{7D1E2215-4749-4102-8766-0EF9CB908835}"/>
              </a:ext>
            </a:extLst>
          </p:cNvPr>
          <p:cNvSpPr>
            <a:spLocks noGrp="1"/>
          </p:cNvSpPr>
          <p:nvPr/>
        </p:nvSpPr>
        <p:spPr>
          <a:xfrm>
            <a:off x="4873752" y="1755648"/>
            <a:ext cx="3886200" cy="256032"/>
          </a:xfrm>
          <a:prstGeom prst="rect">
            <a:avLst/>
          </a:prstGeom>
          <a:noFill/>
        </p:spPr>
        <p:txBody>
          <a:bodyPr wrap="square" lIns="0" tIns="0" rIns="0" bIns="0" anchor="ctr"/>
          <a:lstStyle/>
          <a:p>
            <a:pPr marL="0" indent="0">
              <a:buNone/>
            </a:pPr>
            <a:r>
              <a:rPr sz="800" b="1">
                <a:solidFill>
                  <a:srgbClr val="5B6880"/>
                </a:solidFill>
              </a:rPr>
              <a:t>Technical</a:t>
            </a:r>
            <a:endParaRPr sz="800"/>
          </a:p>
        </p:txBody>
      </p:sp>
      <p:sp>
        <p:nvSpPr>
          <p:cNvPr id="36" name="Shape 34">
            <a:extLst>
              <a:ext uri="{FF2B5EF4-FFF2-40B4-BE49-F238E27FC236}">
                <a16:creationId xmlns:a16="http://schemas.microsoft.com/office/drawing/2014/main" id="{E9765024-23F7-4BAD-82E2-D0944ECD817D}"/>
              </a:ext>
            </a:extLst>
          </p:cNvPr>
          <p:cNvSpPr>
            <a:spLocks noGrp="1"/>
          </p:cNvSpPr>
          <p:nvPr/>
        </p:nvSpPr>
        <p:spPr>
          <a:xfrm>
            <a:off x="4873752" y="2093976"/>
            <a:ext cx="164592" cy="164592"/>
          </a:xfrm>
          <a:prstGeom prst="rect">
            <a:avLst/>
          </a:prstGeom>
          <a:solidFill>
            <a:srgbClr val="2E6DB4"/>
          </a:solidFill>
          <a:ln w="12700">
            <a:solidFill>
              <a:srgbClr val="2E6DB4"/>
            </a:solidFill>
            <a:prstDash val="solid"/>
          </a:ln>
        </p:spPr>
      </p:sp>
      <p:sp>
        <p:nvSpPr>
          <p:cNvPr id="37" name="Text 35">
            <a:extLst>
              <a:ext uri="{FF2B5EF4-FFF2-40B4-BE49-F238E27FC236}">
                <a16:creationId xmlns:a16="http://schemas.microsoft.com/office/drawing/2014/main" id="{3DB21FEE-311F-4CB4-9BB7-CEE277DD9E7E}"/>
              </a:ext>
            </a:extLst>
          </p:cNvPr>
          <p:cNvSpPr>
            <a:spLocks noGrp="1"/>
          </p:cNvSpPr>
          <p:nvPr/>
        </p:nvSpPr>
        <p:spPr>
          <a:xfrm>
            <a:off x="4873752" y="2093976"/>
            <a:ext cx="164592" cy="164592"/>
          </a:xfrm>
          <a:prstGeom prst="rect">
            <a:avLst/>
          </a:prstGeom>
          <a:noFill/>
        </p:spPr>
        <p:txBody>
          <a:bodyPr wrap="square" lIns="0" tIns="0" rIns="0" bIns="0" anchor="ctr"/>
          <a:lstStyle/>
          <a:p>
            <a:pPr marL="0" indent="0" algn="ctr">
              <a:buNone/>
            </a:pPr>
            <a:r>
              <a:rPr sz="700" b="1">
                <a:solidFill>
                  <a:srgbClr val="FFFFFF"/>
                </a:solidFill>
              </a:rPr>
              <a:t>v</a:t>
            </a:r>
            <a:endParaRPr sz="700"/>
          </a:p>
        </p:txBody>
      </p:sp>
      <p:sp>
        <p:nvSpPr>
          <p:cNvPr id="38" name="Text 36">
            <a:extLst>
              <a:ext uri="{FF2B5EF4-FFF2-40B4-BE49-F238E27FC236}">
                <a16:creationId xmlns:a16="http://schemas.microsoft.com/office/drawing/2014/main" id="{EC831CFF-D119-4E88-B1D0-71E2982079DD}"/>
              </a:ext>
            </a:extLst>
          </p:cNvPr>
          <p:cNvSpPr>
            <a:spLocks noGrp="1"/>
          </p:cNvSpPr>
          <p:nvPr/>
        </p:nvSpPr>
        <p:spPr>
          <a:xfrm>
            <a:off x="5111496" y="2048256"/>
            <a:ext cx="3648456" cy="320040"/>
          </a:xfrm>
          <a:prstGeom prst="rect">
            <a:avLst/>
          </a:prstGeom>
          <a:noFill/>
        </p:spPr>
        <p:txBody>
          <a:bodyPr wrap="square" lIns="0" tIns="0" rIns="0" bIns="0" anchor="ctr"/>
          <a:lstStyle/>
          <a:p>
            <a:pPr marL="0" indent="0">
              <a:buNone/>
            </a:pPr>
            <a:r>
              <a:rPr sz="800">
                <a:solidFill>
                  <a:srgbClr val="1A2638"/>
                </a:solidFill>
              </a:rPr>
              <a:t>Use the layers together to understand patterns; neither layer is a buyer threshold.</a:t>
            </a:r>
            <a:endParaRPr sz="800"/>
          </a:p>
        </p:txBody>
      </p:sp>
      <p:sp>
        <p:nvSpPr>
          <p:cNvPr id="39" name="Shape 37">
            <a:extLst>
              <a:ext uri="{FF2B5EF4-FFF2-40B4-BE49-F238E27FC236}">
                <a16:creationId xmlns:a16="http://schemas.microsoft.com/office/drawing/2014/main" id="{6E8C027E-8773-4500-B33B-62E87DB5F217}"/>
              </a:ext>
            </a:extLst>
          </p:cNvPr>
          <p:cNvSpPr>
            <a:spLocks noGrp="1"/>
          </p:cNvSpPr>
          <p:nvPr/>
        </p:nvSpPr>
        <p:spPr>
          <a:xfrm>
            <a:off x="4873752" y="2441448"/>
            <a:ext cx="164592" cy="164592"/>
          </a:xfrm>
          <a:prstGeom prst="rect">
            <a:avLst/>
          </a:prstGeom>
          <a:solidFill>
            <a:srgbClr val="2E6DB4"/>
          </a:solidFill>
          <a:ln w="12700">
            <a:solidFill>
              <a:srgbClr val="2E6DB4"/>
            </a:solidFill>
            <a:prstDash val="solid"/>
          </a:ln>
        </p:spPr>
      </p:sp>
      <p:sp>
        <p:nvSpPr>
          <p:cNvPr id="40" name="Text 38">
            <a:extLst>
              <a:ext uri="{FF2B5EF4-FFF2-40B4-BE49-F238E27FC236}">
                <a16:creationId xmlns:a16="http://schemas.microsoft.com/office/drawing/2014/main" id="{60AA1538-DD26-48A4-801E-5B50EDDC6EF9}"/>
              </a:ext>
            </a:extLst>
          </p:cNvPr>
          <p:cNvSpPr>
            <a:spLocks noGrp="1"/>
          </p:cNvSpPr>
          <p:nvPr/>
        </p:nvSpPr>
        <p:spPr>
          <a:xfrm>
            <a:off x="4873752" y="2441448"/>
            <a:ext cx="164592" cy="164592"/>
          </a:xfrm>
          <a:prstGeom prst="rect">
            <a:avLst/>
          </a:prstGeom>
          <a:noFill/>
        </p:spPr>
        <p:txBody>
          <a:bodyPr wrap="square" lIns="0" tIns="0" rIns="0" bIns="0" anchor="ctr"/>
          <a:lstStyle/>
          <a:p>
            <a:pPr marL="0" indent="0" algn="ctr">
              <a:buNone/>
            </a:pPr>
            <a:r>
              <a:rPr sz="700" b="1">
                <a:solidFill>
                  <a:srgbClr val="FFFFFF"/>
                </a:solidFill>
              </a:rPr>
              <a:t>v</a:t>
            </a:r>
            <a:endParaRPr sz="700"/>
          </a:p>
        </p:txBody>
      </p:sp>
      <p:sp>
        <p:nvSpPr>
          <p:cNvPr id="41" name="Text 39">
            <a:extLst>
              <a:ext uri="{FF2B5EF4-FFF2-40B4-BE49-F238E27FC236}">
                <a16:creationId xmlns:a16="http://schemas.microsoft.com/office/drawing/2014/main" id="{AB334C3D-7F39-4FE7-B95B-21588560F91A}"/>
              </a:ext>
            </a:extLst>
          </p:cNvPr>
          <p:cNvSpPr>
            <a:spLocks noGrp="1"/>
          </p:cNvSpPr>
          <p:nvPr/>
        </p:nvSpPr>
        <p:spPr>
          <a:xfrm>
            <a:off x="5111496" y="2395728"/>
            <a:ext cx="3648456" cy="320040"/>
          </a:xfrm>
          <a:prstGeom prst="rect">
            <a:avLst/>
          </a:prstGeom>
          <a:noFill/>
        </p:spPr>
        <p:txBody>
          <a:bodyPr wrap="square" lIns="0" tIns="0" rIns="0" bIns="0" anchor="ctr"/>
          <a:lstStyle/>
          <a:p>
            <a:pPr marL="0" indent="0">
              <a:buNone/>
            </a:pPr>
            <a:r>
              <a:rPr sz="800">
                <a:solidFill>
                  <a:srgbClr val="1A2638"/>
                </a:solidFill>
              </a:rPr>
              <a:t>Maps describe evidence; they do not certify a location.</a:t>
            </a:r>
            <a:endParaRPr sz="800"/>
          </a:p>
        </p:txBody>
      </p:sp>
      <p:sp>
        <p:nvSpPr>
          <p:cNvPr id="42" name="Shape 40">
            <a:extLst>
              <a:ext uri="{FF2B5EF4-FFF2-40B4-BE49-F238E27FC236}">
                <a16:creationId xmlns:a16="http://schemas.microsoft.com/office/drawing/2014/main" id="{EB1A818B-27E2-4AC9-A7A5-A37B13D81AEE}"/>
              </a:ext>
            </a:extLst>
          </p:cNvPr>
          <p:cNvSpPr>
            <a:spLocks noGrp="1"/>
          </p:cNvSpPr>
          <p:nvPr/>
        </p:nvSpPr>
        <p:spPr>
          <a:xfrm>
            <a:off x="4873752" y="2788920"/>
            <a:ext cx="164592" cy="164592"/>
          </a:xfrm>
          <a:prstGeom prst="rect">
            <a:avLst/>
          </a:prstGeom>
          <a:solidFill>
            <a:srgbClr val="2E6DB4"/>
          </a:solidFill>
          <a:ln w="12700">
            <a:solidFill>
              <a:srgbClr val="2E6DB4"/>
            </a:solidFill>
            <a:prstDash val="solid"/>
          </a:ln>
        </p:spPr>
      </p:sp>
      <p:sp>
        <p:nvSpPr>
          <p:cNvPr id="43" name="Text 41">
            <a:extLst>
              <a:ext uri="{FF2B5EF4-FFF2-40B4-BE49-F238E27FC236}">
                <a16:creationId xmlns:a16="http://schemas.microsoft.com/office/drawing/2014/main" id="{C9A0C132-E061-47E9-86DA-C56EBC4FE862}"/>
              </a:ext>
            </a:extLst>
          </p:cNvPr>
          <p:cNvSpPr>
            <a:spLocks noGrp="1"/>
          </p:cNvSpPr>
          <p:nvPr/>
        </p:nvSpPr>
        <p:spPr>
          <a:xfrm>
            <a:off x="4873752" y="2788920"/>
            <a:ext cx="164592" cy="164592"/>
          </a:xfrm>
          <a:prstGeom prst="rect">
            <a:avLst/>
          </a:prstGeom>
          <a:noFill/>
        </p:spPr>
        <p:txBody>
          <a:bodyPr wrap="square" lIns="0" tIns="0" rIns="0" bIns="0" anchor="ctr"/>
          <a:lstStyle/>
          <a:p>
            <a:pPr marL="0" indent="0" algn="ctr">
              <a:buNone/>
            </a:pPr>
            <a:r>
              <a:rPr sz="700" b="1">
                <a:solidFill>
                  <a:srgbClr val="FFFFFF"/>
                </a:solidFill>
              </a:rPr>
              <a:t>v</a:t>
            </a:r>
            <a:endParaRPr sz="700"/>
          </a:p>
        </p:txBody>
      </p:sp>
      <p:sp>
        <p:nvSpPr>
          <p:cNvPr id="44" name="Text 42">
            <a:extLst>
              <a:ext uri="{FF2B5EF4-FFF2-40B4-BE49-F238E27FC236}">
                <a16:creationId xmlns:a16="http://schemas.microsoft.com/office/drawing/2014/main" id="{A498733C-FEFE-442D-BBCC-FBAA98860A46}"/>
              </a:ext>
            </a:extLst>
          </p:cNvPr>
          <p:cNvSpPr>
            <a:spLocks noGrp="1"/>
          </p:cNvSpPr>
          <p:nvPr/>
        </p:nvSpPr>
        <p:spPr>
          <a:xfrm>
            <a:off x="5111496" y="2743200"/>
            <a:ext cx="3648456" cy="320040"/>
          </a:xfrm>
          <a:prstGeom prst="rect">
            <a:avLst/>
          </a:prstGeom>
          <a:noFill/>
        </p:spPr>
        <p:txBody>
          <a:bodyPr wrap="square" lIns="0" tIns="0" rIns="0" bIns="0" anchor="ctr"/>
          <a:lstStyle/>
          <a:p>
            <a:pPr marL="0" indent="0">
              <a:buNone/>
            </a:pPr>
            <a:r>
              <a:rPr sz="800">
                <a:solidFill>
                  <a:srgbClr val="1A2638"/>
                </a:solidFill>
              </a:rPr>
              <a:t>Both layers still require local verification.</a:t>
            </a:r>
            <a:endParaRPr sz="800"/>
          </a:p>
        </p:txBody>
      </p:sp>
      <p:sp>
        <p:nvSpPr>
          <p:cNvPr id="45" name="Text 43">
            <a:extLst>
              <a:ext uri="{FF2B5EF4-FFF2-40B4-BE49-F238E27FC236}">
                <a16:creationId xmlns:a16="http://schemas.microsoft.com/office/drawing/2014/main" id="{2261A078-89E7-4EDE-AF5A-975F083F6C40}"/>
              </a:ext>
            </a:extLst>
          </p:cNvPr>
          <p:cNvSpPr>
            <a:spLocks noGrp="1"/>
          </p:cNvSpPr>
          <p:nvPr/>
        </p:nvSpPr>
        <p:spPr>
          <a:xfrm>
            <a:off x="4873752" y="3364992"/>
            <a:ext cx="3886200" cy="256032"/>
          </a:xfrm>
          <a:prstGeom prst="rect">
            <a:avLst/>
          </a:prstGeom>
          <a:noFill/>
        </p:spPr>
        <p:txBody>
          <a:bodyPr wrap="square" lIns="0" tIns="0" rIns="0" bIns="0" anchor="ctr"/>
          <a:lstStyle/>
          <a:p>
            <a:pPr marL="0" indent="0">
              <a:buNone/>
            </a:pPr>
            <a:r>
              <a:rPr sz="800" b="1" dirty="0">
                <a:solidFill>
                  <a:srgbClr val="5B6880"/>
                </a:solidFill>
              </a:rPr>
              <a:t>Delivery Tips</a:t>
            </a:r>
            <a:endParaRPr sz="800" dirty="0"/>
          </a:p>
        </p:txBody>
      </p:sp>
      <p:sp>
        <p:nvSpPr>
          <p:cNvPr id="46" name="Text 44">
            <a:extLst>
              <a:ext uri="{FF2B5EF4-FFF2-40B4-BE49-F238E27FC236}">
                <a16:creationId xmlns:a16="http://schemas.microsoft.com/office/drawing/2014/main" id="{878FBAF7-6DD0-4D72-8C29-5EBD1F7FB714}"/>
              </a:ext>
            </a:extLst>
          </p:cNvPr>
          <p:cNvSpPr>
            <a:spLocks noGrp="1"/>
          </p:cNvSpPr>
          <p:nvPr/>
        </p:nvSpPr>
        <p:spPr>
          <a:xfrm>
            <a:off x="4873752" y="3401568"/>
            <a:ext cx="3886200" cy="237744"/>
          </a:xfrm>
          <a:prstGeom prst="rect">
            <a:avLst/>
          </a:prstGeom>
          <a:noFill/>
        </p:spPr>
        <p:txBody>
          <a:bodyPr wrap="square" lIns="0" tIns="0" rIns="0" bIns="0" anchor="ctr"/>
          <a:lstStyle/>
          <a:p>
            <a:pPr marL="0" indent="0">
              <a:buNone/>
            </a:pPr>
            <a:endParaRPr sz="750" dirty="0"/>
          </a:p>
        </p:txBody>
      </p:sp>
      <p:sp>
        <p:nvSpPr>
          <p:cNvPr id="47" name="Text 45">
            <a:extLst>
              <a:ext uri="{FF2B5EF4-FFF2-40B4-BE49-F238E27FC236}">
                <a16:creationId xmlns:a16="http://schemas.microsoft.com/office/drawing/2014/main" id="{F3852103-32CC-4EA7-912B-BBCD278D546F}"/>
              </a:ext>
            </a:extLst>
          </p:cNvPr>
          <p:cNvSpPr>
            <a:spLocks noGrp="1"/>
          </p:cNvSpPr>
          <p:nvPr/>
        </p:nvSpPr>
        <p:spPr>
          <a:xfrm>
            <a:off x="4873752" y="3630168"/>
            <a:ext cx="3886200" cy="237744"/>
          </a:xfrm>
          <a:prstGeom prst="rect">
            <a:avLst/>
          </a:prstGeom>
          <a:noFill/>
        </p:spPr>
        <p:txBody>
          <a:bodyPr wrap="square" lIns="0" tIns="0" rIns="0" bIns="0" anchor="ctr"/>
          <a:lstStyle/>
          <a:p>
            <a:pPr marL="0" indent="0">
              <a:buNone/>
            </a:pPr>
            <a:r>
              <a:rPr sz="750" b="1">
                <a:solidFill>
                  <a:srgbClr val="E8A020"/>
                </a:solidFill>
              </a:rPr>
              <a:t>Observed recurrence = what burned.</a:t>
            </a:r>
            <a:endParaRPr sz="750"/>
          </a:p>
        </p:txBody>
      </p:sp>
      <p:sp>
        <p:nvSpPr>
          <p:cNvPr id="48" name="Text 46">
            <a:extLst>
              <a:ext uri="{FF2B5EF4-FFF2-40B4-BE49-F238E27FC236}">
                <a16:creationId xmlns:a16="http://schemas.microsoft.com/office/drawing/2014/main" id="{2967BB4C-17C8-44CC-8349-2DF3F492CC1E}"/>
              </a:ext>
            </a:extLst>
          </p:cNvPr>
          <p:cNvSpPr>
            <a:spLocks noGrp="1"/>
          </p:cNvSpPr>
          <p:nvPr/>
        </p:nvSpPr>
        <p:spPr>
          <a:xfrm>
            <a:off x="4873752" y="3858768"/>
            <a:ext cx="3886200" cy="237744"/>
          </a:xfrm>
          <a:prstGeom prst="rect">
            <a:avLst/>
          </a:prstGeom>
          <a:noFill/>
        </p:spPr>
        <p:txBody>
          <a:bodyPr wrap="square" lIns="0" tIns="0" rIns="0" bIns="0" anchor="ctr"/>
          <a:lstStyle/>
          <a:p>
            <a:pPr marL="0" indent="0">
              <a:buNone/>
            </a:pPr>
            <a:r>
              <a:rPr sz="750" b="1">
                <a:solidFill>
                  <a:srgbClr val="E8A020"/>
                </a:solidFill>
              </a:rPr>
              <a:t>Structural hazard = underlying landscape classification.</a:t>
            </a:r>
            <a:endParaRPr sz="750"/>
          </a:p>
        </p:txBody>
      </p:sp>
      <p:sp>
        <p:nvSpPr>
          <p:cNvPr id="49" name="Text 47">
            <a:extLst>
              <a:ext uri="{FF2B5EF4-FFF2-40B4-BE49-F238E27FC236}">
                <a16:creationId xmlns:a16="http://schemas.microsoft.com/office/drawing/2014/main" id="{DF4EBCB9-CEB0-41F1-802C-53DA0FCDC1F9}"/>
              </a:ext>
            </a:extLst>
          </p:cNvPr>
          <p:cNvSpPr>
            <a:spLocks noGrp="1"/>
          </p:cNvSpPr>
          <p:nvPr/>
        </p:nvSpPr>
        <p:spPr>
          <a:xfrm>
            <a:off x="4873752" y="4087368"/>
            <a:ext cx="3886200" cy="237744"/>
          </a:xfrm>
          <a:prstGeom prst="rect">
            <a:avLst/>
          </a:prstGeom>
          <a:noFill/>
        </p:spPr>
        <p:txBody>
          <a:bodyPr wrap="square" lIns="0" tIns="0" rIns="0" bIns="0" anchor="ctr"/>
          <a:lstStyle/>
          <a:p>
            <a:pPr marL="0" indent="0">
              <a:buNone/>
            </a:pPr>
            <a:r>
              <a:rPr sz="750" b="1">
                <a:solidFill>
                  <a:srgbClr val="E8A020"/>
                </a:solidFill>
              </a:rPr>
              <a:t>Together = broader screening context.</a:t>
            </a:r>
            <a:endParaRPr sz="750"/>
          </a:p>
        </p:txBody>
      </p:sp>
      <p:sp>
        <p:nvSpPr>
          <p:cNvPr id="50" name="Text 48">
            <a:extLst>
              <a:ext uri="{FF2B5EF4-FFF2-40B4-BE49-F238E27FC236}">
                <a16:creationId xmlns:a16="http://schemas.microsoft.com/office/drawing/2014/main" id="{65D5A184-9B2C-4B10-B5DC-1A3F3D8E2894}"/>
              </a:ext>
            </a:extLst>
          </p:cNvPr>
          <p:cNvSpPr>
            <a:spLocks noGrp="1"/>
          </p:cNvSpPr>
          <p:nvPr/>
        </p:nvSpPr>
        <p:spPr>
          <a:xfrm>
            <a:off x="4873752" y="4315968"/>
            <a:ext cx="3886200" cy="237744"/>
          </a:xfrm>
          <a:prstGeom prst="rect">
            <a:avLst/>
          </a:prstGeom>
          <a:noFill/>
        </p:spPr>
        <p:txBody>
          <a:bodyPr wrap="square" lIns="0" tIns="0" rIns="0" bIns="0" anchor="ctr"/>
          <a:lstStyle/>
          <a:p>
            <a:pPr marL="0" indent="0">
              <a:buNone/>
            </a:pPr>
            <a:r>
              <a:rPr sz="750" b="1">
                <a:solidFill>
                  <a:srgbClr val="E8A020"/>
                </a:solidFill>
              </a:rPr>
              <a:t>No model-accuracy claim is made from this comparison.</a:t>
            </a:r>
            <a:endParaRPr sz="750"/>
          </a:p>
        </p:txBody>
      </p:sp>
      <p:sp>
        <p:nvSpPr>
          <p:cNvPr id="51" name="Shape 49">
            <a:extLst>
              <a:ext uri="{FF2B5EF4-FFF2-40B4-BE49-F238E27FC236}">
                <a16:creationId xmlns:a16="http://schemas.microsoft.com/office/drawing/2014/main" id="{60AB1022-AFE8-48AA-AF67-D4B907288A08}"/>
              </a:ext>
            </a:extLst>
          </p:cNvPr>
          <p:cNvSpPr>
            <a:spLocks noGrp="1"/>
          </p:cNvSpPr>
          <p:nvPr/>
        </p:nvSpPr>
        <p:spPr>
          <a:xfrm>
            <a:off x="274320" y="4663440"/>
            <a:ext cx="8595360" cy="292608"/>
          </a:xfrm>
          <a:prstGeom prst="rect">
            <a:avLst/>
          </a:prstGeom>
          <a:solidFill>
            <a:srgbClr val="2A9D61"/>
          </a:solidFill>
          <a:ln w="12700">
            <a:solidFill>
              <a:srgbClr val="2A9D61"/>
            </a:solidFill>
            <a:prstDash val="solid"/>
          </a:ln>
        </p:spPr>
      </p:sp>
      <p:sp>
        <p:nvSpPr>
          <p:cNvPr id="52" name="Text 50">
            <a:extLst>
              <a:ext uri="{FF2B5EF4-FFF2-40B4-BE49-F238E27FC236}">
                <a16:creationId xmlns:a16="http://schemas.microsoft.com/office/drawing/2014/main" id="{888510B6-7C6A-4727-A0E5-F48D9F362954}"/>
              </a:ext>
            </a:extLst>
          </p:cNvPr>
          <p:cNvSpPr>
            <a:spLocks noGrp="1"/>
          </p:cNvSpPr>
          <p:nvPr/>
        </p:nvSpPr>
        <p:spPr>
          <a:xfrm>
            <a:off x="411480" y="4663440"/>
            <a:ext cx="8321040" cy="292608"/>
          </a:xfrm>
          <a:prstGeom prst="rect">
            <a:avLst/>
          </a:prstGeom>
          <a:noFill/>
        </p:spPr>
        <p:txBody>
          <a:bodyPr wrap="square" lIns="0" tIns="0" rIns="0" bIns="0" anchor="ctr"/>
          <a:lstStyle/>
          <a:p>
            <a:pPr marL="0" indent="0" algn="ctr">
              <a:buNone/>
            </a:pPr>
            <a:r>
              <a:rPr sz="850" b="1">
                <a:solidFill>
                  <a:srgbClr val="FFFFFF"/>
                </a:solidFill>
              </a:rPr>
              <a:t>The official ICNF layer is a reference, not the project’s ML output.</a:t>
            </a:r>
            <a:endParaRPr sz="850"/>
          </a:p>
        </p:txBody>
      </p:sp>
      <p:sp>
        <p:nvSpPr>
          <p:cNvPr id="53" name="Shape 51">
            <a:extLst>
              <a:ext uri="{FF2B5EF4-FFF2-40B4-BE49-F238E27FC236}">
                <a16:creationId xmlns:a16="http://schemas.microsoft.com/office/drawing/2014/main" id="{4EF06526-1530-434D-877D-54CADC545895}"/>
              </a:ext>
            </a:extLst>
          </p:cNvPr>
          <p:cNvSpPr>
            <a:spLocks noGrp="1"/>
          </p:cNvSpPr>
          <p:nvPr/>
        </p:nvSpPr>
        <p:spPr>
          <a:xfrm>
            <a:off x="0" y="4919472"/>
            <a:ext cx="9144000" cy="224028"/>
          </a:xfrm>
          <a:prstGeom prst="rect">
            <a:avLst/>
          </a:prstGeom>
          <a:solidFill>
            <a:srgbClr val="162B3D"/>
          </a:solidFill>
          <a:ln w="12700">
            <a:solidFill>
              <a:srgbClr val="162B3D"/>
            </a:solidFill>
            <a:prstDash val="solid"/>
          </a:ln>
        </p:spPr>
      </p:sp>
      <p:sp>
        <p:nvSpPr>
          <p:cNvPr id="54" name="Text 52">
            <a:extLst>
              <a:ext uri="{FF2B5EF4-FFF2-40B4-BE49-F238E27FC236}">
                <a16:creationId xmlns:a16="http://schemas.microsoft.com/office/drawing/2014/main" id="{AAD75AC7-5746-4AD0-892D-25E5587B3A5D}"/>
              </a:ext>
            </a:extLst>
          </p:cNvPr>
          <p:cNvSpPr>
            <a:spLocks noGrp="1"/>
          </p:cNvSpPr>
          <p:nvPr/>
        </p:nvSpPr>
        <p:spPr>
          <a:xfrm>
            <a:off x="274320" y="4919472"/>
            <a:ext cx="8595360" cy="224028"/>
          </a:xfrm>
          <a:prstGeom prst="rect">
            <a:avLst/>
          </a:prstGeom>
          <a:noFill/>
        </p:spPr>
        <p:txBody>
          <a:bodyPr wrap="square" lIns="0" tIns="0" rIns="0" bIns="0" anchor="ctr"/>
          <a:lstStyle/>
          <a:p>
            <a:pPr marL="0" indent="0">
              <a:buNone/>
            </a:pPr>
            <a:r>
              <a:rPr sz="800" b="1">
                <a:solidFill>
                  <a:srgbClr val="E8A020"/>
                </a:solidFill>
              </a:rPr>
              <a:t>Serhii Diadechko  |  Data Science &amp; Machine Learning Capstone</a:t>
            </a:r>
            <a:endParaRPr sz="800"/>
          </a:p>
        </p:txBody>
      </p:sp>
    </p:spTree>
    <p:extLst>
      <p:ext uri="{BB962C8B-B14F-4D97-AF65-F5344CB8AC3E}">
        <p14:creationId xmlns:p14="http://schemas.microsoft.com/office/powerpoint/2010/main" val="1791781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433246D-B8F5-43EE-AF32-B05C98498242}"/>
              </a:ext>
            </a:extLst>
          </p:cNvPr>
          <p:cNvSpPr>
            <a:spLocks noGrp="1"/>
          </p:cNvSpPr>
          <p:nvPr/>
        </p:nvSpPr>
        <p:spPr>
          <a:xfrm>
            <a:off x="0" y="0"/>
            <a:ext cx="9144000" cy="5143500"/>
          </a:xfrm>
          <a:prstGeom prst="rect">
            <a:avLst/>
          </a:prstGeom>
          <a:solidFill>
            <a:srgbClr val="F3F6F9"/>
          </a:solidFill>
          <a:ln w="12700">
            <a:solidFill>
              <a:srgbClr val="F3F6F9"/>
            </a:solidFill>
            <a:prstDash val="solid"/>
          </a:ln>
        </p:spPr>
      </p:sp>
      <p:sp>
        <p:nvSpPr>
          <p:cNvPr id="3" name="Shape 1">
            <a:extLst>
              <a:ext uri="{FF2B5EF4-FFF2-40B4-BE49-F238E27FC236}">
                <a16:creationId xmlns:a16="http://schemas.microsoft.com/office/drawing/2014/main" id="{B9907FB8-8328-4B2E-B5E1-84E6FBE1233F}"/>
              </a:ext>
            </a:extLst>
          </p:cNvPr>
          <p:cNvSpPr>
            <a:spLocks noGrp="1"/>
          </p:cNvSpPr>
          <p:nvPr/>
        </p:nvSpPr>
        <p:spPr>
          <a:xfrm>
            <a:off x="0" y="0"/>
            <a:ext cx="9144000" cy="64008"/>
          </a:xfrm>
          <a:prstGeom prst="rect">
            <a:avLst/>
          </a:prstGeom>
          <a:solidFill>
            <a:srgbClr val="E8A020"/>
          </a:solidFill>
          <a:ln w="12700">
            <a:solidFill>
              <a:srgbClr val="E8A020"/>
            </a:solidFill>
            <a:prstDash val="solid"/>
          </a:ln>
        </p:spPr>
      </p:sp>
      <p:sp>
        <p:nvSpPr>
          <p:cNvPr id="4" name="Shape 2">
            <a:extLst>
              <a:ext uri="{FF2B5EF4-FFF2-40B4-BE49-F238E27FC236}">
                <a16:creationId xmlns:a16="http://schemas.microsoft.com/office/drawing/2014/main" id="{F3F02133-847A-404E-9F4B-6A7DE78DB92B}"/>
              </a:ext>
            </a:extLst>
          </p:cNvPr>
          <p:cNvSpPr>
            <a:spLocks noGrp="1"/>
          </p:cNvSpPr>
          <p:nvPr/>
        </p:nvSpPr>
        <p:spPr>
          <a:xfrm>
            <a:off x="0" y="64008"/>
            <a:ext cx="9144000" cy="658368"/>
          </a:xfrm>
          <a:prstGeom prst="rect">
            <a:avLst/>
          </a:prstGeom>
          <a:solidFill>
            <a:srgbClr val="1E3A50"/>
          </a:solidFill>
          <a:ln w="12700">
            <a:solidFill>
              <a:srgbClr val="1E3A50"/>
            </a:solidFill>
            <a:prstDash val="solid"/>
          </a:ln>
        </p:spPr>
      </p:sp>
      <p:sp>
        <p:nvSpPr>
          <p:cNvPr id="5" name="Text 3">
            <a:extLst>
              <a:ext uri="{FF2B5EF4-FFF2-40B4-BE49-F238E27FC236}">
                <a16:creationId xmlns:a16="http://schemas.microsoft.com/office/drawing/2014/main" id="{59F12DB4-3B5B-4A67-979D-6151E1B67D1F}"/>
              </a:ext>
            </a:extLst>
          </p:cNvPr>
          <p:cNvSpPr>
            <a:spLocks noGrp="1"/>
          </p:cNvSpPr>
          <p:nvPr/>
        </p:nvSpPr>
        <p:spPr>
          <a:xfrm>
            <a:off x="274320" y="64008"/>
            <a:ext cx="7315200" cy="658368"/>
          </a:xfrm>
          <a:prstGeom prst="rect">
            <a:avLst/>
          </a:prstGeom>
          <a:noFill/>
        </p:spPr>
        <p:txBody>
          <a:bodyPr wrap="square" lIns="0" tIns="0" rIns="0" bIns="0" anchor="ctr"/>
          <a:lstStyle/>
          <a:p>
            <a:pPr marL="0" indent="0">
              <a:buNone/>
            </a:pPr>
            <a:r>
              <a:rPr sz="1100" b="1">
                <a:solidFill>
                  <a:srgbClr val="E8A020"/>
                </a:solidFill>
              </a:rPr>
              <a:t>KEY FINDING 3 — MODEL</a:t>
            </a:r>
            <a:endParaRPr sz="1100"/>
          </a:p>
        </p:txBody>
      </p:sp>
      <p:sp>
        <p:nvSpPr>
          <p:cNvPr id="6" name="Text 4">
            <a:extLst>
              <a:ext uri="{FF2B5EF4-FFF2-40B4-BE49-F238E27FC236}">
                <a16:creationId xmlns:a16="http://schemas.microsoft.com/office/drawing/2014/main" id="{157AA592-FB08-4D64-B87E-9FC8E806087F}"/>
              </a:ext>
            </a:extLst>
          </p:cNvPr>
          <p:cNvSpPr>
            <a:spLocks noGrp="1"/>
          </p:cNvSpPr>
          <p:nvPr/>
        </p:nvSpPr>
        <p:spPr>
          <a:xfrm>
            <a:off x="6858000" y="64008"/>
            <a:ext cx="2011680" cy="658368"/>
          </a:xfrm>
          <a:prstGeom prst="rect">
            <a:avLst/>
          </a:prstGeom>
          <a:noFill/>
        </p:spPr>
        <p:txBody>
          <a:bodyPr wrap="square" lIns="0" tIns="0" rIns="0" bIns="0" anchor="ctr"/>
          <a:lstStyle/>
          <a:p>
            <a:pPr marL="0" indent="0" algn="r">
              <a:buNone/>
            </a:pPr>
            <a:r>
              <a:rPr sz="1100" b="1">
                <a:solidFill>
                  <a:srgbClr val="E1E8EF"/>
                </a:solidFill>
              </a:rPr>
              <a:t>5 / 8</a:t>
            </a:r>
            <a:endParaRPr sz="1100"/>
          </a:p>
        </p:txBody>
      </p:sp>
      <p:sp>
        <p:nvSpPr>
          <p:cNvPr id="7" name="Text 5">
            <a:extLst>
              <a:ext uri="{FF2B5EF4-FFF2-40B4-BE49-F238E27FC236}">
                <a16:creationId xmlns:a16="http://schemas.microsoft.com/office/drawing/2014/main" id="{9FAC5376-DFD7-4DF7-A857-0C2FD5CBD7A4}"/>
              </a:ext>
            </a:extLst>
          </p:cNvPr>
          <p:cNvSpPr>
            <a:spLocks noGrp="1"/>
          </p:cNvSpPr>
          <p:nvPr/>
        </p:nvSpPr>
        <p:spPr>
          <a:xfrm>
            <a:off x="274320" y="804672"/>
            <a:ext cx="8595360" cy="411480"/>
          </a:xfrm>
          <a:prstGeom prst="rect">
            <a:avLst/>
          </a:prstGeom>
          <a:noFill/>
        </p:spPr>
        <p:txBody>
          <a:bodyPr wrap="square" lIns="0" tIns="0" rIns="0" bIns="0" anchor="ctr"/>
          <a:lstStyle/>
          <a:p>
            <a:pPr marL="0" indent="0">
              <a:buNone/>
            </a:pPr>
            <a:r>
              <a:rPr sz="1600" b="1">
                <a:solidFill>
                  <a:srgbClr val="1A2638"/>
                </a:solidFill>
              </a:rPr>
              <a:t>The nine-feature model improves selected comparative diagnostics</a:t>
            </a:r>
            <a:endParaRPr sz="1600"/>
          </a:p>
        </p:txBody>
      </p:sp>
      <p:sp>
        <p:nvSpPr>
          <p:cNvPr id="8" name="Shape 6">
            <a:extLst>
              <a:ext uri="{FF2B5EF4-FFF2-40B4-BE49-F238E27FC236}">
                <a16:creationId xmlns:a16="http://schemas.microsoft.com/office/drawing/2014/main" id="{5A356FE9-CB03-42D1-9C21-8542E6BF0EFC}"/>
              </a:ext>
            </a:extLst>
          </p:cNvPr>
          <p:cNvSpPr>
            <a:spLocks noGrp="1"/>
          </p:cNvSpPr>
          <p:nvPr/>
        </p:nvSpPr>
        <p:spPr>
          <a:xfrm>
            <a:off x="274320" y="1298448"/>
            <a:ext cx="4160520" cy="3291840"/>
          </a:xfrm>
          <a:prstGeom prst="rect">
            <a:avLst/>
          </a:prstGeom>
          <a:solidFill>
            <a:srgbClr val="FFFFFF"/>
          </a:solidFill>
          <a:ln w="12700">
            <a:solidFill>
              <a:srgbClr val="E1E8EF"/>
            </a:solidFill>
            <a:prstDash val="solid"/>
          </a:ln>
          <a:effectLst>
            <a:outerShdw blurRad="101600" dist="38100" dir="8100000" algn="bl" rotWithShape="0">
              <a:srgbClr val="000000">
                <a:alpha val="10000"/>
              </a:srgbClr>
            </a:outerShdw>
          </a:effectLst>
        </p:spPr>
        <p:txBody>
          <a:bodyPr/>
          <a:lstStyle/>
          <a:p>
            <a:endParaRPr lang="en-US" dirty="0"/>
          </a:p>
        </p:txBody>
      </p:sp>
      <p:sp>
        <p:nvSpPr>
          <p:cNvPr id="9" name="Shape 7">
            <a:extLst>
              <a:ext uri="{FF2B5EF4-FFF2-40B4-BE49-F238E27FC236}">
                <a16:creationId xmlns:a16="http://schemas.microsoft.com/office/drawing/2014/main" id="{C9A34953-58C7-478E-9736-94E8E8AC9D55}"/>
              </a:ext>
            </a:extLst>
          </p:cNvPr>
          <p:cNvSpPr>
            <a:spLocks noGrp="1"/>
          </p:cNvSpPr>
          <p:nvPr/>
        </p:nvSpPr>
        <p:spPr>
          <a:xfrm>
            <a:off x="274320" y="1298448"/>
            <a:ext cx="4160520" cy="384048"/>
          </a:xfrm>
          <a:prstGeom prst="rect">
            <a:avLst/>
          </a:prstGeom>
          <a:solidFill>
            <a:srgbClr val="1E3A50"/>
          </a:solidFill>
          <a:ln w="12700">
            <a:solidFill>
              <a:srgbClr val="1E3A50"/>
            </a:solidFill>
            <a:prstDash val="solid"/>
          </a:ln>
        </p:spPr>
      </p:sp>
      <p:sp>
        <p:nvSpPr>
          <p:cNvPr id="10" name="Text 8">
            <a:extLst>
              <a:ext uri="{FF2B5EF4-FFF2-40B4-BE49-F238E27FC236}">
                <a16:creationId xmlns:a16="http://schemas.microsoft.com/office/drawing/2014/main" id="{0138816D-F851-4B14-B5E7-C78921973D27}"/>
              </a:ext>
            </a:extLst>
          </p:cNvPr>
          <p:cNvSpPr>
            <a:spLocks noGrp="1"/>
          </p:cNvSpPr>
          <p:nvPr/>
        </p:nvSpPr>
        <p:spPr>
          <a:xfrm>
            <a:off x="274320" y="1298448"/>
            <a:ext cx="4160520" cy="384048"/>
          </a:xfrm>
          <a:prstGeom prst="rect">
            <a:avLst/>
          </a:prstGeom>
          <a:noFill/>
        </p:spPr>
        <p:txBody>
          <a:bodyPr wrap="square" lIns="0" tIns="0" rIns="0" bIns="0" anchor="ctr"/>
          <a:lstStyle/>
          <a:p>
            <a:pPr marL="0" indent="0" algn="ctr">
              <a:buNone/>
            </a:pPr>
            <a:r>
              <a:rPr sz="1000" b="1">
                <a:solidFill>
                  <a:srgbClr val="FFFFFF"/>
                </a:solidFill>
              </a:rPr>
              <a:t>MODEL COMPARISON</a:t>
            </a:r>
            <a:endParaRPr sz="1000"/>
          </a:p>
        </p:txBody>
      </p:sp>
      <p:sp>
        <p:nvSpPr>
          <p:cNvPr id="11" name="Shape 9">
            <a:extLst>
              <a:ext uri="{FF2B5EF4-FFF2-40B4-BE49-F238E27FC236}">
                <a16:creationId xmlns:a16="http://schemas.microsoft.com/office/drawing/2014/main" id="{A48F928C-F102-49B4-A59E-1D4EE3D1DC18}"/>
              </a:ext>
            </a:extLst>
          </p:cNvPr>
          <p:cNvSpPr>
            <a:spLocks noGrp="1"/>
          </p:cNvSpPr>
          <p:nvPr/>
        </p:nvSpPr>
        <p:spPr>
          <a:xfrm>
            <a:off x="438912" y="1810512"/>
            <a:ext cx="201168" cy="201168"/>
          </a:xfrm>
          <a:prstGeom prst="rect">
            <a:avLst/>
          </a:prstGeom>
          <a:solidFill>
            <a:srgbClr val="2A9D61"/>
          </a:solidFill>
          <a:ln w="12700">
            <a:solidFill>
              <a:srgbClr val="2A9D61"/>
            </a:solidFill>
            <a:prstDash val="solid"/>
          </a:ln>
        </p:spPr>
      </p:sp>
      <p:sp>
        <p:nvSpPr>
          <p:cNvPr id="12" name="Text 10">
            <a:extLst>
              <a:ext uri="{FF2B5EF4-FFF2-40B4-BE49-F238E27FC236}">
                <a16:creationId xmlns:a16="http://schemas.microsoft.com/office/drawing/2014/main" id="{BD60D940-2AB4-4323-ACDD-A19A5EA667C8}"/>
              </a:ext>
            </a:extLst>
          </p:cNvPr>
          <p:cNvSpPr>
            <a:spLocks noGrp="1"/>
          </p:cNvSpPr>
          <p:nvPr/>
        </p:nvSpPr>
        <p:spPr>
          <a:xfrm>
            <a:off x="438912" y="1810512"/>
            <a:ext cx="201168" cy="201168"/>
          </a:xfrm>
          <a:prstGeom prst="rect">
            <a:avLst/>
          </a:prstGeom>
          <a:noFill/>
        </p:spPr>
        <p:txBody>
          <a:bodyPr wrap="square" lIns="0" tIns="0" rIns="0" bIns="0" anchor="ctr"/>
          <a:lstStyle/>
          <a:p>
            <a:pPr marL="0" indent="0" algn="ctr">
              <a:buNone/>
            </a:pPr>
            <a:r>
              <a:rPr sz="800" b="1">
                <a:solidFill>
                  <a:srgbClr val="FFFFFF"/>
                </a:solidFill>
              </a:rPr>
              <a:t>v</a:t>
            </a:r>
            <a:endParaRPr sz="800"/>
          </a:p>
        </p:txBody>
      </p:sp>
      <p:sp>
        <p:nvSpPr>
          <p:cNvPr id="13" name="Text 11">
            <a:extLst>
              <a:ext uri="{FF2B5EF4-FFF2-40B4-BE49-F238E27FC236}">
                <a16:creationId xmlns:a16="http://schemas.microsoft.com/office/drawing/2014/main" id="{433F46A5-1D2D-44A3-B1A4-F5935365DDDC}"/>
              </a:ext>
            </a:extLst>
          </p:cNvPr>
          <p:cNvSpPr>
            <a:spLocks noGrp="1"/>
          </p:cNvSpPr>
          <p:nvPr/>
        </p:nvSpPr>
        <p:spPr>
          <a:xfrm>
            <a:off x="713232" y="1773936"/>
            <a:ext cx="3611880" cy="347472"/>
          </a:xfrm>
          <a:prstGeom prst="rect">
            <a:avLst/>
          </a:prstGeom>
          <a:noFill/>
        </p:spPr>
        <p:txBody>
          <a:bodyPr wrap="square" lIns="0" tIns="0" rIns="0" bIns="0" anchor="ctr"/>
          <a:lstStyle/>
          <a:p>
            <a:pPr marL="0" indent="0">
              <a:buNone/>
            </a:pPr>
            <a:r>
              <a:rPr sz="850" dirty="0">
                <a:solidFill>
                  <a:srgbClr val="1A2638"/>
                </a:solidFill>
              </a:rPr>
              <a:t>Baseline </a:t>
            </a:r>
            <a:r>
              <a:rPr lang="en-US" sz="850" dirty="0">
                <a:solidFill>
                  <a:srgbClr val="1A2638"/>
                </a:solidFill>
              </a:rPr>
              <a:t>-&gt;</a:t>
            </a:r>
            <a:r>
              <a:rPr sz="850" dirty="0">
                <a:solidFill>
                  <a:srgbClr val="1A2638"/>
                </a:solidFill>
              </a:rPr>
              <a:t> nine-feature model</a:t>
            </a:r>
            <a:endParaRPr sz="850" dirty="0"/>
          </a:p>
        </p:txBody>
      </p:sp>
      <p:sp>
        <p:nvSpPr>
          <p:cNvPr id="14" name="Shape 12">
            <a:extLst>
              <a:ext uri="{FF2B5EF4-FFF2-40B4-BE49-F238E27FC236}">
                <a16:creationId xmlns:a16="http://schemas.microsoft.com/office/drawing/2014/main" id="{9A77203C-C6FB-43FE-9635-189E862BC538}"/>
              </a:ext>
            </a:extLst>
          </p:cNvPr>
          <p:cNvSpPr>
            <a:spLocks noGrp="1"/>
          </p:cNvSpPr>
          <p:nvPr/>
        </p:nvSpPr>
        <p:spPr>
          <a:xfrm>
            <a:off x="438912" y="2212848"/>
            <a:ext cx="201168" cy="201168"/>
          </a:xfrm>
          <a:prstGeom prst="rect">
            <a:avLst/>
          </a:prstGeom>
          <a:solidFill>
            <a:srgbClr val="2A9D61"/>
          </a:solidFill>
          <a:ln w="12700">
            <a:solidFill>
              <a:srgbClr val="2A9D61"/>
            </a:solidFill>
            <a:prstDash val="solid"/>
          </a:ln>
        </p:spPr>
      </p:sp>
      <p:sp>
        <p:nvSpPr>
          <p:cNvPr id="15" name="Text 13">
            <a:extLst>
              <a:ext uri="{FF2B5EF4-FFF2-40B4-BE49-F238E27FC236}">
                <a16:creationId xmlns:a16="http://schemas.microsoft.com/office/drawing/2014/main" id="{C4054035-0280-46D0-8271-E333012C74D8}"/>
              </a:ext>
            </a:extLst>
          </p:cNvPr>
          <p:cNvSpPr>
            <a:spLocks noGrp="1"/>
          </p:cNvSpPr>
          <p:nvPr/>
        </p:nvSpPr>
        <p:spPr>
          <a:xfrm>
            <a:off x="438912" y="2212848"/>
            <a:ext cx="201168" cy="201168"/>
          </a:xfrm>
          <a:prstGeom prst="rect">
            <a:avLst/>
          </a:prstGeom>
          <a:noFill/>
        </p:spPr>
        <p:txBody>
          <a:bodyPr wrap="square" lIns="0" tIns="0" rIns="0" bIns="0" anchor="ctr"/>
          <a:lstStyle/>
          <a:p>
            <a:pPr marL="0" indent="0" algn="ctr">
              <a:buNone/>
            </a:pPr>
            <a:r>
              <a:rPr sz="800" b="1">
                <a:solidFill>
                  <a:srgbClr val="FFFFFF"/>
                </a:solidFill>
              </a:rPr>
              <a:t>v</a:t>
            </a:r>
            <a:endParaRPr sz="800"/>
          </a:p>
        </p:txBody>
      </p:sp>
      <p:sp>
        <p:nvSpPr>
          <p:cNvPr id="16" name="Text 14">
            <a:extLst>
              <a:ext uri="{FF2B5EF4-FFF2-40B4-BE49-F238E27FC236}">
                <a16:creationId xmlns:a16="http://schemas.microsoft.com/office/drawing/2014/main" id="{3A866D65-32E1-4D14-85BC-277D343C0267}"/>
              </a:ext>
            </a:extLst>
          </p:cNvPr>
          <p:cNvSpPr>
            <a:spLocks noGrp="1"/>
          </p:cNvSpPr>
          <p:nvPr/>
        </p:nvSpPr>
        <p:spPr>
          <a:xfrm>
            <a:off x="713232" y="2176272"/>
            <a:ext cx="3611880" cy="347472"/>
          </a:xfrm>
          <a:prstGeom prst="rect">
            <a:avLst/>
          </a:prstGeom>
          <a:noFill/>
        </p:spPr>
        <p:txBody>
          <a:bodyPr wrap="square" lIns="0" tIns="0" rIns="0" bIns="0" anchor="ctr"/>
          <a:lstStyle/>
          <a:p>
            <a:pPr marL="0" indent="0">
              <a:buNone/>
            </a:pPr>
            <a:r>
              <a:rPr sz="850" dirty="0">
                <a:solidFill>
                  <a:srgbClr val="1A2638"/>
                </a:solidFill>
              </a:rPr>
              <a:t>Historical recurrence baseline</a:t>
            </a:r>
            <a:r>
              <a:rPr lang="en-US" sz="850" dirty="0">
                <a:solidFill>
                  <a:srgbClr val="1A2638"/>
                </a:solidFill>
              </a:rPr>
              <a:t> </a:t>
            </a:r>
            <a:r>
              <a:rPr lang="en-US" sz="800" b="1" dirty="0">
                <a:solidFill>
                  <a:srgbClr val="1A2638"/>
                </a:solidFill>
              </a:rPr>
              <a:t>- </a:t>
            </a:r>
            <a:r>
              <a:rPr lang="en-US" sz="800" b="1" dirty="0"/>
              <a:t>groups training records by the number of previously burned years </a:t>
            </a:r>
            <a:r>
              <a:rPr lang="en-US" sz="800" b="1" dirty="0">
                <a:solidFill>
                  <a:srgbClr val="1A2638"/>
                </a:solidFill>
              </a:rPr>
              <a:t> </a:t>
            </a:r>
            <a:endParaRPr sz="800" b="1" dirty="0"/>
          </a:p>
        </p:txBody>
      </p:sp>
      <p:sp>
        <p:nvSpPr>
          <p:cNvPr id="17" name="Shape 15">
            <a:extLst>
              <a:ext uri="{FF2B5EF4-FFF2-40B4-BE49-F238E27FC236}">
                <a16:creationId xmlns:a16="http://schemas.microsoft.com/office/drawing/2014/main" id="{340346DD-06C1-46D3-B84B-71D11B0BD4C8}"/>
              </a:ext>
            </a:extLst>
          </p:cNvPr>
          <p:cNvSpPr>
            <a:spLocks noGrp="1"/>
          </p:cNvSpPr>
          <p:nvPr/>
        </p:nvSpPr>
        <p:spPr>
          <a:xfrm>
            <a:off x="438912" y="2615184"/>
            <a:ext cx="201168" cy="201168"/>
          </a:xfrm>
          <a:prstGeom prst="rect">
            <a:avLst/>
          </a:prstGeom>
          <a:solidFill>
            <a:srgbClr val="2A9D61"/>
          </a:solidFill>
          <a:ln w="12700">
            <a:solidFill>
              <a:srgbClr val="2A9D61"/>
            </a:solidFill>
            <a:prstDash val="solid"/>
          </a:ln>
        </p:spPr>
      </p:sp>
      <p:sp>
        <p:nvSpPr>
          <p:cNvPr id="18" name="Text 16">
            <a:extLst>
              <a:ext uri="{FF2B5EF4-FFF2-40B4-BE49-F238E27FC236}">
                <a16:creationId xmlns:a16="http://schemas.microsoft.com/office/drawing/2014/main" id="{54CE7231-C7DF-4668-B5A1-98622531C369}"/>
              </a:ext>
            </a:extLst>
          </p:cNvPr>
          <p:cNvSpPr>
            <a:spLocks noGrp="1"/>
          </p:cNvSpPr>
          <p:nvPr/>
        </p:nvSpPr>
        <p:spPr>
          <a:xfrm>
            <a:off x="438912" y="2615184"/>
            <a:ext cx="201168" cy="201168"/>
          </a:xfrm>
          <a:prstGeom prst="rect">
            <a:avLst/>
          </a:prstGeom>
          <a:noFill/>
        </p:spPr>
        <p:txBody>
          <a:bodyPr wrap="square" lIns="0" tIns="0" rIns="0" bIns="0" anchor="ctr"/>
          <a:lstStyle/>
          <a:p>
            <a:pPr marL="0" indent="0" algn="ctr">
              <a:buNone/>
            </a:pPr>
            <a:r>
              <a:rPr sz="800" b="1">
                <a:solidFill>
                  <a:srgbClr val="FFFFFF"/>
                </a:solidFill>
              </a:rPr>
              <a:t>v</a:t>
            </a:r>
            <a:endParaRPr sz="800"/>
          </a:p>
        </p:txBody>
      </p:sp>
      <p:sp>
        <p:nvSpPr>
          <p:cNvPr id="19" name="Text 17">
            <a:extLst>
              <a:ext uri="{FF2B5EF4-FFF2-40B4-BE49-F238E27FC236}">
                <a16:creationId xmlns:a16="http://schemas.microsoft.com/office/drawing/2014/main" id="{62EF2D98-2C4B-4478-B6DE-59400CA06235}"/>
              </a:ext>
            </a:extLst>
          </p:cNvPr>
          <p:cNvSpPr>
            <a:spLocks noGrp="1"/>
          </p:cNvSpPr>
          <p:nvPr/>
        </p:nvSpPr>
        <p:spPr>
          <a:xfrm>
            <a:off x="713232" y="2578608"/>
            <a:ext cx="3611880" cy="347472"/>
          </a:xfrm>
          <a:prstGeom prst="rect">
            <a:avLst/>
          </a:prstGeom>
          <a:noFill/>
        </p:spPr>
        <p:txBody>
          <a:bodyPr wrap="square" lIns="0" tIns="0" rIns="0" bIns="0" anchor="ctr"/>
          <a:lstStyle/>
          <a:p>
            <a:pPr marL="0" indent="0">
              <a:buNone/>
            </a:pPr>
            <a:r>
              <a:rPr sz="850" dirty="0">
                <a:solidFill>
                  <a:srgbClr val="1A2638"/>
                </a:solidFill>
              </a:rPr>
              <a:t>Nine-feature hurdle model</a:t>
            </a:r>
            <a:r>
              <a:rPr lang="en-US" sz="850" dirty="0">
                <a:solidFill>
                  <a:srgbClr val="1A2638"/>
                </a:solidFill>
              </a:rPr>
              <a:t> - </a:t>
            </a:r>
            <a:r>
              <a:rPr lang="en-US" sz="850" b="1" dirty="0" err="1">
                <a:solidFill>
                  <a:srgbClr val="1A2638"/>
                </a:solidFill>
              </a:rPr>
              <a:t>HistGradientBoosting</a:t>
            </a:r>
            <a:endParaRPr sz="850" b="1" dirty="0"/>
          </a:p>
        </p:txBody>
      </p:sp>
      <p:sp>
        <p:nvSpPr>
          <p:cNvPr id="20" name="Shape 18">
            <a:extLst>
              <a:ext uri="{FF2B5EF4-FFF2-40B4-BE49-F238E27FC236}">
                <a16:creationId xmlns:a16="http://schemas.microsoft.com/office/drawing/2014/main" id="{ACCE5F55-0293-4ED9-B7A2-2A8422E5B9D4}"/>
              </a:ext>
            </a:extLst>
          </p:cNvPr>
          <p:cNvSpPr>
            <a:spLocks noGrp="1"/>
          </p:cNvSpPr>
          <p:nvPr/>
        </p:nvSpPr>
        <p:spPr>
          <a:xfrm>
            <a:off x="438912" y="3017520"/>
            <a:ext cx="201168" cy="201168"/>
          </a:xfrm>
          <a:prstGeom prst="rect">
            <a:avLst/>
          </a:prstGeom>
          <a:solidFill>
            <a:srgbClr val="2A9D61"/>
          </a:solidFill>
          <a:ln w="12700">
            <a:solidFill>
              <a:srgbClr val="2A9D61"/>
            </a:solidFill>
            <a:prstDash val="solid"/>
          </a:ln>
        </p:spPr>
      </p:sp>
      <p:sp>
        <p:nvSpPr>
          <p:cNvPr id="21" name="Text 19">
            <a:extLst>
              <a:ext uri="{FF2B5EF4-FFF2-40B4-BE49-F238E27FC236}">
                <a16:creationId xmlns:a16="http://schemas.microsoft.com/office/drawing/2014/main" id="{021FABFD-07BB-4CB1-9DF3-6AB4C7F7418A}"/>
              </a:ext>
            </a:extLst>
          </p:cNvPr>
          <p:cNvSpPr>
            <a:spLocks noGrp="1"/>
          </p:cNvSpPr>
          <p:nvPr/>
        </p:nvSpPr>
        <p:spPr>
          <a:xfrm>
            <a:off x="438912" y="3017520"/>
            <a:ext cx="201168" cy="201168"/>
          </a:xfrm>
          <a:prstGeom prst="rect">
            <a:avLst/>
          </a:prstGeom>
          <a:noFill/>
        </p:spPr>
        <p:txBody>
          <a:bodyPr wrap="square" lIns="0" tIns="0" rIns="0" bIns="0" anchor="ctr"/>
          <a:lstStyle/>
          <a:p>
            <a:pPr marL="0" indent="0" algn="ctr">
              <a:buNone/>
            </a:pPr>
            <a:r>
              <a:rPr sz="800" b="1">
                <a:solidFill>
                  <a:srgbClr val="FFFFFF"/>
                </a:solidFill>
              </a:rPr>
              <a:t>v</a:t>
            </a:r>
            <a:endParaRPr sz="800"/>
          </a:p>
        </p:txBody>
      </p:sp>
      <p:sp>
        <p:nvSpPr>
          <p:cNvPr id="22" name="Text 20">
            <a:extLst>
              <a:ext uri="{FF2B5EF4-FFF2-40B4-BE49-F238E27FC236}">
                <a16:creationId xmlns:a16="http://schemas.microsoft.com/office/drawing/2014/main" id="{DF395E92-F661-43E4-B279-247D4D7CBDF8}"/>
              </a:ext>
            </a:extLst>
          </p:cNvPr>
          <p:cNvSpPr>
            <a:spLocks noGrp="1"/>
          </p:cNvSpPr>
          <p:nvPr/>
        </p:nvSpPr>
        <p:spPr>
          <a:xfrm>
            <a:off x="713232" y="2980944"/>
            <a:ext cx="3611880" cy="347472"/>
          </a:xfrm>
          <a:prstGeom prst="rect">
            <a:avLst/>
          </a:prstGeom>
          <a:noFill/>
        </p:spPr>
        <p:txBody>
          <a:bodyPr wrap="square" lIns="0" tIns="0" rIns="0" bIns="0" anchor="ctr"/>
          <a:lstStyle/>
          <a:p>
            <a:pPr marL="0" indent="0">
              <a:buNone/>
            </a:pPr>
            <a:r>
              <a:rPr sz="850" dirty="0">
                <a:solidFill>
                  <a:srgbClr val="1A2638"/>
                </a:solidFill>
              </a:rPr>
              <a:t>MAE: 0.029  </a:t>
            </a:r>
            <a:r>
              <a:rPr lang="en-US" sz="850" dirty="0">
                <a:solidFill>
                  <a:srgbClr val="1A2638"/>
                </a:solidFill>
              </a:rPr>
              <a:t>-&gt;</a:t>
            </a:r>
            <a:r>
              <a:rPr sz="850" dirty="0">
                <a:solidFill>
                  <a:srgbClr val="1A2638"/>
                </a:solidFill>
              </a:rPr>
              <a:t>  0.021</a:t>
            </a:r>
            <a:endParaRPr sz="850" dirty="0"/>
          </a:p>
        </p:txBody>
      </p:sp>
      <p:sp>
        <p:nvSpPr>
          <p:cNvPr id="23" name="Shape 21">
            <a:extLst>
              <a:ext uri="{FF2B5EF4-FFF2-40B4-BE49-F238E27FC236}">
                <a16:creationId xmlns:a16="http://schemas.microsoft.com/office/drawing/2014/main" id="{488D5AAF-075C-4381-8425-C89597170446}"/>
              </a:ext>
            </a:extLst>
          </p:cNvPr>
          <p:cNvSpPr>
            <a:spLocks noGrp="1"/>
          </p:cNvSpPr>
          <p:nvPr/>
        </p:nvSpPr>
        <p:spPr>
          <a:xfrm>
            <a:off x="438912" y="3419856"/>
            <a:ext cx="201168" cy="201168"/>
          </a:xfrm>
          <a:prstGeom prst="rect">
            <a:avLst/>
          </a:prstGeom>
          <a:solidFill>
            <a:srgbClr val="2A9D61"/>
          </a:solidFill>
          <a:ln w="12700">
            <a:solidFill>
              <a:srgbClr val="2A9D61"/>
            </a:solidFill>
            <a:prstDash val="solid"/>
          </a:ln>
        </p:spPr>
      </p:sp>
      <p:sp>
        <p:nvSpPr>
          <p:cNvPr id="24" name="Text 22">
            <a:extLst>
              <a:ext uri="{FF2B5EF4-FFF2-40B4-BE49-F238E27FC236}">
                <a16:creationId xmlns:a16="http://schemas.microsoft.com/office/drawing/2014/main" id="{3E83D27C-B8E2-4DEE-B204-D31E94B3282A}"/>
              </a:ext>
            </a:extLst>
          </p:cNvPr>
          <p:cNvSpPr>
            <a:spLocks noGrp="1"/>
          </p:cNvSpPr>
          <p:nvPr/>
        </p:nvSpPr>
        <p:spPr>
          <a:xfrm>
            <a:off x="438912" y="3419856"/>
            <a:ext cx="201168" cy="201168"/>
          </a:xfrm>
          <a:prstGeom prst="rect">
            <a:avLst/>
          </a:prstGeom>
          <a:noFill/>
        </p:spPr>
        <p:txBody>
          <a:bodyPr wrap="square" lIns="0" tIns="0" rIns="0" bIns="0" anchor="ctr"/>
          <a:lstStyle/>
          <a:p>
            <a:pPr marL="0" indent="0" algn="ctr">
              <a:buNone/>
            </a:pPr>
            <a:r>
              <a:rPr sz="800" b="1">
                <a:solidFill>
                  <a:srgbClr val="FFFFFF"/>
                </a:solidFill>
              </a:rPr>
              <a:t>v</a:t>
            </a:r>
            <a:endParaRPr sz="800"/>
          </a:p>
        </p:txBody>
      </p:sp>
      <p:sp>
        <p:nvSpPr>
          <p:cNvPr id="25" name="Text 23">
            <a:extLst>
              <a:ext uri="{FF2B5EF4-FFF2-40B4-BE49-F238E27FC236}">
                <a16:creationId xmlns:a16="http://schemas.microsoft.com/office/drawing/2014/main" id="{38E3C507-F339-4F2F-954D-39C52FC073E3}"/>
              </a:ext>
            </a:extLst>
          </p:cNvPr>
          <p:cNvSpPr>
            <a:spLocks noGrp="1"/>
          </p:cNvSpPr>
          <p:nvPr/>
        </p:nvSpPr>
        <p:spPr>
          <a:xfrm>
            <a:off x="713232" y="3383280"/>
            <a:ext cx="3611880" cy="347472"/>
          </a:xfrm>
          <a:prstGeom prst="rect">
            <a:avLst/>
          </a:prstGeom>
          <a:noFill/>
        </p:spPr>
        <p:txBody>
          <a:bodyPr wrap="square" lIns="0" tIns="0" rIns="0" bIns="0" anchor="ctr"/>
          <a:lstStyle/>
          <a:p>
            <a:pPr marL="0" indent="0">
              <a:buNone/>
            </a:pPr>
            <a:r>
              <a:rPr sz="850" dirty="0">
                <a:solidFill>
                  <a:srgbClr val="1A2638"/>
                </a:solidFill>
              </a:rPr>
              <a:t>RMSE: 0.111  </a:t>
            </a:r>
            <a:r>
              <a:rPr lang="en-US" sz="850" dirty="0">
                <a:solidFill>
                  <a:srgbClr val="1A2638"/>
                </a:solidFill>
              </a:rPr>
              <a:t>-&gt;</a:t>
            </a:r>
            <a:r>
              <a:rPr sz="850" dirty="0">
                <a:solidFill>
                  <a:srgbClr val="1A2638"/>
                </a:solidFill>
              </a:rPr>
              <a:t>  0.111</a:t>
            </a:r>
            <a:endParaRPr sz="850" dirty="0"/>
          </a:p>
        </p:txBody>
      </p:sp>
      <p:sp>
        <p:nvSpPr>
          <p:cNvPr id="26" name="Shape 24">
            <a:extLst>
              <a:ext uri="{FF2B5EF4-FFF2-40B4-BE49-F238E27FC236}">
                <a16:creationId xmlns:a16="http://schemas.microsoft.com/office/drawing/2014/main" id="{08C68075-9284-4574-87C1-08DABFEF76DE}"/>
              </a:ext>
            </a:extLst>
          </p:cNvPr>
          <p:cNvSpPr>
            <a:spLocks noGrp="1"/>
          </p:cNvSpPr>
          <p:nvPr/>
        </p:nvSpPr>
        <p:spPr>
          <a:xfrm>
            <a:off x="438912" y="3822192"/>
            <a:ext cx="201168" cy="201168"/>
          </a:xfrm>
          <a:prstGeom prst="rect">
            <a:avLst/>
          </a:prstGeom>
          <a:solidFill>
            <a:srgbClr val="2A9D61"/>
          </a:solidFill>
          <a:ln w="12700">
            <a:solidFill>
              <a:srgbClr val="2A9D61"/>
            </a:solidFill>
            <a:prstDash val="solid"/>
          </a:ln>
        </p:spPr>
      </p:sp>
      <p:sp>
        <p:nvSpPr>
          <p:cNvPr id="27" name="Text 25">
            <a:extLst>
              <a:ext uri="{FF2B5EF4-FFF2-40B4-BE49-F238E27FC236}">
                <a16:creationId xmlns:a16="http://schemas.microsoft.com/office/drawing/2014/main" id="{E6782FB0-9CF8-4988-961D-609E903C78A1}"/>
              </a:ext>
            </a:extLst>
          </p:cNvPr>
          <p:cNvSpPr>
            <a:spLocks noGrp="1"/>
          </p:cNvSpPr>
          <p:nvPr/>
        </p:nvSpPr>
        <p:spPr>
          <a:xfrm>
            <a:off x="438912" y="3822192"/>
            <a:ext cx="201168" cy="201168"/>
          </a:xfrm>
          <a:prstGeom prst="rect">
            <a:avLst/>
          </a:prstGeom>
          <a:noFill/>
        </p:spPr>
        <p:txBody>
          <a:bodyPr wrap="square" lIns="0" tIns="0" rIns="0" bIns="0" anchor="ctr"/>
          <a:lstStyle/>
          <a:p>
            <a:pPr marL="0" indent="0" algn="ctr">
              <a:buNone/>
            </a:pPr>
            <a:r>
              <a:rPr sz="800" b="1">
                <a:solidFill>
                  <a:srgbClr val="FFFFFF"/>
                </a:solidFill>
              </a:rPr>
              <a:t>v</a:t>
            </a:r>
            <a:endParaRPr sz="800"/>
          </a:p>
        </p:txBody>
      </p:sp>
      <p:sp>
        <p:nvSpPr>
          <p:cNvPr id="28" name="Text 26">
            <a:extLst>
              <a:ext uri="{FF2B5EF4-FFF2-40B4-BE49-F238E27FC236}">
                <a16:creationId xmlns:a16="http://schemas.microsoft.com/office/drawing/2014/main" id="{70F27152-BCAD-46B7-826B-959E39FABFED}"/>
              </a:ext>
            </a:extLst>
          </p:cNvPr>
          <p:cNvSpPr>
            <a:spLocks noGrp="1"/>
          </p:cNvSpPr>
          <p:nvPr/>
        </p:nvSpPr>
        <p:spPr>
          <a:xfrm>
            <a:off x="713232" y="3785616"/>
            <a:ext cx="3611880" cy="347472"/>
          </a:xfrm>
          <a:prstGeom prst="rect">
            <a:avLst/>
          </a:prstGeom>
          <a:noFill/>
        </p:spPr>
        <p:txBody>
          <a:bodyPr wrap="square" lIns="0" tIns="0" rIns="0" bIns="0" anchor="ctr"/>
          <a:lstStyle/>
          <a:p>
            <a:pPr marL="0" indent="0">
              <a:buNone/>
            </a:pPr>
            <a:r>
              <a:rPr sz="850" dirty="0">
                <a:solidFill>
                  <a:srgbClr val="1A2638"/>
                </a:solidFill>
              </a:rPr>
              <a:t>Capture@20%: 0.482  </a:t>
            </a:r>
            <a:r>
              <a:rPr lang="en-US" sz="850" dirty="0">
                <a:solidFill>
                  <a:srgbClr val="1A2638"/>
                </a:solidFill>
              </a:rPr>
              <a:t>-&gt;</a:t>
            </a:r>
            <a:r>
              <a:rPr sz="850" dirty="0">
                <a:solidFill>
                  <a:srgbClr val="1A2638"/>
                </a:solidFill>
              </a:rPr>
              <a:t>  0.500</a:t>
            </a:r>
            <a:endParaRPr sz="850" dirty="0"/>
          </a:p>
        </p:txBody>
      </p:sp>
      <p:sp>
        <p:nvSpPr>
          <p:cNvPr id="29" name="Shape 27">
            <a:extLst>
              <a:ext uri="{FF2B5EF4-FFF2-40B4-BE49-F238E27FC236}">
                <a16:creationId xmlns:a16="http://schemas.microsoft.com/office/drawing/2014/main" id="{6FE7194F-DD64-44E7-98A2-9C4D403266C2}"/>
              </a:ext>
            </a:extLst>
          </p:cNvPr>
          <p:cNvSpPr>
            <a:spLocks noGrp="1"/>
          </p:cNvSpPr>
          <p:nvPr/>
        </p:nvSpPr>
        <p:spPr>
          <a:xfrm>
            <a:off x="438912" y="4224528"/>
            <a:ext cx="201168" cy="201168"/>
          </a:xfrm>
          <a:prstGeom prst="rect">
            <a:avLst/>
          </a:prstGeom>
          <a:solidFill>
            <a:srgbClr val="2A9D61"/>
          </a:solidFill>
          <a:ln w="12700">
            <a:solidFill>
              <a:srgbClr val="2A9D61"/>
            </a:solidFill>
            <a:prstDash val="solid"/>
          </a:ln>
        </p:spPr>
      </p:sp>
      <p:sp>
        <p:nvSpPr>
          <p:cNvPr id="30" name="Text 28">
            <a:extLst>
              <a:ext uri="{FF2B5EF4-FFF2-40B4-BE49-F238E27FC236}">
                <a16:creationId xmlns:a16="http://schemas.microsoft.com/office/drawing/2014/main" id="{6BF79431-F44F-4E26-8B43-6D69C49965C2}"/>
              </a:ext>
            </a:extLst>
          </p:cNvPr>
          <p:cNvSpPr>
            <a:spLocks noGrp="1"/>
          </p:cNvSpPr>
          <p:nvPr/>
        </p:nvSpPr>
        <p:spPr>
          <a:xfrm>
            <a:off x="438912" y="4224528"/>
            <a:ext cx="201168" cy="201168"/>
          </a:xfrm>
          <a:prstGeom prst="rect">
            <a:avLst/>
          </a:prstGeom>
          <a:noFill/>
        </p:spPr>
        <p:txBody>
          <a:bodyPr wrap="square" lIns="0" tIns="0" rIns="0" bIns="0" anchor="ctr"/>
          <a:lstStyle/>
          <a:p>
            <a:pPr marL="0" indent="0" algn="ctr">
              <a:buNone/>
            </a:pPr>
            <a:r>
              <a:rPr sz="800" b="1">
                <a:solidFill>
                  <a:srgbClr val="FFFFFF"/>
                </a:solidFill>
              </a:rPr>
              <a:t>v</a:t>
            </a:r>
            <a:endParaRPr sz="800"/>
          </a:p>
        </p:txBody>
      </p:sp>
      <p:sp>
        <p:nvSpPr>
          <p:cNvPr id="31" name="Text 29">
            <a:extLst>
              <a:ext uri="{FF2B5EF4-FFF2-40B4-BE49-F238E27FC236}">
                <a16:creationId xmlns:a16="http://schemas.microsoft.com/office/drawing/2014/main" id="{234F4672-94F5-40EC-848A-2B04CEEC2D52}"/>
              </a:ext>
            </a:extLst>
          </p:cNvPr>
          <p:cNvSpPr>
            <a:spLocks noGrp="1"/>
          </p:cNvSpPr>
          <p:nvPr/>
        </p:nvSpPr>
        <p:spPr>
          <a:xfrm>
            <a:off x="713232" y="4187952"/>
            <a:ext cx="3611880" cy="347472"/>
          </a:xfrm>
          <a:prstGeom prst="rect">
            <a:avLst/>
          </a:prstGeom>
          <a:noFill/>
        </p:spPr>
        <p:txBody>
          <a:bodyPr wrap="square" lIns="0" tIns="0" rIns="0" bIns="0" anchor="ctr"/>
          <a:lstStyle/>
          <a:p>
            <a:pPr marL="0" indent="0">
              <a:buNone/>
            </a:pPr>
            <a:r>
              <a:rPr sz="850">
                <a:solidFill>
                  <a:srgbClr val="1A2638"/>
                </a:solidFill>
              </a:rPr>
              <a:t>Final temporal test: T=2022–2024; outcomes in T+1.</a:t>
            </a:r>
            <a:endParaRPr sz="850"/>
          </a:p>
        </p:txBody>
      </p:sp>
      <p:sp>
        <p:nvSpPr>
          <p:cNvPr id="32" name="Shape 30">
            <a:extLst>
              <a:ext uri="{FF2B5EF4-FFF2-40B4-BE49-F238E27FC236}">
                <a16:creationId xmlns:a16="http://schemas.microsoft.com/office/drawing/2014/main" id="{8CFE47B9-6214-49BF-BAB5-E46AF5D658EC}"/>
              </a:ext>
            </a:extLst>
          </p:cNvPr>
          <p:cNvSpPr>
            <a:spLocks noGrp="1"/>
          </p:cNvSpPr>
          <p:nvPr/>
        </p:nvSpPr>
        <p:spPr>
          <a:xfrm>
            <a:off x="4709160" y="1298448"/>
            <a:ext cx="4160520" cy="3291840"/>
          </a:xfrm>
          <a:prstGeom prst="rect">
            <a:avLst/>
          </a:prstGeom>
          <a:solidFill>
            <a:srgbClr val="FFFFFF"/>
          </a:solidFill>
          <a:ln w="12700">
            <a:solidFill>
              <a:srgbClr val="E1E8EF"/>
            </a:solidFill>
            <a:prstDash val="solid"/>
          </a:ln>
          <a:effectLst>
            <a:outerShdw blurRad="101600" dist="38100" dir="8100000" algn="bl" rotWithShape="0">
              <a:srgbClr val="000000">
                <a:alpha val="10000"/>
              </a:srgbClr>
            </a:outerShdw>
          </a:effectLst>
        </p:spPr>
      </p:sp>
      <p:sp>
        <p:nvSpPr>
          <p:cNvPr id="33" name="Shape 31">
            <a:extLst>
              <a:ext uri="{FF2B5EF4-FFF2-40B4-BE49-F238E27FC236}">
                <a16:creationId xmlns:a16="http://schemas.microsoft.com/office/drawing/2014/main" id="{A8D64D74-58C5-46B8-81B3-038E3D611275}"/>
              </a:ext>
            </a:extLst>
          </p:cNvPr>
          <p:cNvSpPr>
            <a:spLocks noGrp="1"/>
          </p:cNvSpPr>
          <p:nvPr/>
        </p:nvSpPr>
        <p:spPr>
          <a:xfrm>
            <a:off x="4709160" y="1298448"/>
            <a:ext cx="4160520" cy="384048"/>
          </a:xfrm>
          <a:prstGeom prst="rect">
            <a:avLst/>
          </a:prstGeom>
          <a:solidFill>
            <a:srgbClr val="1E3A50"/>
          </a:solidFill>
          <a:ln w="12700">
            <a:solidFill>
              <a:srgbClr val="1E3A50"/>
            </a:solidFill>
            <a:prstDash val="solid"/>
          </a:ln>
        </p:spPr>
      </p:sp>
      <p:sp>
        <p:nvSpPr>
          <p:cNvPr id="34" name="Text 32">
            <a:extLst>
              <a:ext uri="{FF2B5EF4-FFF2-40B4-BE49-F238E27FC236}">
                <a16:creationId xmlns:a16="http://schemas.microsoft.com/office/drawing/2014/main" id="{94210AFE-3DED-4395-AC76-61EA6433B9A0}"/>
              </a:ext>
            </a:extLst>
          </p:cNvPr>
          <p:cNvSpPr>
            <a:spLocks noGrp="1"/>
          </p:cNvSpPr>
          <p:nvPr/>
        </p:nvSpPr>
        <p:spPr>
          <a:xfrm>
            <a:off x="4709160" y="1298448"/>
            <a:ext cx="4160520" cy="384048"/>
          </a:xfrm>
          <a:prstGeom prst="rect">
            <a:avLst/>
          </a:prstGeom>
          <a:noFill/>
        </p:spPr>
        <p:txBody>
          <a:bodyPr wrap="square" lIns="0" tIns="0" rIns="0" bIns="0" anchor="ctr"/>
          <a:lstStyle/>
          <a:p>
            <a:pPr marL="0" indent="0" algn="ctr">
              <a:buNone/>
            </a:pPr>
            <a:r>
              <a:rPr sz="1000" b="1">
                <a:solidFill>
                  <a:srgbClr val="FFFFFF"/>
                </a:solidFill>
              </a:rPr>
              <a:t>HOW TO READ IT</a:t>
            </a:r>
            <a:endParaRPr sz="1000"/>
          </a:p>
        </p:txBody>
      </p:sp>
      <p:sp>
        <p:nvSpPr>
          <p:cNvPr id="35" name="Text 33">
            <a:extLst>
              <a:ext uri="{FF2B5EF4-FFF2-40B4-BE49-F238E27FC236}">
                <a16:creationId xmlns:a16="http://schemas.microsoft.com/office/drawing/2014/main" id="{7D1E2215-4749-4102-8766-0EF9CB908835}"/>
              </a:ext>
            </a:extLst>
          </p:cNvPr>
          <p:cNvSpPr>
            <a:spLocks noGrp="1"/>
          </p:cNvSpPr>
          <p:nvPr/>
        </p:nvSpPr>
        <p:spPr>
          <a:xfrm>
            <a:off x="4873752" y="1755648"/>
            <a:ext cx="3886200" cy="256032"/>
          </a:xfrm>
          <a:prstGeom prst="rect">
            <a:avLst/>
          </a:prstGeom>
          <a:noFill/>
        </p:spPr>
        <p:txBody>
          <a:bodyPr wrap="square" lIns="0" tIns="0" rIns="0" bIns="0" anchor="ctr"/>
          <a:lstStyle/>
          <a:p>
            <a:pPr marL="0" indent="0">
              <a:buNone/>
            </a:pPr>
            <a:r>
              <a:rPr sz="800" b="1">
                <a:solidFill>
                  <a:srgbClr val="5B6880"/>
                </a:solidFill>
              </a:rPr>
              <a:t>Technical</a:t>
            </a:r>
            <a:endParaRPr sz="800"/>
          </a:p>
        </p:txBody>
      </p:sp>
      <p:sp>
        <p:nvSpPr>
          <p:cNvPr id="36" name="Shape 34">
            <a:extLst>
              <a:ext uri="{FF2B5EF4-FFF2-40B4-BE49-F238E27FC236}">
                <a16:creationId xmlns:a16="http://schemas.microsoft.com/office/drawing/2014/main" id="{E9765024-23F7-4BAD-82E2-D0944ECD817D}"/>
              </a:ext>
            </a:extLst>
          </p:cNvPr>
          <p:cNvSpPr>
            <a:spLocks noGrp="1"/>
          </p:cNvSpPr>
          <p:nvPr/>
        </p:nvSpPr>
        <p:spPr>
          <a:xfrm>
            <a:off x="4873752" y="2093976"/>
            <a:ext cx="164592" cy="164592"/>
          </a:xfrm>
          <a:prstGeom prst="rect">
            <a:avLst/>
          </a:prstGeom>
          <a:solidFill>
            <a:srgbClr val="2E6DB4"/>
          </a:solidFill>
          <a:ln w="12700">
            <a:solidFill>
              <a:srgbClr val="2E6DB4"/>
            </a:solidFill>
            <a:prstDash val="solid"/>
          </a:ln>
        </p:spPr>
      </p:sp>
      <p:sp>
        <p:nvSpPr>
          <p:cNvPr id="37" name="Text 35">
            <a:extLst>
              <a:ext uri="{FF2B5EF4-FFF2-40B4-BE49-F238E27FC236}">
                <a16:creationId xmlns:a16="http://schemas.microsoft.com/office/drawing/2014/main" id="{3DB21FEE-311F-4CB4-9BB7-CEE277DD9E7E}"/>
              </a:ext>
            </a:extLst>
          </p:cNvPr>
          <p:cNvSpPr>
            <a:spLocks noGrp="1"/>
          </p:cNvSpPr>
          <p:nvPr/>
        </p:nvSpPr>
        <p:spPr>
          <a:xfrm>
            <a:off x="4873752" y="2093976"/>
            <a:ext cx="164592" cy="164592"/>
          </a:xfrm>
          <a:prstGeom prst="rect">
            <a:avLst/>
          </a:prstGeom>
          <a:noFill/>
        </p:spPr>
        <p:txBody>
          <a:bodyPr wrap="square" lIns="0" tIns="0" rIns="0" bIns="0" anchor="ctr"/>
          <a:lstStyle/>
          <a:p>
            <a:pPr marL="0" indent="0" algn="ctr">
              <a:buNone/>
            </a:pPr>
            <a:r>
              <a:rPr sz="700" b="1">
                <a:solidFill>
                  <a:srgbClr val="FFFFFF"/>
                </a:solidFill>
              </a:rPr>
              <a:t>v</a:t>
            </a:r>
            <a:endParaRPr sz="700"/>
          </a:p>
        </p:txBody>
      </p:sp>
      <p:sp>
        <p:nvSpPr>
          <p:cNvPr id="38" name="Text 36">
            <a:extLst>
              <a:ext uri="{FF2B5EF4-FFF2-40B4-BE49-F238E27FC236}">
                <a16:creationId xmlns:a16="http://schemas.microsoft.com/office/drawing/2014/main" id="{EC831CFF-D119-4E88-B1D0-71E2982079DD}"/>
              </a:ext>
            </a:extLst>
          </p:cNvPr>
          <p:cNvSpPr>
            <a:spLocks noGrp="1"/>
          </p:cNvSpPr>
          <p:nvPr/>
        </p:nvSpPr>
        <p:spPr>
          <a:xfrm>
            <a:off x="5111496" y="2048256"/>
            <a:ext cx="3648456" cy="320040"/>
          </a:xfrm>
          <a:prstGeom prst="rect">
            <a:avLst/>
          </a:prstGeom>
          <a:noFill/>
        </p:spPr>
        <p:txBody>
          <a:bodyPr wrap="square" lIns="0" tIns="0" rIns="0" bIns="0" anchor="ctr"/>
          <a:lstStyle/>
          <a:p>
            <a:pPr marL="0" indent="0">
              <a:buNone/>
            </a:pPr>
            <a:r>
              <a:rPr sz="800">
                <a:solidFill>
                  <a:srgbClr val="1A2638"/>
                </a:solidFill>
              </a:rPr>
              <a:t>MAE is average error in burned-share units; lower is better.</a:t>
            </a:r>
            <a:endParaRPr sz="800"/>
          </a:p>
        </p:txBody>
      </p:sp>
      <p:sp>
        <p:nvSpPr>
          <p:cNvPr id="39" name="Shape 37">
            <a:extLst>
              <a:ext uri="{FF2B5EF4-FFF2-40B4-BE49-F238E27FC236}">
                <a16:creationId xmlns:a16="http://schemas.microsoft.com/office/drawing/2014/main" id="{6E8C027E-8773-4500-B33B-62E87DB5F217}"/>
              </a:ext>
            </a:extLst>
          </p:cNvPr>
          <p:cNvSpPr>
            <a:spLocks noGrp="1"/>
          </p:cNvSpPr>
          <p:nvPr/>
        </p:nvSpPr>
        <p:spPr>
          <a:xfrm>
            <a:off x="4873752" y="2441448"/>
            <a:ext cx="164592" cy="164592"/>
          </a:xfrm>
          <a:prstGeom prst="rect">
            <a:avLst/>
          </a:prstGeom>
          <a:solidFill>
            <a:srgbClr val="2E6DB4"/>
          </a:solidFill>
          <a:ln w="12700">
            <a:solidFill>
              <a:srgbClr val="2E6DB4"/>
            </a:solidFill>
            <a:prstDash val="solid"/>
          </a:ln>
        </p:spPr>
      </p:sp>
      <p:sp>
        <p:nvSpPr>
          <p:cNvPr id="40" name="Text 38">
            <a:extLst>
              <a:ext uri="{FF2B5EF4-FFF2-40B4-BE49-F238E27FC236}">
                <a16:creationId xmlns:a16="http://schemas.microsoft.com/office/drawing/2014/main" id="{60AA1538-DD26-48A4-801E-5B50EDDC6EF9}"/>
              </a:ext>
            </a:extLst>
          </p:cNvPr>
          <p:cNvSpPr>
            <a:spLocks noGrp="1"/>
          </p:cNvSpPr>
          <p:nvPr/>
        </p:nvSpPr>
        <p:spPr>
          <a:xfrm>
            <a:off x="4873752" y="2441448"/>
            <a:ext cx="164592" cy="164592"/>
          </a:xfrm>
          <a:prstGeom prst="rect">
            <a:avLst/>
          </a:prstGeom>
          <a:noFill/>
        </p:spPr>
        <p:txBody>
          <a:bodyPr wrap="square" lIns="0" tIns="0" rIns="0" bIns="0" anchor="ctr"/>
          <a:lstStyle/>
          <a:p>
            <a:pPr marL="0" indent="0" algn="ctr">
              <a:buNone/>
            </a:pPr>
            <a:r>
              <a:rPr sz="700" b="1">
                <a:solidFill>
                  <a:srgbClr val="FFFFFF"/>
                </a:solidFill>
              </a:rPr>
              <a:t>v</a:t>
            </a:r>
            <a:endParaRPr sz="700"/>
          </a:p>
        </p:txBody>
      </p:sp>
      <p:sp>
        <p:nvSpPr>
          <p:cNvPr id="41" name="Text 39">
            <a:extLst>
              <a:ext uri="{FF2B5EF4-FFF2-40B4-BE49-F238E27FC236}">
                <a16:creationId xmlns:a16="http://schemas.microsoft.com/office/drawing/2014/main" id="{AB334C3D-7F39-4FE7-B95B-21588560F91A}"/>
              </a:ext>
            </a:extLst>
          </p:cNvPr>
          <p:cNvSpPr>
            <a:spLocks noGrp="1"/>
          </p:cNvSpPr>
          <p:nvPr/>
        </p:nvSpPr>
        <p:spPr>
          <a:xfrm>
            <a:off x="5111496" y="2395728"/>
            <a:ext cx="3648456" cy="320040"/>
          </a:xfrm>
          <a:prstGeom prst="rect">
            <a:avLst/>
          </a:prstGeom>
          <a:noFill/>
        </p:spPr>
        <p:txBody>
          <a:bodyPr wrap="square" lIns="0" tIns="0" rIns="0" bIns="0" anchor="ctr"/>
          <a:lstStyle/>
          <a:p>
            <a:pPr marL="0" indent="0">
              <a:buNone/>
            </a:pPr>
            <a:r>
              <a:rPr sz="800" dirty="0">
                <a:solidFill>
                  <a:srgbClr val="1A2638"/>
                </a:solidFill>
              </a:rPr>
              <a:t>RMSE gives more weight to larger errors; lower is better.</a:t>
            </a:r>
            <a:endParaRPr sz="800" dirty="0"/>
          </a:p>
        </p:txBody>
      </p:sp>
      <p:sp>
        <p:nvSpPr>
          <p:cNvPr id="42" name="Shape 40">
            <a:extLst>
              <a:ext uri="{FF2B5EF4-FFF2-40B4-BE49-F238E27FC236}">
                <a16:creationId xmlns:a16="http://schemas.microsoft.com/office/drawing/2014/main" id="{EB1A818B-27E2-4AC9-A7A5-A37B13D81AEE}"/>
              </a:ext>
            </a:extLst>
          </p:cNvPr>
          <p:cNvSpPr>
            <a:spLocks noGrp="1"/>
          </p:cNvSpPr>
          <p:nvPr/>
        </p:nvSpPr>
        <p:spPr>
          <a:xfrm>
            <a:off x="4873752" y="2788920"/>
            <a:ext cx="164592" cy="164592"/>
          </a:xfrm>
          <a:prstGeom prst="rect">
            <a:avLst/>
          </a:prstGeom>
          <a:solidFill>
            <a:srgbClr val="2E6DB4"/>
          </a:solidFill>
          <a:ln w="12700">
            <a:solidFill>
              <a:srgbClr val="2E6DB4"/>
            </a:solidFill>
            <a:prstDash val="solid"/>
          </a:ln>
        </p:spPr>
      </p:sp>
      <p:sp>
        <p:nvSpPr>
          <p:cNvPr id="43" name="Text 41">
            <a:extLst>
              <a:ext uri="{FF2B5EF4-FFF2-40B4-BE49-F238E27FC236}">
                <a16:creationId xmlns:a16="http://schemas.microsoft.com/office/drawing/2014/main" id="{C9A0C132-E061-47E9-86DA-C56EBC4FE862}"/>
              </a:ext>
            </a:extLst>
          </p:cNvPr>
          <p:cNvSpPr>
            <a:spLocks noGrp="1"/>
          </p:cNvSpPr>
          <p:nvPr/>
        </p:nvSpPr>
        <p:spPr>
          <a:xfrm>
            <a:off x="4873752" y="2788920"/>
            <a:ext cx="164592" cy="164592"/>
          </a:xfrm>
          <a:prstGeom prst="rect">
            <a:avLst/>
          </a:prstGeom>
          <a:noFill/>
        </p:spPr>
        <p:txBody>
          <a:bodyPr wrap="square" lIns="0" tIns="0" rIns="0" bIns="0" anchor="ctr"/>
          <a:lstStyle/>
          <a:p>
            <a:pPr marL="0" indent="0" algn="ctr">
              <a:buNone/>
            </a:pPr>
            <a:r>
              <a:rPr sz="700" b="1">
                <a:solidFill>
                  <a:srgbClr val="FFFFFF"/>
                </a:solidFill>
              </a:rPr>
              <a:t>v</a:t>
            </a:r>
            <a:endParaRPr sz="700"/>
          </a:p>
        </p:txBody>
      </p:sp>
      <p:sp>
        <p:nvSpPr>
          <p:cNvPr id="44" name="Text 42">
            <a:extLst>
              <a:ext uri="{FF2B5EF4-FFF2-40B4-BE49-F238E27FC236}">
                <a16:creationId xmlns:a16="http://schemas.microsoft.com/office/drawing/2014/main" id="{A498733C-FEFE-442D-BBCC-FBAA98860A46}"/>
              </a:ext>
            </a:extLst>
          </p:cNvPr>
          <p:cNvSpPr>
            <a:spLocks noGrp="1"/>
          </p:cNvSpPr>
          <p:nvPr/>
        </p:nvSpPr>
        <p:spPr>
          <a:xfrm>
            <a:off x="5111496" y="2743200"/>
            <a:ext cx="3648456" cy="320040"/>
          </a:xfrm>
          <a:prstGeom prst="rect">
            <a:avLst/>
          </a:prstGeom>
          <a:noFill/>
        </p:spPr>
        <p:txBody>
          <a:bodyPr wrap="square" lIns="0" tIns="0" rIns="0" bIns="0" anchor="ctr"/>
          <a:lstStyle/>
          <a:p>
            <a:pPr marL="0" indent="0">
              <a:buNone/>
            </a:pPr>
            <a:r>
              <a:rPr sz="800">
                <a:solidFill>
                  <a:srgbClr val="1A2638"/>
                </a:solidFill>
              </a:rPr>
              <a:t>Capture@20% is the share of observed burned share found among the 20% highest-scored cells.</a:t>
            </a:r>
            <a:endParaRPr sz="800"/>
          </a:p>
        </p:txBody>
      </p:sp>
      <p:sp>
        <p:nvSpPr>
          <p:cNvPr id="45" name="Text 43">
            <a:extLst>
              <a:ext uri="{FF2B5EF4-FFF2-40B4-BE49-F238E27FC236}">
                <a16:creationId xmlns:a16="http://schemas.microsoft.com/office/drawing/2014/main" id="{2261A078-89E7-4EDE-AF5A-975F083F6C40}"/>
              </a:ext>
            </a:extLst>
          </p:cNvPr>
          <p:cNvSpPr>
            <a:spLocks noGrp="1"/>
          </p:cNvSpPr>
          <p:nvPr/>
        </p:nvSpPr>
        <p:spPr>
          <a:xfrm>
            <a:off x="4873752" y="3127248"/>
            <a:ext cx="3886200" cy="256032"/>
          </a:xfrm>
          <a:prstGeom prst="rect">
            <a:avLst/>
          </a:prstGeom>
          <a:noFill/>
        </p:spPr>
        <p:txBody>
          <a:bodyPr wrap="square" lIns="0" tIns="0" rIns="0" bIns="0" anchor="ctr"/>
          <a:lstStyle/>
          <a:p>
            <a:pPr marL="0" indent="0">
              <a:buNone/>
            </a:pPr>
            <a:r>
              <a:rPr sz="800" b="1">
                <a:solidFill>
                  <a:srgbClr val="5B6880"/>
                </a:solidFill>
              </a:rPr>
              <a:t>Delivery Tips</a:t>
            </a:r>
            <a:endParaRPr sz="800"/>
          </a:p>
        </p:txBody>
      </p:sp>
      <p:sp>
        <p:nvSpPr>
          <p:cNvPr id="46" name="Text 44">
            <a:extLst>
              <a:ext uri="{FF2B5EF4-FFF2-40B4-BE49-F238E27FC236}">
                <a16:creationId xmlns:a16="http://schemas.microsoft.com/office/drawing/2014/main" id="{878FBAF7-6DD0-4D72-8C29-5EBD1F7FB714}"/>
              </a:ext>
            </a:extLst>
          </p:cNvPr>
          <p:cNvSpPr>
            <a:spLocks noGrp="1"/>
          </p:cNvSpPr>
          <p:nvPr/>
        </p:nvSpPr>
        <p:spPr>
          <a:xfrm>
            <a:off x="4873752" y="3401568"/>
            <a:ext cx="3886200" cy="237744"/>
          </a:xfrm>
          <a:prstGeom prst="rect">
            <a:avLst/>
          </a:prstGeom>
          <a:noFill/>
        </p:spPr>
        <p:txBody>
          <a:bodyPr wrap="square" lIns="0" tIns="0" rIns="0" bIns="0" anchor="ctr"/>
          <a:lstStyle/>
          <a:p>
            <a:pPr marL="0" indent="0">
              <a:buNone/>
            </a:pPr>
            <a:r>
              <a:rPr sz="750" b="1" dirty="0">
                <a:solidFill>
                  <a:srgbClr val="E8A020"/>
                </a:solidFill>
              </a:rPr>
              <a:t>It is a ranking diagnostic, not a buyer threshold.</a:t>
            </a:r>
            <a:endParaRPr sz="750" dirty="0"/>
          </a:p>
        </p:txBody>
      </p:sp>
      <p:sp>
        <p:nvSpPr>
          <p:cNvPr id="47" name="Text 45">
            <a:extLst>
              <a:ext uri="{FF2B5EF4-FFF2-40B4-BE49-F238E27FC236}">
                <a16:creationId xmlns:a16="http://schemas.microsoft.com/office/drawing/2014/main" id="{F3852103-32CC-4EA7-912B-BBCD278D546F}"/>
              </a:ext>
            </a:extLst>
          </p:cNvPr>
          <p:cNvSpPr>
            <a:spLocks noGrp="1"/>
          </p:cNvSpPr>
          <p:nvPr/>
        </p:nvSpPr>
        <p:spPr>
          <a:xfrm>
            <a:off x="4873752" y="3630168"/>
            <a:ext cx="3886200" cy="237744"/>
          </a:xfrm>
          <a:prstGeom prst="rect">
            <a:avLst/>
          </a:prstGeom>
          <a:noFill/>
        </p:spPr>
        <p:txBody>
          <a:bodyPr wrap="square" lIns="0" tIns="0" rIns="0" bIns="0" anchor="ctr"/>
          <a:lstStyle/>
          <a:p>
            <a:pPr marL="0" indent="0">
              <a:buNone/>
            </a:pPr>
            <a:r>
              <a:rPr sz="750" b="1">
                <a:solidFill>
                  <a:srgbClr val="E8A020"/>
                </a:solidFill>
              </a:rPr>
              <a:t>The model improves selected comparisons, but extreme fire years remain difficult.</a:t>
            </a:r>
            <a:endParaRPr sz="750"/>
          </a:p>
        </p:txBody>
      </p:sp>
      <p:sp>
        <p:nvSpPr>
          <p:cNvPr id="48" name="Text 46">
            <a:extLst>
              <a:ext uri="{FF2B5EF4-FFF2-40B4-BE49-F238E27FC236}">
                <a16:creationId xmlns:a16="http://schemas.microsoft.com/office/drawing/2014/main" id="{2967BB4C-17C8-44CC-8349-2DF3F492CC1E}"/>
              </a:ext>
            </a:extLst>
          </p:cNvPr>
          <p:cNvSpPr>
            <a:spLocks noGrp="1"/>
          </p:cNvSpPr>
          <p:nvPr/>
        </p:nvSpPr>
        <p:spPr>
          <a:xfrm>
            <a:off x="4873752" y="3858768"/>
            <a:ext cx="3886200" cy="237744"/>
          </a:xfrm>
          <a:prstGeom prst="rect">
            <a:avLst/>
          </a:prstGeom>
          <a:noFill/>
        </p:spPr>
        <p:txBody>
          <a:bodyPr wrap="square" lIns="0" tIns="0" rIns="0" bIns="0" anchor="ctr"/>
          <a:lstStyle/>
          <a:p>
            <a:pPr marL="0" indent="0">
              <a:buNone/>
            </a:pPr>
            <a:r>
              <a:rPr sz="750" b="1">
                <a:solidFill>
                  <a:srgbClr val="E8A020"/>
                </a:solidFill>
              </a:rPr>
              <a:t>The target is continuous burned share: burned land area divided by cell land area.</a:t>
            </a:r>
            <a:endParaRPr sz="750"/>
          </a:p>
        </p:txBody>
      </p:sp>
      <p:sp>
        <p:nvSpPr>
          <p:cNvPr id="49" name="Text 47">
            <a:extLst>
              <a:ext uri="{FF2B5EF4-FFF2-40B4-BE49-F238E27FC236}">
                <a16:creationId xmlns:a16="http://schemas.microsoft.com/office/drawing/2014/main" id="{DF4EBCB9-CEB0-41F1-802C-53DA0FCDC1F9}"/>
              </a:ext>
            </a:extLst>
          </p:cNvPr>
          <p:cNvSpPr>
            <a:spLocks noGrp="1"/>
          </p:cNvSpPr>
          <p:nvPr/>
        </p:nvSpPr>
        <p:spPr>
          <a:xfrm>
            <a:off x="4873752" y="4087368"/>
            <a:ext cx="3886200" cy="237744"/>
          </a:xfrm>
          <a:prstGeom prst="rect">
            <a:avLst/>
          </a:prstGeom>
          <a:noFill/>
        </p:spPr>
        <p:txBody>
          <a:bodyPr wrap="square" lIns="0" tIns="0" rIns="0" bIns="0" anchor="ctr"/>
          <a:lstStyle/>
          <a:p>
            <a:pPr marL="0" indent="0">
              <a:buNone/>
            </a:pPr>
            <a:r>
              <a:rPr sz="750" b="1">
                <a:solidFill>
                  <a:srgbClr val="E8A020"/>
                </a:solidFill>
              </a:rPr>
              <a:t>The nine-feature model uses a two-part regression for the zero-heavy target.</a:t>
            </a:r>
            <a:endParaRPr sz="750"/>
          </a:p>
        </p:txBody>
      </p:sp>
      <p:sp>
        <p:nvSpPr>
          <p:cNvPr id="50" name="Text 48">
            <a:extLst>
              <a:ext uri="{FF2B5EF4-FFF2-40B4-BE49-F238E27FC236}">
                <a16:creationId xmlns:a16="http://schemas.microsoft.com/office/drawing/2014/main" id="{65D5A184-9B2C-4B10-B5DC-1A3F3D8E2894}"/>
              </a:ext>
            </a:extLst>
          </p:cNvPr>
          <p:cNvSpPr>
            <a:spLocks noGrp="1"/>
          </p:cNvSpPr>
          <p:nvPr/>
        </p:nvSpPr>
        <p:spPr>
          <a:xfrm>
            <a:off x="4873752" y="4315968"/>
            <a:ext cx="3886200" cy="237744"/>
          </a:xfrm>
          <a:prstGeom prst="rect">
            <a:avLst/>
          </a:prstGeom>
          <a:noFill/>
        </p:spPr>
        <p:txBody>
          <a:bodyPr wrap="square" lIns="0" tIns="0" rIns="0" bIns="0" anchor="ctr"/>
          <a:lstStyle/>
          <a:p>
            <a:pPr marL="0" indent="0">
              <a:buNone/>
            </a:pPr>
            <a:r>
              <a:rPr sz="750" b="1">
                <a:solidFill>
                  <a:srgbClr val="E8A020"/>
                </a:solidFill>
              </a:rPr>
              <a:t>No final-test result is used to claim a property-level forecast.</a:t>
            </a:r>
            <a:endParaRPr sz="750"/>
          </a:p>
        </p:txBody>
      </p:sp>
      <p:sp>
        <p:nvSpPr>
          <p:cNvPr id="51" name="Shape 49">
            <a:extLst>
              <a:ext uri="{FF2B5EF4-FFF2-40B4-BE49-F238E27FC236}">
                <a16:creationId xmlns:a16="http://schemas.microsoft.com/office/drawing/2014/main" id="{60AB1022-AFE8-48AA-AF67-D4B907288A08}"/>
              </a:ext>
            </a:extLst>
          </p:cNvPr>
          <p:cNvSpPr>
            <a:spLocks noGrp="1"/>
          </p:cNvSpPr>
          <p:nvPr/>
        </p:nvSpPr>
        <p:spPr>
          <a:xfrm>
            <a:off x="274320" y="4663440"/>
            <a:ext cx="8595360" cy="292608"/>
          </a:xfrm>
          <a:prstGeom prst="rect">
            <a:avLst/>
          </a:prstGeom>
          <a:solidFill>
            <a:srgbClr val="2A9D61"/>
          </a:solidFill>
          <a:ln w="12700">
            <a:solidFill>
              <a:srgbClr val="2A9D61"/>
            </a:solidFill>
            <a:prstDash val="solid"/>
          </a:ln>
        </p:spPr>
      </p:sp>
      <p:sp>
        <p:nvSpPr>
          <p:cNvPr id="52" name="Text 50">
            <a:extLst>
              <a:ext uri="{FF2B5EF4-FFF2-40B4-BE49-F238E27FC236}">
                <a16:creationId xmlns:a16="http://schemas.microsoft.com/office/drawing/2014/main" id="{888510B6-7C6A-4727-A0E5-F48D9F362954}"/>
              </a:ext>
            </a:extLst>
          </p:cNvPr>
          <p:cNvSpPr>
            <a:spLocks noGrp="1"/>
          </p:cNvSpPr>
          <p:nvPr/>
        </p:nvSpPr>
        <p:spPr>
          <a:xfrm>
            <a:off x="411480" y="4663440"/>
            <a:ext cx="8321040" cy="292608"/>
          </a:xfrm>
          <a:prstGeom prst="rect">
            <a:avLst/>
          </a:prstGeom>
          <a:noFill/>
        </p:spPr>
        <p:txBody>
          <a:bodyPr wrap="square" lIns="0" tIns="0" rIns="0" bIns="0" anchor="ctr"/>
          <a:lstStyle/>
          <a:p>
            <a:pPr marL="0" indent="0" algn="ctr">
              <a:buNone/>
            </a:pPr>
            <a:r>
              <a:rPr sz="850" b="1">
                <a:solidFill>
                  <a:srgbClr val="FFFFFF"/>
                </a:solidFill>
              </a:rPr>
              <a:t>Conclusion: useful comparative improvement with visible uncertainty.</a:t>
            </a:r>
            <a:endParaRPr sz="850"/>
          </a:p>
        </p:txBody>
      </p:sp>
      <p:sp>
        <p:nvSpPr>
          <p:cNvPr id="53" name="Shape 51">
            <a:extLst>
              <a:ext uri="{FF2B5EF4-FFF2-40B4-BE49-F238E27FC236}">
                <a16:creationId xmlns:a16="http://schemas.microsoft.com/office/drawing/2014/main" id="{4EF06526-1530-434D-877D-54CADC545895}"/>
              </a:ext>
            </a:extLst>
          </p:cNvPr>
          <p:cNvSpPr>
            <a:spLocks noGrp="1"/>
          </p:cNvSpPr>
          <p:nvPr/>
        </p:nvSpPr>
        <p:spPr>
          <a:xfrm>
            <a:off x="0" y="4919472"/>
            <a:ext cx="9144000" cy="224028"/>
          </a:xfrm>
          <a:prstGeom prst="rect">
            <a:avLst/>
          </a:prstGeom>
          <a:solidFill>
            <a:srgbClr val="162B3D"/>
          </a:solidFill>
          <a:ln w="12700">
            <a:solidFill>
              <a:srgbClr val="162B3D"/>
            </a:solidFill>
            <a:prstDash val="solid"/>
          </a:ln>
        </p:spPr>
      </p:sp>
      <p:sp>
        <p:nvSpPr>
          <p:cNvPr id="54" name="Text 52">
            <a:extLst>
              <a:ext uri="{FF2B5EF4-FFF2-40B4-BE49-F238E27FC236}">
                <a16:creationId xmlns:a16="http://schemas.microsoft.com/office/drawing/2014/main" id="{AAD75AC7-5746-4AD0-892D-25E5587B3A5D}"/>
              </a:ext>
            </a:extLst>
          </p:cNvPr>
          <p:cNvSpPr>
            <a:spLocks noGrp="1"/>
          </p:cNvSpPr>
          <p:nvPr/>
        </p:nvSpPr>
        <p:spPr>
          <a:xfrm>
            <a:off x="274320" y="4919472"/>
            <a:ext cx="8595360" cy="224028"/>
          </a:xfrm>
          <a:prstGeom prst="rect">
            <a:avLst/>
          </a:prstGeom>
          <a:noFill/>
        </p:spPr>
        <p:txBody>
          <a:bodyPr wrap="square" lIns="0" tIns="0" rIns="0" bIns="0" anchor="ctr"/>
          <a:lstStyle/>
          <a:p>
            <a:pPr marL="0" indent="0">
              <a:buNone/>
            </a:pPr>
            <a:r>
              <a:rPr sz="800" b="1">
                <a:solidFill>
                  <a:srgbClr val="E8A020"/>
                </a:solidFill>
              </a:rPr>
              <a:t>Serhii Diadechko  |  Data Science &amp; Machine Learning Capstone</a:t>
            </a:r>
            <a:endParaRPr sz="800"/>
          </a:p>
        </p:txBody>
      </p:sp>
    </p:spTree>
    <p:extLst>
      <p:ext uri="{BB962C8B-B14F-4D97-AF65-F5344CB8AC3E}">
        <p14:creationId xmlns:p14="http://schemas.microsoft.com/office/powerpoint/2010/main" val="17917816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Shape 0">
            <a:extLst>
              <a:ext uri="{FF2B5EF4-FFF2-40B4-BE49-F238E27FC236}">
                <a16:creationId xmlns:a16="http://schemas.microsoft.com/office/drawing/2014/main" id="{9E3B76F2-BCC7-BBF0-1273-7B2C877F93D3}"/>
              </a:ext>
            </a:extLst>
          </p:cNvPr>
          <p:cNvSpPr>
            <a:spLocks noGrp="1"/>
          </p:cNvSpPr>
          <p:nvPr/>
        </p:nvSpPr>
        <p:spPr>
          <a:xfrm>
            <a:off x="0" y="0"/>
            <a:ext cx="9144000" cy="5143500"/>
          </a:xfrm>
          <a:prstGeom prst="rect">
            <a:avLst/>
          </a:prstGeom>
          <a:solidFill>
            <a:srgbClr val="F3F6F9"/>
          </a:solidFill>
          <a:ln w="12700">
            <a:solidFill>
              <a:srgbClr val="F3F6F9"/>
            </a:solidFill>
            <a:prstDash val="solid"/>
          </a:ln>
        </p:spPr>
      </p:sp>
      <p:sp>
        <p:nvSpPr>
          <p:cNvPr id="42" name="Shape 1">
            <a:extLst>
              <a:ext uri="{FF2B5EF4-FFF2-40B4-BE49-F238E27FC236}">
                <a16:creationId xmlns:a16="http://schemas.microsoft.com/office/drawing/2014/main" id="{4EF0D36C-C357-E332-9FBF-445832165DBE}"/>
              </a:ext>
            </a:extLst>
          </p:cNvPr>
          <p:cNvSpPr>
            <a:spLocks noGrp="1"/>
          </p:cNvSpPr>
          <p:nvPr/>
        </p:nvSpPr>
        <p:spPr>
          <a:xfrm>
            <a:off x="0" y="0"/>
            <a:ext cx="9144000" cy="64008"/>
          </a:xfrm>
          <a:prstGeom prst="rect">
            <a:avLst/>
          </a:prstGeom>
          <a:solidFill>
            <a:srgbClr val="E8A020"/>
          </a:solidFill>
          <a:ln w="12700">
            <a:solidFill>
              <a:srgbClr val="E8A020"/>
            </a:solidFill>
            <a:prstDash val="solid"/>
          </a:ln>
        </p:spPr>
      </p:sp>
      <p:sp>
        <p:nvSpPr>
          <p:cNvPr id="43" name="Shape 2">
            <a:extLst>
              <a:ext uri="{FF2B5EF4-FFF2-40B4-BE49-F238E27FC236}">
                <a16:creationId xmlns:a16="http://schemas.microsoft.com/office/drawing/2014/main" id="{1CFE74E3-3462-A34A-4A20-31F9DE9FBFCB}"/>
              </a:ext>
            </a:extLst>
          </p:cNvPr>
          <p:cNvSpPr>
            <a:spLocks noGrp="1"/>
          </p:cNvSpPr>
          <p:nvPr/>
        </p:nvSpPr>
        <p:spPr>
          <a:xfrm>
            <a:off x="0" y="64008"/>
            <a:ext cx="9144000" cy="658368"/>
          </a:xfrm>
          <a:prstGeom prst="rect">
            <a:avLst/>
          </a:prstGeom>
          <a:solidFill>
            <a:srgbClr val="1E3A50"/>
          </a:solidFill>
          <a:ln w="12700">
            <a:solidFill>
              <a:srgbClr val="1E3A50"/>
            </a:solidFill>
            <a:prstDash val="solid"/>
          </a:ln>
        </p:spPr>
      </p:sp>
      <p:sp>
        <p:nvSpPr>
          <p:cNvPr id="44" name="Text 3">
            <a:extLst>
              <a:ext uri="{FF2B5EF4-FFF2-40B4-BE49-F238E27FC236}">
                <a16:creationId xmlns:a16="http://schemas.microsoft.com/office/drawing/2014/main" id="{0D45B056-7786-F6DB-DB67-68872420F5BA}"/>
              </a:ext>
            </a:extLst>
          </p:cNvPr>
          <p:cNvSpPr>
            <a:spLocks noGrp="1"/>
          </p:cNvSpPr>
          <p:nvPr/>
        </p:nvSpPr>
        <p:spPr>
          <a:xfrm>
            <a:off x="274320" y="64008"/>
            <a:ext cx="7315200" cy="658368"/>
          </a:xfrm>
          <a:prstGeom prst="rect">
            <a:avLst/>
          </a:prstGeom>
          <a:noFill/>
        </p:spPr>
        <p:txBody>
          <a:bodyPr wrap="square" lIns="0" tIns="0" rIns="0" bIns="0" anchor="ctr"/>
          <a:lstStyle/>
          <a:p>
            <a:pPr marL="0" indent="0">
              <a:buNone/>
            </a:pPr>
            <a:r>
              <a:rPr sz="1100" b="1">
                <a:solidFill>
                  <a:srgbClr val="E8A020"/>
                </a:solidFill>
              </a:rPr>
              <a:t>RECOMMENDED USE CASE</a:t>
            </a:r>
            <a:endParaRPr sz="1100"/>
          </a:p>
        </p:txBody>
      </p:sp>
      <p:sp>
        <p:nvSpPr>
          <p:cNvPr id="45" name="Text 4">
            <a:extLst>
              <a:ext uri="{FF2B5EF4-FFF2-40B4-BE49-F238E27FC236}">
                <a16:creationId xmlns:a16="http://schemas.microsoft.com/office/drawing/2014/main" id="{41DC7F03-CAB9-6A42-265A-C46904C8AFD1}"/>
              </a:ext>
            </a:extLst>
          </p:cNvPr>
          <p:cNvSpPr>
            <a:spLocks noGrp="1"/>
          </p:cNvSpPr>
          <p:nvPr/>
        </p:nvSpPr>
        <p:spPr>
          <a:xfrm>
            <a:off x="6858000" y="64008"/>
            <a:ext cx="2011680" cy="658368"/>
          </a:xfrm>
          <a:prstGeom prst="rect">
            <a:avLst/>
          </a:prstGeom>
          <a:noFill/>
        </p:spPr>
        <p:txBody>
          <a:bodyPr wrap="square" lIns="0" tIns="0" rIns="0" bIns="0" anchor="ctr"/>
          <a:lstStyle/>
          <a:p>
            <a:pPr marL="0" indent="0" algn="r">
              <a:buNone/>
            </a:pPr>
            <a:r>
              <a:rPr sz="1100" b="1">
                <a:solidFill>
                  <a:srgbClr val="E1E8EF"/>
                </a:solidFill>
              </a:rPr>
              <a:t>6 / 8</a:t>
            </a:r>
            <a:endParaRPr sz="1100"/>
          </a:p>
        </p:txBody>
      </p:sp>
      <p:sp>
        <p:nvSpPr>
          <p:cNvPr id="46" name="Text 5">
            <a:extLst>
              <a:ext uri="{FF2B5EF4-FFF2-40B4-BE49-F238E27FC236}">
                <a16:creationId xmlns:a16="http://schemas.microsoft.com/office/drawing/2014/main" id="{D847301C-C927-7FAC-A769-4C641A7B5D35}"/>
              </a:ext>
            </a:extLst>
          </p:cNvPr>
          <p:cNvSpPr>
            <a:spLocks noGrp="1"/>
          </p:cNvSpPr>
          <p:nvPr/>
        </p:nvSpPr>
        <p:spPr>
          <a:xfrm>
            <a:off x="274320" y="804672"/>
            <a:ext cx="8595360" cy="475488"/>
          </a:xfrm>
          <a:prstGeom prst="rect">
            <a:avLst/>
          </a:prstGeom>
          <a:noFill/>
        </p:spPr>
        <p:txBody>
          <a:bodyPr wrap="square" lIns="0" tIns="0" rIns="0" bIns="0" anchor="ctr"/>
          <a:lstStyle/>
          <a:p>
            <a:pPr marL="0" indent="0">
              <a:buNone/>
            </a:pPr>
            <a:r>
              <a:rPr sz="1600" b="1">
                <a:solidFill>
                  <a:srgbClr val="1A2638"/>
                </a:solidFill>
              </a:rPr>
              <a:t>A prospective buyer narrows a national location search</a:t>
            </a:r>
            <a:endParaRPr sz="1600"/>
          </a:p>
        </p:txBody>
      </p:sp>
      <p:sp>
        <p:nvSpPr>
          <p:cNvPr id="47" name="Shape 6">
            <a:extLst>
              <a:ext uri="{FF2B5EF4-FFF2-40B4-BE49-F238E27FC236}">
                <a16:creationId xmlns:a16="http://schemas.microsoft.com/office/drawing/2014/main" id="{F70699D7-5B53-2C77-0175-B3B78E7EF30C}"/>
              </a:ext>
            </a:extLst>
          </p:cNvPr>
          <p:cNvSpPr>
            <a:spLocks noGrp="1"/>
          </p:cNvSpPr>
          <p:nvPr/>
        </p:nvSpPr>
        <p:spPr>
          <a:xfrm>
            <a:off x="274320" y="1371600"/>
            <a:ext cx="2651760" cy="2834640"/>
          </a:xfrm>
          <a:prstGeom prst="rect">
            <a:avLst/>
          </a:prstGeom>
          <a:solidFill>
            <a:srgbClr val="FFFFFF"/>
          </a:solidFill>
          <a:ln w="12700">
            <a:solidFill>
              <a:srgbClr val="2E6DB4"/>
            </a:solidFill>
            <a:prstDash val="solid"/>
          </a:ln>
          <a:effectLst>
            <a:outerShdw blurRad="101600" dist="38100" dir="8100000" algn="bl" rotWithShape="0">
              <a:srgbClr val="000000">
                <a:alpha val="10000"/>
              </a:srgbClr>
            </a:outerShdw>
          </a:effectLst>
        </p:spPr>
      </p:sp>
      <p:sp>
        <p:nvSpPr>
          <p:cNvPr id="48" name="Shape 7">
            <a:extLst>
              <a:ext uri="{FF2B5EF4-FFF2-40B4-BE49-F238E27FC236}">
                <a16:creationId xmlns:a16="http://schemas.microsoft.com/office/drawing/2014/main" id="{111BE822-2C18-0A11-F129-F8D5751595BB}"/>
              </a:ext>
            </a:extLst>
          </p:cNvPr>
          <p:cNvSpPr>
            <a:spLocks noGrp="1"/>
          </p:cNvSpPr>
          <p:nvPr/>
        </p:nvSpPr>
        <p:spPr>
          <a:xfrm>
            <a:off x="274320" y="1371600"/>
            <a:ext cx="2651760" cy="384048"/>
          </a:xfrm>
          <a:prstGeom prst="rect">
            <a:avLst/>
          </a:prstGeom>
          <a:solidFill>
            <a:srgbClr val="2E6DB4"/>
          </a:solidFill>
          <a:ln w="12700">
            <a:solidFill>
              <a:srgbClr val="2E6DB4"/>
            </a:solidFill>
            <a:prstDash val="solid"/>
          </a:ln>
        </p:spPr>
      </p:sp>
      <p:sp>
        <p:nvSpPr>
          <p:cNvPr id="49" name="Text 8">
            <a:extLst>
              <a:ext uri="{FF2B5EF4-FFF2-40B4-BE49-F238E27FC236}">
                <a16:creationId xmlns:a16="http://schemas.microsoft.com/office/drawing/2014/main" id="{F7C43176-6DA9-3BA7-4DE8-A4C84CEC076C}"/>
              </a:ext>
            </a:extLst>
          </p:cNvPr>
          <p:cNvSpPr>
            <a:spLocks noGrp="1"/>
          </p:cNvSpPr>
          <p:nvPr/>
        </p:nvSpPr>
        <p:spPr>
          <a:xfrm>
            <a:off x="274320" y="1371600"/>
            <a:ext cx="2651760" cy="384048"/>
          </a:xfrm>
          <a:prstGeom prst="rect">
            <a:avLst/>
          </a:prstGeom>
          <a:noFill/>
        </p:spPr>
        <p:txBody>
          <a:bodyPr wrap="square" lIns="0" tIns="0" rIns="0" bIns="0" anchor="ctr"/>
          <a:lstStyle/>
          <a:p>
            <a:pPr marL="0" indent="0" algn="ctr">
              <a:buNone/>
            </a:pPr>
            <a:r>
              <a:rPr sz="1100" b="1">
                <a:solidFill>
                  <a:srgbClr val="FFFFFF"/>
                </a:solidFill>
              </a:rPr>
              <a:t>START WITH</a:t>
            </a:r>
            <a:endParaRPr sz="1100"/>
          </a:p>
        </p:txBody>
      </p:sp>
      <p:sp>
        <p:nvSpPr>
          <p:cNvPr id="50" name="Text 9">
            <a:extLst>
              <a:ext uri="{FF2B5EF4-FFF2-40B4-BE49-F238E27FC236}">
                <a16:creationId xmlns:a16="http://schemas.microsoft.com/office/drawing/2014/main" id="{25E0079F-7E52-BCD6-436F-A2013D60831A}"/>
              </a:ext>
            </a:extLst>
          </p:cNvPr>
          <p:cNvSpPr>
            <a:spLocks noGrp="1"/>
          </p:cNvSpPr>
          <p:nvPr/>
        </p:nvSpPr>
        <p:spPr>
          <a:xfrm>
            <a:off x="365760" y="1792224"/>
            <a:ext cx="2468880" cy="256032"/>
          </a:xfrm>
          <a:prstGeom prst="rect">
            <a:avLst/>
          </a:prstGeom>
          <a:noFill/>
        </p:spPr>
        <p:txBody>
          <a:bodyPr wrap="square" lIns="0" tIns="0" rIns="0" bIns="0" anchor="ctr"/>
          <a:lstStyle/>
          <a:p>
            <a:pPr marL="0" indent="0">
              <a:buNone/>
            </a:pPr>
            <a:r>
              <a:rPr sz="800">
                <a:solidFill>
                  <a:srgbClr val="2E6DB4"/>
                </a:solidFill>
              </a:rPr>
              <a:t>2026 comparative estimate</a:t>
            </a:r>
            <a:endParaRPr sz="800"/>
          </a:p>
        </p:txBody>
      </p:sp>
      <p:sp>
        <p:nvSpPr>
          <p:cNvPr id="51" name="Text 10">
            <a:extLst>
              <a:ext uri="{FF2B5EF4-FFF2-40B4-BE49-F238E27FC236}">
                <a16:creationId xmlns:a16="http://schemas.microsoft.com/office/drawing/2014/main" id="{35DCCB06-55A6-7118-8D80-0423179BFA58}"/>
              </a:ext>
            </a:extLst>
          </p:cNvPr>
          <p:cNvSpPr>
            <a:spLocks noGrp="1"/>
          </p:cNvSpPr>
          <p:nvPr/>
        </p:nvSpPr>
        <p:spPr>
          <a:xfrm>
            <a:off x="365760" y="2048256"/>
            <a:ext cx="2468880" cy="502920"/>
          </a:xfrm>
          <a:prstGeom prst="rect">
            <a:avLst/>
          </a:prstGeom>
          <a:noFill/>
        </p:spPr>
        <p:txBody>
          <a:bodyPr wrap="square" lIns="0" tIns="0" rIns="0" bIns="0" anchor="t"/>
          <a:lstStyle/>
          <a:p>
            <a:pPr marL="0" indent="0">
              <a:buNone/>
            </a:pPr>
            <a:r>
              <a:rPr sz="850">
                <a:solidFill>
                  <a:srgbClr val="1A2638"/>
                </a:solidFill>
              </a:rPr>
              <a:t>Rank broad 1 km areas using 2025 predictor inputs.</a:t>
            </a:r>
            <a:endParaRPr sz="850"/>
          </a:p>
        </p:txBody>
      </p:sp>
      <p:sp>
        <p:nvSpPr>
          <p:cNvPr id="52" name="Shape 11">
            <a:extLst>
              <a:ext uri="{FF2B5EF4-FFF2-40B4-BE49-F238E27FC236}">
                <a16:creationId xmlns:a16="http://schemas.microsoft.com/office/drawing/2014/main" id="{48892306-CBC7-1476-476D-AF940872013E}"/>
              </a:ext>
            </a:extLst>
          </p:cNvPr>
          <p:cNvSpPr>
            <a:spLocks noGrp="1"/>
          </p:cNvSpPr>
          <p:nvPr/>
        </p:nvSpPr>
        <p:spPr>
          <a:xfrm>
            <a:off x="365760" y="2578608"/>
            <a:ext cx="2468880" cy="502920"/>
          </a:xfrm>
          <a:prstGeom prst="rect">
            <a:avLst/>
          </a:prstGeom>
          <a:solidFill>
            <a:srgbClr val="EBF0FD"/>
          </a:solidFill>
          <a:ln w="12700">
            <a:solidFill>
              <a:srgbClr val="EBF0FD"/>
            </a:solidFill>
            <a:prstDash val="solid"/>
          </a:ln>
        </p:spPr>
      </p:sp>
      <p:sp>
        <p:nvSpPr>
          <p:cNvPr id="53" name="Text 12">
            <a:extLst>
              <a:ext uri="{FF2B5EF4-FFF2-40B4-BE49-F238E27FC236}">
                <a16:creationId xmlns:a16="http://schemas.microsoft.com/office/drawing/2014/main" id="{524E6A7B-8390-A7C3-5810-F79BE56CA145}"/>
              </a:ext>
            </a:extLst>
          </p:cNvPr>
          <p:cNvSpPr>
            <a:spLocks noGrp="1"/>
          </p:cNvSpPr>
          <p:nvPr/>
        </p:nvSpPr>
        <p:spPr>
          <a:xfrm>
            <a:off x="411480" y="2578608"/>
            <a:ext cx="2377440" cy="502920"/>
          </a:xfrm>
          <a:prstGeom prst="rect">
            <a:avLst/>
          </a:prstGeom>
          <a:noFill/>
        </p:spPr>
        <p:txBody>
          <a:bodyPr wrap="square" lIns="0" tIns="0" rIns="0" bIns="0" anchor="ctr"/>
          <a:lstStyle/>
          <a:p>
            <a:pPr marL="0" indent="0">
              <a:buNone/>
            </a:pPr>
            <a:r>
              <a:rPr sz="800" i="1">
                <a:solidFill>
                  <a:srgbClr val="1A2638"/>
                </a:solidFill>
              </a:rPr>
              <a:t>COMPARE CONTEXT</a:t>
            </a:r>
            <a:endParaRPr sz="800"/>
          </a:p>
        </p:txBody>
      </p:sp>
      <p:sp>
        <p:nvSpPr>
          <p:cNvPr id="54" name="Text 13">
            <a:extLst>
              <a:ext uri="{FF2B5EF4-FFF2-40B4-BE49-F238E27FC236}">
                <a16:creationId xmlns:a16="http://schemas.microsoft.com/office/drawing/2014/main" id="{D813BEB0-AB29-1201-6C98-83ED8F0166C5}"/>
              </a:ext>
            </a:extLst>
          </p:cNvPr>
          <p:cNvSpPr>
            <a:spLocks noGrp="1"/>
          </p:cNvSpPr>
          <p:nvPr/>
        </p:nvSpPr>
        <p:spPr>
          <a:xfrm>
            <a:off x="365760" y="3145536"/>
            <a:ext cx="2468880" cy="502920"/>
          </a:xfrm>
          <a:prstGeom prst="rect">
            <a:avLst/>
          </a:prstGeom>
          <a:noFill/>
        </p:spPr>
        <p:txBody>
          <a:bodyPr wrap="square" lIns="0" tIns="0" rIns="0" bIns="0" anchor="t"/>
          <a:lstStyle/>
          <a:p>
            <a:pPr marL="0" indent="0">
              <a:buNone/>
            </a:pPr>
            <a:r>
              <a:rPr sz="750" b="1">
                <a:solidFill>
                  <a:srgbClr val="2A9D61"/>
                </a:solidFill>
              </a:rPr>
              <a:t>Historical recurrence + official ICNF structural hazard</a:t>
            </a:r>
            <a:endParaRPr sz="750"/>
          </a:p>
        </p:txBody>
      </p:sp>
      <p:sp>
        <p:nvSpPr>
          <p:cNvPr id="55" name="Text 14">
            <a:extLst>
              <a:ext uri="{FF2B5EF4-FFF2-40B4-BE49-F238E27FC236}">
                <a16:creationId xmlns:a16="http://schemas.microsoft.com/office/drawing/2014/main" id="{1640E6C2-2736-6C47-08A7-E76229CD60DE}"/>
              </a:ext>
            </a:extLst>
          </p:cNvPr>
          <p:cNvSpPr>
            <a:spLocks noGrp="1"/>
          </p:cNvSpPr>
          <p:nvPr/>
        </p:nvSpPr>
        <p:spPr>
          <a:xfrm>
            <a:off x="365760" y="3675888"/>
            <a:ext cx="2468880" cy="502920"/>
          </a:xfrm>
          <a:prstGeom prst="rect">
            <a:avLst/>
          </a:prstGeom>
          <a:noFill/>
        </p:spPr>
        <p:txBody>
          <a:bodyPr wrap="square" lIns="0" tIns="0" rIns="0" bIns="0" anchor="t"/>
          <a:lstStyle/>
          <a:p>
            <a:pPr marL="0" indent="0">
              <a:buNone/>
            </a:pPr>
            <a:r>
              <a:rPr sz="750" b="1">
                <a:solidFill>
                  <a:srgbClr val="C0392B"/>
                </a:solidFill>
              </a:rPr>
              <a:t>Read the three layers side by side before shortlisting areas.</a:t>
            </a:r>
            <a:endParaRPr sz="750"/>
          </a:p>
        </p:txBody>
      </p:sp>
      <p:sp>
        <p:nvSpPr>
          <p:cNvPr id="56" name="Text 15">
            <a:extLst>
              <a:ext uri="{FF2B5EF4-FFF2-40B4-BE49-F238E27FC236}">
                <a16:creationId xmlns:a16="http://schemas.microsoft.com/office/drawing/2014/main" id="{E7998FAA-1292-DEE4-FBBA-DA72F51BBE8F}"/>
              </a:ext>
            </a:extLst>
          </p:cNvPr>
          <p:cNvSpPr>
            <a:spLocks noGrp="1"/>
          </p:cNvSpPr>
          <p:nvPr/>
        </p:nvSpPr>
        <p:spPr>
          <a:xfrm>
            <a:off x="2962656" y="2560320"/>
            <a:ext cx="320040" cy="457200"/>
          </a:xfrm>
          <a:prstGeom prst="rect">
            <a:avLst/>
          </a:prstGeom>
          <a:noFill/>
        </p:spPr>
        <p:txBody>
          <a:bodyPr wrap="square" lIns="0" tIns="0" rIns="0" bIns="0" anchor="ctr"/>
          <a:lstStyle/>
          <a:p>
            <a:pPr marL="0" indent="0" algn="ctr">
              <a:buNone/>
            </a:pPr>
            <a:r>
              <a:rPr sz="2000" b="1">
                <a:solidFill>
                  <a:srgbClr val="E8A020"/>
                </a:solidFill>
              </a:rPr>
              <a:t>→</a:t>
            </a:r>
            <a:endParaRPr sz="2000"/>
          </a:p>
        </p:txBody>
      </p:sp>
      <p:sp>
        <p:nvSpPr>
          <p:cNvPr id="57" name="Shape 16">
            <a:extLst>
              <a:ext uri="{FF2B5EF4-FFF2-40B4-BE49-F238E27FC236}">
                <a16:creationId xmlns:a16="http://schemas.microsoft.com/office/drawing/2014/main" id="{AA16804A-52B3-003F-850D-E763525EBF82}"/>
              </a:ext>
            </a:extLst>
          </p:cNvPr>
          <p:cNvSpPr>
            <a:spLocks noGrp="1"/>
          </p:cNvSpPr>
          <p:nvPr/>
        </p:nvSpPr>
        <p:spPr>
          <a:xfrm>
            <a:off x="3310128" y="1371600"/>
            <a:ext cx="2651760" cy="2834640"/>
          </a:xfrm>
          <a:prstGeom prst="rect">
            <a:avLst/>
          </a:prstGeom>
          <a:solidFill>
            <a:srgbClr val="FFFFFF"/>
          </a:solidFill>
          <a:ln w="12700">
            <a:solidFill>
              <a:srgbClr val="E67E22"/>
            </a:solidFill>
            <a:prstDash val="solid"/>
          </a:ln>
          <a:effectLst>
            <a:outerShdw blurRad="101600" dist="38100" dir="8100000" algn="bl" rotWithShape="0">
              <a:srgbClr val="000000">
                <a:alpha val="10000"/>
              </a:srgbClr>
            </a:outerShdw>
          </a:effectLst>
        </p:spPr>
      </p:sp>
      <p:sp>
        <p:nvSpPr>
          <p:cNvPr id="58" name="Shape 17">
            <a:extLst>
              <a:ext uri="{FF2B5EF4-FFF2-40B4-BE49-F238E27FC236}">
                <a16:creationId xmlns:a16="http://schemas.microsoft.com/office/drawing/2014/main" id="{A132002A-B816-4B27-A659-A2A2193BD4C4}"/>
              </a:ext>
            </a:extLst>
          </p:cNvPr>
          <p:cNvSpPr>
            <a:spLocks noGrp="1"/>
          </p:cNvSpPr>
          <p:nvPr/>
        </p:nvSpPr>
        <p:spPr>
          <a:xfrm>
            <a:off x="3310128" y="1371600"/>
            <a:ext cx="2651760" cy="384048"/>
          </a:xfrm>
          <a:prstGeom prst="rect">
            <a:avLst/>
          </a:prstGeom>
          <a:solidFill>
            <a:srgbClr val="E67E22"/>
          </a:solidFill>
          <a:ln w="12700">
            <a:solidFill>
              <a:srgbClr val="E67E22"/>
            </a:solidFill>
            <a:prstDash val="solid"/>
          </a:ln>
        </p:spPr>
      </p:sp>
      <p:sp>
        <p:nvSpPr>
          <p:cNvPr id="59" name="Text 18">
            <a:extLst>
              <a:ext uri="{FF2B5EF4-FFF2-40B4-BE49-F238E27FC236}">
                <a16:creationId xmlns:a16="http://schemas.microsoft.com/office/drawing/2014/main" id="{E937C9EB-5EC4-4BED-DCC0-EEB4268C59F9}"/>
              </a:ext>
            </a:extLst>
          </p:cNvPr>
          <p:cNvSpPr>
            <a:spLocks noGrp="1"/>
          </p:cNvSpPr>
          <p:nvPr/>
        </p:nvSpPr>
        <p:spPr>
          <a:xfrm>
            <a:off x="3310128" y="1371600"/>
            <a:ext cx="2651760" cy="384048"/>
          </a:xfrm>
          <a:prstGeom prst="rect">
            <a:avLst/>
          </a:prstGeom>
          <a:noFill/>
        </p:spPr>
        <p:txBody>
          <a:bodyPr wrap="square" lIns="0" tIns="0" rIns="0" bIns="0" anchor="ctr"/>
          <a:lstStyle/>
          <a:p>
            <a:pPr marL="0" indent="0" algn="ctr">
              <a:buNone/>
            </a:pPr>
            <a:r>
              <a:rPr sz="1100" b="1">
                <a:solidFill>
                  <a:srgbClr val="FFFFFF"/>
                </a:solidFill>
              </a:rPr>
              <a:t>SHORTLIST AREAS</a:t>
            </a:r>
            <a:endParaRPr sz="1100"/>
          </a:p>
        </p:txBody>
      </p:sp>
      <p:sp>
        <p:nvSpPr>
          <p:cNvPr id="60" name="Text 19">
            <a:extLst>
              <a:ext uri="{FF2B5EF4-FFF2-40B4-BE49-F238E27FC236}">
                <a16:creationId xmlns:a16="http://schemas.microsoft.com/office/drawing/2014/main" id="{922D1C3D-92F4-7A52-D254-13F805D6760C}"/>
              </a:ext>
            </a:extLst>
          </p:cNvPr>
          <p:cNvSpPr>
            <a:spLocks noGrp="1"/>
          </p:cNvSpPr>
          <p:nvPr/>
        </p:nvSpPr>
        <p:spPr>
          <a:xfrm>
            <a:off x="3401568" y="1792224"/>
            <a:ext cx="2468880" cy="256032"/>
          </a:xfrm>
          <a:prstGeom prst="rect">
            <a:avLst/>
          </a:prstGeom>
          <a:noFill/>
        </p:spPr>
        <p:txBody>
          <a:bodyPr wrap="square" lIns="0" tIns="0" rIns="0" bIns="0" anchor="ctr"/>
          <a:lstStyle/>
          <a:p>
            <a:pPr marL="0" indent="0">
              <a:buNone/>
            </a:pPr>
            <a:r>
              <a:rPr sz="800">
                <a:solidFill>
                  <a:srgbClr val="E67E22"/>
                </a:solidFill>
              </a:rPr>
              <a:t>Focus the search</a:t>
            </a:r>
            <a:endParaRPr sz="800"/>
          </a:p>
        </p:txBody>
      </p:sp>
      <p:sp>
        <p:nvSpPr>
          <p:cNvPr id="61" name="Text 20">
            <a:extLst>
              <a:ext uri="{FF2B5EF4-FFF2-40B4-BE49-F238E27FC236}">
                <a16:creationId xmlns:a16="http://schemas.microsoft.com/office/drawing/2014/main" id="{DD31154A-7340-6BA1-B58C-EB0C128FA94A}"/>
              </a:ext>
            </a:extLst>
          </p:cNvPr>
          <p:cNvSpPr>
            <a:spLocks noGrp="1"/>
          </p:cNvSpPr>
          <p:nvPr/>
        </p:nvSpPr>
        <p:spPr>
          <a:xfrm>
            <a:off x="3401568" y="2048256"/>
            <a:ext cx="2468880" cy="502920"/>
          </a:xfrm>
          <a:prstGeom prst="rect">
            <a:avLst/>
          </a:prstGeom>
          <a:noFill/>
        </p:spPr>
        <p:txBody>
          <a:bodyPr wrap="square" lIns="0" tIns="0" rIns="0" bIns="0" anchor="t"/>
          <a:lstStyle/>
          <a:p>
            <a:pPr marL="0" indent="0">
              <a:buNone/>
            </a:pPr>
            <a:r>
              <a:rPr sz="850">
                <a:solidFill>
                  <a:srgbClr val="1A2638"/>
                </a:solidFill>
              </a:rPr>
              <a:t>Prioritise broad areas for visits and deeper research.</a:t>
            </a:r>
            <a:endParaRPr sz="850"/>
          </a:p>
        </p:txBody>
      </p:sp>
      <p:sp>
        <p:nvSpPr>
          <p:cNvPr id="62" name="Shape 21">
            <a:extLst>
              <a:ext uri="{FF2B5EF4-FFF2-40B4-BE49-F238E27FC236}">
                <a16:creationId xmlns:a16="http://schemas.microsoft.com/office/drawing/2014/main" id="{E3A1950C-3E98-2A41-9F7B-763C1A1EFE02}"/>
              </a:ext>
            </a:extLst>
          </p:cNvPr>
          <p:cNvSpPr>
            <a:spLocks noGrp="1"/>
          </p:cNvSpPr>
          <p:nvPr/>
        </p:nvSpPr>
        <p:spPr>
          <a:xfrm>
            <a:off x="3401568" y="2578608"/>
            <a:ext cx="2468880" cy="502920"/>
          </a:xfrm>
          <a:prstGeom prst="rect">
            <a:avLst/>
          </a:prstGeom>
          <a:solidFill>
            <a:srgbClr val="FEF3E2"/>
          </a:solidFill>
          <a:ln w="12700">
            <a:solidFill>
              <a:srgbClr val="FEF3E2"/>
            </a:solidFill>
            <a:prstDash val="solid"/>
          </a:ln>
        </p:spPr>
      </p:sp>
      <p:sp>
        <p:nvSpPr>
          <p:cNvPr id="63" name="Text 22">
            <a:extLst>
              <a:ext uri="{FF2B5EF4-FFF2-40B4-BE49-F238E27FC236}">
                <a16:creationId xmlns:a16="http://schemas.microsoft.com/office/drawing/2014/main" id="{E3161D18-B8A1-E487-12AB-44CC4A732529}"/>
              </a:ext>
            </a:extLst>
          </p:cNvPr>
          <p:cNvSpPr>
            <a:spLocks noGrp="1"/>
          </p:cNvSpPr>
          <p:nvPr/>
        </p:nvSpPr>
        <p:spPr>
          <a:xfrm>
            <a:off x="3447288" y="2578608"/>
            <a:ext cx="2377440" cy="502920"/>
          </a:xfrm>
          <a:prstGeom prst="rect">
            <a:avLst/>
          </a:prstGeom>
          <a:noFill/>
        </p:spPr>
        <p:txBody>
          <a:bodyPr wrap="square" lIns="0" tIns="0" rIns="0" bIns="0" anchor="ctr"/>
          <a:lstStyle/>
          <a:p>
            <a:pPr marL="0" indent="0">
              <a:buNone/>
            </a:pPr>
            <a:r>
              <a:rPr sz="800" i="1">
                <a:solidFill>
                  <a:srgbClr val="1A2638"/>
                </a:solidFill>
              </a:rPr>
              <a:t>LOCAL VERIFICATION</a:t>
            </a:r>
            <a:endParaRPr sz="800"/>
          </a:p>
        </p:txBody>
      </p:sp>
      <p:sp>
        <p:nvSpPr>
          <p:cNvPr id="64" name="Text 23">
            <a:extLst>
              <a:ext uri="{FF2B5EF4-FFF2-40B4-BE49-F238E27FC236}">
                <a16:creationId xmlns:a16="http://schemas.microsoft.com/office/drawing/2014/main" id="{5C353123-8232-42F8-D273-5CB954BA4BBD}"/>
              </a:ext>
            </a:extLst>
          </p:cNvPr>
          <p:cNvSpPr>
            <a:spLocks noGrp="1"/>
          </p:cNvSpPr>
          <p:nvPr/>
        </p:nvSpPr>
        <p:spPr>
          <a:xfrm>
            <a:off x="3401568" y="3145536"/>
            <a:ext cx="2468880" cy="502920"/>
          </a:xfrm>
          <a:prstGeom prst="rect">
            <a:avLst/>
          </a:prstGeom>
          <a:noFill/>
        </p:spPr>
        <p:txBody>
          <a:bodyPr wrap="square" lIns="0" tIns="0" rIns="0" bIns="0" anchor="t"/>
          <a:lstStyle/>
          <a:p>
            <a:pPr marL="0" indent="0">
              <a:buNone/>
            </a:pPr>
            <a:r>
              <a:rPr sz="750" b="1">
                <a:solidFill>
                  <a:srgbClr val="2A9D61"/>
                </a:solidFill>
              </a:rPr>
              <a:t>Check local evidence</a:t>
            </a:r>
            <a:endParaRPr sz="750"/>
          </a:p>
        </p:txBody>
      </p:sp>
      <p:sp>
        <p:nvSpPr>
          <p:cNvPr id="65" name="Text 24">
            <a:extLst>
              <a:ext uri="{FF2B5EF4-FFF2-40B4-BE49-F238E27FC236}">
                <a16:creationId xmlns:a16="http://schemas.microsoft.com/office/drawing/2014/main" id="{825EE7D9-0624-FD50-1A14-73D146D6F995}"/>
              </a:ext>
            </a:extLst>
          </p:cNvPr>
          <p:cNvSpPr>
            <a:spLocks noGrp="1"/>
          </p:cNvSpPr>
          <p:nvPr/>
        </p:nvSpPr>
        <p:spPr>
          <a:xfrm>
            <a:off x="3401568" y="3675888"/>
            <a:ext cx="2468880" cy="502920"/>
          </a:xfrm>
          <a:prstGeom prst="rect">
            <a:avLst/>
          </a:prstGeom>
          <a:noFill/>
        </p:spPr>
        <p:txBody>
          <a:bodyPr wrap="square" lIns="0" tIns="0" rIns="0" bIns="0" anchor="t"/>
          <a:lstStyle/>
          <a:p>
            <a:pPr marL="0" indent="0">
              <a:buNone/>
            </a:pPr>
            <a:r>
              <a:rPr sz="750" b="1">
                <a:solidFill>
                  <a:srgbClr val="C0392B"/>
                </a:solidFill>
              </a:rPr>
              <a:t>Review planning, access, insurance, terrain and site conditions.</a:t>
            </a:r>
            <a:endParaRPr sz="750"/>
          </a:p>
        </p:txBody>
      </p:sp>
      <p:sp>
        <p:nvSpPr>
          <p:cNvPr id="66" name="Text 25">
            <a:extLst>
              <a:ext uri="{FF2B5EF4-FFF2-40B4-BE49-F238E27FC236}">
                <a16:creationId xmlns:a16="http://schemas.microsoft.com/office/drawing/2014/main" id="{2A24E586-B737-43CD-9410-9B7B599DB5E6}"/>
              </a:ext>
            </a:extLst>
          </p:cNvPr>
          <p:cNvSpPr>
            <a:spLocks noGrp="1"/>
          </p:cNvSpPr>
          <p:nvPr/>
        </p:nvSpPr>
        <p:spPr>
          <a:xfrm>
            <a:off x="5998464" y="2560320"/>
            <a:ext cx="320040" cy="457200"/>
          </a:xfrm>
          <a:prstGeom prst="rect">
            <a:avLst/>
          </a:prstGeom>
          <a:noFill/>
        </p:spPr>
        <p:txBody>
          <a:bodyPr wrap="square" lIns="0" tIns="0" rIns="0" bIns="0" anchor="ctr"/>
          <a:lstStyle/>
          <a:p>
            <a:pPr marL="0" indent="0" algn="ctr">
              <a:buNone/>
            </a:pPr>
            <a:r>
              <a:rPr sz="2000" b="1">
                <a:solidFill>
                  <a:srgbClr val="E8A020"/>
                </a:solidFill>
              </a:rPr>
              <a:t>→</a:t>
            </a:r>
            <a:endParaRPr sz="2000"/>
          </a:p>
        </p:txBody>
      </p:sp>
      <p:sp>
        <p:nvSpPr>
          <p:cNvPr id="67" name="Shape 26">
            <a:extLst>
              <a:ext uri="{FF2B5EF4-FFF2-40B4-BE49-F238E27FC236}">
                <a16:creationId xmlns:a16="http://schemas.microsoft.com/office/drawing/2014/main" id="{E767105C-FE7D-D361-1E75-7B266D4ED118}"/>
              </a:ext>
            </a:extLst>
          </p:cNvPr>
          <p:cNvSpPr>
            <a:spLocks noGrp="1"/>
          </p:cNvSpPr>
          <p:nvPr/>
        </p:nvSpPr>
        <p:spPr>
          <a:xfrm>
            <a:off x="6345936" y="1371600"/>
            <a:ext cx="2651760" cy="2834640"/>
          </a:xfrm>
          <a:prstGeom prst="rect">
            <a:avLst/>
          </a:prstGeom>
          <a:solidFill>
            <a:srgbClr val="FFFFFF"/>
          </a:solidFill>
          <a:ln w="12700">
            <a:solidFill>
              <a:srgbClr val="2A9D61"/>
            </a:solidFill>
            <a:prstDash val="solid"/>
          </a:ln>
          <a:effectLst>
            <a:outerShdw blurRad="101600" dist="38100" dir="8100000" algn="bl" rotWithShape="0">
              <a:srgbClr val="000000">
                <a:alpha val="10000"/>
              </a:srgbClr>
            </a:outerShdw>
          </a:effectLst>
        </p:spPr>
      </p:sp>
      <p:sp>
        <p:nvSpPr>
          <p:cNvPr id="68" name="Shape 27">
            <a:extLst>
              <a:ext uri="{FF2B5EF4-FFF2-40B4-BE49-F238E27FC236}">
                <a16:creationId xmlns:a16="http://schemas.microsoft.com/office/drawing/2014/main" id="{B5487368-1117-220F-0E2A-5055BCFA807D}"/>
              </a:ext>
            </a:extLst>
          </p:cNvPr>
          <p:cNvSpPr>
            <a:spLocks noGrp="1"/>
          </p:cNvSpPr>
          <p:nvPr/>
        </p:nvSpPr>
        <p:spPr>
          <a:xfrm>
            <a:off x="6345936" y="1371600"/>
            <a:ext cx="2651760" cy="384048"/>
          </a:xfrm>
          <a:prstGeom prst="rect">
            <a:avLst/>
          </a:prstGeom>
          <a:solidFill>
            <a:srgbClr val="2A9D61"/>
          </a:solidFill>
          <a:ln w="12700">
            <a:solidFill>
              <a:srgbClr val="2A9D61"/>
            </a:solidFill>
            <a:prstDash val="solid"/>
          </a:ln>
        </p:spPr>
      </p:sp>
      <p:sp>
        <p:nvSpPr>
          <p:cNvPr id="69" name="Text 28">
            <a:extLst>
              <a:ext uri="{FF2B5EF4-FFF2-40B4-BE49-F238E27FC236}">
                <a16:creationId xmlns:a16="http://schemas.microsoft.com/office/drawing/2014/main" id="{018CC755-0E76-B3F1-F302-F5429326FAFF}"/>
              </a:ext>
            </a:extLst>
          </p:cNvPr>
          <p:cNvSpPr>
            <a:spLocks noGrp="1"/>
          </p:cNvSpPr>
          <p:nvPr/>
        </p:nvSpPr>
        <p:spPr>
          <a:xfrm>
            <a:off x="6345936" y="1371600"/>
            <a:ext cx="2651760" cy="384048"/>
          </a:xfrm>
          <a:prstGeom prst="rect">
            <a:avLst/>
          </a:prstGeom>
          <a:noFill/>
        </p:spPr>
        <p:txBody>
          <a:bodyPr wrap="square" lIns="0" tIns="0" rIns="0" bIns="0" anchor="ctr"/>
          <a:lstStyle/>
          <a:p>
            <a:pPr marL="0" indent="0" algn="ctr">
              <a:buNone/>
            </a:pPr>
            <a:r>
              <a:rPr sz="1100" b="1">
                <a:solidFill>
                  <a:srgbClr val="FFFFFF"/>
                </a:solidFill>
              </a:rPr>
              <a:t>USE CASE OUTCOME</a:t>
            </a:r>
            <a:endParaRPr sz="1100"/>
          </a:p>
        </p:txBody>
      </p:sp>
      <p:sp>
        <p:nvSpPr>
          <p:cNvPr id="70" name="Text 29">
            <a:extLst>
              <a:ext uri="{FF2B5EF4-FFF2-40B4-BE49-F238E27FC236}">
                <a16:creationId xmlns:a16="http://schemas.microsoft.com/office/drawing/2014/main" id="{7D4F3FEA-36B1-CD37-33EC-8AFF9A2B185B}"/>
              </a:ext>
            </a:extLst>
          </p:cNvPr>
          <p:cNvSpPr>
            <a:spLocks noGrp="1"/>
          </p:cNvSpPr>
          <p:nvPr/>
        </p:nvSpPr>
        <p:spPr>
          <a:xfrm>
            <a:off x="6437376" y="1792224"/>
            <a:ext cx="2468880" cy="256032"/>
          </a:xfrm>
          <a:prstGeom prst="rect">
            <a:avLst/>
          </a:prstGeom>
          <a:noFill/>
        </p:spPr>
        <p:txBody>
          <a:bodyPr wrap="square" lIns="0" tIns="0" rIns="0" bIns="0" anchor="ctr"/>
          <a:lstStyle/>
          <a:p>
            <a:pPr marL="0" indent="0">
              <a:buNone/>
            </a:pPr>
            <a:r>
              <a:rPr sz="800">
                <a:solidFill>
                  <a:srgbClr val="2A9D61"/>
                </a:solidFill>
              </a:rPr>
              <a:t>A smaller search area</a:t>
            </a:r>
            <a:endParaRPr sz="800"/>
          </a:p>
        </p:txBody>
      </p:sp>
      <p:sp>
        <p:nvSpPr>
          <p:cNvPr id="71" name="Text 30">
            <a:extLst>
              <a:ext uri="{FF2B5EF4-FFF2-40B4-BE49-F238E27FC236}">
                <a16:creationId xmlns:a16="http://schemas.microsoft.com/office/drawing/2014/main" id="{AEF56BD3-A919-2AB3-B917-DDF115F5DA1D}"/>
              </a:ext>
            </a:extLst>
          </p:cNvPr>
          <p:cNvSpPr>
            <a:spLocks noGrp="1"/>
          </p:cNvSpPr>
          <p:nvPr/>
        </p:nvSpPr>
        <p:spPr>
          <a:xfrm>
            <a:off x="6437376" y="2048256"/>
            <a:ext cx="2468880" cy="502920"/>
          </a:xfrm>
          <a:prstGeom prst="rect">
            <a:avLst/>
          </a:prstGeom>
          <a:noFill/>
        </p:spPr>
        <p:txBody>
          <a:bodyPr wrap="square" lIns="0" tIns="0" rIns="0" bIns="0" anchor="t"/>
          <a:lstStyle/>
          <a:p>
            <a:pPr marL="0" indent="0">
              <a:buNone/>
            </a:pPr>
            <a:r>
              <a:rPr sz="850">
                <a:solidFill>
                  <a:srgbClr val="1A2638"/>
                </a:solidFill>
              </a:rPr>
              <a:t>The QGIS layers help decide where to investigate first.</a:t>
            </a:r>
            <a:endParaRPr sz="850"/>
          </a:p>
        </p:txBody>
      </p:sp>
      <p:sp>
        <p:nvSpPr>
          <p:cNvPr id="72" name="Shape 31">
            <a:extLst>
              <a:ext uri="{FF2B5EF4-FFF2-40B4-BE49-F238E27FC236}">
                <a16:creationId xmlns:a16="http://schemas.microsoft.com/office/drawing/2014/main" id="{B21EFAC5-18BF-7EC7-FCA7-6D5743FCEF9F}"/>
              </a:ext>
            </a:extLst>
          </p:cNvPr>
          <p:cNvSpPr>
            <a:spLocks noGrp="1"/>
          </p:cNvSpPr>
          <p:nvPr/>
        </p:nvSpPr>
        <p:spPr>
          <a:xfrm>
            <a:off x="6437376" y="2578608"/>
            <a:ext cx="2468880" cy="502920"/>
          </a:xfrm>
          <a:prstGeom prst="rect">
            <a:avLst/>
          </a:prstGeom>
          <a:solidFill>
            <a:srgbClr val="E6F5EE"/>
          </a:solidFill>
          <a:ln w="12700">
            <a:solidFill>
              <a:srgbClr val="E6F5EE"/>
            </a:solidFill>
            <a:prstDash val="solid"/>
          </a:ln>
        </p:spPr>
      </p:sp>
      <p:sp>
        <p:nvSpPr>
          <p:cNvPr id="73" name="Text 32">
            <a:extLst>
              <a:ext uri="{FF2B5EF4-FFF2-40B4-BE49-F238E27FC236}">
                <a16:creationId xmlns:a16="http://schemas.microsoft.com/office/drawing/2014/main" id="{B56BD828-01DF-272F-8543-67D8E7206C89}"/>
              </a:ext>
            </a:extLst>
          </p:cNvPr>
          <p:cNvSpPr>
            <a:spLocks noGrp="1"/>
          </p:cNvSpPr>
          <p:nvPr/>
        </p:nvSpPr>
        <p:spPr>
          <a:xfrm>
            <a:off x="6483096" y="2578608"/>
            <a:ext cx="2377440" cy="502920"/>
          </a:xfrm>
          <a:prstGeom prst="rect">
            <a:avLst/>
          </a:prstGeom>
          <a:noFill/>
        </p:spPr>
        <p:txBody>
          <a:bodyPr wrap="square" lIns="0" tIns="0" rIns="0" bIns="0" anchor="ctr"/>
          <a:lstStyle/>
          <a:p>
            <a:pPr marL="0" indent="0">
              <a:buNone/>
            </a:pPr>
            <a:r>
              <a:rPr sz="800" i="1">
                <a:solidFill>
                  <a:srgbClr val="1A2638"/>
                </a:solidFill>
              </a:rPr>
              <a:t>NOT A FINAL DECISION</a:t>
            </a:r>
            <a:endParaRPr sz="800"/>
          </a:p>
        </p:txBody>
      </p:sp>
      <p:sp>
        <p:nvSpPr>
          <p:cNvPr id="74" name="Text 33">
            <a:extLst>
              <a:ext uri="{FF2B5EF4-FFF2-40B4-BE49-F238E27FC236}">
                <a16:creationId xmlns:a16="http://schemas.microsoft.com/office/drawing/2014/main" id="{7C7E5895-F34D-DA1E-E30A-C36D5D6775D9}"/>
              </a:ext>
            </a:extLst>
          </p:cNvPr>
          <p:cNvSpPr>
            <a:spLocks noGrp="1"/>
          </p:cNvSpPr>
          <p:nvPr/>
        </p:nvSpPr>
        <p:spPr>
          <a:xfrm>
            <a:off x="6437376" y="3145536"/>
            <a:ext cx="2468880" cy="502920"/>
          </a:xfrm>
          <a:prstGeom prst="rect">
            <a:avLst/>
          </a:prstGeom>
          <a:noFill/>
        </p:spPr>
        <p:txBody>
          <a:bodyPr wrap="square" lIns="0" tIns="0" rIns="0" bIns="0" anchor="t"/>
          <a:lstStyle/>
          <a:p>
            <a:pPr marL="0" indent="0">
              <a:buNone/>
            </a:pPr>
            <a:r>
              <a:rPr sz="750" b="1">
                <a:solidFill>
                  <a:srgbClr val="2A9D61"/>
                </a:solidFill>
              </a:rPr>
              <a:t>Continue locally</a:t>
            </a:r>
            <a:endParaRPr sz="750"/>
          </a:p>
        </p:txBody>
      </p:sp>
      <p:sp>
        <p:nvSpPr>
          <p:cNvPr id="75" name="Text 34">
            <a:extLst>
              <a:ext uri="{FF2B5EF4-FFF2-40B4-BE49-F238E27FC236}">
                <a16:creationId xmlns:a16="http://schemas.microsoft.com/office/drawing/2014/main" id="{91730462-287D-DD99-AC73-8CDB97A5A7BD}"/>
              </a:ext>
            </a:extLst>
          </p:cNvPr>
          <p:cNvSpPr>
            <a:spLocks noGrp="1"/>
          </p:cNvSpPr>
          <p:nvPr/>
        </p:nvSpPr>
        <p:spPr>
          <a:xfrm>
            <a:off x="6437376" y="3675888"/>
            <a:ext cx="2468880" cy="502920"/>
          </a:xfrm>
          <a:prstGeom prst="rect">
            <a:avLst/>
          </a:prstGeom>
          <a:noFill/>
        </p:spPr>
        <p:txBody>
          <a:bodyPr wrap="square" lIns="0" tIns="0" rIns="0" bIns="0" anchor="t"/>
          <a:lstStyle/>
          <a:p>
            <a:pPr marL="0" indent="0">
              <a:buNone/>
            </a:pPr>
            <a:r>
              <a:rPr sz="750" b="1">
                <a:solidFill>
                  <a:srgbClr val="C0392B"/>
                </a:solidFill>
              </a:rPr>
              <a:t>The 1 km estimate cannot replace property-specific checks.</a:t>
            </a:r>
            <a:endParaRPr sz="750"/>
          </a:p>
        </p:txBody>
      </p:sp>
      <p:sp>
        <p:nvSpPr>
          <p:cNvPr id="76" name="Shape 35">
            <a:extLst>
              <a:ext uri="{FF2B5EF4-FFF2-40B4-BE49-F238E27FC236}">
                <a16:creationId xmlns:a16="http://schemas.microsoft.com/office/drawing/2014/main" id="{EE052AFC-8FB4-ECF7-88CC-4487AE42F56C}"/>
              </a:ext>
            </a:extLst>
          </p:cNvPr>
          <p:cNvSpPr>
            <a:spLocks noGrp="1"/>
          </p:cNvSpPr>
          <p:nvPr/>
        </p:nvSpPr>
        <p:spPr>
          <a:xfrm>
            <a:off x="274320" y="4315968"/>
            <a:ext cx="8595360" cy="457200"/>
          </a:xfrm>
          <a:prstGeom prst="rect">
            <a:avLst/>
          </a:prstGeom>
          <a:solidFill>
            <a:srgbClr val="0D1F2D"/>
          </a:solidFill>
          <a:ln w="12700">
            <a:solidFill>
              <a:srgbClr val="0D1F2D"/>
            </a:solidFill>
            <a:prstDash val="solid"/>
          </a:ln>
        </p:spPr>
      </p:sp>
      <p:sp>
        <p:nvSpPr>
          <p:cNvPr id="77" name="Text 36">
            <a:extLst>
              <a:ext uri="{FF2B5EF4-FFF2-40B4-BE49-F238E27FC236}">
                <a16:creationId xmlns:a16="http://schemas.microsoft.com/office/drawing/2014/main" id="{C306DBE1-591D-91A0-2800-8563622FC938}"/>
              </a:ext>
            </a:extLst>
          </p:cNvPr>
          <p:cNvSpPr>
            <a:spLocks noGrp="1"/>
          </p:cNvSpPr>
          <p:nvPr/>
        </p:nvSpPr>
        <p:spPr>
          <a:xfrm>
            <a:off x="411480" y="4315968"/>
            <a:ext cx="8321040" cy="457200"/>
          </a:xfrm>
          <a:prstGeom prst="rect">
            <a:avLst/>
          </a:prstGeom>
          <a:noFill/>
        </p:spPr>
        <p:txBody>
          <a:bodyPr wrap="square" lIns="0" tIns="0" rIns="0" bIns="0" anchor="ctr"/>
          <a:lstStyle/>
          <a:p>
            <a:pPr marL="0" indent="0">
              <a:buNone/>
            </a:pPr>
            <a:r>
              <a:rPr sz="850" b="1">
                <a:solidFill>
                  <a:srgbClr val="E8A020"/>
                </a:solidFill>
              </a:rPr>
              <a:t>The model guides the research order; local evidence supports the final choice.</a:t>
            </a:r>
            <a:endParaRPr sz="850"/>
          </a:p>
        </p:txBody>
      </p:sp>
      <p:sp>
        <p:nvSpPr>
          <p:cNvPr id="78" name="Shape 37">
            <a:extLst>
              <a:ext uri="{FF2B5EF4-FFF2-40B4-BE49-F238E27FC236}">
                <a16:creationId xmlns:a16="http://schemas.microsoft.com/office/drawing/2014/main" id="{453F1B67-702E-243E-FB47-4CA2B5119EA1}"/>
              </a:ext>
            </a:extLst>
          </p:cNvPr>
          <p:cNvSpPr>
            <a:spLocks noGrp="1"/>
          </p:cNvSpPr>
          <p:nvPr/>
        </p:nvSpPr>
        <p:spPr>
          <a:xfrm>
            <a:off x="0" y="4919472"/>
            <a:ext cx="9144000" cy="224028"/>
          </a:xfrm>
          <a:prstGeom prst="rect">
            <a:avLst/>
          </a:prstGeom>
          <a:solidFill>
            <a:srgbClr val="162B3D"/>
          </a:solidFill>
          <a:ln w="12700">
            <a:solidFill>
              <a:srgbClr val="162B3D"/>
            </a:solidFill>
            <a:prstDash val="solid"/>
          </a:ln>
        </p:spPr>
      </p:sp>
      <p:sp>
        <p:nvSpPr>
          <p:cNvPr id="79" name="Text 38">
            <a:extLst>
              <a:ext uri="{FF2B5EF4-FFF2-40B4-BE49-F238E27FC236}">
                <a16:creationId xmlns:a16="http://schemas.microsoft.com/office/drawing/2014/main" id="{A5F23304-A068-58EC-920B-B28883DF7C8D}"/>
              </a:ext>
            </a:extLst>
          </p:cNvPr>
          <p:cNvSpPr>
            <a:spLocks noGrp="1"/>
          </p:cNvSpPr>
          <p:nvPr/>
        </p:nvSpPr>
        <p:spPr>
          <a:xfrm>
            <a:off x="274320" y="4919472"/>
            <a:ext cx="8595360" cy="224028"/>
          </a:xfrm>
          <a:prstGeom prst="rect">
            <a:avLst/>
          </a:prstGeom>
          <a:noFill/>
        </p:spPr>
        <p:txBody>
          <a:bodyPr wrap="square" lIns="0" tIns="0" rIns="0" bIns="0" anchor="ctr"/>
          <a:lstStyle/>
          <a:p>
            <a:pPr marL="0" indent="0">
              <a:buNone/>
            </a:pPr>
            <a:r>
              <a:rPr sz="800" b="1">
                <a:solidFill>
                  <a:srgbClr val="E8A020"/>
                </a:solidFill>
              </a:rPr>
              <a:t>Serhii Diadechko  |  Data Science &amp; Machine Learning Capstone</a:t>
            </a:r>
            <a:endParaRPr sz="800"/>
          </a:p>
        </p:txBody>
      </p:sp>
    </p:spTree>
    <p:extLst>
      <p:ext uri="{BB962C8B-B14F-4D97-AF65-F5344CB8AC3E}">
        <p14:creationId xmlns:p14="http://schemas.microsoft.com/office/powerpoint/2010/main" val="1799266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433246D-B8F5-43EE-AF32-B05C98498242}"/>
              </a:ext>
            </a:extLst>
          </p:cNvPr>
          <p:cNvSpPr>
            <a:spLocks noGrp="1"/>
          </p:cNvSpPr>
          <p:nvPr/>
        </p:nvSpPr>
        <p:spPr>
          <a:xfrm>
            <a:off x="0" y="0"/>
            <a:ext cx="9144000" cy="5143500"/>
          </a:xfrm>
          <a:prstGeom prst="rect">
            <a:avLst/>
          </a:prstGeom>
          <a:solidFill>
            <a:srgbClr val="F3F6F9"/>
          </a:solidFill>
          <a:ln w="12700">
            <a:solidFill>
              <a:srgbClr val="F3F6F9"/>
            </a:solidFill>
            <a:prstDash val="solid"/>
          </a:ln>
        </p:spPr>
      </p:sp>
      <p:sp>
        <p:nvSpPr>
          <p:cNvPr id="3" name="Shape 1">
            <a:extLst>
              <a:ext uri="{FF2B5EF4-FFF2-40B4-BE49-F238E27FC236}">
                <a16:creationId xmlns:a16="http://schemas.microsoft.com/office/drawing/2014/main" id="{B9907FB8-8328-4B2E-B5E1-84E6FBE1233F}"/>
              </a:ext>
            </a:extLst>
          </p:cNvPr>
          <p:cNvSpPr>
            <a:spLocks noGrp="1"/>
          </p:cNvSpPr>
          <p:nvPr/>
        </p:nvSpPr>
        <p:spPr>
          <a:xfrm>
            <a:off x="0" y="0"/>
            <a:ext cx="9144000" cy="64008"/>
          </a:xfrm>
          <a:prstGeom prst="rect">
            <a:avLst/>
          </a:prstGeom>
          <a:solidFill>
            <a:srgbClr val="E8A020"/>
          </a:solidFill>
          <a:ln w="12700">
            <a:solidFill>
              <a:srgbClr val="E8A020"/>
            </a:solidFill>
            <a:prstDash val="solid"/>
          </a:ln>
        </p:spPr>
      </p:sp>
      <p:sp>
        <p:nvSpPr>
          <p:cNvPr id="4" name="Shape 2">
            <a:extLst>
              <a:ext uri="{FF2B5EF4-FFF2-40B4-BE49-F238E27FC236}">
                <a16:creationId xmlns:a16="http://schemas.microsoft.com/office/drawing/2014/main" id="{F3F02133-847A-404E-9F4B-6A7DE78DB92B}"/>
              </a:ext>
            </a:extLst>
          </p:cNvPr>
          <p:cNvSpPr>
            <a:spLocks noGrp="1"/>
          </p:cNvSpPr>
          <p:nvPr/>
        </p:nvSpPr>
        <p:spPr>
          <a:xfrm>
            <a:off x="0" y="64008"/>
            <a:ext cx="9144000" cy="658368"/>
          </a:xfrm>
          <a:prstGeom prst="rect">
            <a:avLst/>
          </a:prstGeom>
          <a:solidFill>
            <a:srgbClr val="1E3A50"/>
          </a:solidFill>
          <a:ln w="12700">
            <a:solidFill>
              <a:srgbClr val="1E3A50"/>
            </a:solidFill>
            <a:prstDash val="solid"/>
          </a:ln>
        </p:spPr>
      </p:sp>
      <p:sp>
        <p:nvSpPr>
          <p:cNvPr id="5" name="Text 3">
            <a:extLst>
              <a:ext uri="{FF2B5EF4-FFF2-40B4-BE49-F238E27FC236}">
                <a16:creationId xmlns:a16="http://schemas.microsoft.com/office/drawing/2014/main" id="{59F12DB4-3B5B-4A67-979D-6151E1B67D1F}"/>
              </a:ext>
            </a:extLst>
          </p:cNvPr>
          <p:cNvSpPr>
            <a:spLocks noGrp="1"/>
          </p:cNvSpPr>
          <p:nvPr/>
        </p:nvSpPr>
        <p:spPr>
          <a:xfrm>
            <a:off x="274320" y="64008"/>
            <a:ext cx="7315200" cy="658368"/>
          </a:xfrm>
          <a:prstGeom prst="rect">
            <a:avLst/>
          </a:prstGeom>
          <a:noFill/>
        </p:spPr>
        <p:txBody>
          <a:bodyPr wrap="square" lIns="0" tIns="0" rIns="0" bIns="0" anchor="ctr"/>
          <a:lstStyle/>
          <a:p>
            <a:pPr marL="0" indent="0">
              <a:buNone/>
            </a:pPr>
            <a:r>
              <a:rPr sz="1100" b="1">
                <a:solidFill>
                  <a:srgbClr val="E8A020"/>
                </a:solidFill>
              </a:rPr>
              <a:t>RESPONSIBLE DECISION PATH</a:t>
            </a:r>
            <a:endParaRPr sz="1100"/>
          </a:p>
        </p:txBody>
      </p:sp>
      <p:sp>
        <p:nvSpPr>
          <p:cNvPr id="6" name="Text 4">
            <a:extLst>
              <a:ext uri="{FF2B5EF4-FFF2-40B4-BE49-F238E27FC236}">
                <a16:creationId xmlns:a16="http://schemas.microsoft.com/office/drawing/2014/main" id="{157AA592-FB08-4D64-B87E-9FC8E806087F}"/>
              </a:ext>
            </a:extLst>
          </p:cNvPr>
          <p:cNvSpPr>
            <a:spLocks noGrp="1"/>
          </p:cNvSpPr>
          <p:nvPr/>
        </p:nvSpPr>
        <p:spPr>
          <a:xfrm>
            <a:off x="6858000" y="64008"/>
            <a:ext cx="2011680" cy="658368"/>
          </a:xfrm>
          <a:prstGeom prst="rect">
            <a:avLst/>
          </a:prstGeom>
          <a:noFill/>
        </p:spPr>
        <p:txBody>
          <a:bodyPr wrap="square" lIns="0" tIns="0" rIns="0" bIns="0" anchor="ctr"/>
          <a:lstStyle/>
          <a:p>
            <a:pPr marL="0" indent="0" algn="r">
              <a:buNone/>
            </a:pPr>
            <a:r>
              <a:rPr sz="1100" b="1">
                <a:solidFill>
                  <a:srgbClr val="E1E8EF"/>
                </a:solidFill>
              </a:rPr>
              <a:t>7 / 8</a:t>
            </a:r>
            <a:endParaRPr sz="1100"/>
          </a:p>
        </p:txBody>
      </p:sp>
      <p:sp>
        <p:nvSpPr>
          <p:cNvPr id="7" name="Text 5">
            <a:extLst>
              <a:ext uri="{FF2B5EF4-FFF2-40B4-BE49-F238E27FC236}">
                <a16:creationId xmlns:a16="http://schemas.microsoft.com/office/drawing/2014/main" id="{9FAC5376-DFD7-4DF7-A857-0C2FD5CBD7A4}"/>
              </a:ext>
            </a:extLst>
          </p:cNvPr>
          <p:cNvSpPr>
            <a:spLocks noGrp="1"/>
          </p:cNvSpPr>
          <p:nvPr/>
        </p:nvSpPr>
        <p:spPr>
          <a:xfrm>
            <a:off x="274320" y="804672"/>
            <a:ext cx="8595360" cy="411480"/>
          </a:xfrm>
          <a:prstGeom prst="rect">
            <a:avLst/>
          </a:prstGeom>
          <a:noFill/>
        </p:spPr>
        <p:txBody>
          <a:bodyPr wrap="square" lIns="0" tIns="0" rIns="0" bIns="0" anchor="ctr"/>
          <a:lstStyle/>
          <a:p>
            <a:pPr marL="0" indent="0">
              <a:buNone/>
            </a:pPr>
            <a:r>
              <a:rPr sz="1600" b="1">
                <a:solidFill>
                  <a:srgbClr val="1A2638"/>
                </a:solidFill>
              </a:rPr>
              <a:t>Use three evidence layers together, then verify locally</a:t>
            </a:r>
            <a:endParaRPr sz="1600"/>
          </a:p>
        </p:txBody>
      </p:sp>
      <p:sp>
        <p:nvSpPr>
          <p:cNvPr id="8" name="Shape 6">
            <a:extLst>
              <a:ext uri="{FF2B5EF4-FFF2-40B4-BE49-F238E27FC236}">
                <a16:creationId xmlns:a16="http://schemas.microsoft.com/office/drawing/2014/main" id="{5A356FE9-CB03-42D1-9C21-8542E6BF0EFC}"/>
              </a:ext>
            </a:extLst>
          </p:cNvPr>
          <p:cNvSpPr>
            <a:spLocks noGrp="1"/>
          </p:cNvSpPr>
          <p:nvPr/>
        </p:nvSpPr>
        <p:spPr>
          <a:xfrm>
            <a:off x="274320" y="1298448"/>
            <a:ext cx="4160520" cy="3291840"/>
          </a:xfrm>
          <a:prstGeom prst="rect">
            <a:avLst/>
          </a:prstGeom>
          <a:solidFill>
            <a:srgbClr val="FFFFFF"/>
          </a:solidFill>
          <a:ln w="12700">
            <a:solidFill>
              <a:srgbClr val="E1E8EF"/>
            </a:solidFill>
            <a:prstDash val="solid"/>
          </a:ln>
          <a:effectLst>
            <a:outerShdw blurRad="101600" dist="38100" dir="8100000" algn="bl" rotWithShape="0">
              <a:srgbClr val="000000">
                <a:alpha val="10000"/>
              </a:srgbClr>
            </a:outerShdw>
          </a:effectLst>
        </p:spPr>
      </p:sp>
      <p:sp>
        <p:nvSpPr>
          <p:cNvPr id="9" name="Shape 7">
            <a:extLst>
              <a:ext uri="{FF2B5EF4-FFF2-40B4-BE49-F238E27FC236}">
                <a16:creationId xmlns:a16="http://schemas.microsoft.com/office/drawing/2014/main" id="{C9A34953-58C7-478E-9736-94E8E8AC9D55}"/>
              </a:ext>
            </a:extLst>
          </p:cNvPr>
          <p:cNvSpPr>
            <a:spLocks noGrp="1"/>
          </p:cNvSpPr>
          <p:nvPr/>
        </p:nvSpPr>
        <p:spPr>
          <a:xfrm>
            <a:off x="274320" y="1298448"/>
            <a:ext cx="4160520" cy="384048"/>
          </a:xfrm>
          <a:prstGeom prst="rect">
            <a:avLst/>
          </a:prstGeom>
          <a:solidFill>
            <a:srgbClr val="1E3A50"/>
          </a:solidFill>
          <a:ln w="12700">
            <a:solidFill>
              <a:srgbClr val="1E3A50"/>
            </a:solidFill>
            <a:prstDash val="solid"/>
          </a:ln>
        </p:spPr>
      </p:sp>
      <p:sp>
        <p:nvSpPr>
          <p:cNvPr id="10" name="Text 8">
            <a:extLst>
              <a:ext uri="{FF2B5EF4-FFF2-40B4-BE49-F238E27FC236}">
                <a16:creationId xmlns:a16="http://schemas.microsoft.com/office/drawing/2014/main" id="{0138816D-F851-4B14-B5E7-C78921973D27}"/>
              </a:ext>
            </a:extLst>
          </p:cNvPr>
          <p:cNvSpPr>
            <a:spLocks noGrp="1"/>
          </p:cNvSpPr>
          <p:nvPr/>
        </p:nvSpPr>
        <p:spPr>
          <a:xfrm>
            <a:off x="274320" y="1298448"/>
            <a:ext cx="4160520" cy="384048"/>
          </a:xfrm>
          <a:prstGeom prst="rect">
            <a:avLst/>
          </a:prstGeom>
          <a:noFill/>
        </p:spPr>
        <p:txBody>
          <a:bodyPr wrap="square" lIns="0" tIns="0" rIns="0" bIns="0" anchor="ctr"/>
          <a:lstStyle/>
          <a:p>
            <a:pPr marL="0" indent="0" algn="ctr">
              <a:buNone/>
            </a:pPr>
            <a:r>
              <a:rPr sz="1000" b="1">
                <a:solidFill>
                  <a:srgbClr val="FFFFFF"/>
                </a:solidFill>
              </a:rPr>
              <a:t>Recommended actions</a:t>
            </a:r>
            <a:endParaRPr sz="1000"/>
          </a:p>
        </p:txBody>
      </p:sp>
      <p:sp>
        <p:nvSpPr>
          <p:cNvPr id="11" name="Shape 9">
            <a:extLst>
              <a:ext uri="{FF2B5EF4-FFF2-40B4-BE49-F238E27FC236}">
                <a16:creationId xmlns:a16="http://schemas.microsoft.com/office/drawing/2014/main" id="{A48F928C-F102-49B4-A59E-1D4EE3D1DC18}"/>
              </a:ext>
            </a:extLst>
          </p:cNvPr>
          <p:cNvSpPr>
            <a:spLocks noGrp="1"/>
          </p:cNvSpPr>
          <p:nvPr/>
        </p:nvSpPr>
        <p:spPr>
          <a:xfrm>
            <a:off x="438912" y="1810512"/>
            <a:ext cx="201168" cy="201168"/>
          </a:xfrm>
          <a:prstGeom prst="rect">
            <a:avLst/>
          </a:prstGeom>
          <a:solidFill>
            <a:srgbClr val="2A9D61"/>
          </a:solidFill>
          <a:ln w="12700">
            <a:solidFill>
              <a:srgbClr val="2A9D61"/>
            </a:solidFill>
            <a:prstDash val="solid"/>
          </a:ln>
        </p:spPr>
      </p:sp>
      <p:sp>
        <p:nvSpPr>
          <p:cNvPr id="12" name="Text 10">
            <a:extLst>
              <a:ext uri="{FF2B5EF4-FFF2-40B4-BE49-F238E27FC236}">
                <a16:creationId xmlns:a16="http://schemas.microsoft.com/office/drawing/2014/main" id="{BD60D940-2AB4-4323-ACDD-A19A5EA667C8}"/>
              </a:ext>
            </a:extLst>
          </p:cNvPr>
          <p:cNvSpPr>
            <a:spLocks noGrp="1"/>
          </p:cNvSpPr>
          <p:nvPr/>
        </p:nvSpPr>
        <p:spPr>
          <a:xfrm>
            <a:off x="438912" y="1810512"/>
            <a:ext cx="201168" cy="201168"/>
          </a:xfrm>
          <a:prstGeom prst="rect">
            <a:avLst/>
          </a:prstGeom>
          <a:noFill/>
        </p:spPr>
        <p:txBody>
          <a:bodyPr wrap="square" lIns="0" tIns="0" rIns="0" bIns="0" anchor="ctr"/>
          <a:lstStyle/>
          <a:p>
            <a:pPr marL="0" indent="0" algn="ctr">
              <a:buNone/>
            </a:pPr>
            <a:r>
              <a:rPr sz="800" b="1">
                <a:solidFill>
                  <a:srgbClr val="FFFFFF"/>
                </a:solidFill>
              </a:rPr>
              <a:t>v</a:t>
            </a:r>
            <a:endParaRPr sz="800"/>
          </a:p>
        </p:txBody>
      </p:sp>
      <p:sp>
        <p:nvSpPr>
          <p:cNvPr id="13" name="Text 11">
            <a:extLst>
              <a:ext uri="{FF2B5EF4-FFF2-40B4-BE49-F238E27FC236}">
                <a16:creationId xmlns:a16="http://schemas.microsoft.com/office/drawing/2014/main" id="{433F46A5-1D2D-44A3-B1A4-F5935365DDDC}"/>
              </a:ext>
            </a:extLst>
          </p:cNvPr>
          <p:cNvSpPr>
            <a:spLocks noGrp="1"/>
          </p:cNvSpPr>
          <p:nvPr/>
        </p:nvSpPr>
        <p:spPr>
          <a:xfrm>
            <a:off x="713232" y="1773936"/>
            <a:ext cx="3611880" cy="347472"/>
          </a:xfrm>
          <a:prstGeom prst="rect">
            <a:avLst/>
          </a:prstGeom>
          <a:noFill/>
        </p:spPr>
        <p:txBody>
          <a:bodyPr wrap="square" lIns="0" tIns="0" rIns="0" bIns="0" anchor="ctr"/>
          <a:lstStyle/>
          <a:p>
            <a:pPr marL="0" indent="0">
              <a:buNone/>
            </a:pPr>
            <a:r>
              <a:rPr sz="850">
                <a:solidFill>
                  <a:srgbClr val="1A2638"/>
                </a:solidFill>
              </a:rPr>
              <a:t>Use the 2026 comparative estimate to narrow broad-area research.</a:t>
            </a:r>
            <a:endParaRPr sz="850"/>
          </a:p>
        </p:txBody>
      </p:sp>
      <p:sp>
        <p:nvSpPr>
          <p:cNvPr id="14" name="Shape 12">
            <a:extLst>
              <a:ext uri="{FF2B5EF4-FFF2-40B4-BE49-F238E27FC236}">
                <a16:creationId xmlns:a16="http://schemas.microsoft.com/office/drawing/2014/main" id="{9A77203C-C6FB-43FE-9635-189E862BC538}"/>
              </a:ext>
            </a:extLst>
          </p:cNvPr>
          <p:cNvSpPr>
            <a:spLocks noGrp="1"/>
          </p:cNvSpPr>
          <p:nvPr/>
        </p:nvSpPr>
        <p:spPr>
          <a:xfrm>
            <a:off x="438912" y="2212848"/>
            <a:ext cx="201168" cy="201168"/>
          </a:xfrm>
          <a:prstGeom prst="rect">
            <a:avLst/>
          </a:prstGeom>
          <a:solidFill>
            <a:srgbClr val="2A9D61"/>
          </a:solidFill>
          <a:ln w="12700">
            <a:solidFill>
              <a:srgbClr val="2A9D61"/>
            </a:solidFill>
            <a:prstDash val="solid"/>
          </a:ln>
        </p:spPr>
      </p:sp>
      <p:sp>
        <p:nvSpPr>
          <p:cNvPr id="15" name="Text 13">
            <a:extLst>
              <a:ext uri="{FF2B5EF4-FFF2-40B4-BE49-F238E27FC236}">
                <a16:creationId xmlns:a16="http://schemas.microsoft.com/office/drawing/2014/main" id="{C4054035-0280-46D0-8271-E333012C74D8}"/>
              </a:ext>
            </a:extLst>
          </p:cNvPr>
          <p:cNvSpPr>
            <a:spLocks noGrp="1"/>
          </p:cNvSpPr>
          <p:nvPr/>
        </p:nvSpPr>
        <p:spPr>
          <a:xfrm>
            <a:off x="438912" y="2212848"/>
            <a:ext cx="201168" cy="201168"/>
          </a:xfrm>
          <a:prstGeom prst="rect">
            <a:avLst/>
          </a:prstGeom>
          <a:noFill/>
        </p:spPr>
        <p:txBody>
          <a:bodyPr wrap="square" lIns="0" tIns="0" rIns="0" bIns="0" anchor="ctr"/>
          <a:lstStyle/>
          <a:p>
            <a:pPr marL="0" indent="0" algn="ctr">
              <a:buNone/>
            </a:pPr>
            <a:r>
              <a:rPr sz="800" b="1">
                <a:solidFill>
                  <a:srgbClr val="FFFFFF"/>
                </a:solidFill>
              </a:rPr>
              <a:t>v</a:t>
            </a:r>
            <a:endParaRPr sz="800"/>
          </a:p>
        </p:txBody>
      </p:sp>
      <p:sp>
        <p:nvSpPr>
          <p:cNvPr id="16" name="Text 14">
            <a:extLst>
              <a:ext uri="{FF2B5EF4-FFF2-40B4-BE49-F238E27FC236}">
                <a16:creationId xmlns:a16="http://schemas.microsoft.com/office/drawing/2014/main" id="{3A866D65-32E1-4D14-85BC-277D343C0267}"/>
              </a:ext>
            </a:extLst>
          </p:cNvPr>
          <p:cNvSpPr>
            <a:spLocks noGrp="1"/>
          </p:cNvSpPr>
          <p:nvPr/>
        </p:nvSpPr>
        <p:spPr>
          <a:xfrm>
            <a:off x="713232" y="2176272"/>
            <a:ext cx="3611880" cy="347472"/>
          </a:xfrm>
          <a:prstGeom prst="rect">
            <a:avLst/>
          </a:prstGeom>
          <a:noFill/>
        </p:spPr>
        <p:txBody>
          <a:bodyPr wrap="square" lIns="0" tIns="0" rIns="0" bIns="0" anchor="ctr"/>
          <a:lstStyle/>
          <a:p>
            <a:pPr marL="0" indent="0">
              <a:buNone/>
            </a:pPr>
            <a:r>
              <a:rPr sz="850">
                <a:solidFill>
                  <a:srgbClr val="1A2638"/>
                </a:solidFill>
              </a:rPr>
              <a:t>Check 2016–2025 observed recurrence in the 2 km context.</a:t>
            </a:r>
            <a:endParaRPr sz="850"/>
          </a:p>
        </p:txBody>
      </p:sp>
      <p:sp>
        <p:nvSpPr>
          <p:cNvPr id="17" name="Shape 15">
            <a:extLst>
              <a:ext uri="{FF2B5EF4-FFF2-40B4-BE49-F238E27FC236}">
                <a16:creationId xmlns:a16="http://schemas.microsoft.com/office/drawing/2014/main" id="{340346DD-06C1-46D3-B84B-71D11B0BD4C8}"/>
              </a:ext>
            </a:extLst>
          </p:cNvPr>
          <p:cNvSpPr>
            <a:spLocks noGrp="1"/>
          </p:cNvSpPr>
          <p:nvPr/>
        </p:nvSpPr>
        <p:spPr>
          <a:xfrm>
            <a:off x="438912" y="2615184"/>
            <a:ext cx="201168" cy="201168"/>
          </a:xfrm>
          <a:prstGeom prst="rect">
            <a:avLst/>
          </a:prstGeom>
          <a:solidFill>
            <a:srgbClr val="2A9D61"/>
          </a:solidFill>
          <a:ln w="12700">
            <a:solidFill>
              <a:srgbClr val="2A9D61"/>
            </a:solidFill>
            <a:prstDash val="solid"/>
          </a:ln>
        </p:spPr>
      </p:sp>
      <p:sp>
        <p:nvSpPr>
          <p:cNvPr id="18" name="Text 16">
            <a:extLst>
              <a:ext uri="{FF2B5EF4-FFF2-40B4-BE49-F238E27FC236}">
                <a16:creationId xmlns:a16="http://schemas.microsoft.com/office/drawing/2014/main" id="{54CE7231-C7DF-4668-B5A1-98622531C369}"/>
              </a:ext>
            </a:extLst>
          </p:cNvPr>
          <p:cNvSpPr>
            <a:spLocks noGrp="1"/>
          </p:cNvSpPr>
          <p:nvPr/>
        </p:nvSpPr>
        <p:spPr>
          <a:xfrm>
            <a:off x="438912" y="2615184"/>
            <a:ext cx="201168" cy="201168"/>
          </a:xfrm>
          <a:prstGeom prst="rect">
            <a:avLst/>
          </a:prstGeom>
          <a:noFill/>
        </p:spPr>
        <p:txBody>
          <a:bodyPr wrap="square" lIns="0" tIns="0" rIns="0" bIns="0" anchor="ctr"/>
          <a:lstStyle/>
          <a:p>
            <a:pPr marL="0" indent="0" algn="ctr">
              <a:buNone/>
            </a:pPr>
            <a:r>
              <a:rPr sz="800" b="1">
                <a:solidFill>
                  <a:srgbClr val="FFFFFF"/>
                </a:solidFill>
              </a:rPr>
              <a:t>v</a:t>
            </a:r>
            <a:endParaRPr sz="800"/>
          </a:p>
        </p:txBody>
      </p:sp>
      <p:sp>
        <p:nvSpPr>
          <p:cNvPr id="19" name="Text 17">
            <a:extLst>
              <a:ext uri="{FF2B5EF4-FFF2-40B4-BE49-F238E27FC236}">
                <a16:creationId xmlns:a16="http://schemas.microsoft.com/office/drawing/2014/main" id="{62EF2D98-2C4B-4478-B6DE-59400CA06235}"/>
              </a:ext>
            </a:extLst>
          </p:cNvPr>
          <p:cNvSpPr>
            <a:spLocks noGrp="1"/>
          </p:cNvSpPr>
          <p:nvPr/>
        </p:nvSpPr>
        <p:spPr>
          <a:xfrm>
            <a:off x="713232" y="2578608"/>
            <a:ext cx="3611880" cy="347472"/>
          </a:xfrm>
          <a:prstGeom prst="rect">
            <a:avLst/>
          </a:prstGeom>
          <a:noFill/>
        </p:spPr>
        <p:txBody>
          <a:bodyPr wrap="square" lIns="0" tIns="0" rIns="0" bIns="0" anchor="ctr"/>
          <a:lstStyle/>
          <a:p>
            <a:pPr marL="0" indent="0">
              <a:buNone/>
            </a:pPr>
            <a:r>
              <a:rPr sz="850">
                <a:solidFill>
                  <a:srgbClr val="1A2638"/>
                </a:solidFill>
              </a:rPr>
              <a:t>Compare the separate official ICNF structural-hazard class.</a:t>
            </a:r>
            <a:endParaRPr sz="850"/>
          </a:p>
        </p:txBody>
      </p:sp>
      <p:sp>
        <p:nvSpPr>
          <p:cNvPr id="20" name="Shape 18">
            <a:extLst>
              <a:ext uri="{FF2B5EF4-FFF2-40B4-BE49-F238E27FC236}">
                <a16:creationId xmlns:a16="http://schemas.microsoft.com/office/drawing/2014/main" id="{ACCE5F55-0293-4ED9-B7A2-2A8422E5B9D4}"/>
              </a:ext>
            </a:extLst>
          </p:cNvPr>
          <p:cNvSpPr>
            <a:spLocks noGrp="1"/>
          </p:cNvSpPr>
          <p:nvPr/>
        </p:nvSpPr>
        <p:spPr>
          <a:xfrm>
            <a:off x="438912" y="3017520"/>
            <a:ext cx="201168" cy="201168"/>
          </a:xfrm>
          <a:prstGeom prst="rect">
            <a:avLst/>
          </a:prstGeom>
          <a:solidFill>
            <a:srgbClr val="2A9D61"/>
          </a:solidFill>
          <a:ln w="12700">
            <a:solidFill>
              <a:srgbClr val="2A9D61"/>
            </a:solidFill>
            <a:prstDash val="solid"/>
          </a:ln>
        </p:spPr>
      </p:sp>
      <p:sp>
        <p:nvSpPr>
          <p:cNvPr id="21" name="Text 19">
            <a:extLst>
              <a:ext uri="{FF2B5EF4-FFF2-40B4-BE49-F238E27FC236}">
                <a16:creationId xmlns:a16="http://schemas.microsoft.com/office/drawing/2014/main" id="{021FABFD-07BB-4CB1-9DF3-6AB4C7F7418A}"/>
              </a:ext>
            </a:extLst>
          </p:cNvPr>
          <p:cNvSpPr>
            <a:spLocks noGrp="1"/>
          </p:cNvSpPr>
          <p:nvPr/>
        </p:nvSpPr>
        <p:spPr>
          <a:xfrm>
            <a:off x="438912" y="3017520"/>
            <a:ext cx="201168" cy="201168"/>
          </a:xfrm>
          <a:prstGeom prst="rect">
            <a:avLst/>
          </a:prstGeom>
          <a:noFill/>
        </p:spPr>
        <p:txBody>
          <a:bodyPr wrap="square" lIns="0" tIns="0" rIns="0" bIns="0" anchor="ctr"/>
          <a:lstStyle/>
          <a:p>
            <a:pPr marL="0" indent="0" algn="ctr">
              <a:buNone/>
            </a:pPr>
            <a:r>
              <a:rPr sz="800" b="1">
                <a:solidFill>
                  <a:srgbClr val="FFFFFF"/>
                </a:solidFill>
              </a:rPr>
              <a:t>v</a:t>
            </a:r>
            <a:endParaRPr sz="800"/>
          </a:p>
        </p:txBody>
      </p:sp>
      <p:sp>
        <p:nvSpPr>
          <p:cNvPr id="22" name="Text 20">
            <a:extLst>
              <a:ext uri="{FF2B5EF4-FFF2-40B4-BE49-F238E27FC236}">
                <a16:creationId xmlns:a16="http://schemas.microsoft.com/office/drawing/2014/main" id="{DF395E92-F661-43E4-B279-247D4D7CBDF8}"/>
              </a:ext>
            </a:extLst>
          </p:cNvPr>
          <p:cNvSpPr>
            <a:spLocks noGrp="1"/>
          </p:cNvSpPr>
          <p:nvPr/>
        </p:nvSpPr>
        <p:spPr>
          <a:xfrm>
            <a:off x="713232" y="2980944"/>
            <a:ext cx="3611880" cy="347472"/>
          </a:xfrm>
          <a:prstGeom prst="rect">
            <a:avLst/>
          </a:prstGeom>
          <a:noFill/>
        </p:spPr>
        <p:txBody>
          <a:bodyPr wrap="square" lIns="0" tIns="0" rIns="0" bIns="0" anchor="ctr"/>
          <a:lstStyle/>
          <a:p>
            <a:pPr marL="0" indent="0">
              <a:buNone/>
            </a:pPr>
            <a:r>
              <a:rPr sz="850">
                <a:solidFill>
                  <a:srgbClr val="1A2638"/>
                </a:solidFill>
              </a:rPr>
              <a:t>Investigate municipal plans, access, vegetation, insurance and site conditions.</a:t>
            </a:r>
            <a:endParaRPr sz="850"/>
          </a:p>
        </p:txBody>
      </p:sp>
      <p:sp>
        <p:nvSpPr>
          <p:cNvPr id="23" name="Shape 21">
            <a:extLst>
              <a:ext uri="{FF2B5EF4-FFF2-40B4-BE49-F238E27FC236}">
                <a16:creationId xmlns:a16="http://schemas.microsoft.com/office/drawing/2014/main" id="{488D5AAF-075C-4381-8425-C89597170446}"/>
              </a:ext>
            </a:extLst>
          </p:cNvPr>
          <p:cNvSpPr>
            <a:spLocks noGrp="1"/>
          </p:cNvSpPr>
          <p:nvPr/>
        </p:nvSpPr>
        <p:spPr>
          <a:xfrm>
            <a:off x="438912" y="3419856"/>
            <a:ext cx="201168" cy="201168"/>
          </a:xfrm>
          <a:prstGeom prst="rect">
            <a:avLst/>
          </a:prstGeom>
          <a:solidFill>
            <a:srgbClr val="2A9D61"/>
          </a:solidFill>
          <a:ln w="12700">
            <a:solidFill>
              <a:srgbClr val="2A9D61"/>
            </a:solidFill>
            <a:prstDash val="solid"/>
          </a:ln>
        </p:spPr>
      </p:sp>
      <p:sp>
        <p:nvSpPr>
          <p:cNvPr id="24" name="Text 22">
            <a:extLst>
              <a:ext uri="{FF2B5EF4-FFF2-40B4-BE49-F238E27FC236}">
                <a16:creationId xmlns:a16="http://schemas.microsoft.com/office/drawing/2014/main" id="{3E83D27C-B8E2-4DEE-B204-D31E94B3282A}"/>
              </a:ext>
            </a:extLst>
          </p:cNvPr>
          <p:cNvSpPr>
            <a:spLocks noGrp="1"/>
          </p:cNvSpPr>
          <p:nvPr/>
        </p:nvSpPr>
        <p:spPr>
          <a:xfrm>
            <a:off x="438912" y="3419856"/>
            <a:ext cx="201168" cy="201168"/>
          </a:xfrm>
          <a:prstGeom prst="rect">
            <a:avLst/>
          </a:prstGeom>
          <a:noFill/>
        </p:spPr>
        <p:txBody>
          <a:bodyPr wrap="square" lIns="0" tIns="0" rIns="0" bIns="0" anchor="ctr"/>
          <a:lstStyle/>
          <a:p>
            <a:pPr marL="0" indent="0" algn="ctr">
              <a:buNone/>
            </a:pPr>
            <a:r>
              <a:rPr sz="800" b="1">
                <a:solidFill>
                  <a:srgbClr val="FFFFFF"/>
                </a:solidFill>
              </a:rPr>
              <a:t>v</a:t>
            </a:r>
            <a:endParaRPr sz="800"/>
          </a:p>
        </p:txBody>
      </p:sp>
      <p:sp>
        <p:nvSpPr>
          <p:cNvPr id="25" name="Text 23">
            <a:extLst>
              <a:ext uri="{FF2B5EF4-FFF2-40B4-BE49-F238E27FC236}">
                <a16:creationId xmlns:a16="http://schemas.microsoft.com/office/drawing/2014/main" id="{38E3C507-F339-4F2F-954D-39C52FC073E3}"/>
              </a:ext>
            </a:extLst>
          </p:cNvPr>
          <p:cNvSpPr>
            <a:spLocks noGrp="1"/>
          </p:cNvSpPr>
          <p:nvPr/>
        </p:nvSpPr>
        <p:spPr>
          <a:xfrm>
            <a:off x="713232" y="3383280"/>
            <a:ext cx="3611880" cy="347472"/>
          </a:xfrm>
          <a:prstGeom prst="rect">
            <a:avLst/>
          </a:prstGeom>
          <a:noFill/>
        </p:spPr>
        <p:txBody>
          <a:bodyPr wrap="square" lIns="0" tIns="0" rIns="0" bIns="0" anchor="ctr"/>
          <a:lstStyle/>
          <a:p>
            <a:pPr marL="0" indent="0">
              <a:buNone/>
            </a:pPr>
            <a:r>
              <a:rPr sz="850">
                <a:solidFill>
                  <a:srgbClr val="1A2638"/>
                </a:solidFill>
              </a:rPr>
              <a:t>Rebuild annually when new labelled outcomes and completed-year inputs are available.</a:t>
            </a:r>
            <a:endParaRPr sz="850"/>
          </a:p>
        </p:txBody>
      </p:sp>
      <p:sp>
        <p:nvSpPr>
          <p:cNvPr id="26" name="Shape 24">
            <a:extLst>
              <a:ext uri="{FF2B5EF4-FFF2-40B4-BE49-F238E27FC236}">
                <a16:creationId xmlns:a16="http://schemas.microsoft.com/office/drawing/2014/main" id="{08C68075-9284-4574-87C1-08DABFEF76DE}"/>
              </a:ext>
            </a:extLst>
          </p:cNvPr>
          <p:cNvSpPr>
            <a:spLocks noGrp="1"/>
          </p:cNvSpPr>
          <p:nvPr/>
        </p:nvSpPr>
        <p:spPr>
          <a:xfrm>
            <a:off x="438912" y="3822192"/>
            <a:ext cx="201168" cy="201168"/>
          </a:xfrm>
          <a:prstGeom prst="rect">
            <a:avLst/>
          </a:prstGeom>
          <a:solidFill>
            <a:srgbClr val="2A9D61"/>
          </a:solidFill>
          <a:ln w="12700">
            <a:solidFill>
              <a:srgbClr val="2A9D61"/>
            </a:solidFill>
            <a:prstDash val="solid"/>
          </a:ln>
        </p:spPr>
      </p:sp>
      <p:sp>
        <p:nvSpPr>
          <p:cNvPr id="27" name="Text 25">
            <a:extLst>
              <a:ext uri="{FF2B5EF4-FFF2-40B4-BE49-F238E27FC236}">
                <a16:creationId xmlns:a16="http://schemas.microsoft.com/office/drawing/2014/main" id="{E6782FB0-9CF8-4988-961D-609E903C78A1}"/>
              </a:ext>
            </a:extLst>
          </p:cNvPr>
          <p:cNvSpPr>
            <a:spLocks noGrp="1"/>
          </p:cNvSpPr>
          <p:nvPr/>
        </p:nvSpPr>
        <p:spPr>
          <a:xfrm>
            <a:off x="438912" y="3822192"/>
            <a:ext cx="201168" cy="201168"/>
          </a:xfrm>
          <a:prstGeom prst="rect">
            <a:avLst/>
          </a:prstGeom>
          <a:noFill/>
        </p:spPr>
        <p:txBody>
          <a:bodyPr wrap="square" lIns="0" tIns="0" rIns="0" bIns="0" anchor="ctr"/>
          <a:lstStyle/>
          <a:p>
            <a:pPr marL="0" indent="0" algn="ctr">
              <a:buNone/>
            </a:pPr>
            <a:r>
              <a:rPr sz="800" b="1">
                <a:solidFill>
                  <a:srgbClr val="FFFFFF"/>
                </a:solidFill>
              </a:rPr>
              <a:t>v</a:t>
            </a:r>
            <a:endParaRPr sz="800"/>
          </a:p>
        </p:txBody>
      </p:sp>
      <p:sp>
        <p:nvSpPr>
          <p:cNvPr id="28" name="Text 26">
            <a:extLst>
              <a:ext uri="{FF2B5EF4-FFF2-40B4-BE49-F238E27FC236}">
                <a16:creationId xmlns:a16="http://schemas.microsoft.com/office/drawing/2014/main" id="{70F27152-BCAD-46B7-826B-959E39FABFED}"/>
              </a:ext>
            </a:extLst>
          </p:cNvPr>
          <p:cNvSpPr>
            <a:spLocks noGrp="1"/>
          </p:cNvSpPr>
          <p:nvPr/>
        </p:nvSpPr>
        <p:spPr>
          <a:xfrm>
            <a:off x="713232" y="3785616"/>
            <a:ext cx="3611880" cy="347472"/>
          </a:xfrm>
          <a:prstGeom prst="rect">
            <a:avLst/>
          </a:prstGeom>
          <a:noFill/>
        </p:spPr>
        <p:txBody>
          <a:bodyPr wrap="square" lIns="0" tIns="0" rIns="0" bIns="0" anchor="ctr"/>
          <a:lstStyle/>
          <a:p>
            <a:pPr marL="0" indent="0">
              <a:buNone/>
            </a:pPr>
            <a:r>
              <a:rPr sz="850">
                <a:solidFill>
                  <a:srgbClr val="1A2638"/>
                </a:solidFill>
              </a:rPr>
              <a:t>Keep source files, model version and forecast year traceable.</a:t>
            </a:r>
            <a:endParaRPr sz="850"/>
          </a:p>
        </p:txBody>
      </p:sp>
      <p:sp>
        <p:nvSpPr>
          <p:cNvPr id="29" name="Shape 27">
            <a:extLst>
              <a:ext uri="{FF2B5EF4-FFF2-40B4-BE49-F238E27FC236}">
                <a16:creationId xmlns:a16="http://schemas.microsoft.com/office/drawing/2014/main" id="{6FE7194F-DD64-44E7-98A2-9C4D403266C2}"/>
              </a:ext>
            </a:extLst>
          </p:cNvPr>
          <p:cNvSpPr>
            <a:spLocks noGrp="1"/>
          </p:cNvSpPr>
          <p:nvPr/>
        </p:nvSpPr>
        <p:spPr>
          <a:xfrm>
            <a:off x="438912" y="4224528"/>
            <a:ext cx="201168" cy="201168"/>
          </a:xfrm>
          <a:prstGeom prst="rect">
            <a:avLst/>
          </a:prstGeom>
          <a:solidFill>
            <a:srgbClr val="2A9D61"/>
          </a:solidFill>
          <a:ln w="12700">
            <a:solidFill>
              <a:srgbClr val="2A9D61"/>
            </a:solidFill>
            <a:prstDash val="solid"/>
          </a:ln>
        </p:spPr>
      </p:sp>
      <p:sp>
        <p:nvSpPr>
          <p:cNvPr id="30" name="Text 28">
            <a:extLst>
              <a:ext uri="{FF2B5EF4-FFF2-40B4-BE49-F238E27FC236}">
                <a16:creationId xmlns:a16="http://schemas.microsoft.com/office/drawing/2014/main" id="{6BF79431-F44F-4E26-8B43-6D69C49965C2}"/>
              </a:ext>
            </a:extLst>
          </p:cNvPr>
          <p:cNvSpPr>
            <a:spLocks noGrp="1"/>
          </p:cNvSpPr>
          <p:nvPr/>
        </p:nvSpPr>
        <p:spPr>
          <a:xfrm>
            <a:off x="438912" y="4224528"/>
            <a:ext cx="201168" cy="201168"/>
          </a:xfrm>
          <a:prstGeom prst="rect">
            <a:avLst/>
          </a:prstGeom>
          <a:noFill/>
        </p:spPr>
        <p:txBody>
          <a:bodyPr wrap="square" lIns="0" tIns="0" rIns="0" bIns="0" anchor="ctr"/>
          <a:lstStyle/>
          <a:p>
            <a:pPr marL="0" indent="0" algn="ctr">
              <a:buNone/>
            </a:pPr>
            <a:r>
              <a:rPr sz="800" b="1">
                <a:solidFill>
                  <a:srgbClr val="FFFFFF"/>
                </a:solidFill>
              </a:rPr>
              <a:t>v</a:t>
            </a:r>
            <a:endParaRPr sz="800"/>
          </a:p>
        </p:txBody>
      </p:sp>
      <p:sp>
        <p:nvSpPr>
          <p:cNvPr id="31" name="Text 29">
            <a:extLst>
              <a:ext uri="{FF2B5EF4-FFF2-40B4-BE49-F238E27FC236}">
                <a16:creationId xmlns:a16="http://schemas.microsoft.com/office/drawing/2014/main" id="{234F4672-94F5-40EC-848A-2B04CEEC2D52}"/>
              </a:ext>
            </a:extLst>
          </p:cNvPr>
          <p:cNvSpPr>
            <a:spLocks noGrp="1"/>
          </p:cNvSpPr>
          <p:nvPr/>
        </p:nvSpPr>
        <p:spPr>
          <a:xfrm>
            <a:off x="713232" y="4187952"/>
            <a:ext cx="3611880" cy="347472"/>
          </a:xfrm>
          <a:prstGeom prst="rect">
            <a:avLst/>
          </a:prstGeom>
          <a:noFill/>
        </p:spPr>
        <p:txBody>
          <a:bodyPr wrap="square" lIns="0" tIns="0" rIns="0" bIns="0" anchor="ctr"/>
          <a:lstStyle/>
          <a:p>
            <a:pPr marL="0" indent="0">
              <a:buNone/>
            </a:pPr>
            <a:r>
              <a:rPr sz="850">
                <a:solidFill>
                  <a:srgbClr val="1A2638"/>
                </a:solidFill>
              </a:rPr>
              <a:t>Keep local verification in the workflow.</a:t>
            </a:r>
            <a:endParaRPr sz="850"/>
          </a:p>
        </p:txBody>
      </p:sp>
      <p:sp>
        <p:nvSpPr>
          <p:cNvPr id="32" name="Shape 30">
            <a:extLst>
              <a:ext uri="{FF2B5EF4-FFF2-40B4-BE49-F238E27FC236}">
                <a16:creationId xmlns:a16="http://schemas.microsoft.com/office/drawing/2014/main" id="{8CFE47B9-6214-49BF-BAB5-E46AF5D658EC}"/>
              </a:ext>
            </a:extLst>
          </p:cNvPr>
          <p:cNvSpPr>
            <a:spLocks noGrp="1"/>
          </p:cNvSpPr>
          <p:nvPr/>
        </p:nvSpPr>
        <p:spPr>
          <a:xfrm>
            <a:off x="4709160" y="1298448"/>
            <a:ext cx="4160520" cy="3291840"/>
          </a:xfrm>
          <a:prstGeom prst="rect">
            <a:avLst/>
          </a:prstGeom>
          <a:solidFill>
            <a:srgbClr val="FFFFFF"/>
          </a:solidFill>
          <a:ln w="12700">
            <a:solidFill>
              <a:srgbClr val="E1E8EF"/>
            </a:solidFill>
            <a:prstDash val="solid"/>
          </a:ln>
          <a:effectLst>
            <a:outerShdw blurRad="101600" dist="38100" dir="8100000" algn="bl" rotWithShape="0">
              <a:srgbClr val="000000">
                <a:alpha val="10000"/>
              </a:srgbClr>
            </a:outerShdw>
          </a:effectLst>
        </p:spPr>
      </p:sp>
      <p:sp>
        <p:nvSpPr>
          <p:cNvPr id="33" name="Shape 31">
            <a:extLst>
              <a:ext uri="{FF2B5EF4-FFF2-40B4-BE49-F238E27FC236}">
                <a16:creationId xmlns:a16="http://schemas.microsoft.com/office/drawing/2014/main" id="{A8D64D74-58C5-46B8-81B3-038E3D611275}"/>
              </a:ext>
            </a:extLst>
          </p:cNvPr>
          <p:cNvSpPr>
            <a:spLocks noGrp="1"/>
          </p:cNvSpPr>
          <p:nvPr/>
        </p:nvSpPr>
        <p:spPr>
          <a:xfrm>
            <a:off x="4709160" y="1298448"/>
            <a:ext cx="4160520" cy="384048"/>
          </a:xfrm>
          <a:prstGeom prst="rect">
            <a:avLst/>
          </a:prstGeom>
          <a:solidFill>
            <a:srgbClr val="1E3A50"/>
          </a:solidFill>
          <a:ln w="12700">
            <a:solidFill>
              <a:srgbClr val="1E3A50"/>
            </a:solidFill>
            <a:prstDash val="solid"/>
          </a:ln>
        </p:spPr>
      </p:sp>
      <p:sp>
        <p:nvSpPr>
          <p:cNvPr id="34" name="Text 32">
            <a:extLst>
              <a:ext uri="{FF2B5EF4-FFF2-40B4-BE49-F238E27FC236}">
                <a16:creationId xmlns:a16="http://schemas.microsoft.com/office/drawing/2014/main" id="{94210AFE-3DED-4395-AC76-61EA6433B9A0}"/>
              </a:ext>
            </a:extLst>
          </p:cNvPr>
          <p:cNvSpPr>
            <a:spLocks noGrp="1"/>
          </p:cNvSpPr>
          <p:nvPr/>
        </p:nvSpPr>
        <p:spPr>
          <a:xfrm>
            <a:off x="4709160" y="1298448"/>
            <a:ext cx="4160520" cy="384048"/>
          </a:xfrm>
          <a:prstGeom prst="rect">
            <a:avLst/>
          </a:prstGeom>
          <a:noFill/>
        </p:spPr>
        <p:txBody>
          <a:bodyPr wrap="square" lIns="0" tIns="0" rIns="0" bIns="0" anchor="ctr"/>
          <a:lstStyle/>
          <a:p>
            <a:pPr marL="0" indent="0" algn="ctr">
              <a:buNone/>
            </a:pPr>
            <a:r>
              <a:rPr sz="1000" b="1">
                <a:solidFill>
                  <a:srgbClr val="FFFFFF"/>
                </a:solidFill>
              </a:rPr>
              <a:t>Why this matters</a:t>
            </a:r>
            <a:endParaRPr sz="1000"/>
          </a:p>
        </p:txBody>
      </p:sp>
      <p:sp>
        <p:nvSpPr>
          <p:cNvPr id="35" name="Text 33">
            <a:extLst>
              <a:ext uri="{FF2B5EF4-FFF2-40B4-BE49-F238E27FC236}">
                <a16:creationId xmlns:a16="http://schemas.microsoft.com/office/drawing/2014/main" id="{7D1E2215-4749-4102-8766-0EF9CB908835}"/>
              </a:ext>
            </a:extLst>
          </p:cNvPr>
          <p:cNvSpPr>
            <a:spLocks noGrp="1"/>
          </p:cNvSpPr>
          <p:nvPr/>
        </p:nvSpPr>
        <p:spPr>
          <a:xfrm>
            <a:off x="4873752" y="1755648"/>
            <a:ext cx="3886200" cy="256032"/>
          </a:xfrm>
          <a:prstGeom prst="rect">
            <a:avLst/>
          </a:prstGeom>
          <a:noFill/>
        </p:spPr>
        <p:txBody>
          <a:bodyPr wrap="square" lIns="0" tIns="0" rIns="0" bIns="0" anchor="ctr"/>
          <a:lstStyle/>
          <a:p>
            <a:pPr marL="0" indent="0">
              <a:buNone/>
            </a:pPr>
            <a:r>
              <a:rPr sz="800" b="1">
                <a:solidFill>
                  <a:srgbClr val="5B6880"/>
                </a:solidFill>
              </a:rPr>
              <a:t>Technical</a:t>
            </a:r>
            <a:endParaRPr sz="800"/>
          </a:p>
        </p:txBody>
      </p:sp>
      <p:sp>
        <p:nvSpPr>
          <p:cNvPr id="36" name="Shape 34">
            <a:extLst>
              <a:ext uri="{FF2B5EF4-FFF2-40B4-BE49-F238E27FC236}">
                <a16:creationId xmlns:a16="http://schemas.microsoft.com/office/drawing/2014/main" id="{E9765024-23F7-4BAD-82E2-D0944ECD817D}"/>
              </a:ext>
            </a:extLst>
          </p:cNvPr>
          <p:cNvSpPr>
            <a:spLocks noGrp="1"/>
          </p:cNvSpPr>
          <p:nvPr/>
        </p:nvSpPr>
        <p:spPr>
          <a:xfrm>
            <a:off x="4873752" y="2093976"/>
            <a:ext cx="164592" cy="164592"/>
          </a:xfrm>
          <a:prstGeom prst="rect">
            <a:avLst/>
          </a:prstGeom>
          <a:solidFill>
            <a:srgbClr val="2E6DB4"/>
          </a:solidFill>
          <a:ln w="12700">
            <a:solidFill>
              <a:srgbClr val="2E6DB4"/>
            </a:solidFill>
            <a:prstDash val="solid"/>
          </a:ln>
        </p:spPr>
      </p:sp>
      <p:sp>
        <p:nvSpPr>
          <p:cNvPr id="37" name="Text 35">
            <a:extLst>
              <a:ext uri="{FF2B5EF4-FFF2-40B4-BE49-F238E27FC236}">
                <a16:creationId xmlns:a16="http://schemas.microsoft.com/office/drawing/2014/main" id="{3DB21FEE-311F-4CB4-9BB7-CEE277DD9E7E}"/>
              </a:ext>
            </a:extLst>
          </p:cNvPr>
          <p:cNvSpPr>
            <a:spLocks noGrp="1"/>
          </p:cNvSpPr>
          <p:nvPr/>
        </p:nvSpPr>
        <p:spPr>
          <a:xfrm>
            <a:off x="4873752" y="2093976"/>
            <a:ext cx="164592" cy="164592"/>
          </a:xfrm>
          <a:prstGeom prst="rect">
            <a:avLst/>
          </a:prstGeom>
          <a:noFill/>
        </p:spPr>
        <p:txBody>
          <a:bodyPr wrap="square" lIns="0" tIns="0" rIns="0" bIns="0" anchor="ctr"/>
          <a:lstStyle/>
          <a:p>
            <a:pPr marL="0" indent="0" algn="ctr">
              <a:buNone/>
            </a:pPr>
            <a:r>
              <a:rPr sz="700" b="1">
                <a:solidFill>
                  <a:srgbClr val="FFFFFF"/>
                </a:solidFill>
              </a:rPr>
              <a:t>v</a:t>
            </a:r>
            <a:endParaRPr sz="700"/>
          </a:p>
        </p:txBody>
      </p:sp>
      <p:sp>
        <p:nvSpPr>
          <p:cNvPr id="38" name="Text 36">
            <a:extLst>
              <a:ext uri="{FF2B5EF4-FFF2-40B4-BE49-F238E27FC236}">
                <a16:creationId xmlns:a16="http://schemas.microsoft.com/office/drawing/2014/main" id="{EC831CFF-D119-4E88-B1D0-71E2982079DD}"/>
              </a:ext>
            </a:extLst>
          </p:cNvPr>
          <p:cNvSpPr>
            <a:spLocks noGrp="1"/>
          </p:cNvSpPr>
          <p:nvPr/>
        </p:nvSpPr>
        <p:spPr>
          <a:xfrm>
            <a:off x="5111496" y="2048256"/>
            <a:ext cx="3648456" cy="320040"/>
          </a:xfrm>
          <a:prstGeom prst="rect">
            <a:avLst/>
          </a:prstGeom>
          <a:noFill/>
        </p:spPr>
        <p:txBody>
          <a:bodyPr wrap="square" lIns="0" tIns="0" rIns="0" bIns="0" anchor="ctr"/>
          <a:lstStyle/>
          <a:p>
            <a:pPr marL="0" indent="0">
              <a:buNone/>
            </a:pPr>
            <a:r>
              <a:rPr sz="800">
                <a:solidFill>
                  <a:srgbClr val="1A2638"/>
                </a:solidFill>
              </a:rPr>
              <a:t>The project gives a reproducible first screen. A real property decision needs evidence that a national 1 km model cannot provide.</a:t>
            </a:r>
            <a:endParaRPr sz="800"/>
          </a:p>
        </p:txBody>
      </p:sp>
      <p:sp>
        <p:nvSpPr>
          <p:cNvPr id="39" name="Shape 37">
            <a:extLst>
              <a:ext uri="{FF2B5EF4-FFF2-40B4-BE49-F238E27FC236}">
                <a16:creationId xmlns:a16="http://schemas.microsoft.com/office/drawing/2014/main" id="{6E8C027E-8773-4500-B33B-62E87DB5F217}"/>
              </a:ext>
            </a:extLst>
          </p:cNvPr>
          <p:cNvSpPr>
            <a:spLocks noGrp="1"/>
          </p:cNvSpPr>
          <p:nvPr/>
        </p:nvSpPr>
        <p:spPr>
          <a:xfrm>
            <a:off x="4873752" y="2441448"/>
            <a:ext cx="164592" cy="164592"/>
          </a:xfrm>
          <a:prstGeom prst="rect">
            <a:avLst/>
          </a:prstGeom>
          <a:solidFill>
            <a:srgbClr val="2E6DB4"/>
          </a:solidFill>
          <a:ln w="12700">
            <a:solidFill>
              <a:srgbClr val="2E6DB4"/>
            </a:solidFill>
            <a:prstDash val="solid"/>
          </a:ln>
        </p:spPr>
      </p:sp>
      <p:sp>
        <p:nvSpPr>
          <p:cNvPr id="40" name="Text 38">
            <a:extLst>
              <a:ext uri="{FF2B5EF4-FFF2-40B4-BE49-F238E27FC236}">
                <a16:creationId xmlns:a16="http://schemas.microsoft.com/office/drawing/2014/main" id="{60AA1538-DD26-48A4-801E-5B50EDDC6EF9}"/>
              </a:ext>
            </a:extLst>
          </p:cNvPr>
          <p:cNvSpPr>
            <a:spLocks noGrp="1"/>
          </p:cNvSpPr>
          <p:nvPr/>
        </p:nvSpPr>
        <p:spPr>
          <a:xfrm>
            <a:off x="4873752" y="2441448"/>
            <a:ext cx="164592" cy="164592"/>
          </a:xfrm>
          <a:prstGeom prst="rect">
            <a:avLst/>
          </a:prstGeom>
          <a:noFill/>
        </p:spPr>
        <p:txBody>
          <a:bodyPr wrap="square" lIns="0" tIns="0" rIns="0" bIns="0" anchor="ctr"/>
          <a:lstStyle/>
          <a:p>
            <a:pPr marL="0" indent="0" algn="ctr">
              <a:buNone/>
            </a:pPr>
            <a:r>
              <a:rPr sz="700" b="1">
                <a:solidFill>
                  <a:srgbClr val="FFFFFF"/>
                </a:solidFill>
              </a:rPr>
              <a:t>v</a:t>
            </a:r>
            <a:endParaRPr sz="700"/>
          </a:p>
        </p:txBody>
      </p:sp>
      <p:sp>
        <p:nvSpPr>
          <p:cNvPr id="41" name="Text 39">
            <a:extLst>
              <a:ext uri="{FF2B5EF4-FFF2-40B4-BE49-F238E27FC236}">
                <a16:creationId xmlns:a16="http://schemas.microsoft.com/office/drawing/2014/main" id="{AB334C3D-7F39-4FE7-B95B-21588560F91A}"/>
              </a:ext>
            </a:extLst>
          </p:cNvPr>
          <p:cNvSpPr>
            <a:spLocks noGrp="1"/>
          </p:cNvSpPr>
          <p:nvPr/>
        </p:nvSpPr>
        <p:spPr>
          <a:xfrm>
            <a:off x="5111496" y="2395728"/>
            <a:ext cx="3648456" cy="320040"/>
          </a:xfrm>
          <a:prstGeom prst="rect">
            <a:avLst/>
          </a:prstGeom>
          <a:noFill/>
        </p:spPr>
        <p:txBody>
          <a:bodyPr wrap="square" lIns="0" tIns="0" rIns="0" bIns="0" anchor="ctr"/>
          <a:lstStyle/>
          <a:p>
            <a:pPr marL="0" indent="0">
              <a:buNone/>
            </a:pPr>
            <a:r>
              <a:rPr sz="800">
                <a:solidFill>
                  <a:srgbClr val="1A2638"/>
                </a:solidFill>
              </a:rPr>
              <a:t>The workflow is designed to make uncertainty visible rather than hide it.</a:t>
            </a:r>
            <a:endParaRPr sz="800"/>
          </a:p>
        </p:txBody>
      </p:sp>
      <p:sp>
        <p:nvSpPr>
          <p:cNvPr id="42" name="Shape 40">
            <a:extLst>
              <a:ext uri="{FF2B5EF4-FFF2-40B4-BE49-F238E27FC236}">
                <a16:creationId xmlns:a16="http://schemas.microsoft.com/office/drawing/2014/main" id="{EB1A818B-27E2-4AC9-A7A5-A37B13D81AEE}"/>
              </a:ext>
            </a:extLst>
          </p:cNvPr>
          <p:cNvSpPr>
            <a:spLocks noGrp="1"/>
          </p:cNvSpPr>
          <p:nvPr/>
        </p:nvSpPr>
        <p:spPr>
          <a:xfrm>
            <a:off x="4873752" y="2788920"/>
            <a:ext cx="164592" cy="164592"/>
          </a:xfrm>
          <a:prstGeom prst="rect">
            <a:avLst/>
          </a:prstGeom>
          <a:solidFill>
            <a:srgbClr val="2E6DB4"/>
          </a:solidFill>
          <a:ln w="12700">
            <a:solidFill>
              <a:srgbClr val="2E6DB4"/>
            </a:solidFill>
            <a:prstDash val="solid"/>
          </a:ln>
        </p:spPr>
      </p:sp>
      <p:sp>
        <p:nvSpPr>
          <p:cNvPr id="43" name="Text 41">
            <a:extLst>
              <a:ext uri="{FF2B5EF4-FFF2-40B4-BE49-F238E27FC236}">
                <a16:creationId xmlns:a16="http://schemas.microsoft.com/office/drawing/2014/main" id="{C9A0C132-E061-47E9-86DA-C56EBC4FE862}"/>
              </a:ext>
            </a:extLst>
          </p:cNvPr>
          <p:cNvSpPr>
            <a:spLocks noGrp="1"/>
          </p:cNvSpPr>
          <p:nvPr/>
        </p:nvSpPr>
        <p:spPr>
          <a:xfrm>
            <a:off x="4873752" y="2788920"/>
            <a:ext cx="164592" cy="164592"/>
          </a:xfrm>
          <a:prstGeom prst="rect">
            <a:avLst/>
          </a:prstGeom>
          <a:noFill/>
        </p:spPr>
        <p:txBody>
          <a:bodyPr wrap="square" lIns="0" tIns="0" rIns="0" bIns="0" anchor="ctr"/>
          <a:lstStyle/>
          <a:p>
            <a:pPr marL="0" indent="0" algn="ctr">
              <a:buNone/>
            </a:pPr>
            <a:r>
              <a:rPr sz="700" b="1">
                <a:solidFill>
                  <a:srgbClr val="FFFFFF"/>
                </a:solidFill>
              </a:rPr>
              <a:t>v</a:t>
            </a:r>
            <a:endParaRPr sz="700"/>
          </a:p>
        </p:txBody>
      </p:sp>
      <p:sp>
        <p:nvSpPr>
          <p:cNvPr id="44" name="Text 42">
            <a:extLst>
              <a:ext uri="{FF2B5EF4-FFF2-40B4-BE49-F238E27FC236}">
                <a16:creationId xmlns:a16="http://schemas.microsoft.com/office/drawing/2014/main" id="{A498733C-FEFE-442D-BBCC-FBAA98860A46}"/>
              </a:ext>
            </a:extLst>
          </p:cNvPr>
          <p:cNvSpPr>
            <a:spLocks noGrp="1"/>
          </p:cNvSpPr>
          <p:nvPr/>
        </p:nvSpPr>
        <p:spPr>
          <a:xfrm>
            <a:off x="5111496" y="2743200"/>
            <a:ext cx="3648456" cy="320040"/>
          </a:xfrm>
          <a:prstGeom prst="rect">
            <a:avLst/>
          </a:prstGeom>
          <a:noFill/>
        </p:spPr>
        <p:txBody>
          <a:bodyPr wrap="square" lIns="0" tIns="0" rIns="0" bIns="0" anchor="ctr"/>
          <a:lstStyle/>
          <a:p>
            <a:pPr marL="0" indent="0">
              <a:buNone/>
            </a:pPr>
            <a:r>
              <a:rPr sz="800">
                <a:solidFill>
                  <a:srgbClr val="1A2638"/>
                </a:solidFill>
              </a:rPr>
              <a:t>The annual update process keeps the evidence current without changing the project’s scientific contract.</a:t>
            </a:r>
            <a:endParaRPr sz="800"/>
          </a:p>
        </p:txBody>
      </p:sp>
      <p:sp>
        <p:nvSpPr>
          <p:cNvPr id="45" name="Text 43">
            <a:extLst>
              <a:ext uri="{FF2B5EF4-FFF2-40B4-BE49-F238E27FC236}">
                <a16:creationId xmlns:a16="http://schemas.microsoft.com/office/drawing/2014/main" id="{2261A078-89E7-4EDE-AF5A-975F083F6C40}"/>
              </a:ext>
            </a:extLst>
          </p:cNvPr>
          <p:cNvSpPr>
            <a:spLocks noGrp="1"/>
          </p:cNvSpPr>
          <p:nvPr/>
        </p:nvSpPr>
        <p:spPr>
          <a:xfrm>
            <a:off x="4873752" y="3127248"/>
            <a:ext cx="3886200" cy="256032"/>
          </a:xfrm>
          <a:prstGeom prst="rect">
            <a:avLst/>
          </a:prstGeom>
          <a:noFill/>
        </p:spPr>
        <p:txBody>
          <a:bodyPr wrap="square" lIns="0" tIns="0" rIns="0" bIns="0" anchor="ctr"/>
          <a:lstStyle/>
          <a:p>
            <a:pPr marL="0" indent="0">
              <a:buNone/>
            </a:pPr>
            <a:r>
              <a:rPr sz="800" b="1">
                <a:solidFill>
                  <a:srgbClr val="5B6880"/>
                </a:solidFill>
              </a:rPr>
              <a:t>Delivery Tips</a:t>
            </a:r>
            <a:endParaRPr sz="800"/>
          </a:p>
        </p:txBody>
      </p:sp>
      <p:sp>
        <p:nvSpPr>
          <p:cNvPr id="46" name="Text 44">
            <a:extLst>
              <a:ext uri="{FF2B5EF4-FFF2-40B4-BE49-F238E27FC236}">
                <a16:creationId xmlns:a16="http://schemas.microsoft.com/office/drawing/2014/main" id="{878FBAF7-6DD0-4D72-8C29-5EBD1F7FB714}"/>
              </a:ext>
            </a:extLst>
          </p:cNvPr>
          <p:cNvSpPr>
            <a:spLocks noGrp="1"/>
          </p:cNvSpPr>
          <p:nvPr/>
        </p:nvSpPr>
        <p:spPr>
          <a:xfrm>
            <a:off x="4873752" y="3401568"/>
            <a:ext cx="3886200" cy="237744"/>
          </a:xfrm>
          <a:prstGeom prst="rect">
            <a:avLst/>
          </a:prstGeom>
          <a:noFill/>
        </p:spPr>
        <p:txBody>
          <a:bodyPr wrap="square" lIns="0" tIns="0" rIns="0" bIns="0" anchor="ctr"/>
          <a:lstStyle/>
          <a:p>
            <a:pPr marL="0" indent="0">
              <a:buNone/>
            </a:pPr>
            <a:r>
              <a:rPr sz="750" b="1">
                <a:solidFill>
                  <a:srgbClr val="E8A020"/>
                </a:solidFill>
              </a:rPr>
              <a:t>Talk track</a:t>
            </a:r>
            <a:endParaRPr sz="750"/>
          </a:p>
        </p:txBody>
      </p:sp>
      <p:sp>
        <p:nvSpPr>
          <p:cNvPr id="47" name="Text 45">
            <a:extLst>
              <a:ext uri="{FF2B5EF4-FFF2-40B4-BE49-F238E27FC236}">
                <a16:creationId xmlns:a16="http://schemas.microsoft.com/office/drawing/2014/main" id="{F3852103-32CC-4EA7-912B-BBCD278D546F}"/>
              </a:ext>
            </a:extLst>
          </p:cNvPr>
          <p:cNvSpPr>
            <a:spLocks noGrp="1"/>
          </p:cNvSpPr>
          <p:nvPr/>
        </p:nvSpPr>
        <p:spPr>
          <a:xfrm>
            <a:off x="4873752" y="3630168"/>
            <a:ext cx="3886200" cy="237744"/>
          </a:xfrm>
          <a:prstGeom prst="rect">
            <a:avLst/>
          </a:prstGeom>
          <a:noFill/>
        </p:spPr>
        <p:txBody>
          <a:bodyPr wrap="square" lIns="0" tIns="0" rIns="0" bIns="0" anchor="ctr"/>
          <a:lstStyle/>
          <a:p>
            <a:pPr marL="0" indent="0">
              <a:buNone/>
            </a:pPr>
            <a:r>
              <a:rPr sz="750" b="1">
                <a:solidFill>
                  <a:srgbClr val="E8A020"/>
                </a:solidFill>
              </a:rPr>
              <a:t>Start broad.</a:t>
            </a:r>
            <a:endParaRPr sz="750"/>
          </a:p>
        </p:txBody>
      </p:sp>
      <p:sp>
        <p:nvSpPr>
          <p:cNvPr id="48" name="Text 46">
            <a:extLst>
              <a:ext uri="{FF2B5EF4-FFF2-40B4-BE49-F238E27FC236}">
                <a16:creationId xmlns:a16="http://schemas.microsoft.com/office/drawing/2014/main" id="{2967BB4C-17C8-44CC-8349-2DF3F492CC1E}"/>
              </a:ext>
            </a:extLst>
          </p:cNvPr>
          <p:cNvSpPr>
            <a:spLocks noGrp="1"/>
          </p:cNvSpPr>
          <p:nvPr/>
        </p:nvSpPr>
        <p:spPr>
          <a:xfrm>
            <a:off x="4873752" y="3858768"/>
            <a:ext cx="3886200" cy="237744"/>
          </a:xfrm>
          <a:prstGeom prst="rect">
            <a:avLst/>
          </a:prstGeom>
          <a:noFill/>
        </p:spPr>
        <p:txBody>
          <a:bodyPr wrap="square" lIns="0" tIns="0" rIns="0" bIns="0" anchor="ctr"/>
          <a:lstStyle/>
          <a:p>
            <a:pPr marL="0" indent="0">
              <a:buNone/>
            </a:pPr>
            <a:r>
              <a:rPr sz="750" b="1">
                <a:solidFill>
                  <a:srgbClr val="E8A020"/>
                </a:solidFill>
              </a:rPr>
              <a:t>Compare layers.</a:t>
            </a:r>
            <a:endParaRPr sz="750"/>
          </a:p>
        </p:txBody>
      </p:sp>
      <p:sp>
        <p:nvSpPr>
          <p:cNvPr id="49" name="Text 47">
            <a:extLst>
              <a:ext uri="{FF2B5EF4-FFF2-40B4-BE49-F238E27FC236}">
                <a16:creationId xmlns:a16="http://schemas.microsoft.com/office/drawing/2014/main" id="{DF4EBCB9-CEB0-41F1-802C-53DA0FCDC1F9}"/>
              </a:ext>
            </a:extLst>
          </p:cNvPr>
          <p:cNvSpPr>
            <a:spLocks noGrp="1"/>
          </p:cNvSpPr>
          <p:nvPr/>
        </p:nvSpPr>
        <p:spPr>
          <a:xfrm>
            <a:off x="4873752" y="4087368"/>
            <a:ext cx="3886200" cy="237744"/>
          </a:xfrm>
          <a:prstGeom prst="rect">
            <a:avLst/>
          </a:prstGeom>
          <a:noFill/>
        </p:spPr>
        <p:txBody>
          <a:bodyPr wrap="square" lIns="0" tIns="0" rIns="0" bIns="0" anchor="ctr"/>
          <a:lstStyle/>
          <a:p>
            <a:pPr marL="0" indent="0">
              <a:buNone/>
            </a:pPr>
            <a:r>
              <a:rPr sz="750" b="1">
                <a:solidFill>
                  <a:srgbClr val="E8A020"/>
                </a:solidFill>
              </a:rPr>
              <a:t>Verify locally.</a:t>
            </a:r>
            <a:endParaRPr sz="750"/>
          </a:p>
        </p:txBody>
      </p:sp>
      <p:sp>
        <p:nvSpPr>
          <p:cNvPr id="50" name="Text 48">
            <a:extLst>
              <a:ext uri="{FF2B5EF4-FFF2-40B4-BE49-F238E27FC236}">
                <a16:creationId xmlns:a16="http://schemas.microsoft.com/office/drawing/2014/main" id="{65D5A184-9B2C-4B10-B5DC-1A3F3D8E2894}"/>
              </a:ext>
            </a:extLst>
          </p:cNvPr>
          <p:cNvSpPr>
            <a:spLocks noGrp="1"/>
          </p:cNvSpPr>
          <p:nvPr/>
        </p:nvSpPr>
        <p:spPr>
          <a:xfrm>
            <a:off x="4873752" y="4315968"/>
            <a:ext cx="3886200" cy="237744"/>
          </a:xfrm>
          <a:prstGeom prst="rect">
            <a:avLst/>
          </a:prstGeom>
          <a:noFill/>
        </p:spPr>
        <p:txBody>
          <a:bodyPr wrap="square" lIns="0" tIns="0" rIns="0" bIns="0" anchor="ctr"/>
          <a:lstStyle/>
          <a:p>
            <a:pPr marL="0" indent="0">
              <a:buNone/>
            </a:pPr>
            <a:r>
              <a:rPr sz="750" b="1">
                <a:solidFill>
                  <a:srgbClr val="E8A020"/>
                </a:solidFill>
              </a:rPr>
              <a:t>Use evidence before deciding.</a:t>
            </a:r>
            <a:endParaRPr sz="750"/>
          </a:p>
        </p:txBody>
      </p:sp>
      <p:sp>
        <p:nvSpPr>
          <p:cNvPr id="51" name="Shape 49">
            <a:extLst>
              <a:ext uri="{FF2B5EF4-FFF2-40B4-BE49-F238E27FC236}">
                <a16:creationId xmlns:a16="http://schemas.microsoft.com/office/drawing/2014/main" id="{60AB1022-AFE8-48AA-AF67-D4B907288A08}"/>
              </a:ext>
            </a:extLst>
          </p:cNvPr>
          <p:cNvSpPr>
            <a:spLocks noGrp="1"/>
          </p:cNvSpPr>
          <p:nvPr/>
        </p:nvSpPr>
        <p:spPr>
          <a:xfrm>
            <a:off x="274320" y="4663440"/>
            <a:ext cx="8595360" cy="292608"/>
          </a:xfrm>
          <a:prstGeom prst="rect">
            <a:avLst/>
          </a:prstGeom>
          <a:solidFill>
            <a:srgbClr val="2A9D61"/>
          </a:solidFill>
          <a:ln w="12700">
            <a:solidFill>
              <a:srgbClr val="2A9D61"/>
            </a:solidFill>
            <a:prstDash val="solid"/>
          </a:ln>
        </p:spPr>
      </p:sp>
      <p:sp>
        <p:nvSpPr>
          <p:cNvPr id="52" name="Text 50">
            <a:extLst>
              <a:ext uri="{FF2B5EF4-FFF2-40B4-BE49-F238E27FC236}">
                <a16:creationId xmlns:a16="http://schemas.microsoft.com/office/drawing/2014/main" id="{888510B6-7C6A-4727-A0E5-F48D9F362954}"/>
              </a:ext>
            </a:extLst>
          </p:cNvPr>
          <p:cNvSpPr>
            <a:spLocks noGrp="1"/>
          </p:cNvSpPr>
          <p:nvPr/>
        </p:nvSpPr>
        <p:spPr>
          <a:xfrm>
            <a:off x="411480" y="4663440"/>
            <a:ext cx="8321040" cy="292608"/>
          </a:xfrm>
          <a:prstGeom prst="rect">
            <a:avLst/>
          </a:prstGeom>
          <a:noFill/>
        </p:spPr>
        <p:txBody>
          <a:bodyPr wrap="square" lIns="0" tIns="0" rIns="0" bIns="0" anchor="ctr"/>
          <a:lstStyle/>
          <a:p>
            <a:pPr marL="0" indent="0" algn="ctr">
              <a:buNone/>
            </a:pPr>
            <a:r>
              <a:rPr sz="850" b="1">
                <a:solidFill>
                  <a:srgbClr val="FFFFFF"/>
                </a:solidFill>
              </a:rPr>
              <a:t>The practical question is: which areas deserve deeper investigation first?</a:t>
            </a:r>
            <a:endParaRPr sz="850"/>
          </a:p>
        </p:txBody>
      </p:sp>
      <p:sp>
        <p:nvSpPr>
          <p:cNvPr id="53" name="Shape 51">
            <a:extLst>
              <a:ext uri="{FF2B5EF4-FFF2-40B4-BE49-F238E27FC236}">
                <a16:creationId xmlns:a16="http://schemas.microsoft.com/office/drawing/2014/main" id="{4EF06526-1530-434D-877D-54CADC545895}"/>
              </a:ext>
            </a:extLst>
          </p:cNvPr>
          <p:cNvSpPr>
            <a:spLocks noGrp="1"/>
          </p:cNvSpPr>
          <p:nvPr/>
        </p:nvSpPr>
        <p:spPr>
          <a:xfrm>
            <a:off x="0" y="4919472"/>
            <a:ext cx="9144000" cy="224028"/>
          </a:xfrm>
          <a:prstGeom prst="rect">
            <a:avLst/>
          </a:prstGeom>
          <a:solidFill>
            <a:srgbClr val="162B3D"/>
          </a:solidFill>
          <a:ln w="12700">
            <a:solidFill>
              <a:srgbClr val="162B3D"/>
            </a:solidFill>
            <a:prstDash val="solid"/>
          </a:ln>
        </p:spPr>
      </p:sp>
      <p:sp>
        <p:nvSpPr>
          <p:cNvPr id="54" name="Text 52">
            <a:extLst>
              <a:ext uri="{FF2B5EF4-FFF2-40B4-BE49-F238E27FC236}">
                <a16:creationId xmlns:a16="http://schemas.microsoft.com/office/drawing/2014/main" id="{AAD75AC7-5746-4AD0-892D-25E5587B3A5D}"/>
              </a:ext>
            </a:extLst>
          </p:cNvPr>
          <p:cNvSpPr>
            <a:spLocks noGrp="1"/>
          </p:cNvSpPr>
          <p:nvPr/>
        </p:nvSpPr>
        <p:spPr>
          <a:xfrm>
            <a:off x="274320" y="4919472"/>
            <a:ext cx="8595360" cy="224028"/>
          </a:xfrm>
          <a:prstGeom prst="rect">
            <a:avLst/>
          </a:prstGeom>
          <a:noFill/>
        </p:spPr>
        <p:txBody>
          <a:bodyPr wrap="square" lIns="0" tIns="0" rIns="0" bIns="0" anchor="ctr"/>
          <a:lstStyle/>
          <a:p>
            <a:pPr marL="0" indent="0">
              <a:buNone/>
            </a:pPr>
            <a:r>
              <a:rPr sz="800" b="1">
                <a:solidFill>
                  <a:srgbClr val="E8A020"/>
                </a:solidFill>
              </a:rPr>
              <a:t>Serhii Diadechko  |  Data Science &amp; Machine Learning Capstone</a:t>
            </a:r>
            <a:endParaRPr sz="800"/>
          </a:p>
        </p:txBody>
      </p:sp>
    </p:spTree>
    <p:extLst>
      <p:ext uri="{BB962C8B-B14F-4D97-AF65-F5344CB8AC3E}">
        <p14:creationId xmlns:p14="http://schemas.microsoft.com/office/powerpoint/2010/main" val="1791781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A86A1C8-DB06-4DCE-9DAF-693B7C77942A}"/>
              </a:ext>
            </a:extLst>
          </p:cNvPr>
          <p:cNvSpPr>
            <a:spLocks noGrp="1"/>
          </p:cNvSpPr>
          <p:nvPr/>
        </p:nvSpPr>
        <p:spPr>
          <a:xfrm>
            <a:off x="0" y="0"/>
            <a:ext cx="9144000" cy="5143500"/>
          </a:xfrm>
          <a:prstGeom prst="rect">
            <a:avLst/>
          </a:prstGeom>
          <a:solidFill>
            <a:srgbClr val="F3F6F9"/>
          </a:solidFill>
          <a:ln w="12700">
            <a:solidFill>
              <a:srgbClr val="F3F6F9"/>
            </a:solidFill>
            <a:prstDash val="solid"/>
          </a:ln>
        </p:spPr>
      </p:sp>
      <p:sp>
        <p:nvSpPr>
          <p:cNvPr id="3" name="Shape 1">
            <a:extLst>
              <a:ext uri="{FF2B5EF4-FFF2-40B4-BE49-F238E27FC236}">
                <a16:creationId xmlns:a16="http://schemas.microsoft.com/office/drawing/2014/main" id="{D197F66D-6C57-4707-8514-4D78C9DEF865}"/>
              </a:ext>
            </a:extLst>
          </p:cNvPr>
          <p:cNvSpPr>
            <a:spLocks noGrp="1"/>
          </p:cNvSpPr>
          <p:nvPr/>
        </p:nvSpPr>
        <p:spPr>
          <a:xfrm>
            <a:off x="0" y="0"/>
            <a:ext cx="9144000" cy="64008"/>
          </a:xfrm>
          <a:prstGeom prst="rect">
            <a:avLst/>
          </a:prstGeom>
          <a:solidFill>
            <a:srgbClr val="E8A020"/>
          </a:solidFill>
          <a:ln w="12700">
            <a:solidFill>
              <a:srgbClr val="E8A020"/>
            </a:solidFill>
            <a:prstDash val="solid"/>
          </a:ln>
        </p:spPr>
      </p:sp>
      <p:sp>
        <p:nvSpPr>
          <p:cNvPr id="4" name="Shape 2">
            <a:extLst>
              <a:ext uri="{FF2B5EF4-FFF2-40B4-BE49-F238E27FC236}">
                <a16:creationId xmlns:a16="http://schemas.microsoft.com/office/drawing/2014/main" id="{BCC99481-8AFC-45E5-8E41-5D92798EEDD0}"/>
              </a:ext>
            </a:extLst>
          </p:cNvPr>
          <p:cNvSpPr>
            <a:spLocks noGrp="1"/>
          </p:cNvSpPr>
          <p:nvPr/>
        </p:nvSpPr>
        <p:spPr>
          <a:xfrm>
            <a:off x="0" y="64008"/>
            <a:ext cx="9144000" cy="658368"/>
          </a:xfrm>
          <a:prstGeom prst="rect">
            <a:avLst/>
          </a:prstGeom>
          <a:solidFill>
            <a:srgbClr val="1E3A50"/>
          </a:solidFill>
          <a:ln w="12700">
            <a:solidFill>
              <a:srgbClr val="1E3A50"/>
            </a:solidFill>
            <a:prstDash val="solid"/>
          </a:ln>
        </p:spPr>
      </p:sp>
      <p:sp>
        <p:nvSpPr>
          <p:cNvPr id="5" name="Text 3">
            <a:extLst>
              <a:ext uri="{FF2B5EF4-FFF2-40B4-BE49-F238E27FC236}">
                <a16:creationId xmlns:a16="http://schemas.microsoft.com/office/drawing/2014/main" id="{6BEB6717-FD6D-4B81-81A9-77D30FCEDB7F}"/>
              </a:ext>
            </a:extLst>
          </p:cNvPr>
          <p:cNvSpPr>
            <a:spLocks noGrp="1"/>
          </p:cNvSpPr>
          <p:nvPr/>
        </p:nvSpPr>
        <p:spPr>
          <a:xfrm>
            <a:off x="274320" y="64008"/>
            <a:ext cx="7315200" cy="658368"/>
          </a:xfrm>
          <a:prstGeom prst="rect">
            <a:avLst/>
          </a:prstGeom>
          <a:noFill/>
        </p:spPr>
        <p:txBody>
          <a:bodyPr wrap="square" lIns="0" tIns="0" rIns="0" bIns="0" anchor="ctr"/>
          <a:lstStyle/>
          <a:p>
            <a:pPr marL="0" indent="0">
              <a:buNone/>
            </a:pPr>
            <a:r>
              <a:rPr sz="1100" b="1">
                <a:solidFill>
                  <a:srgbClr val="E8A020"/>
                </a:solidFill>
              </a:rPr>
              <a:t>CONCLUSION</a:t>
            </a:r>
            <a:endParaRPr sz="1100"/>
          </a:p>
        </p:txBody>
      </p:sp>
      <p:sp>
        <p:nvSpPr>
          <p:cNvPr id="6" name="Text 4">
            <a:extLst>
              <a:ext uri="{FF2B5EF4-FFF2-40B4-BE49-F238E27FC236}">
                <a16:creationId xmlns:a16="http://schemas.microsoft.com/office/drawing/2014/main" id="{6C101844-9940-49BE-8B17-716FB787513D}"/>
              </a:ext>
            </a:extLst>
          </p:cNvPr>
          <p:cNvSpPr>
            <a:spLocks noGrp="1"/>
          </p:cNvSpPr>
          <p:nvPr/>
        </p:nvSpPr>
        <p:spPr>
          <a:xfrm>
            <a:off x="6858000" y="64008"/>
            <a:ext cx="2011680" cy="658368"/>
          </a:xfrm>
          <a:prstGeom prst="rect">
            <a:avLst/>
          </a:prstGeom>
          <a:noFill/>
        </p:spPr>
        <p:txBody>
          <a:bodyPr wrap="square" lIns="0" tIns="0" rIns="0" bIns="0" anchor="ctr"/>
          <a:lstStyle/>
          <a:p>
            <a:pPr marL="0" indent="0" algn="r">
              <a:buNone/>
            </a:pPr>
            <a:r>
              <a:rPr sz="1100" b="1">
                <a:solidFill>
                  <a:srgbClr val="E1E8EF"/>
                </a:solidFill>
              </a:rPr>
              <a:t>8 / 8</a:t>
            </a:r>
            <a:endParaRPr sz="1100"/>
          </a:p>
        </p:txBody>
      </p:sp>
      <p:sp>
        <p:nvSpPr>
          <p:cNvPr id="7" name="Text 5">
            <a:extLst>
              <a:ext uri="{FF2B5EF4-FFF2-40B4-BE49-F238E27FC236}">
                <a16:creationId xmlns:a16="http://schemas.microsoft.com/office/drawing/2014/main" id="{0121B0D7-68D2-4F3B-B4D9-855405D8279A}"/>
              </a:ext>
            </a:extLst>
          </p:cNvPr>
          <p:cNvSpPr>
            <a:spLocks noGrp="1"/>
          </p:cNvSpPr>
          <p:nvPr/>
        </p:nvSpPr>
        <p:spPr>
          <a:xfrm>
            <a:off x="274320" y="804672"/>
            <a:ext cx="8595360" cy="475488"/>
          </a:xfrm>
          <a:prstGeom prst="rect">
            <a:avLst/>
          </a:prstGeom>
          <a:noFill/>
        </p:spPr>
        <p:txBody>
          <a:bodyPr wrap="square" lIns="0" tIns="0" rIns="0" bIns="0" anchor="ctr"/>
          <a:lstStyle/>
          <a:p>
            <a:pPr marL="0" indent="0">
              <a:buNone/>
            </a:pPr>
            <a:r>
              <a:rPr sz="1600" b="1">
                <a:solidFill>
                  <a:srgbClr val="1A2638"/>
                </a:solidFill>
              </a:rPr>
              <a:t>The workflow narrows the search area and keeps evidence traceable</a:t>
            </a:r>
            <a:endParaRPr sz="1600"/>
          </a:p>
        </p:txBody>
      </p:sp>
      <p:sp>
        <p:nvSpPr>
          <p:cNvPr id="8" name="Shape 6">
            <a:extLst>
              <a:ext uri="{FF2B5EF4-FFF2-40B4-BE49-F238E27FC236}">
                <a16:creationId xmlns:a16="http://schemas.microsoft.com/office/drawing/2014/main" id="{6015B360-BBBA-4DE0-9795-57F031507AC6}"/>
              </a:ext>
            </a:extLst>
          </p:cNvPr>
          <p:cNvSpPr>
            <a:spLocks noGrp="1"/>
          </p:cNvSpPr>
          <p:nvPr/>
        </p:nvSpPr>
        <p:spPr>
          <a:xfrm>
            <a:off x="274320" y="1371600"/>
            <a:ext cx="2651760" cy="2834640"/>
          </a:xfrm>
          <a:prstGeom prst="rect">
            <a:avLst/>
          </a:prstGeom>
          <a:solidFill>
            <a:srgbClr val="FFFFFF"/>
          </a:solidFill>
          <a:ln w="12700">
            <a:solidFill>
              <a:srgbClr val="2E6DB4"/>
            </a:solidFill>
            <a:prstDash val="solid"/>
          </a:ln>
          <a:effectLst>
            <a:outerShdw blurRad="101600" dist="38100" dir="8100000" algn="bl" rotWithShape="0">
              <a:srgbClr val="000000">
                <a:alpha val="10000"/>
              </a:srgbClr>
            </a:outerShdw>
          </a:effectLst>
        </p:spPr>
      </p:sp>
      <p:sp>
        <p:nvSpPr>
          <p:cNvPr id="9" name="Shape 7">
            <a:extLst>
              <a:ext uri="{FF2B5EF4-FFF2-40B4-BE49-F238E27FC236}">
                <a16:creationId xmlns:a16="http://schemas.microsoft.com/office/drawing/2014/main" id="{5C07B9EA-88EE-49EE-B7D4-7BDB797C5482}"/>
              </a:ext>
            </a:extLst>
          </p:cNvPr>
          <p:cNvSpPr>
            <a:spLocks noGrp="1"/>
          </p:cNvSpPr>
          <p:nvPr/>
        </p:nvSpPr>
        <p:spPr>
          <a:xfrm>
            <a:off x="274320" y="1371600"/>
            <a:ext cx="2651760" cy="384048"/>
          </a:xfrm>
          <a:prstGeom prst="rect">
            <a:avLst/>
          </a:prstGeom>
          <a:solidFill>
            <a:srgbClr val="2E6DB4"/>
          </a:solidFill>
          <a:ln w="12700">
            <a:solidFill>
              <a:srgbClr val="2E6DB4"/>
            </a:solidFill>
            <a:prstDash val="solid"/>
          </a:ln>
        </p:spPr>
      </p:sp>
      <p:sp>
        <p:nvSpPr>
          <p:cNvPr id="10" name="Text 8">
            <a:extLst>
              <a:ext uri="{FF2B5EF4-FFF2-40B4-BE49-F238E27FC236}">
                <a16:creationId xmlns:a16="http://schemas.microsoft.com/office/drawing/2014/main" id="{D9484D15-B5B7-461A-BAA9-47327A4B2126}"/>
              </a:ext>
            </a:extLst>
          </p:cNvPr>
          <p:cNvSpPr>
            <a:spLocks noGrp="1"/>
          </p:cNvSpPr>
          <p:nvPr/>
        </p:nvSpPr>
        <p:spPr>
          <a:xfrm>
            <a:off x="274320" y="1371600"/>
            <a:ext cx="2651760" cy="384048"/>
          </a:xfrm>
          <a:prstGeom prst="rect">
            <a:avLst/>
          </a:prstGeom>
          <a:noFill/>
        </p:spPr>
        <p:txBody>
          <a:bodyPr wrap="square" lIns="0" tIns="0" rIns="0" bIns="0" anchor="ctr"/>
          <a:lstStyle/>
          <a:p>
            <a:pPr marL="0" indent="0" algn="ctr">
              <a:buNone/>
            </a:pPr>
            <a:r>
              <a:rPr sz="1100" b="1">
                <a:solidFill>
                  <a:srgbClr val="FFFFFF"/>
                </a:solidFill>
              </a:rPr>
              <a:t>DELIVERED</a:t>
            </a:r>
            <a:endParaRPr sz="1100"/>
          </a:p>
        </p:txBody>
      </p:sp>
      <p:sp>
        <p:nvSpPr>
          <p:cNvPr id="11" name="Text 9">
            <a:extLst>
              <a:ext uri="{FF2B5EF4-FFF2-40B4-BE49-F238E27FC236}">
                <a16:creationId xmlns:a16="http://schemas.microsoft.com/office/drawing/2014/main" id="{67C6A5B0-CECC-4ACC-9832-24A59DDB136C}"/>
              </a:ext>
            </a:extLst>
          </p:cNvPr>
          <p:cNvSpPr>
            <a:spLocks noGrp="1"/>
          </p:cNvSpPr>
          <p:nvPr/>
        </p:nvSpPr>
        <p:spPr>
          <a:xfrm>
            <a:off x="365760" y="1792224"/>
            <a:ext cx="2468880" cy="256032"/>
          </a:xfrm>
          <a:prstGeom prst="rect">
            <a:avLst/>
          </a:prstGeom>
          <a:noFill/>
        </p:spPr>
        <p:txBody>
          <a:bodyPr wrap="square" lIns="0" tIns="0" rIns="0" bIns="0" anchor="ctr"/>
          <a:lstStyle/>
          <a:p>
            <a:pPr marL="0" indent="0">
              <a:buNone/>
            </a:pPr>
            <a:r>
              <a:rPr sz="800">
                <a:solidFill>
                  <a:srgbClr val="2E6DB4"/>
                </a:solidFill>
              </a:rPr>
              <a:t>Reproducible national workflow</a:t>
            </a:r>
            <a:endParaRPr sz="800"/>
          </a:p>
        </p:txBody>
      </p:sp>
      <p:sp>
        <p:nvSpPr>
          <p:cNvPr id="12" name="Text 10">
            <a:extLst>
              <a:ext uri="{FF2B5EF4-FFF2-40B4-BE49-F238E27FC236}">
                <a16:creationId xmlns:a16="http://schemas.microsoft.com/office/drawing/2014/main" id="{22DC359E-9E6E-4E9F-BF48-BEF9690E6A70}"/>
              </a:ext>
            </a:extLst>
          </p:cNvPr>
          <p:cNvSpPr>
            <a:spLocks noGrp="1"/>
          </p:cNvSpPr>
          <p:nvPr/>
        </p:nvSpPr>
        <p:spPr>
          <a:xfrm>
            <a:off x="365760" y="2048256"/>
            <a:ext cx="2468880" cy="502920"/>
          </a:xfrm>
          <a:prstGeom prst="rect">
            <a:avLst/>
          </a:prstGeom>
          <a:noFill/>
        </p:spPr>
        <p:txBody>
          <a:bodyPr wrap="square" lIns="0" tIns="0" rIns="0" bIns="0" anchor="t"/>
          <a:lstStyle/>
          <a:p>
            <a:pPr marL="0" indent="0">
              <a:buNone/>
            </a:pPr>
            <a:r>
              <a:rPr sz="850">
                <a:solidFill>
                  <a:srgbClr val="1A2638"/>
                </a:solidFill>
              </a:rPr>
              <a:t>Validated source checks, one consistent 1 km grid, QGIS layers, and an annual update path.</a:t>
            </a:r>
            <a:endParaRPr sz="850"/>
          </a:p>
        </p:txBody>
      </p:sp>
      <p:sp>
        <p:nvSpPr>
          <p:cNvPr id="13" name="Shape 11">
            <a:extLst>
              <a:ext uri="{FF2B5EF4-FFF2-40B4-BE49-F238E27FC236}">
                <a16:creationId xmlns:a16="http://schemas.microsoft.com/office/drawing/2014/main" id="{1CD4E307-F1DC-41BD-A2A0-EF4229C67E73}"/>
              </a:ext>
            </a:extLst>
          </p:cNvPr>
          <p:cNvSpPr>
            <a:spLocks noGrp="1"/>
          </p:cNvSpPr>
          <p:nvPr/>
        </p:nvSpPr>
        <p:spPr>
          <a:xfrm>
            <a:off x="365760" y="2578608"/>
            <a:ext cx="2468880" cy="502920"/>
          </a:xfrm>
          <a:prstGeom prst="rect">
            <a:avLst/>
          </a:prstGeom>
          <a:solidFill>
            <a:srgbClr val="EBF0FD"/>
          </a:solidFill>
          <a:ln w="12700">
            <a:solidFill>
              <a:srgbClr val="EBF0FD"/>
            </a:solidFill>
            <a:prstDash val="solid"/>
          </a:ln>
        </p:spPr>
      </p:sp>
      <p:sp>
        <p:nvSpPr>
          <p:cNvPr id="14" name="Text 12">
            <a:extLst>
              <a:ext uri="{FF2B5EF4-FFF2-40B4-BE49-F238E27FC236}">
                <a16:creationId xmlns:a16="http://schemas.microsoft.com/office/drawing/2014/main" id="{C2C8DE72-7721-45D6-B469-D1F7820E4A35}"/>
              </a:ext>
            </a:extLst>
          </p:cNvPr>
          <p:cNvSpPr>
            <a:spLocks noGrp="1"/>
          </p:cNvSpPr>
          <p:nvPr/>
        </p:nvSpPr>
        <p:spPr>
          <a:xfrm>
            <a:off x="411480" y="2578608"/>
            <a:ext cx="2377440" cy="502920"/>
          </a:xfrm>
          <a:prstGeom prst="rect">
            <a:avLst/>
          </a:prstGeom>
          <a:noFill/>
        </p:spPr>
        <p:txBody>
          <a:bodyPr wrap="square" lIns="0" tIns="0" rIns="0" bIns="0" anchor="ctr"/>
          <a:lstStyle/>
          <a:p>
            <a:pPr marL="0" indent="0">
              <a:buNone/>
            </a:pPr>
            <a:r>
              <a:rPr sz="800" i="1">
                <a:solidFill>
                  <a:srgbClr val="1A2638"/>
                </a:solidFill>
              </a:rPr>
              <a:t>Historical evidence + GIS context</a:t>
            </a:r>
            <a:endParaRPr sz="800"/>
          </a:p>
        </p:txBody>
      </p:sp>
      <p:sp>
        <p:nvSpPr>
          <p:cNvPr id="15" name="Text 13">
            <a:extLst>
              <a:ext uri="{FF2B5EF4-FFF2-40B4-BE49-F238E27FC236}">
                <a16:creationId xmlns:a16="http://schemas.microsoft.com/office/drawing/2014/main" id="{A0536C49-BFED-466A-8A4F-1AF9F8838334}"/>
              </a:ext>
            </a:extLst>
          </p:cNvPr>
          <p:cNvSpPr>
            <a:spLocks noGrp="1"/>
          </p:cNvSpPr>
          <p:nvPr/>
        </p:nvSpPr>
        <p:spPr>
          <a:xfrm>
            <a:off x="365760" y="3145536"/>
            <a:ext cx="2468880" cy="502920"/>
          </a:xfrm>
          <a:prstGeom prst="rect">
            <a:avLst/>
          </a:prstGeom>
          <a:noFill/>
        </p:spPr>
        <p:txBody>
          <a:bodyPr wrap="square" lIns="0" tIns="0" rIns="0" bIns="0" anchor="t"/>
          <a:lstStyle/>
          <a:p>
            <a:pPr marL="0" indent="0">
              <a:buNone/>
            </a:pPr>
            <a:r>
              <a:rPr sz="750" b="1">
                <a:solidFill>
                  <a:srgbClr val="2A9D61"/>
                </a:solidFill>
              </a:rPr>
              <a:t>A separate 2016–2025 recurrence screen and official ICNF structural-hazard comparison.</a:t>
            </a:r>
            <a:endParaRPr sz="750"/>
          </a:p>
        </p:txBody>
      </p:sp>
      <p:sp>
        <p:nvSpPr>
          <p:cNvPr id="16" name="Text 14">
            <a:extLst>
              <a:ext uri="{FF2B5EF4-FFF2-40B4-BE49-F238E27FC236}">
                <a16:creationId xmlns:a16="http://schemas.microsoft.com/office/drawing/2014/main" id="{061C0752-DC49-4F35-AFC7-AB88C79FAF0D}"/>
              </a:ext>
            </a:extLst>
          </p:cNvPr>
          <p:cNvSpPr>
            <a:spLocks noGrp="1"/>
          </p:cNvSpPr>
          <p:nvPr/>
        </p:nvSpPr>
        <p:spPr>
          <a:xfrm>
            <a:off x="365760" y="3675888"/>
            <a:ext cx="2468880" cy="502920"/>
          </a:xfrm>
          <a:prstGeom prst="rect">
            <a:avLst/>
          </a:prstGeom>
          <a:noFill/>
        </p:spPr>
        <p:txBody>
          <a:bodyPr wrap="square" lIns="0" tIns="0" rIns="0" bIns="0" anchor="t"/>
          <a:lstStyle/>
          <a:p>
            <a:pPr marL="0" indent="0">
              <a:buNone/>
            </a:pPr>
            <a:r>
              <a:rPr sz="750" b="1">
                <a:solidFill>
                  <a:srgbClr val="C0392B"/>
                </a:solidFill>
              </a:rPr>
              <a:t>Transparent source roles and limitations.</a:t>
            </a:r>
            <a:endParaRPr sz="750"/>
          </a:p>
        </p:txBody>
      </p:sp>
      <p:sp>
        <p:nvSpPr>
          <p:cNvPr id="17" name="Text 15">
            <a:extLst>
              <a:ext uri="{FF2B5EF4-FFF2-40B4-BE49-F238E27FC236}">
                <a16:creationId xmlns:a16="http://schemas.microsoft.com/office/drawing/2014/main" id="{E4724BAC-EE83-433E-87E5-BC0E996BDFFC}"/>
              </a:ext>
            </a:extLst>
          </p:cNvPr>
          <p:cNvSpPr>
            <a:spLocks noGrp="1"/>
          </p:cNvSpPr>
          <p:nvPr/>
        </p:nvSpPr>
        <p:spPr>
          <a:xfrm>
            <a:off x="2962656" y="2560320"/>
            <a:ext cx="320040" cy="457200"/>
          </a:xfrm>
          <a:prstGeom prst="rect">
            <a:avLst/>
          </a:prstGeom>
          <a:noFill/>
        </p:spPr>
        <p:txBody>
          <a:bodyPr wrap="square" lIns="0" tIns="0" rIns="0" bIns="0" anchor="ctr"/>
          <a:lstStyle/>
          <a:p>
            <a:pPr marL="0" indent="0" algn="ctr">
              <a:buNone/>
            </a:pPr>
            <a:r>
              <a:rPr sz="2000" b="1">
                <a:solidFill>
                  <a:srgbClr val="E8A020"/>
                </a:solidFill>
              </a:rPr>
              <a:t>→</a:t>
            </a:r>
            <a:endParaRPr sz="2000"/>
          </a:p>
        </p:txBody>
      </p:sp>
      <p:sp>
        <p:nvSpPr>
          <p:cNvPr id="18" name="Shape 16">
            <a:extLst>
              <a:ext uri="{FF2B5EF4-FFF2-40B4-BE49-F238E27FC236}">
                <a16:creationId xmlns:a16="http://schemas.microsoft.com/office/drawing/2014/main" id="{88BDC9BD-5FAD-4BBE-B51A-B021702F2F4D}"/>
              </a:ext>
            </a:extLst>
          </p:cNvPr>
          <p:cNvSpPr>
            <a:spLocks noGrp="1"/>
          </p:cNvSpPr>
          <p:nvPr/>
        </p:nvSpPr>
        <p:spPr>
          <a:xfrm>
            <a:off x="3310128" y="1371600"/>
            <a:ext cx="2651760" cy="2834640"/>
          </a:xfrm>
          <a:prstGeom prst="rect">
            <a:avLst/>
          </a:prstGeom>
          <a:solidFill>
            <a:srgbClr val="FFFFFF"/>
          </a:solidFill>
          <a:ln w="12700">
            <a:solidFill>
              <a:srgbClr val="E67E22"/>
            </a:solidFill>
            <a:prstDash val="solid"/>
          </a:ln>
          <a:effectLst>
            <a:outerShdw blurRad="101600" dist="38100" dir="8100000" algn="bl" rotWithShape="0">
              <a:srgbClr val="000000">
                <a:alpha val="10000"/>
              </a:srgbClr>
            </a:outerShdw>
          </a:effectLst>
        </p:spPr>
      </p:sp>
      <p:sp>
        <p:nvSpPr>
          <p:cNvPr id="19" name="Shape 17">
            <a:extLst>
              <a:ext uri="{FF2B5EF4-FFF2-40B4-BE49-F238E27FC236}">
                <a16:creationId xmlns:a16="http://schemas.microsoft.com/office/drawing/2014/main" id="{8FE4F804-F3B6-4684-BFCD-653595482E22}"/>
              </a:ext>
            </a:extLst>
          </p:cNvPr>
          <p:cNvSpPr>
            <a:spLocks noGrp="1"/>
          </p:cNvSpPr>
          <p:nvPr/>
        </p:nvSpPr>
        <p:spPr>
          <a:xfrm>
            <a:off x="3310128" y="1371600"/>
            <a:ext cx="2651760" cy="384048"/>
          </a:xfrm>
          <a:prstGeom prst="rect">
            <a:avLst/>
          </a:prstGeom>
          <a:solidFill>
            <a:srgbClr val="E67E22"/>
          </a:solidFill>
          <a:ln w="12700">
            <a:solidFill>
              <a:srgbClr val="E67E22"/>
            </a:solidFill>
            <a:prstDash val="solid"/>
          </a:ln>
        </p:spPr>
      </p:sp>
      <p:sp>
        <p:nvSpPr>
          <p:cNvPr id="20" name="Text 18">
            <a:extLst>
              <a:ext uri="{FF2B5EF4-FFF2-40B4-BE49-F238E27FC236}">
                <a16:creationId xmlns:a16="http://schemas.microsoft.com/office/drawing/2014/main" id="{F823FAC1-C9B5-4631-81A0-0779D0A744E5}"/>
              </a:ext>
            </a:extLst>
          </p:cNvPr>
          <p:cNvSpPr>
            <a:spLocks noGrp="1"/>
          </p:cNvSpPr>
          <p:nvPr/>
        </p:nvSpPr>
        <p:spPr>
          <a:xfrm>
            <a:off x="3310128" y="1371600"/>
            <a:ext cx="2651760" cy="384048"/>
          </a:xfrm>
          <a:prstGeom prst="rect">
            <a:avLst/>
          </a:prstGeom>
          <a:noFill/>
        </p:spPr>
        <p:txBody>
          <a:bodyPr wrap="square" lIns="0" tIns="0" rIns="0" bIns="0" anchor="ctr"/>
          <a:lstStyle/>
          <a:p>
            <a:pPr marL="0" indent="0" algn="ctr">
              <a:buNone/>
            </a:pPr>
            <a:r>
              <a:rPr sz="1100" b="1">
                <a:solidFill>
                  <a:srgbClr val="FFFFFF"/>
                </a:solidFill>
              </a:rPr>
              <a:t>MODEL RESULT</a:t>
            </a:r>
            <a:endParaRPr sz="1100"/>
          </a:p>
        </p:txBody>
      </p:sp>
      <p:sp>
        <p:nvSpPr>
          <p:cNvPr id="21" name="Text 19">
            <a:extLst>
              <a:ext uri="{FF2B5EF4-FFF2-40B4-BE49-F238E27FC236}">
                <a16:creationId xmlns:a16="http://schemas.microsoft.com/office/drawing/2014/main" id="{CDF192D1-D9B3-4618-B786-9A11E17D0DE9}"/>
              </a:ext>
            </a:extLst>
          </p:cNvPr>
          <p:cNvSpPr>
            <a:spLocks noGrp="1"/>
          </p:cNvSpPr>
          <p:nvPr/>
        </p:nvSpPr>
        <p:spPr>
          <a:xfrm>
            <a:off x="3401568" y="1792224"/>
            <a:ext cx="2468880" cy="256032"/>
          </a:xfrm>
          <a:prstGeom prst="rect">
            <a:avLst/>
          </a:prstGeom>
          <a:noFill/>
        </p:spPr>
        <p:txBody>
          <a:bodyPr wrap="square" lIns="0" tIns="0" rIns="0" bIns="0" anchor="ctr"/>
          <a:lstStyle/>
          <a:p>
            <a:pPr marL="0" indent="0">
              <a:buNone/>
            </a:pPr>
            <a:r>
              <a:rPr sz="800">
                <a:solidFill>
                  <a:srgbClr val="E67E22"/>
                </a:solidFill>
              </a:rPr>
              <a:t>Hypothesis partially supported</a:t>
            </a:r>
            <a:endParaRPr sz="800"/>
          </a:p>
        </p:txBody>
      </p:sp>
      <p:sp>
        <p:nvSpPr>
          <p:cNvPr id="22" name="Text 20">
            <a:extLst>
              <a:ext uri="{FF2B5EF4-FFF2-40B4-BE49-F238E27FC236}">
                <a16:creationId xmlns:a16="http://schemas.microsoft.com/office/drawing/2014/main" id="{35B99BF9-D34E-45F7-A42A-E1EE7420E18A}"/>
              </a:ext>
            </a:extLst>
          </p:cNvPr>
          <p:cNvSpPr>
            <a:spLocks noGrp="1"/>
          </p:cNvSpPr>
          <p:nvPr/>
        </p:nvSpPr>
        <p:spPr>
          <a:xfrm>
            <a:off x="3401568" y="2048256"/>
            <a:ext cx="2468880" cy="502920"/>
          </a:xfrm>
          <a:prstGeom prst="rect">
            <a:avLst/>
          </a:prstGeom>
          <a:noFill/>
        </p:spPr>
        <p:txBody>
          <a:bodyPr wrap="square" lIns="0" tIns="0" rIns="0" bIns="0" anchor="t"/>
          <a:lstStyle/>
          <a:p>
            <a:pPr marL="0" indent="0">
              <a:buNone/>
            </a:pPr>
            <a:r>
              <a:rPr sz="850">
                <a:solidFill>
                  <a:srgbClr val="1A2638"/>
                </a:solidFill>
              </a:rPr>
              <a:t>The nine-feature model improves selected comparative diagnostics, but does not solve extreme-event underprediction.</a:t>
            </a:r>
            <a:endParaRPr sz="850"/>
          </a:p>
        </p:txBody>
      </p:sp>
      <p:sp>
        <p:nvSpPr>
          <p:cNvPr id="23" name="Shape 21">
            <a:extLst>
              <a:ext uri="{FF2B5EF4-FFF2-40B4-BE49-F238E27FC236}">
                <a16:creationId xmlns:a16="http://schemas.microsoft.com/office/drawing/2014/main" id="{6F886BEF-D149-4B22-AB28-BF3F16160D69}"/>
              </a:ext>
            </a:extLst>
          </p:cNvPr>
          <p:cNvSpPr>
            <a:spLocks noGrp="1"/>
          </p:cNvSpPr>
          <p:nvPr/>
        </p:nvSpPr>
        <p:spPr>
          <a:xfrm>
            <a:off x="3401568" y="2578608"/>
            <a:ext cx="2468880" cy="502920"/>
          </a:xfrm>
          <a:prstGeom prst="rect">
            <a:avLst/>
          </a:prstGeom>
          <a:solidFill>
            <a:srgbClr val="FEF3E2"/>
          </a:solidFill>
          <a:ln w="12700">
            <a:solidFill>
              <a:srgbClr val="FEF3E2"/>
            </a:solidFill>
            <a:prstDash val="solid"/>
          </a:ln>
        </p:spPr>
      </p:sp>
      <p:sp>
        <p:nvSpPr>
          <p:cNvPr id="24" name="Text 22">
            <a:extLst>
              <a:ext uri="{FF2B5EF4-FFF2-40B4-BE49-F238E27FC236}">
                <a16:creationId xmlns:a16="http://schemas.microsoft.com/office/drawing/2014/main" id="{80A0214D-E33A-4BF0-8D70-726CFE0375AB}"/>
              </a:ext>
            </a:extLst>
          </p:cNvPr>
          <p:cNvSpPr>
            <a:spLocks noGrp="1"/>
          </p:cNvSpPr>
          <p:nvPr/>
        </p:nvSpPr>
        <p:spPr>
          <a:xfrm>
            <a:off x="3447288" y="2578608"/>
            <a:ext cx="2377440" cy="502920"/>
          </a:xfrm>
          <a:prstGeom prst="rect">
            <a:avLst/>
          </a:prstGeom>
          <a:noFill/>
        </p:spPr>
        <p:txBody>
          <a:bodyPr wrap="square" lIns="0" tIns="0" rIns="0" bIns="0" anchor="ctr"/>
          <a:lstStyle/>
          <a:p>
            <a:pPr marL="0" indent="0">
              <a:buNone/>
            </a:pPr>
            <a:r>
              <a:rPr sz="800" i="1">
                <a:solidFill>
                  <a:srgbClr val="1A2638"/>
                </a:solidFill>
              </a:rPr>
              <a:t>2026 is target-free</a:t>
            </a:r>
            <a:endParaRPr sz="800"/>
          </a:p>
        </p:txBody>
      </p:sp>
      <p:sp>
        <p:nvSpPr>
          <p:cNvPr id="25" name="Text 23">
            <a:extLst>
              <a:ext uri="{FF2B5EF4-FFF2-40B4-BE49-F238E27FC236}">
                <a16:creationId xmlns:a16="http://schemas.microsoft.com/office/drawing/2014/main" id="{EDB0DD6E-990A-42DB-9875-F090FBA9738B}"/>
              </a:ext>
            </a:extLst>
          </p:cNvPr>
          <p:cNvSpPr>
            <a:spLocks noGrp="1"/>
          </p:cNvSpPr>
          <p:nvPr/>
        </p:nvSpPr>
        <p:spPr>
          <a:xfrm>
            <a:off x="3401568" y="3145536"/>
            <a:ext cx="2468880" cy="502920"/>
          </a:xfrm>
          <a:prstGeom prst="rect">
            <a:avLst/>
          </a:prstGeom>
          <a:noFill/>
        </p:spPr>
        <p:txBody>
          <a:bodyPr wrap="square" lIns="0" tIns="0" rIns="0" bIns="0" anchor="t"/>
          <a:lstStyle/>
          <a:p>
            <a:pPr marL="0" indent="0">
              <a:buNone/>
            </a:pPr>
            <a:r>
              <a:rPr sz="750" b="1">
                <a:solidFill>
                  <a:srgbClr val="2A9D61"/>
                </a:solidFill>
              </a:rPr>
              <a:t>Its future performance must be evaluated only after observed outcome data are available.</a:t>
            </a:r>
            <a:endParaRPr sz="750"/>
          </a:p>
        </p:txBody>
      </p:sp>
      <p:sp>
        <p:nvSpPr>
          <p:cNvPr id="26" name="Text 24">
            <a:extLst>
              <a:ext uri="{FF2B5EF4-FFF2-40B4-BE49-F238E27FC236}">
                <a16:creationId xmlns:a16="http://schemas.microsoft.com/office/drawing/2014/main" id="{C7AC1FC5-9639-4DA9-B51C-80DD5E469942}"/>
              </a:ext>
            </a:extLst>
          </p:cNvPr>
          <p:cNvSpPr>
            <a:spLocks noGrp="1"/>
          </p:cNvSpPr>
          <p:nvPr/>
        </p:nvSpPr>
        <p:spPr>
          <a:xfrm>
            <a:off x="3401568" y="3675888"/>
            <a:ext cx="2468880" cy="502920"/>
          </a:xfrm>
          <a:prstGeom prst="rect">
            <a:avLst/>
          </a:prstGeom>
          <a:noFill/>
        </p:spPr>
        <p:txBody>
          <a:bodyPr wrap="square" lIns="0" tIns="0" rIns="0" bIns="0" anchor="t"/>
          <a:lstStyle/>
          <a:p>
            <a:pPr marL="0" indent="0">
              <a:buNone/>
            </a:pPr>
            <a:r>
              <a:rPr sz="750" b="1">
                <a:solidFill>
                  <a:srgbClr val="C0392B"/>
                </a:solidFill>
              </a:rPr>
              <a:t>No retrospective claim about unknown outcomes.</a:t>
            </a:r>
            <a:endParaRPr sz="750"/>
          </a:p>
        </p:txBody>
      </p:sp>
      <p:sp>
        <p:nvSpPr>
          <p:cNvPr id="27" name="Text 25">
            <a:extLst>
              <a:ext uri="{FF2B5EF4-FFF2-40B4-BE49-F238E27FC236}">
                <a16:creationId xmlns:a16="http://schemas.microsoft.com/office/drawing/2014/main" id="{44357DB5-05F8-4CF5-8D21-E89F0DFA12F8}"/>
              </a:ext>
            </a:extLst>
          </p:cNvPr>
          <p:cNvSpPr>
            <a:spLocks noGrp="1"/>
          </p:cNvSpPr>
          <p:nvPr/>
        </p:nvSpPr>
        <p:spPr>
          <a:xfrm>
            <a:off x="5998464" y="2560320"/>
            <a:ext cx="320040" cy="457200"/>
          </a:xfrm>
          <a:prstGeom prst="rect">
            <a:avLst/>
          </a:prstGeom>
          <a:noFill/>
        </p:spPr>
        <p:txBody>
          <a:bodyPr wrap="square" lIns="0" tIns="0" rIns="0" bIns="0" anchor="ctr"/>
          <a:lstStyle/>
          <a:p>
            <a:pPr marL="0" indent="0" algn="ctr">
              <a:buNone/>
            </a:pPr>
            <a:r>
              <a:rPr sz="2000" b="1">
                <a:solidFill>
                  <a:srgbClr val="E8A020"/>
                </a:solidFill>
              </a:rPr>
              <a:t>→</a:t>
            </a:r>
            <a:endParaRPr sz="2000"/>
          </a:p>
        </p:txBody>
      </p:sp>
      <p:sp>
        <p:nvSpPr>
          <p:cNvPr id="28" name="Shape 26">
            <a:extLst>
              <a:ext uri="{FF2B5EF4-FFF2-40B4-BE49-F238E27FC236}">
                <a16:creationId xmlns:a16="http://schemas.microsoft.com/office/drawing/2014/main" id="{C1EB402B-5D07-41FD-A88B-C668B30929ED}"/>
              </a:ext>
            </a:extLst>
          </p:cNvPr>
          <p:cNvSpPr>
            <a:spLocks noGrp="1"/>
          </p:cNvSpPr>
          <p:nvPr/>
        </p:nvSpPr>
        <p:spPr>
          <a:xfrm>
            <a:off x="6345936" y="1371600"/>
            <a:ext cx="2651760" cy="2834640"/>
          </a:xfrm>
          <a:prstGeom prst="rect">
            <a:avLst/>
          </a:prstGeom>
          <a:solidFill>
            <a:srgbClr val="FFFFFF"/>
          </a:solidFill>
          <a:ln w="12700">
            <a:solidFill>
              <a:srgbClr val="2A9D61"/>
            </a:solidFill>
            <a:prstDash val="solid"/>
          </a:ln>
          <a:effectLst>
            <a:outerShdw blurRad="101600" dist="38100" dir="8100000" algn="bl" rotWithShape="0">
              <a:srgbClr val="000000">
                <a:alpha val="10000"/>
              </a:srgbClr>
            </a:outerShdw>
          </a:effectLst>
        </p:spPr>
      </p:sp>
      <p:sp>
        <p:nvSpPr>
          <p:cNvPr id="29" name="Shape 27">
            <a:extLst>
              <a:ext uri="{FF2B5EF4-FFF2-40B4-BE49-F238E27FC236}">
                <a16:creationId xmlns:a16="http://schemas.microsoft.com/office/drawing/2014/main" id="{CB31566B-19C9-48AC-A726-E822C5985068}"/>
              </a:ext>
            </a:extLst>
          </p:cNvPr>
          <p:cNvSpPr>
            <a:spLocks noGrp="1"/>
          </p:cNvSpPr>
          <p:nvPr/>
        </p:nvSpPr>
        <p:spPr>
          <a:xfrm>
            <a:off x="6345936" y="1371600"/>
            <a:ext cx="2651760" cy="384048"/>
          </a:xfrm>
          <a:prstGeom prst="rect">
            <a:avLst/>
          </a:prstGeom>
          <a:solidFill>
            <a:srgbClr val="2A9D61"/>
          </a:solidFill>
          <a:ln w="12700">
            <a:solidFill>
              <a:srgbClr val="2A9D61"/>
            </a:solidFill>
            <a:prstDash val="solid"/>
          </a:ln>
        </p:spPr>
      </p:sp>
      <p:sp>
        <p:nvSpPr>
          <p:cNvPr id="30" name="Text 28">
            <a:extLst>
              <a:ext uri="{FF2B5EF4-FFF2-40B4-BE49-F238E27FC236}">
                <a16:creationId xmlns:a16="http://schemas.microsoft.com/office/drawing/2014/main" id="{576FE3D7-10A4-4179-9328-3F34C913B9ED}"/>
              </a:ext>
            </a:extLst>
          </p:cNvPr>
          <p:cNvSpPr>
            <a:spLocks noGrp="1"/>
          </p:cNvSpPr>
          <p:nvPr/>
        </p:nvSpPr>
        <p:spPr>
          <a:xfrm>
            <a:off x="6345936" y="1371600"/>
            <a:ext cx="2651760" cy="384048"/>
          </a:xfrm>
          <a:prstGeom prst="rect">
            <a:avLst/>
          </a:prstGeom>
          <a:noFill/>
        </p:spPr>
        <p:txBody>
          <a:bodyPr wrap="square" lIns="0" tIns="0" rIns="0" bIns="0" anchor="ctr"/>
          <a:lstStyle/>
          <a:p>
            <a:pPr marL="0" indent="0" algn="ctr">
              <a:buNone/>
            </a:pPr>
            <a:r>
              <a:rPr sz="1100" b="1">
                <a:solidFill>
                  <a:srgbClr val="FFFFFF"/>
                </a:solidFill>
              </a:rPr>
              <a:t>NEXT STEPS FOR THIS PROJECT</a:t>
            </a:r>
            <a:endParaRPr sz="1100"/>
          </a:p>
        </p:txBody>
      </p:sp>
      <p:sp>
        <p:nvSpPr>
          <p:cNvPr id="31" name="Text 29">
            <a:extLst>
              <a:ext uri="{FF2B5EF4-FFF2-40B4-BE49-F238E27FC236}">
                <a16:creationId xmlns:a16="http://schemas.microsoft.com/office/drawing/2014/main" id="{088C263C-A0CB-4982-A338-F3A1BB2F9F95}"/>
              </a:ext>
            </a:extLst>
          </p:cNvPr>
          <p:cNvSpPr>
            <a:spLocks noGrp="1"/>
          </p:cNvSpPr>
          <p:nvPr/>
        </p:nvSpPr>
        <p:spPr>
          <a:xfrm>
            <a:off x="6437376" y="1792224"/>
            <a:ext cx="2468880" cy="256032"/>
          </a:xfrm>
          <a:prstGeom prst="rect">
            <a:avLst/>
          </a:prstGeom>
          <a:noFill/>
        </p:spPr>
        <p:txBody>
          <a:bodyPr wrap="square" lIns="0" tIns="0" rIns="0" bIns="0" anchor="ctr"/>
          <a:lstStyle/>
          <a:p>
            <a:pPr marL="0" indent="0">
              <a:buNone/>
            </a:pPr>
            <a:r>
              <a:rPr sz="800">
                <a:solidFill>
                  <a:srgbClr val="2A9D61"/>
                </a:solidFill>
              </a:rPr>
              <a:t>Refresh, rebuild, validate</a:t>
            </a:r>
            <a:endParaRPr sz="800"/>
          </a:p>
        </p:txBody>
      </p:sp>
      <p:sp>
        <p:nvSpPr>
          <p:cNvPr id="32" name="Text 30">
            <a:extLst>
              <a:ext uri="{FF2B5EF4-FFF2-40B4-BE49-F238E27FC236}">
                <a16:creationId xmlns:a16="http://schemas.microsoft.com/office/drawing/2014/main" id="{3591A679-B15E-406C-86A0-00F6CAE7220A}"/>
              </a:ext>
            </a:extLst>
          </p:cNvPr>
          <p:cNvSpPr>
            <a:spLocks noGrp="1"/>
          </p:cNvSpPr>
          <p:nvPr/>
        </p:nvSpPr>
        <p:spPr>
          <a:xfrm>
            <a:off x="6437376" y="2048256"/>
            <a:ext cx="2468880" cy="502920"/>
          </a:xfrm>
          <a:prstGeom prst="rect">
            <a:avLst/>
          </a:prstGeom>
          <a:noFill/>
        </p:spPr>
        <p:txBody>
          <a:bodyPr wrap="square" lIns="0" tIns="0" rIns="0" bIns="0" anchor="t"/>
          <a:lstStyle/>
          <a:p>
            <a:pPr marL="0" indent="0">
              <a:buNone/>
            </a:pPr>
            <a:r>
              <a:rPr sz="850">
                <a:solidFill>
                  <a:srgbClr val="1A2638"/>
                </a:solidFill>
              </a:rPr>
              <a:t>1. Add the latest completed-year sources. 2. Rebuild the target-free estimate and QGIS layer. 3. When outcomes arrive, evaluate the estimate. 4. Repeat annually.</a:t>
            </a:r>
            <a:endParaRPr sz="850"/>
          </a:p>
        </p:txBody>
      </p:sp>
      <p:sp>
        <p:nvSpPr>
          <p:cNvPr id="33" name="Shape 31">
            <a:extLst>
              <a:ext uri="{FF2B5EF4-FFF2-40B4-BE49-F238E27FC236}">
                <a16:creationId xmlns:a16="http://schemas.microsoft.com/office/drawing/2014/main" id="{21F582AF-C78B-4E58-9B57-6833B74F7712}"/>
              </a:ext>
            </a:extLst>
          </p:cNvPr>
          <p:cNvSpPr>
            <a:spLocks noGrp="1"/>
          </p:cNvSpPr>
          <p:nvPr/>
        </p:nvSpPr>
        <p:spPr>
          <a:xfrm>
            <a:off x="6437376" y="2578608"/>
            <a:ext cx="2468880" cy="502920"/>
          </a:xfrm>
          <a:prstGeom prst="rect">
            <a:avLst/>
          </a:prstGeom>
          <a:solidFill>
            <a:srgbClr val="E6F5EE"/>
          </a:solidFill>
          <a:ln w="12700">
            <a:solidFill>
              <a:srgbClr val="E6F5EE"/>
            </a:solidFill>
            <a:prstDash val="solid"/>
          </a:ln>
        </p:spPr>
      </p:sp>
      <p:sp>
        <p:nvSpPr>
          <p:cNvPr id="34" name="Text 32">
            <a:extLst>
              <a:ext uri="{FF2B5EF4-FFF2-40B4-BE49-F238E27FC236}">
                <a16:creationId xmlns:a16="http://schemas.microsoft.com/office/drawing/2014/main" id="{131D7657-5536-4C80-9B52-926E19C32495}"/>
              </a:ext>
            </a:extLst>
          </p:cNvPr>
          <p:cNvSpPr>
            <a:spLocks noGrp="1"/>
          </p:cNvSpPr>
          <p:nvPr/>
        </p:nvSpPr>
        <p:spPr>
          <a:xfrm>
            <a:off x="6483096" y="2578608"/>
            <a:ext cx="2377440" cy="502920"/>
          </a:xfrm>
          <a:prstGeom prst="rect">
            <a:avLst/>
          </a:prstGeom>
          <a:noFill/>
        </p:spPr>
        <p:txBody>
          <a:bodyPr wrap="square" lIns="0" tIns="0" rIns="0" bIns="0" anchor="ctr"/>
          <a:lstStyle/>
          <a:p>
            <a:pPr marL="0" indent="0">
              <a:buNone/>
            </a:pPr>
            <a:r>
              <a:rPr sz="800" i="1">
                <a:solidFill>
                  <a:srgbClr val="1A2638"/>
                </a:solidFill>
              </a:rPr>
              <a:t>HOW TO USE THE OUTPUTS</a:t>
            </a:r>
            <a:endParaRPr sz="800"/>
          </a:p>
        </p:txBody>
      </p:sp>
      <p:sp>
        <p:nvSpPr>
          <p:cNvPr id="35" name="Text 33">
            <a:extLst>
              <a:ext uri="{FF2B5EF4-FFF2-40B4-BE49-F238E27FC236}">
                <a16:creationId xmlns:a16="http://schemas.microsoft.com/office/drawing/2014/main" id="{555C2D91-F1C0-4C81-A522-273CE805D265}"/>
              </a:ext>
            </a:extLst>
          </p:cNvPr>
          <p:cNvSpPr>
            <a:spLocks noGrp="1"/>
          </p:cNvSpPr>
          <p:nvPr/>
        </p:nvSpPr>
        <p:spPr>
          <a:xfrm>
            <a:off x="6437376" y="3145536"/>
            <a:ext cx="2468880" cy="502920"/>
          </a:xfrm>
          <a:prstGeom prst="rect">
            <a:avLst/>
          </a:prstGeom>
          <a:noFill/>
        </p:spPr>
        <p:txBody>
          <a:bodyPr wrap="square" lIns="0" tIns="0" rIns="0" bIns="0" anchor="t"/>
          <a:lstStyle/>
          <a:p>
            <a:pPr marL="0" indent="0">
              <a:buNone/>
            </a:pPr>
            <a:r>
              <a:rPr sz="750" b="1">
                <a:solidFill>
                  <a:srgbClr val="2A9D61"/>
                </a:solidFill>
              </a:rPr>
              <a:t>Use the maps to narrow broad areas, then check local site, planning, insurance and property evidence.</a:t>
            </a:r>
            <a:endParaRPr sz="750"/>
          </a:p>
        </p:txBody>
      </p:sp>
      <p:sp>
        <p:nvSpPr>
          <p:cNvPr id="36" name="Text 34">
            <a:extLst>
              <a:ext uri="{FF2B5EF4-FFF2-40B4-BE49-F238E27FC236}">
                <a16:creationId xmlns:a16="http://schemas.microsoft.com/office/drawing/2014/main" id="{348B69A9-A889-4CDD-892E-2DD982669C0A}"/>
              </a:ext>
            </a:extLst>
          </p:cNvPr>
          <p:cNvSpPr>
            <a:spLocks noGrp="1"/>
          </p:cNvSpPr>
          <p:nvPr/>
        </p:nvSpPr>
        <p:spPr>
          <a:xfrm>
            <a:off x="6437376" y="3675888"/>
            <a:ext cx="2468880" cy="502920"/>
          </a:xfrm>
          <a:prstGeom prst="rect">
            <a:avLst/>
          </a:prstGeom>
          <a:noFill/>
        </p:spPr>
        <p:txBody>
          <a:bodyPr wrap="square" lIns="0" tIns="0" rIns="0" bIns="0" anchor="t"/>
          <a:lstStyle/>
          <a:p>
            <a:pPr marL="0" indent="0">
              <a:buNone/>
            </a:pPr>
            <a:r>
              <a:rPr sz="750" b="1">
                <a:solidFill>
                  <a:srgbClr val="C0392B"/>
                </a:solidFill>
              </a:rPr>
              <a:t>The outputs support screening; the next decision still requires local evidence.</a:t>
            </a:r>
            <a:endParaRPr sz="750"/>
          </a:p>
        </p:txBody>
      </p:sp>
      <p:sp>
        <p:nvSpPr>
          <p:cNvPr id="37" name="Shape 35">
            <a:extLst>
              <a:ext uri="{FF2B5EF4-FFF2-40B4-BE49-F238E27FC236}">
                <a16:creationId xmlns:a16="http://schemas.microsoft.com/office/drawing/2014/main" id="{1CF7DD12-EEE0-44CF-90BD-A5A6555384C9}"/>
              </a:ext>
            </a:extLst>
          </p:cNvPr>
          <p:cNvSpPr>
            <a:spLocks noGrp="1"/>
          </p:cNvSpPr>
          <p:nvPr/>
        </p:nvSpPr>
        <p:spPr>
          <a:xfrm>
            <a:off x="274320" y="4315968"/>
            <a:ext cx="8595360" cy="457200"/>
          </a:xfrm>
          <a:prstGeom prst="rect">
            <a:avLst/>
          </a:prstGeom>
          <a:solidFill>
            <a:srgbClr val="0D1F2D"/>
          </a:solidFill>
          <a:ln w="12700">
            <a:solidFill>
              <a:srgbClr val="0D1F2D"/>
            </a:solidFill>
            <a:prstDash val="solid"/>
          </a:ln>
        </p:spPr>
      </p:sp>
      <p:sp>
        <p:nvSpPr>
          <p:cNvPr id="38" name="Text 36">
            <a:extLst>
              <a:ext uri="{FF2B5EF4-FFF2-40B4-BE49-F238E27FC236}">
                <a16:creationId xmlns:a16="http://schemas.microsoft.com/office/drawing/2014/main" id="{437652F4-0A68-4E8D-8FB1-0D1F3BBDF796}"/>
              </a:ext>
            </a:extLst>
          </p:cNvPr>
          <p:cNvSpPr>
            <a:spLocks noGrp="1"/>
          </p:cNvSpPr>
          <p:nvPr/>
        </p:nvSpPr>
        <p:spPr>
          <a:xfrm>
            <a:off x="411480" y="4315968"/>
            <a:ext cx="8321040" cy="457200"/>
          </a:xfrm>
          <a:prstGeom prst="rect">
            <a:avLst/>
          </a:prstGeom>
          <a:noFill/>
        </p:spPr>
        <p:txBody>
          <a:bodyPr wrap="square" lIns="0" tIns="0" rIns="0" bIns="0" anchor="ctr"/>
          <a:lstStyle/>
          <a:p>
            <a:pPr marL="0" indent="0">
              <a:buNone/>
            </a:pPr>
            <a:r>
              <a:rPr sz="850" b="1">
                <a:solidFill>
                  <a:srgbClr val="E8A020"/>
                </a:solidFill>
              </a:rPr>
              <a:t>Next milestone: refresh with new data and evaluate when the observed outcome arrives.</a:t>
            </a:r>
            <a:endParaRPr sz="850"/>
          </a:p>
        </p:txBody>
      </p:sp>
      <p:sp>
        <p:nvSpPr>
          <p:cNvPr id="39" name="Shape 37">
            <a:extLst>
              <a:ext uri="{FF2B5EF4-FFF2-40B4-BE49-F238E27FC236}">
                <a16:creationId xmlns:a16="http://schemas.microsoft.com/office/drawing/2014/main" id="{49A759C5-57AB-43DF-B3F0-A2B8CCABD533}"/>
              </a:ext>
            </a:extLst>
          </p:cNvPr>
          <p:cNvSpPr>
            <a:spLocks noGrp="1"/>
          </p:cNvSpPr>
          <p:nvPr/>
        </p:nvSpPr>
        <p:spPr>
          <a:xfrm>
            <a:off x="0" y="4919472"/>
            <a:ext cx="9144000" cy="224028"/>
          </a:xfrm>
          <a:prstGeom prst="rect">
            <a:avLst/>
          </a:prstGeom>
          <a:solidFill>
            <a:srgbClr val="162B3D"/>
          </a:solidFill>
          <a:ln w="12700">
            <a:solidFill>
              <a:srgbClr val="162B3D"/>
            </a:solidFill>
            <a:prstDash val="solid"/>
          </a:ln>
        </p:spPr>
      </p:sp>
      <p:sp>
        <p:nvSpPr>
          <p:cNvPr id="40" name="Text 38">
            <a:extLst>
              <a:ext uri="{FF2B5EF4-FFF2-40B4-BE49-F238E27FC236}">
                <a16:creationId xmlns:a16="http://schemas.microsoft.com/office/drawing/2014/main" id="{D0C3C7AC-0669-4B0F-BD8F-AB88AC487A35}"/>
              </a:ext>
            </a:extLst>
          </p:cNvPr>
          <p:cNvSpPr>
            <a:spLocks noGrp="1"/>
          </p:cNvSpPr>
          <p:nvPr/>
        </p:nvSpPr>
        <p:spPr>
          <a:xfrm>
            <a:off x="274320" y="4919472"/>
            <a:ext cx="8595360" cy="224028"/>
          </a:xfrm>
          <a:prstGeom prst="rect">
            <a:avLst/>
          </a:prstGeom>
          <a:noFill/>
        </p:spPr>
        <p:txBody>
          <a:bodyPr wrap="square" lIns="0" tIns="0" rIns="0" bIns="0" anchor="ctr"/>
          <a:lstStyle/>
          <a:p>
            <a:pPr marL="0" indent="0">
              <a:buNone/>
            </a:pPr>
            <a:r>
              <a:rPr sz="800" b="1">
                <a:solidFill>
                  <a:srgbClr val="E8A020"/>
                </a:solidFill>
              </a:rPr>
              <a:t>Serhii Diadechko  |  Data Science &amp; Machine Learning Capstone</a:t>
            </a:r>
            <a:endParaRPr sz="800"/>
          </a:p>
        </p:txBody>
      </p:sp>
    </p:spTree>
    <p:extLst>
      <p:ext uri="{BB962C8B-B14F-4D97-AF65-F5344CB8AC3E}">
        <p14:creationId xmlns:p14="http://schemas.microsoft.com/office/powerpoint/2010/main" val="17992669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2525</Words>
  <Application>Microsoft Office PowerPoint</Application>
  <DocSecurity>0</DocSecurity>
  <PresentationFormat>On-screen Show (16:9)</PresentationFormat>
  <Paragraphs>259</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Sergey Dyadechko</cp:lastModifiedBy>
  <cp:revision>9</cp:revision>
  <dcterms:created xsi:type="dcterms:W3CDTF">2026-08-08T11:29:27Z</dcterms:created>
  <dcterms:modified xsi:type="dcterms:W3CDTF">2026-08-08T12:26:33Z</dcterms:modified>
</cp:coreProperties>
</file>