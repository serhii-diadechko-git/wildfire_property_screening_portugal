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6667" autoAdjust="0"/>
  </p:normalViewPr>
  <p:slideViewPr>
    <p:cSldViewPr snapToGrid="0" snapToObjects="1">
      <p:cViewPr varScale="1">
        <p:scale>
          <a:sx n="142" d="100"/>
          <a:sy n="142" d="100"/>
        </p:scale>
        <p:origin x="2340" y="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This capstone combines data science, machine learning, and GIS to help narrow broad location-search areas in mainland Portugal.</a:t>
            </a:r>
          </a:p>
          <a:p>
            <a:endParaRPr dirty="0"/>
          </a:p>
          <a:p>
            <a:r>
              <a:rPr b="1" dirty="0"/>
              <a:t>What to say:</a:t>
            </a:r>
          </a:p>
          <a:p>
            <a:r>
              <a:rPr lang="en-US" dirty="0"/>
              <a:t>This project investigates whether wildfire history, landscape, terrain, and climate can help compare broad areas across mainland Portugal.</a:t>
            </a:r>
          </a:p>
          <a:p>
            <a:r>
              <a:rPr lang="en-US" dirty="0"/>
              <a:t>It uses a reproducible data-science and machine-learning workflow built around consistent 1 km grid cells. GIS turns the analytical results into maps that are easier to explore and compare.</a:t>
            </a:r>
          </a:p>
          <a:p>
            <a:r>
              <a:rPr lang="en-US" dirty="0"/>
              <a:t>The current output is a comparative estimate for 2026, supported by separate historical and official hazard evidence. Its purpose is to reduce a national search to a smaller set of broad areas for further investigation.</a:t>
            </a:r>
          </a:p>
          <a:p>
            <a:r>
              <a:rPr lang="en-US" dirty="0"/>
              <a:t>It does not identify a guaranteed safe property or make a purchase decision. Local and property-specific evidence is still required.</a:t>
            </a:r>
          </a:p>
          <a:p>
            <a:endParaRPr dirty="0"/>
          </a:p>
          <a:p>
            <a:r>
              <a:rPr b="1" dirty="0"/>
              <a:t>Transition:</a:t>
            </a:r>
            <a:endParaRPr lang="en-US" b="1" dirty="0"/>
          </a:p>
          <a:p>
            <a:r>
              <a:rPr lang="en-US" dirty="0"/>
              <a:t>Next, I will explain what one analytical record represents and how each data source contributes to the project.</a:t>
            </a:r>
          </a:p>
          <a:p>
            <a:endParaRPr dirty="0"/>
          </a:p>
          <a:p>
            <a:r>
              <a:rPr dirty="0"/>
              <a:t>[Sources]</a:t>
            </a:r>
          </a:p>
          <a:p>
            <a:r>
              <a:rPr b="0" dirty="0"/>
              <a:t>README.md; docs/project_brief.md; docs/data_dictionary.md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Every analytical record represents the same unit: one mainland Portugal 1 km cell in one predictor year.</a:t>
            </a:r>
            <a:endParaRPr b="0" dirty="0"/>
          </a:p>
          <a:p>
            <a:endParaRPr dirty="0"/>
          </a:p>
          <a:p>
            <a:r>
              <a:rPr b="1" dirty="0"/>
              <a:t>What to say:</a:t>
            </a:r>
            <a:endParaRPr lang="en-US" b="1" dirty="0"/>
          </a:p>
          <a:p>
            <a:r>
              <a:rPr lang="en-US" dirty="0"/>
              <a:t>The project divides mainland Portugal into 89,112 consistent 1 km cells. Each analytical row represents one of these cells in one predictor year. This allows the same locations to be compared over time.</a:t>
            </a:r>
          </a:p>
          <a:p>
            <a:r>
              <a:rPr lang="en-US" dirty="0"/>
              <a:t>The data are </a:t>
            </a:r>
            <a:r>
              <a:rPr lang="en-US" dirty="0" err="1"/>
              <a:t>organised</a:t>
            </a:r>
            <a:r>
              <a:rPr lang="en-US" dirty="0"/>
              <a:t> into three roles.</a:t>
            </a:r>
          </a:p>
          <a:p>
            <a:endParaRPr lang="en-US" dirty="0"/>
          </a:p>
          <a:p>
            <a:r>
              <a:rPr lang="en-US" dirty="0"/>
              <a:t>First, ICNF burned-area records provide observed fire history and the following-year burned-share outcome. Burned share means the proportion of a cell’s land area that burned.</a:t>
            </a:r>
          </a:p>
          <a:p>
            <a:r>
              <a:rPr lang="en-US" dirty="0"/>
              <a:t>The ICNF archive covers 2000–2025. This is the complete source coverage, not one training period. Earlier years are needed to calculate the previous ten years of fire history.</a:t>
            </a:r>
          </a:p>
          <a:p>
            <a:endParaRPr lang="en-US" dirty="0"/>
          </a:p>
          <a:p>
            <a:r>
              <a:rPr lang="en-US" dirty="0"/>
              <a:t>Second, CLC land cover and the Copernicus DEM describe the surrounding landscape and terrain, including built-up land, forest and shrubland, and slope.</a:t>
            </a:r>
          </a:p>
          <a:p>
            <a:endParaRPr lang="en-US" dirty="0"/>
          </a:p>
          <a:p>
            <a:r>
              <a:rPr lang="en-US" dirty="0"/>
              <a:t>Third, ERA5-Land provides warm-season temperature, precipitation, and shallow soil-water conditions from the predictor year. These are coarse regional climate values, not downscaled 1 km weather.</a:t>
            </a:r>
          </a:p>
          <a:p>
            <a:r>
              <a:rPr lang="en-US" dirty="0"/>
              <a:t>Some features use a 2 km context around each cell. This is only a surrounding measurement area - the 1 km cell remains the analytical unit.</a:t>
            </a:r>
          </a:p>
          <a:p>
            <a:endParaRPr dirty="0"/>
          </a:p>
          <a:p>
            <a:r>
              <a:rPr b="1" dirty="0"/>
              <a:t>Transition:</a:t>
            </a:r>
            <a:endParaRPr lang="en-US" b="1" dirty="0"/>
          </a:p>
          <a:p>
            <a:r>
              <a:rPr lang="en-US" dirty="0"/>
              <a:t>Next, I will show how these records are used to train, select and evaluate the model before producing the 2026 estimate.</a:t>
            </a:r>
          </a:p>
          <a:p>
            <a:endParaRPr lang="en-US" dirty="0"/>
          </a:p>
          <a:p>
            <a:r>
              <a:rPr dirty="0"/>
              <a:t>[Sources]</a:t>
            </a:r>
          </a:p>
          <a:p>
            <a:r>
              <a:rPr dirty="0"/>
              <a:t>docs/data_dictionary.md; docs/source_plan.md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Validated historical records are used to fit, select, and check the model before the unchanged selected model is rebuilt for the 2026 estimate.</a:t>
            </a:r>
            <a:endParaRPr lang="en-US" b="1" dirty="0"/>
          </a:p>
          <a:p>
            <a:endParaRPr dirty="0"/>
          </a:p>
          <a:p>
            <a:r>
              <a:rPr b="1" dirty="0"/>
              <a:t>What to say:</a:t>
            </a:r>
          </a:p>
          <a:p>
            <a:r>
              <a:rPr lang="en-US" dirty="0"/>
              <a:t>This slide shows how historical data becomes the 2026 estimate.</a:t>
            </a:r>
          </a:p>
          <a:p>
            <a:endParaRPr lang="en-US" dirty="0"/>
          </a:p>
          <a:p>
            <a:r>
              <a:rPr lang="en-US" dirty="0"/>
              <a:t>First, the validated source data are converted into consistent cell-year records. Each record contains nine predictors from year T and the observed burned-share outcome from the following year.</a:t>
            </a:r>
          </a:p>
          <a:p>
            <a:r>
              <a:rPr lang="en-US" dirty="0"/>
              <a:t>Candidate models are fitted using predictor years 2010–2019.</a:t>
            </a:r>
          </a:p>
          <a:p>
            <a:endParaRPr lang="en-US" dirty="0"/>
          </a:p>
          <a:p>
            <a:r>
              <a:rPr lang="en-US" dirty="0"/>
              <a:t>The later 2020–2021 records are used to select the final model, while 2022–2024 are used once for the final temporal evaluation.</a:t>
            </a:r>
          </a:p>
          <a:p>
            <a:r>
              <a:rPr lang="en-US" dirty="0"/>
              <a:t>During this development process, validation and final-evaluation records remain outside model fitting.</a:t>
            </a:r>
          </a:p>
          <a:p>
            <a:endParaRPr lang="en-US" dirty="0"/>
          </a:p>
          <a:p>
            <a:r>
              <a:rPr lang="en-US" dirty="0"/>
              <a:t>After the final evaluation is complete, the same selected model is rebuilt using all available labelled records from 2010–2024. This does not select a different model; it gives the chosen model access to the newest completed evidence.</a:t>
            </a:r>
          </a:p>
          <a:p>
            <a:r>
              <a:rPr lang="en-US" dirty="0"/>
              <a:t>Finally, the rebuilt model uses 2025 predictors to estimate burned share for 2026. The observed 2026 burned areas are not yet available, so this estimate cannot yet be evaluated.</a:t>
            </a:r>
          </a:p>
          <a:p>
            <a:endParaRPr dirty="0"/>
          </a:p>
          <a:p>
            <a:r>
              <a:rPr b="1" dirty="0"/>
              <a:t>Transition:</a:t>
            </a:r>
            <a:endParaRPr lang="en-US" b="1" dirty="0"/>
          </a:p>
          <a:p>
            <a:r>
              <a:rPr lang="en-US" dirty="0"/>
              <a:t>The next slide compares the observed historical evidence, the official ICNF reference, and the separate model estimate for 2026.</a:t>
            </a:r>
          </a:p>
          <a:p>
            <a:endParaRPr dirty="0"/>
          </a:p>
          <a:p>
            <a:r>
              <a:rPr dirty="0"/>
              <a:t>[Sources]</a:t>
            </a:r>
          </a:p>
          <a:p>
            <a:r>
              <a:rPr dirty="0"/>
              <a:t>docs/data_dictionary.md; docs/model_learning_and_2026_estimate.md; docs/model_v2_validation_selection.md; docs/operational_forecast_cycle.md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Historical recurrence is geographically uneven, while the three maps provide different and complementary evidence about the same 1 km cells.</a:t>
            </a:r>
            <a:endParaRPr lang="ru-RU" dirty="0"/>
          </a:p>
          <a:p>
            <a:endParaRPr dirty="0"/>
          </a:p>
          <a:p>
            <a:r>
              <a:rPr b="1" dirty="0"/>
              <a:t>What to say:</a:t>
            </a:r>
          </a:p>
          <a:p>
            <a:r>
              <a:rPr lang="en-US" dirty="0"/>
              <a:t>This slide shows three different views of mainland Portugal.</a:t>
            </a:r>
          </a:p>
          <a:p>
            <a:endParaRPr lang="en-US" dirty="0"/>
          </a:p>
          <a:p>
            <a:r>
              <a:rPr lang="en-US" dirty="0"/>
              <a:t>The left map shows observed historical recurrence from 2016–2025. Darker areas experienced burned-area evidence in more years within the 2 km context.</a:t>
            </a:r>
            <a:endParaRPr lang="ru-RU" dirty="0"/>
          </a:p>
          <a:p>
            <a:r>
              <a:rPr lang="en-US" dirty="0"/>
              <a:t>Higher recurrence is concentrated mainly across northern and central Portugal, while much of the south shows lower recurrence during this particular period.</a:t>
            </a:r>
          </a:p>
          <a:p>
            <a:endParaRPr lang="en-US" b="1" dirty="0"/>
          </a:p>
          <a:p>
            <a:r>
              <a:rPr lang="en-US" dirty="0"/>
              <a:t>This fixed historical map is descriptive evidence. It is not the exact model input. The model uses a rolling ten-year fire-history period ending before each predictor year.</a:t>
            </a:r>
          </a:p>
          <a:p>
            <a:r>
              <a:rPr lang="en-US" dirty="0"/>
              <a:t>For the 2026 estimate, that model feature uses 2015–2024.</a:t>
            </a:r>
          </a:p>
          <a:p>
            <a:endParaRPr lang="en-US" dirty="0"/>
          </a:p>
          <a:p>
            <a:r>
              <a:rPr lang="en-US" dirty="0"/>
              <a:t>The middle map shows the official ICNF structural-hazard classification. It describes underlying landscape conditions and is not this project’s prediction.</a:t>
            </a:r>
          </a:p>
          <a:p>
            <a:endParaRPr lang="en-US" dirty="0"/>
          </a:p>
          <a:p>
            <a:r>
              <a:rPr lang="en-US" dirty="0"/>
              <a:t>The right map shows the project’s comparative estimate for 2026, produced from 2025 predictors. Its three bands represent national relative percentiles, not physical-risk thresholds.</a:t>
            </a:r>
          </a:p>
          <a:p>
            <a:r>
              <a:rPr lang="en-US" dirty="0"/>
              <a:t>The observed 2026 burned area is not yet available, so the estimate cannot yet be evaluated.</a:t>
            </a:r>
          </a:p>
          <a:p>
            <a:r>
              <a:rPr lang="en-US" dirty="0"/>
              <a:t>The maps answer different questions. They should be compared separately and not added together into one score.</a:t>
            </a:r>
          </a:p>
          <a:p>
            <a:endParaRPr b="1" dirty="0"/>
          </a:p>
          <a:p>
            <a:r>
              <a:rPr b="1" dirty="0"/>
              <a:t>Transition</a:t>
            </a:r>
            <a:r>
              <a:rPr dirty="0"/>
              <a:t>: </a:t>
            </a:r>
            <a:endParaRPr lang="en-US" dirty="0"/>
          </a:p>
          <a:p>
            <a:r>
              <a:rPr lang="en-US" dirty="0"/>
              <a:t>The next slide explains why observed historical recurrence and official structural hazard provide useful but different forms of context.</a:t>
            </a:r>
          </a:p>
          <a:p>
            <a:endParaRPr dirty="0"/>
          </a:p>
          <a:p>
            <a:r>
              <a:rPr dirty="0"/>
              <a:t>[Sources]</a:t>
            </a:r>
          </a:p>
          <a:p>
            <a:r>
              <a:rPr dirty="0"/>
              <a:t>reports/figures/historical_wildfire_exposure_screening_mainland_portugal.png; reports/validation/historical_exposure_screening_and_icnf_comparison.md; </a:t>
            </a:r>
            <a:r>
              <a:rPr dirty="0" err="1"/>
              <a:t>qgis</a:t>
            </a:r>
            <a:r>
              <a:rPr dirty="0"/>
              <a:t>/README.md; reports/validation/operational_forecast_2026_validation.md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Observed recurrence and official structural hazard provide complementary - but different - evidence for broad-area screening.</a:t>
            </a:r>
          </a:p>
          <a:p>
            <a:endParaRPr dirty="0"/>
          </a:p>
          <a:p>
            <a:r>
              <a:rPr b="1" dirty="0"/>
              <a:t>What to say:</a:t>
            </a:r>
            <a:endParaRPr dirty="0"/>
          </a:p>
          <a:p>
            <a:r>
              <a:rPr lang="en-US" dirty="0"/>
              <a:t>This slide compares two evidence sources.</a:t>
            </a:r>
          </a:p>
          <a:p>
            <a:endParaRPr lang="en-US" dirty="0"/>
          </a:p>
          <a:p>
            <a:r>
              <a:rPr lang="en-US" dirty="0"/>
              <a:t>Historical recurrence counts the distinct years from 2016 to 2025 in which burned-area evidence occurred within the 2 km context around each 1 km cell.</a:t>
            </a:r>
          </a:p>
          <a:p>
            <a:r>
              <a:rPr lang="en-US" dirty="0"/>
              <a:t>It describes what was observed during this recent ten-year period.</a:t>
            </a:r>
          </a:p>
          <a:p>
            <a:endParaRPr lang="en-US" dirty="0"/>
          </a:p>
          <a:p>
            <a:r>
              <a:rPr lang="en-US" dirty="0"/>
              <a:t>Official ICNF structural hazard describes persistent landscape conditions associated with wildfire hazard.</a:t>
            </a:r>
          </a:p>
          <a:p>
            <a:r>
              <a:rPr lang="en-US" dirty="0"/>
              <a:t>The original official 25 m classification is summarized as the predominant valid class within each 1 km cell.</a:t>
            </a:r>
          </a:p>
          <a:p>
            <a:endParaRPr lang="en-US" dirty="0"/>
          </a:p>
          <a:p>
            <a:r>
              <a:rPr lang="en-US" dirty="0"/>
              <a:t>The layers use different data, methods and time perspectives.</a:t>
            </a:r>
          </a:p>
          <a:p>
            <a:r>
              <a:rPr lang="en-US" dirty="0"/>
              <a:t>Where they show similar patterns, they provide consistent broad-area context.</a:t>
            </a:r>
          </a:p>
          <a:p>
            <a:r>
              <a:rPr lang="en-US" dirty="0"/>
              <a:t>Where they differ, they indicate locations that may require closer investigation. Agreement does not prove that either layer is correct, and this comparison is not a model-accuracy test.</a:t>
            </a:r>
          </a:p>
          <a:p>
            <a:endParaRPr lang="en-US" dirty="0"/>
          </a:p>
          <a:p>
            <a:r>
              <a:rPr lang="en-US" dirty="0"/>
              <a:t>Neither layer is a buyer threshold or property certification. They support broad-area screening and must be followed by local verification.</a:t>
            </a:r>
          </a:p>
          <a:p>
            <a:endParaRPr lang="en-US" dirty="0"/>
          </a:p>
          <a:p>
            <a:r>
              <a:rPr lang="en-US" b="1" dirty="0"/>
              <a:t>Transition:</a:t>
            </a:r>
          </a:p>
          <a:p>
            <a:r>
              <a:rPr lang="en-US" dirty="0"/>
              <a:t>The next slide compares the nine-feature model with a separate recurrence-only benchmark used for model evaluation.</a:t>
            </a:r>
          </a:p>
          <a:p>
            <a:r>
              <a:rPr lang="en-US" dirty="0"/>
              <a:t>That benchmark uses a rolling ten-year fire-history feature and is not the fixed 2016–2025 map shown here.</a:t>
            </a:r>
          </a:p>
          <a:p>
            <a:endParaRPr dirty="0"/>
          </a:p>
          <a:p>
            <a:r>
              <a:rPr lang="en-US" dirty="0"/>
              <a:t>[Sources]</a:t>
            </a:r>
            <a:br>
              <a:rPr lang="en-US" dirty="0"/>
            </a:br>
            <a:r>
              <a:rPr lang="en-US" dirty="0" err="1"/>
              <a:t>qgis</a:t>
            </a:r>
            <a:r>
              <a:rPr lang="en-US" dirty="0"/>
              <a:t>/README.md; docs/data_dictionary.md; reports/figures/historical_exposure_by_icnf_structural_hazard_crosstab.png</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The nine-feature model is compared with a simple recurrence-only benchmark. It reduces average error and improves ranking, although large-fire outcomes remain difficult.</a:t>
            </a:r>
            <a:endParaRPr lang="en-US" b="1" dirty="0"/>
          </a:p>
          <a:p>
            <a:endParaRPr lang="en-US" b="1" dirty="0"/>
          </a:p>
          <a:p>
            <a:r>
              <a:rPr b="1" dirty="0"/>
              <a:t>What to say:</a:t>
            </a:r>
          </a:p>
          <a:p>
            <a:r>
              <a:rPr lang="en-US" dirty="0"/>
              <a:t>This slide compares the nine-feature model with a deliberately simple recurrence-only reference using the final temporal evaluation: predictor years 2022-2024 and their observed outcomes from 2023-2025.</a:t>
            </a:r>
          </a:p>
          <a:p>
            <a:endParaRPr lang="en-US" dirty="0"/>
          </a:p>
          <a:p>
            <a:r>
              <a:rPr lang="en-US" dirty="0"/>
              <a:t>The recurrence-only reference establishes the minimum performance that a more complex model should beat. It uses one predictor: the number of years with burned-area evidence during the previous ten years in the 2 km context.</a:t>
            </a:r>
          </a:p>
          <a:p>
            <a:r>
              <a:rPr lang="en-US" dirty="0"/>
              <a:t>The nine-feature model tests whether land cover, terrain and climate add useful information beyond this fire history.</a:t>
            </a:r>
          </a:p>
          <a:p>
            <a:endParaRPr lang="en-US" dirty="0"/>
          </a:p>
          <a:p>
            <a:r>
              <a:rPr lang="en-US" dirty="0"/>
              <a:t>Because most cell-year outcomes are zero, the nine-feature model uses two gradient-boosting components. One estimates whether the following-year burned share is non-zero.</a:t>
            </a:r>
          </a:p>
          <a:p>
            <a:r>
              <a:rPr lang="en-US" dirty="0"/>
              <a:t>The other estimates its size for positive outcomes. Their results are combined into one continuous burned-share estimate.</a:t>
            </a:r>
          </a:p>
          <a:p>
            <a:endParaRPr lang="en-US" dirty="0"/>
          </a:p>
          <a:p>
            <a:r>
              <a:rPr lang="en-US" dirty="0"/>
              <a:t>MAE decreased from 0.0292 to 0.0209, approximately a 28% reduction in average absolute error.</a:t>
            </a:r>
          </a:p>
          <a:p>
            <a:r>
              <a:rPr lang="en-US" dirty="0"/>
              <a:t>RMSE was almost unchanged and slightly higher, moving from 0.1106 to 0.1110. This means that the model improved typical estimates but did not improve errors associated with the largest outcomes.</a:t>
            </a:r>
          </a:p>
          <a:p>
            <a:endParaRPr lang="en-US" dirty="0"/>
          </a:p>
          <a:p>
            <a:r>
              <a:rPr lang="en-US" dirty="0"/>
              <a:t>Capture@20% increased from 40.2% to 57.2%. For this diagnostic, all final-evaluation cell-year records are ranked by their estimated burned share. </a:t>
            </a:r>
          </a:p>
          <a:p>
            <a:r>
              <a:rPr lang="en-US" dirty="0"/>
              <a:t>The metric measures how much of the total observed burned share occurred within the highest-ranked 20% of those records.</a:t>
            </a:r>
          </a:p>
          <a:p>
            <a:r>
              <a:rPr lang="en-US" dirty="0"/>
              <a:t>This result supports the model only partially. It improves average error and broad-area ranking, but large fire outcomes remain difficult.</a:t>
            </a:r>
          </a:p>
          <a:p>
            <a:r>
              <a:rPr lang="en-US" dirty="0"/>
              <a:t>Capture@20% is not the percentage of Portugal that burned, a buyer threshold, or a property-level forecast.</a:t>
            </a:r>
          </a:p>
          <a:p>
            <a:endParaRPr lang="en-US" dirty="0"/>
          </a:p>
          <a:p>
            <a:r>
              <a:rPr lang="en-US" b="1" dirty="0"/>
              <a:t>Transition:</a:t>
            </a:r>
            <a:br>
              <a:rPr lang="en-US" dirty="0"/>
            </a:br>
            <a:r>
              <a:rPr lang="en-US" dirty="0"/>
              <a:t>The next slide shows how the 2026 comparative estimate can be used to narrow broad areas for further research.</a:t>
            </a:r>
          </a:p>
          <a:p>
            <a:endParaRPr dirty="0"/>
          </a:p>
          <a:p>
            <a:r>
              <a:rPr dirty="0"/>
              <a:t>[Sources]</a:t>
            </a:r>
            <a:endParaRPr b="1" dirty="0"/>
          </a:p>
          <a:p>
            <a:r>
              <a:rPr b="1" dirty="0"/>
              <a:t>reports/validation/model_final_decision.md; reports/validation/final_temporal_test_2022_2024.md; reports/figures/model_final_test_metric_comparison.png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r>
              <a:rPr lang="en-US" b="1" dirty="0"/>
              <a:t>:</a:t>
            </a:r>
            <a:br>
              <a:rPr lang="en-US" b="1" dirty="0"/>
            </a:br>
            <a:r>
              <a:rPr lang="en-US" dirty="0"/>
              <a:t>The project helps reduce a national search to a smaller set of broad areas for detailed local investigation. It does not select a property.</a:t>
            </a:r>
            <a:endParaRPr dirty="0"/>
          </a:p>
          <a:p>
            <a:endParaRPr dirty="0"/>
          </a:p>
          <a:p>
            <a:r>
              <a:rPr b="1" dirty="0"/>
              <a:t>What to say:</a:t>
            </a:r>
            <a:endParaRPr dirty="0"/>
          </a:p>
          <a:p>
            <a:r>
              <a:rPr lang="en-US" dirty="0"/>
              <a:t>Imagine a buyer beginning with many possible locations across mainland Portugal.</a:t>
            </a:r>
          </a:p>
          <a:p>
            <a:r>
              <a:rPr lang="en-US" dirty="0"/>
              <a:t>First, they use the 2026 comparative estimate to compare broad 1 km areas. This estimate uses 2025 predictor data, and the observed 2026 outcome is not yet available.</a:t>
            </a:r>
          </a:p>
          <a:p>
            <a:r>
              <a:rPr lang="en-US" dirty="0"/>
              <a:t>Before shortlisting areas, they compare the estimate with the separate historical-recurrence and official ICNF structural-hazard layers. The three maps provide different evidence and are not combined into one score.</a:t>
            </a:r>
          </a:p>
          <a:p>
            <a:endParaRPr lang="en-US" dirty="0"/>
          </a:p>
          <a:p>
            <a:r>
              <a:rPr lang="en-US" dirty="0"/>
              <a:t>The result is a smaller and more </a:t>
            </a:r>
            <a:r>
              <a:rPr lang="en-US" dirty="0" err="1"/>
              <a:t>organised</a:t>
            </a:r>
            <a:r>
              <a:rPr lang="en-US" dirty="0"/>
              <a:t> search area—not a property decision.</a:t>
            </a:r>
          </a:p>
          <a:p>
            <a:r>
              <a:rPr lang="en-US" dirty="0"/>
              <a:t>The buyer must then visit shortlisted areas and check local planning, access, insurance, terrain, vegetation management, and property-specific evidence.</a:t>
            </a:r>
          </a:p>
          <a:p>
            <a:endParaRPr dirty="0"/>
          </a:p>
          <a:p>
            <a:r>
              <a:rPr b="1" dirty="0"/>
              <a:t>Transition:</a:t>
            </a:r>
            <a:br>
              <a:rPr lang="en-US" b="1" dirty="0"/>
            </a:br>
            <a:r>
              <a:rPr lang="en-US" dirty="0"/>
              <a:t>The next slide explains the two safeguards: compare the evidence layers separately and always verify shortlisted areas locally.</a:t>
            </a:r>
            <a:br>
              <a:rPr lang="en-US" dirty="0"/>
            </a:br>
            <a:endParaRPr dirty="0"/>
          </a:p>
          <a:p>
            <a:r>
              <a:rPr dirty="0"/>
              <a:t>[Sources]</a:t>
            </a:r>
          </a:p>
          <a:p>
            <a:r>
              <a:rPr dirty="0" err="1"/>
              <a:t>qgis</a:t>
            </a:r>
            <a:r>
              <a:rPr dirty="0"/>
              <a:t>/wildfire_exposure_screening_portugal_2026.qgz; </a:t>
            </a:r>
            <a:r>
              <a:rPr dirty="0" err="1"/>
              <a:t>qgis</a:t>
            </a:r>
            <a:r>
              <a:rPr dirty="0"/>
              <a:t>/README.md; reports/validation/operational_forecast_2026_validation.md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r>
              <a:rPr lang="en-US" b="1" dirty="0"/>
              <a:t>:</a:t>
            </a:r>
          </a:p>
          <a:p>
            <a:r>
              <a:rPr lang="en-US" dirty="0"/>
              <a:t>Compare the three evidence layers before shortlisting broad areas. Then use local and property-specific evidence before making any decision.</a:t>
            </a:r>
            <a:endParaRPr dirty="0"/>
          </a:p>
          <a:p>
            <a:endParaRPr dirty="0"/>
          </a:p>
          <a:p>
            <a:r>
              <a:rPr b="1" dirty="0"/>
              <a:t>What to say:</a:t>
            </a:r>
            <a:endParaRPr dirty="0"/>
          </a:p>
          <a:p>
            <a:r>
              <a:rPr lang="en-US" dirty="0"/>
              <a:t>This slide presents two recommendations.</a:t>
            </a:r>
          </a:p>
          <a:p>
            <a:endParaRPr lang="en-US" dirty="0"/>
          </a:p>
          <a:p>
            <a:r>
              <a:rPr lang="en-US" dirty="0"/>
              <a:t>The first is to compare the three layers before shortlisting areas.</a:t>
            </a:r>
          </a:p>
          <a:p>
            <a:r>
              <a:rPr lang="en-US" dirty="0"/>
              <a:t>The 2026 estimate shows the model’s comparative next-year result. Historical recurrence shows where burning was observed repeatedly during 2016–2025. Official ICNF structural hazard describes underlying landscape conditions.</a:t>
            </a:r>
          </a:p>
          <a:p>
            <a:endParaRPr lang="en-US" dirty="0"/>
          </a:p>
          <a:p>
            <a:r>
              <a:rPr lang="en-US" dirty="0"/>
              <a:t>Because these layers answer different questions, they should not be merged into one score. Agreement and disagreement between them provide useful context for deciding which broad areas need closer investigation.</a:t>
            </a:r>
          </a:p>
          <a:p>
            <a:endParaRPr lang="en-US" dirty="0"/>
          </a:p>
          <a:p>
            <a:r>
              <a:rPr lang="en-US" dirty="0"/>
              <a:t>The second recommendation is to verify locally.</a:t>
            </a:r>
          </a:p>
          <a:p>
            <a:r>
              <a:rPr lang="en-US" dirty="0"/>
              <a:t>The project works with 1 km cells and cannot describe the conditions of an individual property.</a:t>
            </a:r>
          </a:p>
          <a:p>
            <a:r>
              <a:rPr lang="en-US" dirty="0"/>
              <a:t>After shortlisting an area, the buyer should investigate planning restrictions, road access, evacuation conditions, insurance, terrain, vegetation management, infrastructure, and property-specific evidence.</a:t>
            </a:r>
          </a:p>
          <a:p>
            <a:r>
              <a:rPr lang="en-US" dirty="0"/>
              <a:t>The model helps </a:t>
            </a:r>
            <a:r>
              <a:rPr lang="en-US" dirty="0" err="1"/>
              <a:t>organise</a:t>
            </a:r>
            <a:r>
              <a:rPr lang="en-US" dirty="0"/>
              <a:t> the research process. It does not replace local investigation or certify a location.</a:t>
            </a:r>
          </a:p>
          <a:p>
            <a:endParaRPr dirty="0"/>
          </a:p>
          <a:p>
            <a:r>
              <a:rPr b="1" dirty="0"/>
              <a:t>Transition:</a:t>
            </a:r>
            <a:endParaRPr lang="en-US" b="1" dirty="0"/>
          </a:p>
          <a:p>
            <a:r>
              <a:rPr lang="en-US" dirty="0"/>
              <a:t>The final slide explains why the project’s value is not limited to one 2026 estimate: the same controlled workflow can be updated when new annual data become available.</a:t>
            </a:r>
          </a:p>
          <a:p>
            <a:endParaRPr dirty="0"/>
          </a:p>
          <a:p>
            <a:r>
              <a:rPr dirty="0"/>
              <a:t>[Sources]</a:t>
            </a:r>
          </a:p>
          <a:p>
            <a:r>
              <a:rPr dirty="0" err="1"/>
              <a:t>qgis</a:t>
            </a:r>
            <a:r>
              <a:rPr dirty="0"/>
              <a:t>/README.md; docs/data_dictionary.md; reports/validation/historical_exposure_screening_and_icnf_comparison.md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The project delivers a reproducible broad-area screening workflow.</a:t>
            </a:r>
          </a:p>
          <a:p>
            <a:r>
              <a:rPr lang="en-US" dirty="0"/>
              <a:t>The model improves some evaluation measures, but local evidence and annual re-evaluation remain essential.</a:t>
            </a:r>
            <a:endParaRPr lang="en-US" b="1" dirty="0"/>
          </a:p>
          <a:p>
            <a:endParaRPr dirty="0"/>
          </a:p>
          <a:p>
            <a:r>
              <a:rPr b="1" dirty="0"/>
              <a:t>What to say:</a:t>
            </a:r>
            <a:endParaRPr dirty="0"/>
          </a:p>
          <a:p>
            <a:r>
              <a:rPr lang="en-US" dirty="0"/>
              <a:t>This final slide summarizes what the project delivered, what the model achieved, and what happens next.</a:t>
            </a:r>
          </a:p>
          <a:p>
            <a:r>
              <a:rPr lang="en-US" dirty="0"/>
              <a:t>First, the project delivered a reproducible national workflow: validated data sources, one consistent 1 km grid, a tested nine-feature model, QGIS outputs, observed historical recurrence, and the official ICNF structural-hazard reference.</a:t>
            </a:r>
          </a:p>
          <a:p>
            <a:endParaRPr lang="en-US" dirty="0"/>
          </a:p>
          <a:p>
            <a:r>
              <a:rPr lang="en-US" dirty="0"/>
              <a:t>Second, the model improved average error and comparative ranking over the recurrence-only reference.</a:t>
            </a:r>
          </a:p>
          <a:p>
            <a:r>
              <a:rPr lang="en-US" dirty="0"/>
              <a:t>However, </a:t>
            </a:r>
            <a:r>
              <a:rPr lang="en-US" b="1" dirty="0"/>
              <a:t>RMSE</a:t>
            </a:r>
            <a:r>
              <a:rPr lang="en-US" dirty="0"/>
              <a:t> did not improve, showing that large and extreme fire outcomes remain difficult.</a:t>
            </a:r>
          </a:p>
          <a:p>
            <a:r>
              <a:rPr lang="en-US" dirty="0"/>
              <a:t>The model is therefore useful for narrowing broad search areas, but not for making a property decision.</a:t>
            </a:r>
          </a:p>
          <a:p>
            <a:endParaRPr lang="en-US" dirty="0"/>
          </a:p>
          <a:p>
            <a:r>
              <a:rPr lang="en-US" b="1" dirty="0"/>
              <a:t>Third, the project has an annual update process.</a:t>
            </a:r>
          </a:p>
          <a:p>
            <a:r>
              <a:rPr lang="en-US" dirty="0"/>
              <a:t>When the observed ICNF burned areas for 2026 become available, the existing 2026 estimate can be evaluated.</a:t>
            </a:r>
          </a:p>
          <a:p>
            <a:r>
              <a:rPr lang="en-US" dirty="0"/>
              <a:t>After the required 2026 predictor data and observed outcome are validated, the same selected model can be rebuilt with the new completed evidence and used to produce the 2027 comparative estimate.</a:t>
            </a:r>
          </a:p>
          <a:p>
            <a:r>
              <a:rPr lang="en-US" dirty="0"/>
              <a:t>The final result is a more focused location search supported by traceable evidence. Local planning, access, insurance, terrain, vegetation, infrastructure, and property-specific checks still complete the decision.</a:t>
            </a:r>
          </a:p>
          <a:p>
            <a:endParaRPr lang="en-US" dirty="0"/>
          </a:p>
          <a:p>
            <a:r>
              <a:rPr lang="en-US" b="1" dirty="0"/>
              <a:t>Closing statement</a:t>
            </a:r>
          </a:p>
          <a:p>
            <a:r>
              <a:rPr lang="en-US" dirty="0"/>
              <a:t>The project does not identify a guaranteed safe property.</a:t>
            </a:r>
          </a:p>
          <a:p>
            <a:r>
              <a:rPr lang="en-US" dirty="0"/>
              <a:t>It provides a repeatable way to compare broad areas and focus further research where it is most useful.</a:t>
            </a:r>
          </a:p>
          <a:p>
            <a:endParaRPr dirty="0"/>
          </a:p>
          <a:p>
            <a:r>
              <a:rPr dirty="0"/>
              <a:t>[Sources]</a:t>
            </a:r>
          </a:p>
          <a:p>
            <a:r>
              <a:rPr dirty="0"/>
              <a:t>README.md; reports/validation/model_final_decision.md; reports/validation/operational_forecast_readiness.md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7271A54-A21F-461B-81FE-9352EC032ECA}"/>
              </a:ext>
            </a:extLst>
          </p:cNvPr>
          <p:cNvSpPr>
            <a:spLocks noGrp="1"/>
          </p:cNvSpPr>
          <p:nvPr/>
        </p:nvSpPr>
        <p:spPr>
          <a:xfrm>
            <a:off x="0" y="0"/>
            <a:ext cx="9144000" cy="5143500"/>
          </a:xfrm>
          <a:prstGeom prst="rect">
            <a:avLst/>
          </a:prstGeom>
          <a:solidFill>
            <a:srgbClr val="0D1F2D"/>
          </a:solidFill>
          <a:ln w="12700">
            <a:solidFill>
              <a:srgbClr val="0D1F2D"/>
            </a:solidFill>
            <a:prstDash val="solid"/>
          </a:ln>
        </p:spPr>
      </p:sp>
      <p:sp>
        <p:nvSpPr>
          <p:cNvPr id="3" name="Shape 1">
            <a:extLst>
              <a:ext uri="{FF2B5EF4-FFF2-40B4-BE49-F238E27FC236}">
                <a16:creationId xmlns:a16="http://schemas.microsoft.com/office/drawing/2014/main" id="{DDACC1B4-1154-4329-A73F-48B1DC582792}"/>
              </a:ext>
            </a:extLst>
          </p:cNvPr>
          <p:cNvSpPr>
            <a:spLocks noGrp="1"/>
          </p:cNvSpPr>
          <p:nvPr/>
        </p:nvSpPr>
        <p:spPr>
          <a:xfrm>
            <a:off x="0" y="0"/>
            <a:ext cx="228600" cy="5143500"/>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321EBCE3-53B5-467C-8E29-72B844CA383B}"/>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5" name="Shape 3">
            <a:extLst>
              <a:ext uri="{FF2B5EF4-FFF2-40B4-BE49-F238E27FC236}">
                <a16:creationId xmlns:a16="http://schemas.microsoft.com/office/drawing/2014/main" id="{9017F92D-E245-4025-90D8-8EDF916CA9EF}"/>
              </a:ext>
            </a:extLst>
          </p:cNvPr>
          <p:cNvSpPr>
            <a:spLocks noGrp="1"/>
          </p:cNvSpPr>
          <p:nvPr/>
        </p:nvSpPr>
        <p:spPr>
          <a:xfrm>
            <a:off x="320040" y="137160"/>
            <a:ext cx="1417320" cy="292608"/>
          </a:xfrm>
          <a:prstGeom prst="rect">
            <a:avLst/>
          </a:prstGeom>
          <a:solidFill>
            <a:srgbClr val="1E3A50"/>
          </a:solidFill>
          <a:ln w="12700">
            <a:solidFill>
              <a:srgbClr val="1E3A50"/>
            </a:solidFill>
            <a:prstDash val="solid"/>
          </a:ln>
        </p:spPr>
      </p:sp>
      <p:sp>
        <p:nvSpPr>
          <p:cNvPr id="6" name="Text 4">
            <a:extLst>
              <a:ext uri="{FF2B5EF4-FFF2-40B4-BE49-F238E27FC236}">
                <a16:creationId xmlns:a16="http://schemas.microsoft.com/office/drawing/2014/main" id="{50F063B7-97FC-4057-91C5-01147213D4BB}"/>
              </a:ext>
            </a:extLst>
          </p:cNvPr>
          <p:cNvSpPr>
            <a:spLocks noGrp="1"/>
          </p:cNvSpPr>
          <p:nvPr/>
        </p:nvSpPr>
        <p:spPr>
          <a:xfrm>
            <a:off x="320040" y="137160"/>
            <a:ext cx="1417320" cy="292608"/>
          </a:xfrm>
          <a:prstGeom prst="rect">
            <a:avLst/>
          </a:prstGeom>
          <a:noFill/>
        </p:spPr>
        <p:txBody>
          <a:bodyPr wrap="square" lIns="0" tIns="0" rIns="0" bIns="0" anchor="ctr"/>
          <a:lstStyle/>
          <a:p>
            <a:pPr marL="0" indent="0" algn="ctr">
              <a:buNone/>
            </a:pPr>
            <a:r>
              <a:rPr sz="750">
                <a:solidFill>
                  <a:srgbClr val="E1E8EF"/>
                </a:solidFill>
              </a:rPr>
              <a:t>DATA SCIENCE · ML · GIS</a:t>
            </a:r>
            <a:endParaRPr sz="750"/>
          </a:p>
        </p:txBody>
      </p:sp>
      <p:sp>
        <p:nvSpPr>
          <p:cNvPr id="7" name="Shape 5">
            <a:extLst>
              <a:ext uri="{FF2B5EF4-FFF2-40B4-BE49-F238E27FC236}">
                <a16:creationId xmlns:a16="http://schemas.microsoft.com/office/drawing/2014/main" id="{70C36328-C5D1-4010-B8F0-E622D0A879DF}"/>
              </a:ext>
            </a:extLst>
          </p:cNvPr>
          <p:cNvSpPr>
            <a:spLocks noGrp="1"/>
          </p:cNvSpPr>
          <p:nvPr/>
        </p:nvSpPr>
        <p:spPr>
          <a:xfrm>
            <a:off x="7498080" y="137160"/>
            <a:ext cx="1417320" cy="292608"/>
          </a:xfrm>
          <a:prstGeom prst="rect">
            <a:avLst/>
          </a:prstGeom>
          <a:solidFill>
            <a:srgbClr val="E8A020"/>
          </a:solidFill>
          <a:ln w="12700">
            <a:solidFill>
              <a:srgbClr val="E8A020"/>
            </a:solidFill>
            <a:prstDash val="solid"/>
          </a:ln>
        </p:spPr>
      </p:sp>
      <p:sp>
        <p:nvSpPr>
          <p:cNvPr id="8" name="Text 6">
            <a:extLst>
              <a:ext uri="{FF2B5EF4-FFF2-40B4-BE49-F238E27FC236}">
                <a16:creationId xmlns:a16="http://schemas.microsoft.com/office/drawing/2014/main" id="{65A06437-0A3C-43F1-8C4D-8B11B9E4BD63}"/>
              </a:ext>
            </a:extLst>
          </p:cNvPr>
          <p:cNvSpPr>
            <a:spLocks noGrp="1"/>
          </p:cNvSpPr>
          <p:nvPr/>
        </p:nvSpPr>
        <p:spPr>
          <a:xfrm>
            <a:off x="7498080" y="137160"/>
            <a:ext cx="1417320" cy="292608"/>
          </a:xfrm>
          <a:prstGeom prst="rect">
            <a:avLst/>
          </a:prstGeom>
          <a:noFill/>
        </p:spPr>
        <p:txBody>
          <a:bodyPr wrap="square" lIns="0" tIns="0" rIns="0" bIns="0" anchor="ctr"/>
          <a:lstStyle/>
          <a:p>
            <a:pPr marL="0" indent="0" algn="ctr">
              <a:buNone/>
            </a:pPr>
            <a:r>
              <a:rPr sz="750" b="1">
                <a:solidFill>
                  <a:srgbClr val="0D1F2D"/>
                </a:solidFill>
              </a:rPr>
              <a:t>2026</a:t>
            </a:r>
            <a:endParaRPr sz="750"/>
          </a:p>
        </p:txBody>
      </p:sp>
      <p:sp>
        <p:nvSpPr>
          <p:cNvPr id="9" name="Text 7">
            <a:extLst>
              <a:ext uri="{FF2B5EF4-FFF2-40B4-BE49-F238E27FC236}">
                <a16:creationId xmlns:a16="http://schemas.microsoft.com/office/drawing/2014/main" id="{9BC5597E-259F-4375-AD7E-442DC35DA9BA}"/>
              </a:ext>
            </a:extLst>
          </p:cNvPr>
          <p:cNvSpPr>
            <a:spLocks noGrp="1"/>
          </p:cNvSpPr>
          <p:nvPr/>
        </p:nvSpPr>
        <p:spPr>
          <a:xfrm>
            <a:off x="365760" y="566928"/>
            <a:ext cx="5486400" cy="320040"/>
          </a:xfrm>
          <a:prstGeom prst="rect">
            <a:avLst/>
          </a:prstGeom>
          <a:noFill/>
        </p:spPr>
        <p:txBody>
          <a:bodyPr wrap="square" lIns="0" tIns="0" rIns="0" bIns="0" anchor="ctr"/>
          <a:lstStyle/>
          <a:p>
            <a:pPr marL="0" indent="0">
              <a:buNone/>
            </a:pPr>
            <a:r>
              <a:rPr sz="1000" b="1">
                <a:solidFill>
                  <a:srgbClr val="E8A020"/>
                </a:solidFill>
              </a:rPr>
              <a:t>WILDFIRE EXPOSURE SCREENING</a:t>
            </a:r>
            <a:endParaRPr sz="1000"/>
          </a:p>
        </p:txBody>
      </p:sp>
      <p:sp>
        <p:nvSpPr>
          <p:cNvPr id="10" name="Text 8">
            <a:extLst>
              <a:ext uri="{FF2B5EF4-FFF2-40B4-BE49-F238E27FC236}">
                <a16:creationId xmlns:a16="http://schemas.microsoft.com/office/drawing/2014/main" id="{104374D4-53B8-40B4-AD27-574FDD973E4D}"/>
              </a:ext>
            </a:extLst>
          </p:cNvPr>
          <p:cNvSpPr>
            <a:spLocks noGrp="1"/>
          </p:cNvSpPr>
          <p:nvPr/>
        </p:nvSpPr>
        <p:spPr>
          <a:xfrm>
            <a:off x="365760" y="914400"/>
            <a:ext cx="5577840" cy="1828800"/>
          </a:xfrm>
          <a:prstGeom prst="rect">
            <a:avLst/>
          </a:prstGeom>
          <a:noFill/>
        </p:spPr>
        <p:txBody>
          <a:bodyPr wrap="square" lIns="0" tIns="0" rIns="0" bIns="0" anchor="t"/>
          <a:lstStyle/>
          <a:p>
            <a:pPr marL="0" indent="0">
              <a:buNone/>
            </a:pPr>
            <a:r>
              <a:rPr sz="5200" b="1" dirty="0">
                <a:solidFill>
                  <a:srgbClr val="FFFFFF"/>
                </a:solidFill>
              </a:rPr>
              <a:t>Wildfire Exposure</a:t>
            </a:r>
            <a:endParaRPr sz="5200" dirty="0"/>
          </a:p>
          <a:p>
            <a:pPr marL="0" indent="0">
              <a:buNone/>
            </a:pPr>
            <a:r>
              <a:rPr sz="5200" b="1" dirty="0">
                <a:solidFill>
                  <a:srgbClr val="FFFFFF"/>
                </a:solidFill>
              </a:rPr>
              <a:t>Location Screening</a:t>
            </a:r>
            <a:endParaRPr sz="5200" dirty="0"/>
          </a:p>
        </p:txBody>
      </p:sp>
      <p:sp>
        <p:nvSpPr>
          <p:cNvPr id="11" name="Text 9">
            <a:extLst>
              <a:ext uri="{FF2B5EF4-FFF2-40B4-BE49-F238E27FC236}">
                <a16:creationId xmlns:a16="http://schemas.microsoft.com/office/drawing/2014/main" id="{20E7387F-C7E0-45B4-95FC-3980C4673C6B}"/>
              </a:ext>
            </a:extLst>
          </p:cNvPr>
          <p:cNvSpPr>
            <a:spLocks noGrp="1"/>
          </p:cNvSpPr>
          <p:nvPr/>
        </p:nvSpPr>
        <p:spPr>
          <a:xfrm>
            <a:off x="365760" y="2834640"/>
            <a:ext cx="5577840" cy="411480"/>
          </a:xfrm>
          <a:prstGeom prst="rect">
            <a:avLst/>
          </a:prstGeom>
          <a:noFill/>
        </p:spPr>
        <p:txBody>
          <a:bodyPr wrap="square" lIns="0" tIns="0" rIns="0" bIns="0" anchor="ctr"/>
          <a:lstStyle/>
          <a:p>
            <a:pPr marL="0" indent="0">
              <a:buNone/>
            </a:pPr>
            <a:r>
              <a:rPr lang="en-US" sz="1300" i="1" dirty="0">
                <a:solidFill>
                  <a:srgbClr val="A8C4D8"/>
                </a:solidFill>
              </a:rPr>
              <a:t>A reproducible data-science, machine-learning, and GIS workflow for broad-area location research.</a:t>
            </a:r>
            <a:endParaRPr lang="en-US" sz="1300" dirty="0"/>
          </a:p>
        </p:txBody>
      </p:sp>
      <p:sp>
        <p:nvSpPr>
          <p:cNvPr id="12" name="Shape 10">
            <a:extLst>
              <a:ext uri="{FF2B5EF4-FFF2-40B4-BE49-F238E27FC236}">
                <a16:creationId xmlns:a16="http://schemas.microsoft.com/office/drawing/2014/main" id="{84D7FAF1-5834-4AFE-87A0-3EB7DF4F1C96}"/>
              </a:ext>
            </a:extLst>
          </p:cNvPr>
          <p:cNvSpPr>
            <a:spLocks noGrp="1"/>
          </p:cNvSpPr>
          <p:nvPr/>
        </p:nvSpPr>
        <p:spPr>
          <a:xfrm>
            <a:off x="365760" y="3310128"/>
            <a:ext cx="5303520" cy="22860"/>
          </a:xfrm>
          <a:prstGeom prst="rect">
            <a:avLst/>
          </a:prstGeom>
          <a:solidFill>
            <a:srgbClr val="E8A020"/>
          </a:solidFill>
          <a:ln w="12700">
            <a:solidFill>
              <a:srgbClr val="E8A020"/>
            </a:solidFill>
            <a:prstDash val="solid"/>
          </a:ln>
        </p:spPr>
      </p:sp>
      <p:sp>
        <p:nvSpPr>
          <p:cNvPr id="13" name="Text 11">
            <a:extLst>
              <a:ext uri="{FF2B5EF4-FFF2-40B4-BE49-F238E27FC236}">
                <a16:creationId xmlns:a16="http://schemas.microsoft.com/office/drawing/2014/main" id="{55AB15B4-F408-4652-B072-3916646D6B7A}"/>
              </a:ext>
            </a:extLst>
          </p:cNvPr>
          <p:cNvSpPr>
            <a:spLocks noGrp="1"/>
          </p:cNvSpPr>
          <p:nvPr/>
        </p:nvSpPr>
        <p:spPr>
          <a:xfrm>
            <a:off x="365760" y="3383280"/>
            <a:ext cx="5303520" cy="320040"/>
          </a:xfrm>
          <a:prstGeom prst="rect">
            <a:avLst/>
          </a:prstGeom>
          <a:noFill/>
        </p:spPr>
        <p:txBody>
          <a:bodyPr wrap="square" lIns="0" tIns="0" rIns="0" bIns="0" anchor="ctr"/>
          <a:lstStyle/>
          <a:p>
            <a:pPr marL="0" indent="0">
              <a:buNone/>
            </a:pPr>
            <a:r>
              <a:rPr sz="1100">
                <a:solidFill>
                  <a:srgbClr val="E1E8EF"/>
                </a:solidFill>
              </a:rPr>
              <a:t>Serhii Diadechko</a:t>
            </a:r>
            <a:endParaRPr sz="1100"/>
          </a:p>
        </p:txBody>
      </p:sp>
      <p:sp>
        <p:nvSpPr>
          <p:cNvPr id="14" name="Shape 12">
            <a:extLst>
              <a:ext uri="{FF2B5EF4-FFF2-40B4-BE49-F238E27FC236}">
                <a16:creationId xmlns:a16="http://schemas.microsoft.com/office/drawing/2014/main" id="{9BEE0D39-8F48-47D0-AC97-A5C1383B7E0E}"/>
              </a:ext>
            </a:extLst>
          </p:cNvPr>
          <p:cNvSpPr>
            <a:spLocks noGrp="1"/>
          </p:cNvSpPr>
          <p:nvPr/>
        </p:nvSpPr>
        <p:spPr>
          <a:xfrm>
            <a:off x="6080760" y="777240"/>
            <a:ext cx="2834640" cy="3931920"/>
          </a:xfrm>
          <a:prstGeom prst="rect">
            <a:avLst/>
          </a:prstGeom>
          <a:solidFill>
            <a:srgbClr val="1E3A50"/>
          </a:solidFill>
          <a:ln w="12700">
            <a:solidFill>
              <a:srgbClr val="1E3A50"/>
            </a:solidFill>
            <a:prstDash val="solid"/>
          </a:ln>
        </p:spPr>
      </p:sp>
      <p:sp>
        <p:nvSpPr>
          <p:cNvPr id="15" name="Text 13">
            <a:extLst>
              <a:ext uri="{FF2B5EF4-FFF2-40B4-BE49-F238E27FC236}">
                <a16:creationId xmlns:a16="http://schemas.microsoft.com/office/drawing/2014/main" id="{B9DF6536-1C4E-4314-9CB6-ABE7AFD6C0A3}"/>
              </a:ext>
            </a:extLst>
          </p:cNvPr>
          <p:cNvSpPr>
            <a:spLocks noGrp="1"/>
          </p:cNvSpPr>
          <p:nvPr/>
        </p:nvSpPr>
        <p:spPr>
          <a:xfrm>
            <a:off x="6080760" y="822960"/>
            <a:ext cx="2834640" cy="320040"/>
          </a:xfrm>
          <a:prstGeom prst="rect">
            <a:avLst/>
          </a:prstGeom>
          <a:noFill/>
        </p:spPr>
        <p:txBody>
          <a:bodyPr wrap="square" lIns="0" tIns="0" rIns="0" bIns="0" anchor="ctr"/>
          <a:lstStyle/>
          <a:p>
            <a:pPr marL="0" indent="0" algn="ctr">
              <a:buNone/>
            </a:pPr>
            <a:r>
              <a:rPr sz="900" b="1">
                <a:solidFill>
                  <a:srgbClr val="E8A020"/>
                </a:solidFill>
              </a:rPr>
              <a:t>Purpose</a:t>
            </a:r>
            <a:endParaRPr sz="900"/>
          </a:p>
        </p:txBody>
      </p:sp>
      <p:sp>
        <p:nvSpPr>
          <p:cNvPr id="16" name="Shape 14">
            <a:extLst>
              <a:ext uri="{FF2B5EF4-FFF2-40B4-BE49-F238E27FC236}">
                <a16:creationId xmlns:a16="http://schemas.microsoft.com/office/drawing/2014/main" id="{5B21C9E4-9D51-47F8-A634-86927AA3DBCF}"/>
              </a:ext>
            </a:extLst>
          </p:cNvPr>
          <p:cNvSpPr>
            <a:spLocks noGrp="1"/>
          </p:cNvSpPr>
          <p:nvPr/>
        </p:nvSpPr>
        <p:spPr>
          <a:xfrm>
            <a:off x="6217920" y="1170432"/>
            <a:ext cx="2560320" cy="22860"/>
          </a:xfrm>
          <a:prstGeom prst="rect">
            <a:avLst/>
          </a:prstGeom>
          <a:solidFill>
            <a:srgbClr val="E8A020"/>
          </a:solidFill>
          <a:ln w="12700">
            <a:solidFill>
              <a:srgbClr val="E8A020"/>
            </a:solidFill>
            <a:prstDash val="solid"/>
          </a:ln>
        </p:spPr>
      </p:sp>
      <p:sp>
        <p:nvSpPr>
          <p:cNvPr id="17" name="Text 15">
            <a:extLst>
              <a:ext uri="{FF2B5EF4-FFF2-40B4-BE49-F238E27FC236}">
                <a16:creationId xmlns:a16="http://schemas.microsoft.com/office/drawing/2014/main" id="{F36FA1E7-8AA0-4F97-BCC4-F9EF38BF02CA}"/>
              </a:ext>
            </a:extLst>
          </p:cNvPr>
          <p:cNvSpPr>
            <a:spLocks noGrp="1"/>
          </p:cNvSpPr>
          <p:nvPr/>
        </p:nvSpPr>
        <p:spPr>
          <a:xfrm>
            <a:off x="6217920" y="1261872"/>
            <a:ext cx="2560320" cy="438912"/>
          </a:xfrm>
          <a:prstGeom prst="rect">
            <a:avLst/>
          </a:prstGeom>
          <a:noFill/>
        </p:spPr>
        <p:txBody>
          <a:bodyPr wrap="square" lIns="0" tIns="0" rIns="0" bIns="0" anchor="ctr"/>
          <a:lstStyle/>
          <a:p>
            <a:pPr marL="0" indent="0">
              <a:buNone/>
            </a:pPr>
            <a:r>
              <a:rPr sz="1050" b="1">
                <a:solidFill>
                  <a:srgbClr val="E8A020"/>
                </a:solidFill>
              </a:rPr>
              <a:t>Observed history</a:t>
            </a:r>
            <a:endParaRPr sz="1050"/>
          </a:p>
        </p:txBody>
      </p:sp>
      <p:sp>
        <p:nvSpPr>
          <p:cNvPr id="18" name="Text 16">
            <a:extLst>
              <a:ext uri="{FF2B5EF4-FFF2-40B4-BE49-F238E27FC236}">
                <a16:creationId xmlns:a16="http://schemas.microsoft.com/office/drawing/2014/main" id="{E78B0B14-0C2A-4376-A31F-8BD2A8320B1B}"/>
              </a:ext>
            </a:extLst>
          </p:cNvPr>
          <p:cNvSpPr>
            <a:spLocks noGrp="1"/>
          </p:cNvSpPr>
          <p:nvPr/>
        </p:nvSpPr>
        <p:spPr>
          <a:xfrm>
            <a:off x="6217920" y="1792224"/>
            <a:ext cx="2560320" cy="438912"/>
          </a:xfrm>
          <a:prstGeom prst="rect">
            <a:avLst/>
          </a:prstGeom>
          <a:noFill/>
        </p:spPr>
        <p:txBody>
          <a:bodyPr wrap="square" lIns="0" tIns="0" rIns="0" bIns="0" anchor="ctr"/>
          <a:lstStyle/>
          <a:p>
            <a:pPr marL="0" indent="0">
              <a:buNone/>
            </a:pPr>
            <a:r>
              <a:rPr sz="1050" b="1">
                <a:solidFill>
                  <a:srgbClr val="E8A020"/>
                </a:solidFill>
              </a:rPr>
              <a:t>Landscape, terrain and climate</a:t>
            </a:r>
            <a:endParaRPr sz="1050"/>
          </a:p>
        </p:txBody>
      </p:sp>
      <p:sp>
        <p:nvSpPr>
          <p:cNvPr id="19" name="Text 17">
            <a:extLst>
              <a:ext uri="{FF2B5EF4-FFF2-40B4-BE49-F238E27FC236}">
                <a16:creationId xmlns:a16="http://schemas.microsoft.com/office/drawing/2014/main" id="{AE7E2DF4-82FF-4297-BC2B-22C484A80CC8}"/>
              </a:ext>
            </a:extLst>
          </p:cNvPr>
          <p:cNvSpPr>
            <a:spLocks noGrp="1"/>
          </p:cNvSpPr>
          <p:nvPr/>
        </p:nvSpPr>
        <p:spPr>
          <a:xfrm>
            <a:off x="6217920" y="2322576"/>
            <a:ext cx="2560320" cy="438912"/>
          </a:xfrm>
          <a:prstGeom prst="rect">
            <a:avLst/>
          </a:prstGeom>
          <a:noFill/>
        </p:spPr>
        <p:txBody>
          <a:bodyPr wrap="square" lIns="0" tIns="0" rIns="0" bIns="0" anchor="ctr"/>
          <a:lstStyle/>
          <a:p>
            <a:pPr marL="0" indent="0">
              <a:buNone/>
            </a:pPr>
            <a:r>
              <a:rPr sz="1050" b="1">
                <a:solidFill>
                  <a:srgbClr val="E8A020"/>
                </a:solidFill>
              </a:rPr>
              <a:t>Comparative 2026 estimate</a:t>
            </a:r>
            <a:endParaRPr sz="1050"/>
          </a:p>
        </p:txBody>
      </p:sp>
      <p:sp>
        <p:nvSpPr>
          <p:cNvPr id="20" name="Text 18">
            <a:extLst>
              <a:ext uri="{FF2B5EF4-FFF2-40B4-BE49-F238E27FC236}">
                <a16:creationId xmlns:a16="http://schemas.microsoft.com/office/drawing/2014/main" id="{DD6F7EF9-033D-4506-9EBE-BFE18477DBE8}"/>
              </a:ext>
            </a:extLst>
          </p:cNvPr>
          <p:cNvSpPr>
            <a:spLocks noGrp="1"/>
          </p:cNvSpPr>
          <p:nvPr/>
        </p:nvSpPr>
        <p:spPr>
          <a:xfrm>
            <a:off x="6217920" y="2852928"/>
            <a:ext cx="2560320" cy="438912"/>
          </a:xfrm>
          <a:prstGeom prst="rect">
            <a:avLst/>
          </a:prstGeom>
          <a:noFill/>
        </p:spPr>
        <p:txBody>
          <a:bodyPr wrap="square" lIns="0" tIns="0" rIns="0" bIns="0" anchor="ctr"/>
          <a:lstStyle/>
          <a:p>
            <a:pPr marL="0" indent="0">
              <a:buNone/>
            </a:pPr>
            <a:r>
              <a:rPr sz="1050" b="1">
                <a:solidFill>
                  <a:srgbClr val="E8A020"/>
                </a:solidFill>
              </a:rPr>
              <a:t>Narrow broad search areas</a:t>
            </a:r>
            <a:endParaRPr sz="1050"/>
          </a:p>
        </p:txBody>
      </p:sp>
      <p:sp>
        <p:nvSpPr>
          <p:cNvPr id="21" name="Text 19">
            <a:extLst>
              <a:ext uri="{FF2B5EF4-FFF2-40B4-BE49-F238E27FC236}">
                <a16:creationId xmlns:a16="http://schemas.microsoft.com/office/drawing/2014/main" id="{A8932156-3970-4237-A76D-30F8D26A7793}"/>
              </a:ext>
            </a:extLst>
          </p:cNvPr>
          <p:cNvSpPr>
            <a:spLocks noGrp="1"/>
          </p:cNvSpPr>
          <p:nvPr/>
        </p:nvSpPr>
        <p:spPr>
          <a:xfrm>
            <a:off x="6217920" y="3383280"/>
            <a:ext cx="2560320" cy="438912"/>
          </a:xfrm>
          <a:prstGeom prst="rect">
            <a:avLst/>
          </a:prstGeom>
          <a:noFill/>
        </p:spPr>
        <p:txBody>
          <a:bodyPr wrap="square" lIns="0" tIns="0" rIns="0" bIns="0" anchor="ctr"/>
          <a:lstStyle/>
          <a:p>
            <a:pPr marL="0" indent="0">
              <a:buNone/>
            </a:pPr>
            <a:r>
              <a:rPr sz="1050" b="1">
                <a:solidFill>
                  <a:srgbClr val="E8A020"/>
                </a:solidFill>
              </a:rPr>
              <a:t>Then continue with local evidence</a:t>
            </a:r>
            <a:endParaRPr sz="1050"/>
          </a:p>
        </p:txBody>
      </p:sp>
      <p:sp>
        <p:nvSpPr>
          <p:cNvPr id="22" name="Shape 20">
            <a:extLst>
              <a:ext uri="{FF2B5EF4-FFF2-40B4-BE49-F238E27FC236}">
                <a16:creationId xmlns:a16="http://schemas.microsoft.com/office/drawing/2014/main" id="{60B28163-A49C-4C75-B149-473B24134259}"/>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23" name="Text 21">
            <a:extLst>
              <a:ext uri="{FF2B5EF4-FFF2-40B4-BE49-F238E27FC236}">
                <a16:creationId xmlns:a16="http://schemas.microsoft.com/office/drawing/2014/main" id="{D759CE5D-7A30-48C4-B49F-00835A05CFBA}"/>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9159638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DATASET OVERVIEW</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2 / 9</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One 1 km mainland cell per year makes the evidence comparable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OBSERVED FIRE</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ICNF annual burned areas</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Historical occurrence and next-year burned-share outcomes. Fire recurrence is measured in a 2 km context buffer.</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ICNF source coverage: 2000–2025</a:t>
            </a:r>
            <a:endParaRPr sz="80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Use: observed history and outcome labels</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Burned share = burned land area / cell land area.</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PLACE CONTEXT</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CLC and Copernicus DEM</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Built-up share, forest/shrub context and mean slope describe the surrounding landscape.</a:t>
            </a:r>
            <a:endParaRPr sz="85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Static or governed historical layers</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Use: landscape and terrain predictors</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No parcel-level claim.</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CLIMATE CONTEXT</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ERA5-Land JJAS</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a:solidFill>
                  <a:srgbClr val="1A2638"/>
                </a:solidFill>
              </a:rPr>
              <a:t>Warm-season temperature, precipitation and shallow soil-water conditions from predictor year T only.</a:t>
            </a:r>
            <a:endParaRPr sz="85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0.1° regional climate cells</a:t>
            </a:r>
            <a:endParaRPr sz="80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Use: predictor-year climate context</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No interpolation or downscaling.</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89,112 mainland cells; one EPSG:3763 1 km cell × predictor year record.</a:t>
            </a:r>
            <a:endParaRPr sz="85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MODEL DEVELOPMENT FLOW</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3 / 9</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How historical data becomes the 2026 estimate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COLLECT + PREPARE</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Validated source inputs</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CAOP grid; ICNF burned areas; CLC; DEM; ERA5-Land.</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One 1 km cell × predictor year</a:t>
            </a:r>
            <a:endParaRPr sz="80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Nine predictors from year T</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Observed target from year T+1 only</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TRAIN</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Fit historical relationships</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dirty="0">
                <a:solidFill>
                  <a:srgbClr val="1A2638"/>
                </a:solidFill>
              </a:rPr>
              <a:t>Training: T=2010–2019 </a:t>
            </a:r>
            <a:r>
              <a:rPr lang="en-US" sz="850" dirty="0">
                <a:solidFill>
                  <a:srgbClr val="1A2638"/>
                </a:solidFill>
              </a:rPr>
              <a:t>-&gt;</a:t>
            </a:r>
            <a:r>
              <a:rPr sz="850" dirty="0">
                <a:solidFill>
                  <a:srgbClr val="1A2638"/>
                </a:solidFill>
              </a:rPr>
              <a:t> outcomes 2011–2020.</a:t>
            </a:r>
            <a:endParaRPr sz="850" dirty="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Baseline + candidate models</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Learn from training years only</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Validation and final years stay outside fitting</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SELECT + CHECK</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Validation and final evaluation</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dirty="0">
                <a:solidFill>
                  <a:srgbClr val="1A2638"/>
                </a:solidFill>
              </a:rPr>
              <a:t>Validation: T=2020–2021</a:t>
            </a:r>
            <a:r>
              <a:rPr lang="en-US" sz="850" dirty="0">
                <a:solidFill>
                  <a:srgbClr val="1A2638"/>
                </a:solidFill>
              </a:rPr>
              <a:t> -&gt; </a:t>
            </a:r>
            <a:r>
              <a:rPr sz="850" dirty="0">
                <a:solidFill>
                  <a:srgbClr val="1A2638"/>
                </a:solidFill>
              </a:rPr>
              <a:t> outcomes 2021–2022.</a:t>
            </a:r>
            <a:endParaRPr sz="850" dirty="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dirty="0">
                <a:solidFill>
                  <a:srgbClr val="1A2638"/>
                </a:solidFill>
              </a:rPr>
              <a:t>Final: T=2022–2024 </a:t>
            </a:r>
            <a:r>
              <a:rPr lang="en-US" sz="800" i="1" dirty="0">
                <a:solidFill>
                  <a:srgbClr val="1A2638"/>
                </a:solidFill>
              </a:rPr>
              <a:t>-&gt;</a:t>
            </a:r>
            <a:r>
              <a:rPr sz="800" i="1" dirty="0">
                <a:solidFill>
                  <a:srgbClr val="1A2638"/>
                </a:solidFill>
              </a:rPr>
              <a:t> outcomes 2023–2025</a:t>
            </a:r>
            <a:endParaRPr sz="800" dirty="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Select on validation; evaluate final once</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 Refit the selected specification</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dirty="0">
                <a:solidFill>
                  <a:srgbClr val="E8A020"/>
                </a:solidFill>
              </a:rPr>
              <a:t>REFIT + 2026 ESTIMATE | T=2010–2024 </a:t>
            </a:r>
            <a:r>
              <a:rPr lang="en-US" sz="850" b="1" dirty="0">
                <a:solidFill>
                  <a:srgbClr val="E8A020"/>
                </a:solidFill>
              </a:rPr>
              <a:t>-&gt;</a:t>
            </a:r>
            <a:r>
              <a:rPr sz="850" b="1" dirty="0">
                <a:solidFill>
                  <a:srgbClr val="E8A020"/>
                </a:solidFill>
              </a:rPr>
              <a:t>outcomes 2011–2025; T=2025 inputs </a:t>
            </a:r>
            <a:r>
              <a:rPr lang="en-US" sz="850" b="1" dirty="0">
                <a:solidFill>
                  <a:srgbClr val="E8A020"/>
                </a:solidFill>
              </a:rPr>
              <a:t>-&gt;</a:t>
            </a:r>
            <a:r>
              <a:rPr sz="850" b="1" dirty="0">
                <a:solidFill>
                  <a:srgbClr val="E8A020"/>
                </a:solidFill>
              </a:rPr>
              <a:t> 2026 estimate (outcome pending).</a:t>
            </a:r>
            <a:endParaRPr sz="850" dirty="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916D61E-8D80-4696-BE48-571111EE6D65}"/>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7C197073-0349-496C-B731-E02726BC0FD2}"/>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5344C750-A1AC-4D96-B5ED-2E59EAB552A3}"/>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4BCF9260-F9BB-427A-A715-0CA619DDD669}"/>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KEY FINDING 1</a:t>
            </a:r>
          </a:p>
          <a:p>
            <a:pPr marL="0" indent="0">
              <a:buNone/>
            </a:pPr>
            <a:r>
              <a:rPr sz="1000">
                <a:solidFill>
                  <a:schemeClr val="accent6"/>
                </a:solidFill>
              </a:rPr>
              <a:t>observed history and 2026 comparative estimate</a:t>
            </a:r>
          </a:p>
        </p:txBody>
      </p:sp>
      <p:sp>
        <p:nvSpPr>
          <p:cNvPr id="6" name="Text 4">
            <a:extLst>
              <a:ext uri="{FF2B5EF4-FFF2-40B4-BE49-F238E27FC236}">
                <a16:creationId xmlns:a16="http://schemas.microsoft.com/office/drawing/2014/main" id="{7C069EAE-F0EA-403F-93EC-4D5FAD01EDA4}"/>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4 / 9</a:t>
            </a:r>
            <a:endParaRPr sz="1100"/>
          </a:p>
        </p:txBody>
      </p:sp>
      <p:sp>
        <p:nvSpPr>
          <p:cNvPr id="7" name="Text 5">
            <a:extLst>
              <a:ext uri="{FF2B5EF4-FFF2-40B4-BE49-F238E27FC236}">
                <a16:creationId xmlns:a16="http://schemas.microsoft.com/office/drawing/2014/main" id="{166943B0-65A2-4E8E-A093-55763EACAA06}"/>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Historical wildfire recurrence is uneven across mainland Portugal (left map)</a:t>
            </a:r>
            <a:endParaRPr sz="1600"/>
          </a:p>
        </p:txBody>
      </p:sp>
      <p:sp>
        <p:nvSpPr>
          <p:cNvPr id="33" name="Shape 31">
            <a:extLst>
              <a:ext uri="{FF2B5EF4-FFF2-40B4-BE49-F238E27FC236}">
                <a16:creationId xmlns:a16="http://schemas.microsoft.com/office/drawing/2014/main" id="{35375F54-2542-44E4-9AE4-25E5F5E7CCD6}"/>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34" name="Text 32">
            <a:extLst>
              <a:ext uri="{FF2B5EF4-FFF2-40B4-BE49-F238E27FC236}">
                <a16:creationId xmlns:a16="http://schemas.microsoft.com/office/drawing/2014/main" id="{311C9A05-ACCC-4E9D-9690-B5C3213DD01B}"/>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pic>
        <p:nvPicPr>
          <p:cNvPr id="44" name="Picture 8"/>
          <p:cNvPicPr>
            <a:picLocks noChangeAspect="1"/>
          </p:cNvPicPr>
          <p:nvPr/>
        </p:nvPicPr>
        <p:blipFill>
          <a:blip r:embed="rId3"/>
          <a:stretch>
            <a:fillRect/>
          </a:stretch>
        </p:blipFill>
        <p:spPr>
          <a:xfrm>
            <a:off x="742950" y="1107383"/>
            <a:ext cx="7581900" cy="3810525"/>
          </a:xfrm>
          <a:prstGeom prst="rect">
            <a:avLst/>
          </a:prstGeom>
        </p:spPr>
      </p:pic>
    </p:spTree>
    <p:extLst>
      <p:ext uri="{BB962C8B-B14F-4D97-AF65-F5344CB8AC3E}">
        <p14:creationId xmlns:p14="http://schemas.microsoft.com/office/powerpoint/2010/main" val="6125340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txBody>
          <a:bodyPr/>
          <a:lstStyle/>
          <a:p>
            <a:endParaRPr/>
          </a:p>
        </p:txBody>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KEY FINDING 2</a:t>
            </a:r>
          </a:p>
          <a:p>
            <a:pPr marL="0" indent="0">
              <a:buNone/>
            </a:pPr>
            <a:r>
              <a:rPr sz="1000">
                <a:solidFill>
                  <a:schemeClr val="accent6"/>
                </a:solidFill>
              </a:rPr>
              <a:t>complementary context</a:t>
            </a:r>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5 / 9</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Historical recurrence and structural hazard provide complementary context</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Evidence layers</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lang="en-US" sz="850" dirty="0">
                <a:solidFill>
                  <a:srgbClr val="1A2638"/>
                </a:solidFill>
              </a:rPr>
              <a:t>Counts distinct years with burned-area evidence from 2016-2025 in the 2 km context around each 1 km cell</a:t>
            </a:r>
            <a:r>
              <a:rPr sz="850" dirty="0">
                <a:solidFill>
                  <a:srgbClr val="1A2638"/>
                </a:solidFill>
              </a:rPr>
              <a:t>.</a:t>
            </a:r>
            <a:endParaRPr sz="850" dirty="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Official structural hazard</a:t>
            </a:r>
            <a:endParaRPr sz="850"/>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347472"/>
          </a:xfrm>
          <a:prstGeom prst="rect">
            <a:avLst/>
          </a:prstGeom>
          <a:noFill/>
        </p:spPr>
        <p:txBody>
          <a:bodyPr wrap="square" lIns="0" tIns="0" rIns="0" bIns="0" anchor="ctr"/>
          <a:lstStyle/>
          <a:p>
            <a:pPr marL="0" indent="0">
              <a:buNone/>
            </a:pPr>
            <a:r>
              <a:rPr sz="850">
                <a:solidFill>
                  <a:srgbClr val="1A2638"/>
                </a:solidFill>
              </a:rPr>
              <a:t>An official ICNF classification of underlying landscape hazard conditions, summarised from 25 m classes to the predominant 1 km class.</a:t>
            </a:r>
            <a:endParaRPr sz="85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Why compare both?</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They use different methods and time frames, so agreement or disagreement adds context.</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Interpretation</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Structural hazard is not this project’s prediction and does not describe one particular year’s burned area.</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64024" y="1554480"/>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txBody>
          <a:bodyPr/>
          <a:lstStyle/>
          <a:p>
            <a:endParaRPr/>
          </a:p>
        </p:txBody>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64024" y="1280160"/>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One comparison, two sources</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Technical</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Use the layers together to understand patterns; neither layer is a buyer threshold.</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Maps describe evidence; they do not certify a location.</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Both layers still require local verification.</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364992"/>
            <a:ext cx="3886200" cy="256032"/>
          </a:xfrm>
          <a:prstGeom prst="rect">
            <a:avLst/>
          </a:prstGeom>
          <a:noFill/>
        </p:spPr>
        <p:txBody>
          <a:bodyPr wrap="square" lIns="0" tIns="0" rIns="0" bIns="0" anchor="ctr"/>
          <a:lstStyle/>
          <a:p>
            <a:pPr marL="0" indent="0">
              <a:buNone/>
            </a:pPr>
            <a:r>
              <a:rPr sz="800" b="1">
                <a:solidFill>
                  <a:srgbClr val="5B6880"/>
                </a:solidFill>
              </a:rPr>
              <a:t>Delivery Tips</a:t>
            </a: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Observed recurrence = what burned.</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Structural hazard = underlying landscape classification.</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Together = broader screening context.</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No model-accuracy claim is made from this comparison.</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The official ICNF layer is a reference, not the project’s ML output.</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KEY FINDING 3 — MODEL</a:t>
            </a:r>
          </a:p>
          <a:p>
            <a:pPr marL="0" indent="0">
              <a:buNone/>
            </a:pPr>
            <a:r>
              <a:rPr sz="1000">
                <a:solidFill>
                  <a:schemeClr val="accent6"/>
                </a:solidFill>
              </a:rPr>
              <a:t>model comparison</a:t>
            </a:r>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6 / 9</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The nine-feature model improves selected comparative diagnostics</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txBody>
          <a:bodyPr/>
          <a:lstStyle/>
          <a:p>
            <a:endParaRPr/>
          </a:p>
        </p:txBody>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MODEL COMPARISON</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801368"/>
            <a:ext cx="3611880" cy="246888"/>
          </a:xfrm>
          <a:prstGeom prst="rect">
            <a:avLst/>
          </a:prstGeom>
          <a:noFill/>
        </p:spPr>
        <p:txBody>
          <a:bodyPr wrap="square" lIns="0" tIns="0" rIns="0" bIns="0" anchor="ctr"/>
          <a:lstStyle/>
          <a:p>
            <a:r>
              <a:rPr sz="800"/>
              <a:t>Historical </a:t>
            </a:r>
            <a:r>
              <a:rPr sz="800" b="1"/>
              <a:t>recurrence</a:t>
            </a:r>
            <a:r>
              <a:rPr sz="800"/>
              <a:t> benchmark </a:t>
            </a:r>
            <a:r>
              <a:rPr sz="850">
                <a:solidFill>
                  <a:srgbClr val="1A2638"/>
                </a:solidFill>
              </a:rPr>
              <a:t> -&gt; </a:t>
            </a:r>
            <a:r>
              <a:rPr sz="800" b="1"/>
              <a:t>Nine-feature</a:t>
            </a:r>
            <a:r>
              <a:rPr sz="800"/>
              <a:t> Model</a:t>
            </a:r>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dirty="0">
                <a:solidFill>
                  <a:srgbClr val="1A2638"/>
                </a:solidFill>
              </a:rPr>
              <a:t>Historical recurrence baseline</a:t>
            </a:r>
          </a:p>
          <a:p>
            <a:pPr marL="171450" indent="-171450">
              <a:buFont typeface="Arial" panose="020B0604020202020204" pitchFamily="34" charset="0"/>
              <a:buChar char="•"/>
            </a:pPr>
            <a:r>
              <a:rPr lang="en-US" sz="700" i="1" dirty="0">
                <a:solidFill>
                  <a:schemeClr val="bg1">
                    <a:lumMod val="50000"/>
                  </a:schemeClr>
                </a:solidFill>
              </a:rPr>
              <a:t>the custom </a:t>
            </a:r>
            <a:r>
              <a:rPr lang="en-US" sz="700" b="1" i="1" dirty="0" err="1">
                <a:solidFill>
                  <a:schemeClr val="bg1">
                    <a:lumMod val="50000"/>
                  </a:schemeClr>
                </a:solidFill>
              </a:rPr>
              <a:t>HistoricalFireMeanRegressor</a:t>
            </a:r>
            <a:r>
              <a:rPr lang="en-US" sz="600" i="1" dirty="0">
                <a:solidFill>
                  <a:schemeClr val="bg1">
                    <a:lumMod val="50000"/>
                  </a:schemeClr>
                </a:solidFill>
              </a:rPr>
              <a:t> - </a:t>
            </a:r>
            <a:r>
              <a:rPr sz="700" i="1" dirty="0">
                <a:solidFill>
                  <a:schemeClr val="tx1">
                    <a:lumMod val="50000"/>
                    <a:lumOff val="50000"/>
                  </a:schemeClr>
                </a:solidFill>
              </a:rPr>
              <a:t>a simple reference based only on previous burned-year counts</a:t>
            </a:r>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548640"/>
          </a:xfrm>
          <a:prstGeom prst="rect">
            <a:avLst/>
          </a:prstGeom>
          <a:noFill/>
        </p:spPr>
        <p:txBody>
          <a:bodyPr wrap="square" lIns="0" tIns="0" rIns="0" bIns="0" anchor="ctr"/>
          <a:lstStyle/>
          <a:p>
            <a:r>
              <a:rPr sz="850">
                <a:solidFill>
                  <a:srgbClr val="1A2638"/>
                </a:solidFill>
              </a:rPr>
              <a:t>Nine-feature two-stage regression model:</a:t>
            </a:r>
          </a:p>
          <a:p>
            <a:pPr marL="171450" indent="-171450">
              <a:buFont typeface="Arial"/>
              <a:buChar char="•"/>
            </a:pPr>
            <a:r>
              <a:rPr sz="700" b="1" i="1">
                <a:solidFill>
                  <a:schemeClr val="tx1">
                    <a:lumMod val="50000"/>
                    <a:lumOff val="50000"/>
                  </a:schemeClr>
                </a:solidFill>
              </a:rPr>
              <a:t>HistGradientBoostingClassifier</a:t>
            </a:r>
            <a:r>
              <a:rPr sz="700" i="1">
                <a:solidFill>
                  <a:schemeClr val="tx1">
                    <a:lumMod val="50000"/>
                    <a:lumOff val="50000"/>
                  </a:schemeClr>
                </a:solidFill>
              </a:rPr>
              <a:t> for occurrence</a:t>
            </a:r>
          </a:p>
          <a:p>
            <a:pPr marL="171450" indent="-171450">
              <a:buFont typeface="Arial"/>
              <a:buChar char="•"/>
            </a:pPr>
            <a:r>
              <a:rPr sz="700" b="1" i="1">
                <a:solidFill>
                  <a:schemeClr val="tx1">
                    <a:lumMod val="50000"/>
                    <a:lumOff val="50000"/>
                  </a:schemeClr>
                </a:solidFill>
              </a:rPr>
              <a:t>HistGradientBoostingRegressor</a:t>
            </a:r>
            <a:r>
              <a:rPr sz="700" i="1">
                <a:solidFill>
                  <a:schemeClr val="tx1">
                    <a:lumMod val="50000"/>
                    <a:lumOff val="50000"/>
                  </a:schemeClr>
                </a:solidFill>
              </a:rPr>
              <a:t> for positive burned share</a:t>
            </a:r>
          </a:p>
          <a:p>
            <a:r>
              <a:rPr sz="700" i="1">
                <a:solidFill>
                  <a:schemeClr val="tx1">
                    <a:lumMod val="50000"/>
                    <a:lumOff val="50000"/>
                  </a:schemeClr>
                </a:solidFill>
              </a:rPr>
              <a:t>the accepted model using fire history, land cover, terrain, and climate predictors</a:t>
            </a:r>
            <a:endParaRPr sz="800"/>
          </a:p>
          <a:p>
            <a:pPr marL="0" indent="0">
              <a:buNone/>
            </a:pPr>
            <a:endParaRPr sz="850" b="1"/>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MAE: 0.0292  -&gt;  0.0209</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RMSE: 0.1106  -&gt;  0.1110</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Capture@20%: 40.2%  -&gt;  57.2%</a:t>
            </a:r>
          </a:p>
          <a:p>
            <a:r>
              <a:rPr sz="700" i="1">
                <a:solidFill>
                  <a:schemeClr val="tx1">
                    <a:lumMod val="50000"/>
                    <a:lumOff val="50000"/>
                  </a:schemeClr>
                </a:solidFill>
              </a:rPr>
              <a:t>how much observed burned share occurred within the highest-ranked 20% of cells</a:t>
            </a:r>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65092"/>
            <a:ext cx="3611880" cy="347472"/>
          </a:xfrm>
          <a:prstGeom prst="rect">
            <a:avLst/>
          </a:prstGeom>
          <a:noFill/>
        </p:spPr>
        <p:txBody>
          <a:bodyPr wrap="square" lIns="0" tIns="0" rIns="0" bIns="0" anchor="ctr"/>
          <a:lstStyle/>
          <a:p>
            <a:r>
              <a:rPr sz="800" dirty="0"/>
              <a:t>Final temporal evaluation: T=2022–2024 </a:t>
            </a:r>
            <a:r>
              <a:rPr lang="en-US" sz="800" dirty="0"/>
              <a:t>-&gt;</a:t>
            </a:r>
            <a:r>
              <a:rPr sz="800" dirty="0"/>
              <a:t> observed outcomes 2023–2025</a:t>
            </a:r>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0916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09160" y="1298448"/>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HOW TO READ IT</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Technical</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MAE is average error in burned-share units; lower is better.</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RMSE gives more weight to larger errors; lower is better.</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dirty="0">
                <a:solidFill>
                  <a:srgbClr val="1A2638"/>
                </a:solidFill>
              </a:rPr>
              <a:t>Capture@20% is the share of observed burned share found among the 20% highest-scored </a:t>
            </a:r>
            <a:r>
              <a:rPr lang="en-US" sz="800" dirty="0">
                <a:solidFill>
                  <a:srgbClr val="1A2638"/>
                </a:solidFill>
              </a:rPr>
              <a:t>records</a:t>
            </a:r>
            <a:r>
              <a:rPr sz="800" dirty="0">
                <a:solidFill>
                  <a:srgbClr val="1A2638"/>
                </a:solidFill>
              </a:rPr>
              <a:t>.</a:t>
            </a:r>
            <a:endParaRPr sz="800" dirty="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127248"/>
            <a:ext cx="3886200" cy="256032"/>
          </a:xfrm>
          <a:prstGeom prst="rect">
            <a:avLst/>
          </a:prstGeom>
          <a:noFill/>
        </p:spPr>
        <p:txBody>
          <a:bodyPr wrap="square" lIns="0" tIns="0" rIns="0" bIns="0" anchor="ctr"/>
          <a:lstStyle/>
          <a:p>
            <a:pPr marL="0" indent="0">
              <a:buNone/>
            </a:pPr>
            <a:r>
              <a:rPr sz="800" b="1">
                <a:solidFill>
                  <a:srgbClr val="5B6880"/>
                </a:solidFill>
              </a:rPr>
              <a:t>Delivery Tips</a:t>
            </a: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r>
              <a:rPr sz="750" b="1">
                <a:solidFill>
                  <a:srgbClr val="E8A020"/>
                </a:solidFill>
              </a:rPr>
              <a:t>It is a ranking diagnostic, not a buyer threshold.</a:t>
            </a: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The model improves selected comparisons, but extreme fire years remain difficult.</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dirty="0">
                <a:solidFill>
                  <a:srgbClr val="E8A020"/>
                </a:solidFill>
              </a:rPr>
              <a:t>The target is </a:t>
            </a:r>
            <a:r>
              <a:rPr sz="800" b="1" u="sng" dirty="0">
                <a:solidFill>
                  <a:srgbClr val="E8A020"/>
                </a:solidFill>
              </a:rPr>
              <a:t>continuous</a:t>
            </a:r>
            <a:r>
              <a:rPr sz="750" b="1" u="sng" dirty="0">
                <a:solidFill>
                  <a:srgbClr val="E8A020"/>
                </a:solidFill>
              </a:rPr>
              <a:t> </a:t>
            </a:r>
            <a:r>
              <a:rPr sz="800" b="1" u="sng" dirty="0">
                <a:solidFill>
                  <a:srgbClr val="E8A020"/>
                </a:solidFill>
              </a:rPr>
              <a:t>burned share</a:t>
            </a:r>
            <a:r>
              <a:rPr sz="750" b="1" dirty="0">
                <a:solidFill>
                  <a:srgbClr val="E8A020"/>
                </a:solidFill>
              </a:rPr>
              <a:t>: burned land area divided by cell land area.</a:t>
            </a:r>
            <a:endParaRPr sz="750" dirty="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dirty="0">
                <a:solidFill>
                  <a:srgbClr val="E8A020"/>
                </a:solidFill>
              </a:rPr>
              <a:t>The nine-feature model uses a two-part regression for the zero-heavy target.</a:t>
            </a:r>
            <a:endParaRPr sz="750" dirty="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No final-evaluation result is used to claim a property-level forecast.</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Conclusion: useful comparative improvement with visible uncertainty.</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Shape 0">
            <a:extLst>
              <a:ext uri="{FF2B5EF4-FFF2-40B4-BE49-F238E27FC236}">
                <a16:creationId xmlns:a16="http://schemas.microsoft.com/office/drawing/2014/main" id="{9E3B76F2-BCC7-BBF0-1273-7B2C877F93D3}"/>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42" name="Shape 1">
            <a:extLst>
              <a:ext uri="{FF2B5EF4-FFF2-40B4-BE49-F238E27FC236}">
                <a16:creationId xmlns:a16="http://schemas.microsoft.com/office/drawing/2014/main" id="{4EF0D36C-C357-E332-9FBF-445832165DBE}"/>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3" name="Shape 2">
            <a:extLst>
              <a:ext uri="{FF2B5EF4-FFF2-40B4-BE49-F238E27FC236}">
                <a16:creationId xmlns:a16="http://schemas.microsoft.com/office/drawing/2014/main" id="{1CFE74E3-3462-A34A-4A20-31F9DE9FBFC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44" name="Text 3">
            <a:extLst>
              <a:ext uri="{FF2B5EF4-FFF2-40B4-BE49-F238E27FC236}">
                <a16:creationId xmlns:a16="http://schemas.microsoft.com/office/drawing/2014/main" id="{0D45B056-7786-F6DB-DB67-68872420F5BA}"/>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RECOMMENDED USE CASE</a:t>
            </a:r>
            <a:endParaRPr sz="1100"/>
          </a:p>
        </p:txBody>
      </p:sp>
      <p:sp>
        <p:nvSpPr>
          <p:cNvPr id="45" name="Text 4">
            <a:extLst>
              <a:ext uri="{FF2B5EF4-FFF2-40B4-BE49-F238E27FC236}">
                <a16:creationId xmlns:a16="http://schemas.microsoft.com/office/drawing/2014/main" id="{41DC7F03-CAB9-6A42-265A-C46904C8AFD1}"/>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7 / 9</a:t>
            </a:r>
            <a:endParaRPr sz="1100"/>
          </a:p>
        </p:txBody>
      </p:sp>
      <p:sp>
        <p:nvSpPr>
          <p:cNvPr id="46" name="Text 5">
            <a:extLst>
              <a:ext uri="{FF2B5EF4-FFF2-40B4-BE49-F238E27FC236}">
                <a16:creationId xmlns:a16="http://schemas.microsoft.com/office/drawing/2014/main" id="{D847301C-C927-7FAC-A769-4C641A7B5D35}"/>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A prospective buyer narrows a Portugal location search</a:t>
            </a:r>
            <a:endParaRPr sz="1600"/>
          </a:p>
        </p:txBody>
      </p:sp>
      <p:sp>
        <p:nvSpPr>
          <p:cNvPr id="47" name="Shape 6">
            <a:extLst>
              <a:ext uri="{FF2B5EF4-FFF2-40B4-BE49-F238E27FC236}">
                <a16:creationId xmlns:a16="http://schemas.microsoft.com/office/drawing/2014/main" id="{F70699D7-5B53-2C77-0175-B3B78E7EF30C}"/>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48" name="Shape 7">
            <a:extLst>
              <a:ext uri="{FF2B5EF4-FFF2-40B4-BE49-F238E27FC236}">
                <a16:creationId xmlns:a16="http://schemas.microsoft.com/office/drawing/2014/main" id="{111BE822-2C18-0A11-F129-F8D5751595BB}"/>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49" name="Text 8">
            <a:extLst>
              <a:ext uri="{FF2B5EF4-FFF2-40B4-BE49-F238E27FC236}">
                <a16:creationId xmlns:a16="http://schemas.microsoft.com/office/drawing/2014/main" id="{F7C43176-6DA9-3BA7-4DE8-A4C84CEC076C}"/>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START WITH</a:t>
            </a:r>
            <a:endParaRPr sz="1100"/>
          </a:p>
        </p:txBody>
      </p:sp>
      <p:sp>
        <p:nvSpPr>
          <p:cNvPr id="50" name="Text 9">
            <a:extLst>
              <a:ext uri="{FF2B5EF4-FFF2-40B4-BE49-F238E27FC236}">
                <a16:creationId xmlns:a16="http://schemas.microsoft.com/office/drawing/2014/main" id="{25E0079F-7E52-BCD6-436F-A2013D60831A}"/>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2026 comparative estimate</a:t>
            </a:r>
            <a:endParaRPr sz="800"/>
          </a:p>
        </p:txBody>
      </p:sp>
      <p:sp>
        <p:nvSpPr>
          <p:cNvPr id="51" name="Text 10">
            <a:extLst>
              <a:ext uri="{FF2B5EF4-FFF2-40B4-BE49-F238E27FC236}">
                <a16:creationId xmlns:a16="http://schemas.microsoft.com/office/drawing/2014/main" id="{35DCCB06-55A6-7118-8D80-0423179BFA58}"/>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Compare broad 1 km areas using 2025 predictor inputs.</a:t>
            </a:r>
            <a:endParaRPr sz="850"/>
          </a:p>
        </p:txBody>
      </p:sp>
      <p:sp>
        <p:nvSpPr>
          <p:cNvPr id="52" name="Shape 11">
            <a:extLst>
              <a:ext uri="{FF2B5EF4-FFF2-40B4-BE49-F238E27FC236}">
                <a16:creationId xmlns:a16="http://schemas.microsoft.com/office/drawing/2014/main" id="{48892306-CBC7-1476-476D-AF940872013E}"/>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53" name="Text 12">
            <a:extLst>
              <a:ext uri="{FF2B5EF4-FFF2-40B4-BE49-F238E27FC236}">
                <a16:creationId xmlns:a16="http://schemas.microsoft.com/office/drawing/2014/main" id="{524E6A7B-8390-A7C3-5810-F79BE56CA14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COMPARE CONTEXT</a:t>
            </a:r>
            <a:endParaRPr sz="800"/>
          </a:p>
        </p:txBody>
      </p:sp>
      <p:sp>
        <p:nvSpPr>
          <p:cNvPr id="54" name="Text 13">
            <a:extLst>
              <a:ext uri="{FF2B5EF4-FFF2-40B4-BE49-F238E27FC236}">
                <a16:creationId xmlns:a16="http://schemas.microsoft.com/office/drawing/2014/main" id="{D813BEB0-AB29-1201-6C98-83ED8F0166C5}"/>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Historical recurrence + official ICNF structural hazard</a:t>
            </a:r>
            <a:endParaRPr sz="750"/>
          </a:p>
        </p:txBody>
      </p:sp>
      <p:sp>
        <p:nvSpPr>
          <p:cNvPr id="55" name="Text 14">
            <a:extLst>
              <a:ext uri="{FF2B5EF4-FFF2-40B4-BE49-F238E27FC236}">
                <a16:creationId xmlns:a16="http://schemas.microsoft.com/office/drawing/2014/main" id="{1640E6C2-2736-6C47-08A7-E76229CD60DE}"/>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Read these layers alongside the estimate before shortlisting areas.</a:t>
            </a:r>
            <a:endParaRPr sz="750"/>
          </a:p>
        </p:txBody>
      </p:sp>
      <p:sp>
        <p:nvSpPr>
          <p:cNvPr id="56" name="Text 15">
            <a:extLst>
              <a:ext uri="{FF2B5EF4-FFF2-40B4-BE49-F238E27FC236}">
                <a16:creationId xmlns:a16="http://schemas.microsoft.com/office/drawing/2014/main" id="{E7998FAA-1292-DEE4-FBBA-DA72F51BBE8F}"/>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57" name="Shape 16">
            <a:extLst>
              <a:ext uri="{FF2B5EF4-FFF2-40B4-BE49-F238E27FC236}">
                <a16:creationId xmlns:a16="http://schemas.microsoft.com/office/drawing/2014/main" id="{AA16804A-52B3-003F-850D-E763525EBF82}"/>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58" name="Shape 17">
            <a:extLst>
              <a:ext uri="{FF2B5EF4-FFF2-40B4-BE49-F238E27FC236}">
                <a16:creationId xmlns:a16="http://schemas.microsoft.com/office/drawing/2014/main" id="{A132002A-B816-4B27-A659-A2A2193BD4C4}"/>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59" name="Text 18">
            <a:extLst>
              <a:ext uri="{FF2B5EF4-FFF2-40B4-BE49-F238E27FC236}">
                <a16:creationId xmlns:a16="http://schemas.microsoft.com/office/drawing/2014/main" id="{E937C9EB-5EC4-4BED-DCC0-EEB4268C59F9}"/>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SHORTLIST AREAS</a:t>
            </a:r>
            <a:endParaRPr sz="1100"/>
          </a:p>
        </p:txBody>
      </p:sp>
      <p:sp>
        <p:nvSpPr>
          <p:cNvPr id="60" name="Text 19">
            <a:extLst>
              <a:ext uri="{FF2B5EF4-FFF2-40B4-BE49-F238E27FC236}">
                <a16:creationId xmlns:a16="http://schemas.microsoft.com/office/drawing/2014/main" id="{922D1C3D-92F4-7A52-D254-13F805D6760C}"/>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Focus local research</a:t>
            </a:r>
            <a:endParaRPr sz="800"/>
          </a:p>
        </p:txBody>
      </p:sp>
      <p:sp>
        <p:nvSpPr>
          <p:cNvPr id="61" name="Text 20">
            <a:extLst>
              <a:ext uri="{FF2B5EF4-FFF2-40B4-BE49-F238E27FC236}">
                <a16:creationId xmlns:a16="http://schemas.microsoft.com/office/drawing/2014/main" id="{DD31154A-7340-6BA1-B58C-EB0C128FA94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Use the three maps to decide which broad areas deserve a closer look.</a:t>
            </a:r>
            <a:endParaRPr sz="850"/>
          </a:p>
        </p:txBody>
      </p:sp>
      <p:sp>
        <p:nvSpPr>
          <p:cNvPr id="62" name="Shape 21">
            <a:extLst>
              <a:ext uri="{FF2B5EF4-FFF2-40B4-BE49-F238E27FC236}">
                <a16:creationId xmlns:a16="http://schemas.microsoft.com/office/drawing/2014/main" id="{E3A1950C-3E98-2A41-9F7B-763C1A1EFE02}"/>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63" name="Text 22">
            <a:extLst>
              <a:ext uri="{FF2B5EF4-FFF2-40B4-BE49-F238E27FC236}">
                <a16:creationId xmlns:a16="http://schemas.microsoft.com/office/drawing/2014/main" id="{E3161D18-B8A1-E487-12AB-44CC4A732529}"/>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VISIT AND INVESTIGATE</a:t>
            </a:r>
            <a:endParaRPr sz="800"/>
          </a:p>
        </p:txBody>
      </p:sp>
      <p:sp>
        <p:nvSpPr>
          <p:cNvPr id="64" name="Text 23">
            <a:extLst>
              <a:ext uri="{FF2B5EF4-FFF2-40B4-BE49-F238E27FC236}">
                <a16:creationId xmlns:a16="http://schemas.microsoft.com/office/drawing/2014/main" id="{5C353123-8232-42F8-D273-5CB954BA4BBD}"/>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Deepen the research</a:t>
            </a:r>
            <a:endParaRPr sz="750"/>
          </a:p>
        </p:txBody>
      </p:sp>
      <p:sp>
        <p:nvSpPr>
          <p:cNvPr id="65" name="Text 24">
            <a:extLst>
              <a:ext uri="{FF2B5EF4-FFF2-40B4-BE49-F238E27FC236}">
                <a16:creationId xmlns:a16="http://schemas.microsoft.com/office/drawing/2014/main" id="{825EE7D9-0624-FD50-1A14-73D146D6F995}"/>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Spend time on site visits and detailed research in shortlisted areas.</a:t>
            </a:r>
            <a:endParaRPr sz="750"/>
          </a:p>
        </p:txBody>
      </p:sp>
      <p:sp>
        <p:nvSpPr>
          <p:cNvPr id="66" name="Text 25">
            <a:extLst>
              <a:ext uri="{FF2B5EF4-FFF2-40B4-BE49-F238E27FC236}">
                <a16:creationId xmlns:a16="http://schemas.microsoft.com/office/drawing/2014/main" id="{2A24E586-B737-43CD-9410-9B7B599DB5E6}"/>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67" name="Shape 26">
            <a:extLst>
              <a:ext uri="{FF2B5EF4-FFF2-40B4-BE49-F238E27FC236}">
                <a16:creationId xmlns:a16="http://schemas.microsoft.com/office/drawing/2014/main" id="{E767105C-FE7D-D361-1E75-7B266D4ED118}"/>
              </a:ext>
            </a:extLst>
          </p:cNvPr>
          <p:cNvSpPr>
            <a:spLocks noGrp="1"/>
          </p:cNvSpPr>
          <p:nvPr/>
        </p:nvSpPr>
        <p:spPr>
          <a:xfrm>
            <a:off x="6345936" y="1371600"/>
            <a:ext cx="251460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68" name="Shape 27">
            <a:extLst>
              <a:ext uri="{FF2B5EF4-FFF2-40B4-BE49-F238E27FC236}">
                <a16:creationId xmlns:a16="http://schemas.microsoft.com/office/drawing/2014/main" id="{B5487368-1117-220F-0E2A-5055BCFA807D}"/>
              </a:ext>
            </a:extLst>
          </p:cNvPr>
          <p:cNvSpPr>
            <a:spLocks noGrp="1"/>
          </p:cNvSpPr>
          <p:nvPr/>
        </p:nvSpPr>
        <p:spPr>
          <a:xfrm>
            <a:off x="6345936" y="1371600"/>
            <a:ext cx="2514600" cy="384048"/>
          </a:xfrm>
          <a:prstGeom prst="rect">
            <a:avLst/>
          </a:prstGeom>
          <a:solidFill>
            <a:srgbClr val="2A9D61"/>
          </a:solidFill>
          <a:ln w="12700">
            <a:solidFill>
              <a:srgbClr val="2A9D61"/>
            </a:solidFill>
            <a:prstDash val="solid"/>
          </a:ln>
        </p:spPr>
      </p:sp>
      <p:sp>
        <p:nvSpPr>
          <p:cNvPr id="69" name="Text 28">
            <a:extLst>
              <a:ext uri="{FF2B5EF4-FFF2-40B4-BE49-F238E27FC236}">
                <a16:creationId xmlns:a16="http://schemas.microsoft.com/office/drawing/2014/main" id="{018CC755-0E76-B3F1-F302-F5429326FAFF}"/>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USE CASE OUTCOME</a:t>
            </a:r>
            <a:endParaRPr sz="1100"/>
          </a:p>
        </p:txBody>
      </p:sp>
      <p:sp>
        <p:nvSpPr>
          <p:cNvPr id="70" name="Text 29">
            <a:extLst>
              <a:ext uri="{FF2B5EF4-FFF2-40B4-BE49-F238E27FC236}">
                <a16:creationId xmlns:a16="http://schemas.microsoft.com/office/drawing/2014/main" id="{7D4F3FEA-36B1-CD37-33EC-8AFF9A2B185B}"/>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A smaller search area</a:t>
            </a:r>
            <a:endParaRPr sz="800"/>
          </a:p>
        </p:txBody>
      </p:sp>
      <p:sp>
        <p:nvSpPr>
          <p:cNvPr id="71" name="Text 30">
            <a:extLst>
              <a:ext uri="{FF2B5EF4-FFF2-40B4-BE49-F238E27FC236}">
                <a16:creationId xmlns:a16="http://schemas.microsoft.com/office/drawing/2014/main" id="{AEF56BD3-A919-2AB3-B917-DDF115F5DA1D}"/>
              </a:ext>
            </a:extLst>
          </p:cNvPr>
          <p:cNvSpPr>
            <a:spLocks noGrp="1"/>
          </p:cNvSpPr>
          <p:nvPr/>
        </p:nvSpPr>
        <p:spPr>
          <a:xfrm>
            <a:off x="6437376" y="2048256"/>
            <a:ext cx="2341179" cy="502920"/>
          </a:xfrm>
          <a:prstGeom prst="rect">
            <a:avLst/>
          </a:prstGeom>
          <a:noFill/>
        </p:spPr>
        <p:txBody>
          <a:bodyPr wrap="square" lIns="0" tIns="0" rIns="0" bIns="0" anchor="t"/>
          <a:lstStyle/>
          <a:p>
            <a:pPr marL="0" indent="0">
              <a:buNone/>
            </a:pPr>
            <a:r>
              <a:rPr sz="850">
                <a:solidFill>
                  <a:srgbClr val="1A2638"/>
                </a:solidFill>
              </a:rPr>
              <a:t>The QGIS layers help organise a national search.</a:t>
            </a:r>
            <a:endParaRPr sz="850"/>
          </a:p>
        </p:txBody>
      </p:sp>
      <p:sp>
        <p:nvSpPr>
          <p:cNvPr id="72" name="Shape 31">
            <a:extLst>
              <a:ext uri="{FF2B5EF4-FFF2-40B4-BE49-F238E27FC236}">
                <a16:creationId xmlns:a16="http://schemas.microsoft.com/office/drawing/2014/main" id="{B21EFAC5-18BF-7EC7-FCA7-6D5743FCEF9F}"/>
              </a:ext>
            </a:extLst>
          </p:cNvPr>
          <p:cNvSpPr>
            <a:spLocks noGrp="1"/>
          </p:cNvSpPr>
          <p:nvPr/>
        </p:nvSpPr>
        <p:spPr>
          <a:xfrm>
            <a:off x="6437376" y="2578608"/>
            <a:ext cx="2341179" cy="502920"/>
          </a:xfrm>
          <a:prstGeom prst="rect">
            <a:avLst/>
          </a:prstGeom>
          <a:solidFill>
            <a:srgbClr val="E6F5EE"/>
          </a:solidFill>
          <a:ln w="12700">
            <a:solidFill>
              <a:srgbClr val="E6F5EE"/>
            </a:solidFill>
            <a:prstDash val="solid"/>
          </a:ln>
        </p:spPr>
      </p:sp>
      <p:sp>
        <p:nvSpPr>
          <p:cNvPr id="73" name="Text 32">
            <a:extLst>
              <a:ext uri="{FF2B5EF4-FFF2-40B4-BE49-F238E27FC236}">
                <a16:creationId xmlns:a16="http://schemas.microsoft.com/office/drawing/2014/main" id="{B56BD828-01DF-272F-8543-67D8E7206C89}"/>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LOCAL EVIDENCE</a:t>
            </a:r>
            <a:endParaRPr sz="800"/>
          </a:p>
        </p:txBody>
      </p:sp>
      <p:sp>
        <p:nvSpPr>
          <p:cNvPr id="74" name="Text 33">
            <a:extLst>
              <a:ext uri="{FF2B5EF4-FFF2-40B4-BE49-F238E27FC236}">
                <a16:creationId xmlns:a16="http://schemas.microsoft.com/office/drawing/2014/main" id="{7C7E5895-F34D-DA1E-E30A-C36D5D6775D9}"/>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Verify before deciding</a:t>
            </a:r>
            <a:endParaRPr sz="750"/>
          </a:p>
        </p:txBody>
      </p:sp>
      <p:sp>
        <p:nvSpPr>
          <p:cNvPr id="75" name="Text 34">
            <a:extLst>
              <a:ext uri="{FF2B5EF4-FFF2-40B4-BE49-F238E27FC236}">
                <a16:creationId xmlns:a16="http://schemas.microsoft.com/office/drawing/2014/main" id="{91730462-287D-DD99-AC73-8CDB97A5A7BD}"/>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Check planning, access, insurance, terrain and property-specific evidence.</a:t>
            </a:r>
            <a:endParaRPr sz="750"/>
          </a:p>
        </p:txBody>
      </p:sp>
      <p:sp>
        <p:nvSpPr>
          <p:cNvPr id="76" name="Shape 35">
            <a:extLst>
              <a:ext uri="{FF2B5EF4-FFF2-40B4-BE49-F238E27FC236}">
                <a16:creationId xmlns:a16="http://schemas.microsoft.com/office/drawing/2014/main" id="{EE052AFC-8FB4-ECF7-88CC-4487AE42F56C}"/>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77" name="Text 36">
            <a:extLst>
              <a:ext uri="{FF2B5EF4-FFF2-40B4-BE49-F238E27FC236}">
                <a16:creationId xmlns:a16="http://schemas.microsoft.com/office/drawing/2014/main" id="{C306DBE1-591D-91A0-2800-8563622FC938}"/>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The output helps organise the search; local evidence supports the final choice.</a:t>
            </a:r>
            <a:endParaRPr sz="850"/>
          </a:p>
        </p:txBody>
      </p:sp>
      <p:sp>
        <p:nvSpPr>
          <p:cNvPr id="78" name="Shape 37">
            <a:extLst>
              <a:ext uri="{FF2B5EF4-FFF2-40B4-BE49-F238E27FC236}">
                <a16:creationId xmlns:a16="http://schemas.microsoft.com/office/drawing/2014/main" id="{453F1B67-702E-243E-FB47-4CA2B5119EA1}"/>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79" name="Text 38">
            <a:extLst>
              <a:ext uri="{FF2B5EF4-FFF2-40B4-BE49-F238E27FC236}">
                <a16:creationId xmlns:a16="http://schemas.microsoft.com/office/drawing/2014/main" id="{A5F23304-A068-58EC-920B-B28883DF7C8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RECOMMENDATIONS 2 + 3</a:t>
            </a:r>
            <a:endParaRPr sz="1100"/>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8 / 9</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Compare the evidence layers, then verify locally</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RECOMMENDATION 2 — COMPARE FIRST</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sz="850">
                <a:solidFill>
                  <a:srgbClr val="1A2638"/>
                </a:solidFill>
              </a:rPr>
              <a:t>Use the 2026 comparative estimate to narrow broad areas.</a:t>
            </a:r>
            <a:endParaRPr sz="85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Check 2016–2025 observed recurrence in the 2 km context.</a:t>
            </a:r>
            <a:endParaRPr sz="850"/>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347472"/>
          </a:xfrm>
          <a:prstGeom prst="rect">
            <a:avLst/>
          </a:prstGeom>
          <a:noFill/>
        </p:spPr>
        <p:txBody>
          <a:bodyPr wrap="square" lIns="0" tIns="0" rIns="0" bIns="0" anchor="ctr"/>
          <a:lstStyle/>
          <a:p>
            <a:pPr marL="0" indent="0">
              <a:buNone/>
            </a:pPr>
            <a:r>
              <a:rPr sz="850">
                <a:solidFill>
                  <a:srgbClr val="1A2638"/>
                </a:solidFill>
              </a:rPr>
              <a:t>Compare the official ICNF structural-hazard class.</a:t>
            </a:r>
            <a:endParaRPr sz="85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Read the three layers together before shortlisting areas.</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Do not merge the layers into one score.</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They answer different questions and provide complementary context.</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Shortlist only after comparing them.</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0916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09160" y="1298448"/>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RECOMMENDATION 3 — VERIFY LOCALLY</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Local evidence</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Review planning, access, insurance, terrain and site conditions.</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Use property-specific evidence before deciding.</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The model directs research effort; it does not replace local investigation.</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127248"/>
            <a:ext cx="3886200" cy="256032"/>
          </a:xfrm>
          <a:prstGeom prst="rect">
            <a:avLst/>
          </a:prstGeom>
          <a:noFill/>
        </p:spPr>
        <p:txBody>
          <a:bodyPr wrap="square" lIns="0" tIns="0" rIns="0" bIns="0" anchor="ctr"/>
          <a:lstStyle/>
          <a:p>
            <a:pPr marL="0" indent="0">
              <a:buNone/>
            </a:pP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r>
              <a:rPr sz="750" b="1">
                <a:solidFill>
                  <a:srgbClr val="E8A020"/>
                </a:solidFill>
              </a:rPr>
              <a:t>KEY MESSAGE</a:t>
            </a: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Compare layers.</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Shortlist areas.</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Verify locally.</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Use evidence before deciding.</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Use the model to direct research effort, not to replace local investigation.</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
        <p:nvSpPr>
          <p:cNvPr id="55" name="hide-delivery-tips">
            <a:extLst>
              <a:ext uri="{FF2B5EF4-FFF2-40B4-BE49-F238E27FC236}">
                <a16:creationId xmlns:a16="http://schemas.microsoft.com/office/drawing/2014/main" id="{EB287470-0350-4395-9139-4FFB77AD54F0}"/>
              </a:ext>
            </a:extLst>
          </p:cNvPr>
          <p:cNvSpPr>
            <a:spLocks noGrp="1"/>
          </p:cNvSpPr>
          <p:nvPr/>
        </p:nvSpPr>
        <p:spPr>
          <a:xfrm>
            <a:off x="4733925" y="3133725"/>
            <a:ext cx="1333500" cy="209550"/>
          </a:xfrm>
          <a:prstGeom prst="rect">
            <a:avLst/>
          </a:prstGeom>
          <a:solidFill>
            <a:srgbClr val="FFFFFF"/>
          </a:solidFill>
          <a:ln w="0">
            <a:noFill/>
            <a:prstDash val="solid"/>
          </a:ln>
        </p:spPr>
      </p:sp>
    </p:spTree>
    <p:extLst>
      <p:ext uri="{BB962C8B-B14F-4D97-AF65-F5344CB8AC3E}">
        <p14:creationId xmlns:p14="http://schemas.microsoft.com/office/powerpoint/2010/main" val="17917816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CONCLUSION AND NEXT STEP</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9 / 9</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The project narrows the search area and keeps evidence traceable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DELIVERED</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Reproducible national workflow</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One 1 km grid, validated sources, a nine-feature model and QGIS layers.</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HISTORICAL + GIS CONTEXT</a:t>
            </a:r>
            <a:endParaRPr sz="80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Observed 2016–2025 recurrence + official ICNF structural-hazard reference.</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Together they provide context for broad-area comparison.</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MODEL RESULT</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Modest improvement over the baseline</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The nine-feature model improves selected diagnostics; extreme fire outcomes remain difficult.</a:t>
            </a:r>
            <a:endParaRPr sz="85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PRACTICAL USE</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Narrow broad search areas</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Use the maps to organise local research before detailed investigation.</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51460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523744"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NEXT PROJECT STEP</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Refresh and evaluate</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340864" cy="502920"/>
          </a:xfrm>
          <a:prstGeom prst="rect">
            <a:avLst/>
          </a:prstGeom>
          <a:noFill/>
        </p:spPr>
        <p:txBody>
          <a:bodyPr wrap="square" lIns="0" tIns="0" rIns="0" bIns="0" anchor="t"/>
          <a:lstStyle/>
          <a:p>
            <a:pPr marL="0" indent="0">
              <a:buNone/>
            </a:pPr>
            <a:r>
              <a:rPr sz="850">
                <a:solidFill>
                  <a:srgbClr val="1A2638"/>
                </a:solidFill>
              </a:rPr>
              <a:t>When new completed-year data and the 2026 outcome are available, rerun the fixed workflow and evaluate the 2026 estimate.</a:t>
            </a:r>
            <a:endParaRPr sz="85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340864"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PRACTICAL RESULT</a:t>
            </a:r>
            <a:endParaRPr sz="80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A focused location search</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Local planning, access, insurance, terrain and property evidence complete the decision.</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The model makes the first stage of location research more focused.</a:t>
            </a:r>
            <a:endParaRPr sz="85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120</TotalTime>
  <Words>3718</Words>
  <Application>Microsoft Office PowerPoint</Application>
  <DocSecurity>0</DocSecurity>
  <PresentationFormat>On-screen Show (16:9)</PresentationFormat>
  <Paragraphs>407</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cp:lastModifiedBy>Sergey Dyadechko</cp:lastModifiedBy>
  <cp:revision>37</cp:revision>
  <dcterms:created xsi:type="dcterms:W3CDTF">2026-08-15T11:30:04Z</dcterms:created>
  <dcterms:modified xsi:type="dcterms:W3CDTF">2026-08-16T12:00:55Z</dcterms:modified>
</cp:coreProperties>
</file>