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aa627cf37f445d6" /><Relationship Type="http://schemas.openxmlformats.org/officeDocument/2006/relationships/extended-properties" Target="/docProps/app.xml" Id="R905f2e7d9f60411c" /><Relationship Type="http://schemas.openxmlformats.org/officeDocument/2006/relationships/officeDocument" Target="/ppt/presentation.xml" Id="R8792e97232884317" /></Relationships>
</file>

<file path=ppt/presentation.xml><?xml version="1.0" encoding="utf-8"?>
<p:presentation xmlns:p="http://schemas.openxmlformats.org/presentationml/2006/main">
  <p:sldMasterIdLst>
    <p:sldMasterId xmlns:r="http://schemas.openxmlformats.org/officeDocument/2006/relationships" id="2147483648" r:id="Re4bbadf8fee84872"/>
  </p:sldMasterIdLst>
  <p:notesMasterIdLst>
    <p:notesMasterId xmlns:r="http://schemas.openxmlformats.org/officeDocument/2006/relationships" r:id="R0aff1b2607dd4085"/>
  </p:notesMasterIdLst>
  <p:sldIdLst>
    <p:sldId xmlns:r="http://schemas.openxmlformats.org/officeDocument/2006/relationships" id="256" r:id="Rcad490e820d441b8"/>
    <p:sldId xmlns:r="http://schemas.openxmlformats.org/officeDocument/2006/relationships" id="257" r:id="R088d2814a5b84d32"/>
    <p:sldId xmlns:r="http://schemas.openxmlformats.org/officeDocument/2006/relationships" id="258" r:id="R2224af1b8499482a"/>
    <p:sldId xmlns:r="http://schemas.openxmlformats.org/officeDocument/2006/relationships" id="259" r:id="Rc928aa4d4918417b"/>
    <p:sldId xmlns:r="http://schemas.openxmlformats.org/officeDocument/2006/relationships" id="260" r:id="R70e430d44022412e"/>
    <p:sldId xmlns:r="http://schemas.openxmlformats.org/officeDocument/2006/relationships" id="261" r:id="R0d3bee12749b4e10"/>
    <p:sldId xmlns:r="http://schemas.openxmlformats.org/officeDocument/2006/relationships" id="262" r:id="R884088e941bb45aa"/>
    <p:sldId xmlns:r="http://schemas.openxmlformats.org/officeDocument/2006/relationships" id="263" r:id="R51923257f72c4092"/>
    <p:sldId xmlns:r="http://schemas.openxmlformats.org/officeDocument/2006/relationships" id="264" r:id="R5be5145a01b44216"/>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a0847aeb47204d66" /><Relationship Type="http://schemas.openxmlformats.org/officeDocument/2006/relationships/slideMaster" Target="/ppt/slideMasters/slideMaster1.xml" Id="Re4bbadf8fee84872" /><Relationship Type="http://schemas.openxmlformats.org/officeDocument/2006/relationships/notesMaster" Target="/ppt/notesMasters/notesMaster1.xml" Id="R0aff1b2607dd4085" /><Relationship Type="http://schemas.openxmlformats.org/officeDocument/2006/relationships/presProps" Target="/ppt/presProps.xml" Id="R0df294a6f1bb481a" /><Relationship Type="http://schemas.openxmlformats.org/officeDocument/2006/relationships/viewProps" Target="/ppt/viewProps.xml" Id="Rab2d1fd3a9c6430c" /><Relationship Type="http://schemas.openxmlformats.org/officeDocument/2006/relationships/tableStyles" Target="/ppt/tableStyles.xml" Id="R9ed0b0d37b4e462e" /><Relationship Type="http://schemas.openxmlformats.org/officeDocument/2006/relationships/slide" Target="/ppt/slides/slide1.xml" Id="Rcad490e820d441b8" /><Relationship Type="http://schemas.openxmlformats.org/officeDocument/2006/relationships/slide" Target="/ppt/slides/slide2.xml" Id="R088d2814a5b84d32" /><Relationship Type="http://schemas.openxmlformats.org/officeDocument/2006/relationships/slide" Target="/ppt/slides/slide3.xml" Id="R2224af1b8499482a" /><Relationship Type="http://schemas.openxmlformats.org/officeDocument/2006/relationships/slide" Target="/ppt/slides/slide4.xml" Id="Rc928aa4d4918417b" /><Relationship Type="http://schemas.openxmlformats.org/officeDocument/2006/relationships/slide" Target="/ppt/slides/slide5.xml" Id="R70e430d44022412e" /><Relationship Type="http://schemas.openxmlformats.org/officeDocument/2006/relationships/slide" Target="/ppt/slides/slide6.xml" Id="R0d3bee12749b4e10" /><Relationship Type="http://schemas.openxmlformats.org/officeDocument/2006/relationships/slide" Target="/ppt/slides/slide7.xml" Id="R884088e941bb45aa" /><Relationship Type="http://schemas.openxmlformats.org/officeDocument/2006/relationships/slide" Target="/ppt/slides/slide8.xml" Id="R51923257f72c4092" /><Relationship Type="http://schemas.openxmlformats.org/officeDocument/2006/relationships/slide" Target="/ppt/slides/slide9.xml" Id="R5be5145a01b4421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2fd3911992b4f3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1d6ab4fc60420e" /><Relationship Type="http://schemas.openxmlformats.org/officeDocument/2006/relationships/notesMaster" Target="/ppt/notesMasters/notesMaster1.xml" Id="R522d7c1037bc4c87" /></Relationships>
</file>

<file path=ppt/notesSlides/_rels/notesSlide2.xml.rels>&#65279;<?xml version="1.0" encoding="utf-8"?><Relationships xmlns="http://schemas.openxmlformats.org/package/2006/relationships"><Relationship Type="http://schemas.openxmlformats.org/officeDocument/2006/relationships/slide" Target="/ppt/slides/slide2.xml" Id="R8de52f9d062843ed" /><Relationship Type="http://schemas.openxmlformats.org/officeDocument/2006/relationships/notesMaster" Target="/ppt/notesMasters/notesMaster1.xml" Id="Rfb4afc67352945dd" /></Relationships>
</file>

<file path=ppt/notesSlides/_rels/notesSlide3.xml.rels>&#65279;<?xml version="1.0" encoding="utf-8"?><Relationships xmlns="http://schemas.openxmlformats.org/package/2006/relationships"><Relationship Type="http://schemas.openxmlformats.org/officeDocument/2006/relationships/slide" Target="/ppt/slides/slide3.xml" Id="R0db2fc4e066e4311" /><Relationship Type="http://schemas.openxmlformats.org/officeDocument/2006/relationships/notesMaster" Target="/ppt/notesMasters/notesMaster1.xml" Id="R1249cafc4c17408c" /></Relationships>
</file>

<file path=ppt/notesSlides/_rels/notesSlide4.xml.rels>&#65279;<?xml version="1.0" encoding="utf-8"?><Relationships xmlns="http://schemas.openxmlformats.org/package/2006/relationships"><Relationship Type="http://schemas.openxmlformats.org/officeDocument/2006/relationships/slide" Target="/ppt/slides/slide4.xml" Id="R8f2a61eef7484998" /><Relationship Type="http://schemas.openxmlformats.org/officeDocument/2006/relationships/notesMaster" Target="/ppt/notesMasters/notesMaster1.xml" Id="R57dad7e155614998" /></Relationships>
</file>

<file path=ppt/notesSlides/_rels/notesSlide5.xml.rels>&#65279;<?xml version="1.0" encoding="utf-8"?><Relationships xmlns="http://schemas.openxmlformats.org/package/2006/relationships"><Relationship Type="http://schemas.openxmlformats.org/officeDocument/2006/relationships/slide" Target="/ppt/slides/slide5.xml" Id="R25c243c4b77548f5" /><Relationship Type="http://schemas.openxmlformats.org/officeDocument/2006/relationships/notesMaster" Target="/ppt/notesMasters/notesMaster1.xml" Id="R39bd48dbf8934a51" /></Relationships>
</file>

<file path=ppt/notesSlides/_rels/notesSlide6.xml.rels>&#65279;<?xml version="1.0" encoding="utf-8"?><Relationships xmlns="http://schemas.openxmlformats.org/package/2006/relationships"><Relationship Type="http://schemas.openxmlformats.org/officeDocument/2006/relationships/slide" Target="/ppt/slides/slide6.xml" Id="Rc3c9fe8879f1490e" /><Relationship Type="http://schemas.openxmlformats.org/officeDocument/2006/relationships/notesMaster" Target="/ppt/notesMasters/notesMaster1.xml" Id="R1641c9adfae64608"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63d12085a24f30" /><Relationship Type="http://schemas.openxmlformats.org/officeDocument/2006/relationships/notesMaster" Target="/ppt/notesMasters/notesMaster1.xml" Id="Rc61dd3ac0a4545c9" /></Relationships>
</file>

<file path=ppt/notesSlides/_rels/notesSlide8.xml.rels>&#65279;<?xml version="1.0" encoding="utf-8"?><Relationships xmlns="http://schemas.openxmlformats.org/package/2006/relationships"><Relationship Type="http://schemas.openxmlformats.org/officeDocument/2006/relationships/slide" Target="/ppt/slides/slide8.xml" Id="R9c728bd04f8349bd" /><Relationship Type="http://schemas.openxmlformats.org/officeDocument/2006/relationships/notesMaster" Target="/ppt/notesMasters/notesMaster1.xml" Id="Re0185f400f584d2e" /></Relationships>
</file>

<file path=ppt/notesSlides/_rels/notesSlide9.xml.rels>&#65279;<?xml version="1.0" encoding="utf-8"?><Relationships xmlns="http://schemas.openxmlformats.org/package/2006/relationships"><Relationship Type="http://schemas.openxmlformats.org/officeDocument/2006/relationships/slide" Target="/ppt/slides/slide9.xml" Id="R68a3ac58229b489a" /><Relationship Type="http://schemas.openxmlformats.org/officeDocument/2006/relationships/notesMaster" Target="/ppt/notesMasters/notesMaster1.xml" Id="Rd5789ed7161b459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message: This capstone uses reproducible wildfire-exposure evidence to help narrow broad location-search areas in mainland Portugal.</a:t>
            </a:r>
          </a:p>
          <a:p xmlns:a="http://schemas.openxmlformats.org/drawingml/2006/main">
            <a:endParaRPr/>
          </a:p>
          <a:p xmlns:a="http://schemas.openxmlformats.org/drawingml/2006/main">
            <a:r>
              <a:rPr b="1"/>
              <a:t>What to say:</a:t>
            </a:r>
          </a:p>
          <a:p xmlns:a="http://schemas.openxmlformats.org/drawingml/2006/main">
            <a:r>
              <a:rPr b="0"/>
              <a:t>“The project does not identify a safe property or tell someone to buy or not buy. It combines observed wildfire history, landscape, terrain, climate, machine learning and GIS to compare broad areas consistently. The practical output is a shortlist for deeper local research before a property decision.”</a:t>
            </a:r>
          </a:p>
          <a:p xmlns:a="http://schemas.openxmlformats.org/drawingml/2006/main">
            <a:endParaRPr/>
          </a:p>
          <a:p xmlns:a="http://schemas.openxmlformats.org/drawingml/2006/main">
            <a:r>
              <a:t>Transition: “Next, I will show what one consistent national record represents and how the source data are used.”</a:t>
            </a:r>
          </a:p>
          <a:p xmlns:a="http://schemas.openxmlformats.org/drawingml/2006/main">
            <a:endParaRPr/>
          </a:p>
          <a:p xmlns:a="http://schemas.openxmlformats.org/drawingml/2006/main">
            <a:r>
              <a:t>[Sources]</a:t>
            </a:r>
          </a:p>
          <a:p xmlns:a="http://schemas.openxmlformats.org/drawingml/2006/main">
            <a:r>
              <a:rPr b="0"/>
              <a:t>README.md; docs/project_brief.md; docs/data_dictionary.md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Main message: Every record has the same geographical meaning: one 1 km mainland cell in one predictor year.</a:t>
            </a:r>
            <a:endParaRPr/>
          </a:p>
          <a:p xmlns:a="http://schemas.openxmlformats.org/drawingml/2006/main">
            <a:r>
              <a:rPr b="1"/>
              <a:t/>
            </a:r>
            <a:endParaRPr/>
          </a:p>
          <a:p xmlns:a="http://schemas.openxmlformats.org/drawingml/2006/main">
            <a:r>
              <a:t>What to say:</a:t>
            </a:r>
          </a:p>
          <a:p xmlns:a="http://schemas.openxmlformats.org/drawingml/2006/main">
            <a:r>
              <a:t>“Each row in the analytical dataset represents one 1 km by 1 km mainland Portugal cell in a predictor year, T. This makes it possible to compare the same geographical unit over time.</a:t>
            </a:r>
          </a:p>
          <a:p xmlns:a="http://schemas.openxmlformats.org/drawingml/2006/main">
            <a:r>
              <a:t>ICNF annual burned-area data provides two roles: historical fire recurrence and the observed next-year outcome. The outcome is continuous burned share: the proportion of the cell’s land area that burned in the following year.</a:t>
            </a:r>
          </a:p>
          <a:p xmlns:a="http://schemas.openxmlformats.org/drawingml/2006/main">
            <a:r>
              <a:t>The 2000–2025 range shown on this slide is ICNF source archive coverage. It is not one training or evaluation period. Earlier ICNF years supply the ten-year pre-T fire-history windows, while later years also supply observed T+1 outcomes.</a:t>
            </a:r>
            <a:endParaRPr/>
          </a:p>
          <a:p xmlns:a="http://schemas.openxmlformats.org/drawingml/2006/main">
            <a:r>
              <a:rPr b="1"/>
              <a:t>CLC land cover and Copernicus DEM provide landscape and terrain context. ERA5-Land provides warm-season temperature, precipitation, and shallow soil-water conditions from the predictor year only.</a:t>
            </a:r>
            <a:endParaRPr/>
          </a:p>
          <a:p xmlns:a="http://schemas.openxmlformats.org/drawingml/2006/main">
            <a:r>
              <a:t>The 2 km area is not a second grid. It is an outward context buffer around each 1 km cell, used to measure nearby forest/shrub, slope, and historical fire recurrence.”</a:t>
            </a:r>
          </a:p>
          <a:p xmlns:a="http://schemas.openxmlformats.org/drawingml/2006/main">
            <a:r>
              <a:t/>
            </a:r>
          </a:p>
          <a:p xmlns:a="http://schemas.openxmlformats.org/drawingml/2006/main">
            <a:r>
              <a:t>Transition: “Next, I will show the exact training, validation, final-evaluation, refit, and current-estimate periods.”</a:t>
            </a:r>
          </a:p>
          <a:p xmlns:a="http://schemas.openxmlformats.org/drawingml/2006/main">
            <a:r>
              <a:t/>
            </a:r>
          </a:p>
          <a:p xmlns:a="http://schemas.openxmlformats.org/drawingml/2006/main">
            <a:r>
              <a:t>[Sources]</a:t>
            </a:r>
          </a:p>
          <a:p xmlns:a="http://schemas.openxmlformats.org/drawingml/2006/main">
            <a:r>
              <a:t>docs/data_dictionary.md; docs/source_plan.md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Main message: Every model period uses the same rule: predictors from year T are compared with the observed burned-share outcome in T+1.</a:t>
            </a:r>
            <a:endParaRPr/>
          </a:p>
          <a:p xmlns:a="http://schemas.openxmlformats.org/drawingml/2006/main">
            <a:r>
              <a:rPr b="1"/>
              <a:t/>
            </a:r>
            <a:endParaRPr/>
          </a:p>
          <a:p xmlns:a="http://schemas.openxmlformats.org/drawingml/2006/main">
            <a:r>
              <a:t>What to say:</a:t>
            </a:r>
          </a:p>
          <a:p xmlns:a="http://schemas.openxmlformats.org/drawingml/2006/main">
            <a:r>
              <a:t>“The date ranges have different roles and do not overlap during model selection.</a:t>
            </a:r>
          </a:p>
          <a:p xmlns:a="http://schemas.openxmlformats.org/drawingml/2006/main">
            <a:r>
              <a:t>Model fitting uses predictor years T=2010–2019 and observed outcomes 2011–2020. Development validation uses T=2020–2021 and outcomes 2021–2022 to select the specification. The frozen specification is then evaluated once using T=2022–2024 and outcomes 2023–2025. Those final-evaluation results do not tune the model.</a:t>
            </a:r>
          </a:p>
          <a:p xmlns:a="http://schemas.openxmlformats.org/drawingml/2006/main">
            <a:r>
              <a:t>For the operational 2026 estimate, the selected specification is refitted using all labelled predictor years T=2010–2024, whose outcomes cover 2011–2025. It is then applied to T=2025 predictors to estimate 2026. No observed 2026 outcome is available or used.</a:t>
            </a:r>
            <a:endParaRPr/>
          </a:p>
          <a:p xmlns:a="http://schemas.openxmlformats.org/drawingml/2006/main">
            <a:r>
              <a:rPr b="1"/>
              <a:t>The temporal safeguard is that T+1 information is always a historical target, never a predictor.”</a:t>
            </a:r>
            <a:endParaRPr/>
          </a:p>
          <a:p xmlns:a="http://schemas.openxmlformats.org/drawingml/2006/main">
            <a:r>
              <a:t/>
            </a:r>
          </a:p>
          <a:p xmlns:a="http://schemas.openxmlformats.org/drawingml/2006/main">
            <a:r>
              <a:t>Transition: “The next slides separate the descriptive historical screen, the official reference layer, and the model estimate.”</a:t>
            </a:r>
          </a:p>
          <a:p xmlns:a="http://schemas.openxmlformats.org/drawingml/2006/main">
            <a:r>
              <a:t/>
            </a:r>
          </a:p>
          <a:p xmlns:a="http://schemas.openxmlformats.org/drawingml/2006/main">
            <a:r>
              <a:t>[Sources]</a:t>
            </a:r>
          </a:p>
          <a:p xmlns:a="http://schemas.openxmlformats.org/drawingml/2006/main">
            <a:r>
              <a:t>docs/data_dictionary.md; docs/model_learning_and_2026_estimate.md; docs/model_v2_validation_selection.md; docs/operational_forecast_cycle.md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Main message: Wildfire exposure patterns vary geographically, so a national location search can be narrowed using comparative evidence.</a:t>
            </a:r>
          </a:p>
          <a:p xmlns:a="http://schemas.openxmlformats.org/drawingml/2006/main">
            <a:r>
              <a:t>These layers provide different types of evidence and should not be added together or interpreted as one score. The comparison helps identify broad areas for further investigation; it does not certify a location.</a:t>
            </a:r>
            <a:endParaRPr/>
          </a:p>
          <a:p xmlns:a="http://schemas.openxmlformats.org/drawingml/2006/main">
            <a:r>
              <a:t/>
            </a:r>
          </a:p>
          <a:p xmlns:a="http://schemas.openxmlformats.org/drawingml/2006/main">
            <a:r>
              <a:t>What to say:</a:t>
            </a:r>
          </a:p>
          <a:p xmlns:a="http://schemas.openxmlformats.org/drawingml/2006/main">
            <a:r>
              <a:t>“This slide shows three different views of the same national geography.</a:t>
            </a:r>
          </a:p>
          <a:p xmlns:a="http://schemas.openxmlformats.org/drawingml/2006/main">
            <a:r>
              <a:t>The first map shows observed historical recurrence: how many distinct years had burned-area evidence between 2016 and 2025 within the 2 km context around each 1 km cell. This 2016–2025 window is a separate descriptive screening period, not the model training period.</a:t>
            </a:r>
          </a:p>
          <a:p xmlns:a="http://schemas.openxmlformats.org/drawingml/2006/main">
            <a:r>
              <a:t>The second map is the official ICNF structural-hazard classification. It describes persistent landscape conditions rather than what burned in one particular year.</a:t>
            </a:r>
          </a:p>
          <a:p xmlns:a="http://schemas.openxmlformats.org/drawingml/2006/main">
            <a:r>
              <a:t>The third map is the project’s target-free 2026 comparative estimate. It uses T=2025 predictor inputs and does not use an observed 2026 outcome.</a:t>
            </a:r>
            <a:endParaRPr/>
          </a:p>
          <a:p xmlns:a="http://schemas.openxmlformats.org/drawingml/2006/main">
            <a:r>
              <a:rPr b="1"/>
              <a:t>These maps should not be added together into one score. They provide different evidence for comparing broad areas and deciding where additional research is worthwhile.”</a:t>
            </a:r>
          </a:p>
          <a:p xmlns:a="http://schemas.openxmlformats.org/drawingml/2006/main">
            <a:r>
              <a:t/>
            </a:r>
            <a:endParaRPr/>
          </a:p>
          <a:p xmlns:a="http://schemas.openxmlformats.org/drawingml/2006/main">
            <a:r>
              <a:t>Transition: “Because historical recurrence and official structural hazard measure different things, the next question is why it is useful to compare them.”</a:t>
            </a:r>
          </a:p>
          <a:p xmlns:a="http://schemas.openxmlformats.org/drawingml/2006/main">
            <a:r>
              <a:t/>
            </a:r>
          </a:p>
          <a:p xmlns:a="http://schemas.openxmlformats.org/drawingml/2006/main">
            <a:r>
              <a:t>[Sources]</a:t>
            </a:r>
          </a:p>
          <a:p xmlns:a="http://schemas.openxmlformats.org/drawingml/2006/main">
            <a:r>
              <a:t>reports/figures/historical_wildfire_exposure_screening_mainland_portugal.png; reports/validation/historical_exposure_screening_and_icnf_comparison.md; qgis/README.md; reports/validation/operational_forecast_2026_validation.md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Main message:</a:t>
            </a:r>
            <a:r>
              <a:t> Observed recurrence and official structural hazard are complementary, not competing, evidence layers.</a:t>
            </a:r>
          </a:p>
          <a:p xmlns:a="http://schemas.openxmlformats.org/drawingml/2006/main">
            <a:endParaRPr/>
          </a:p>
          <a:p xmlns:a="http://schemas.openxmlformats.org/drawingml/2006/main">
            <a:r>
              <a:rPr b="1"/>
              <a:t>What to say:</a:t>
            </a:r>
            <a:endParaRPr/>
          </a:p>
          <a:p xmlns:a="http://schemas.openxmlformats.org/drawingml/2006/main">
            <a:r>
              <a:t>“Historical recurrence answers: ‘What burned repeatedly in the observed 2016–2025 period?’ It is based on annual burned-area records.</a:t>
            </a:r>
          </a:p>
          <a:p xmlns:a="http://schemas.openxmlformats.org/drawingml/2006/main">
            <a:r>
              <a:t>Official ICNF structural hazard answers a different question: ‘What persistent landscape conditions are associated with wildfire hazard?’ Its source is an official 25 m classification, summarized here to the predominant class for each 1 km cell.</a:t>
            </a:r>
          </a:p>
          <a:p xmlns:a="http://schemas.openxmlformats.org/drawingml/2006/main">
            <a:r>
              <a:t>Where the layers agree, they provide consistent broad-area context. Where they differ, they identify areas where the historical record and structural landscape conditions tell a more nuanced story.</a:t>
            </a:r>
          </a:p>
          <a:p xmlns:a="http://schemas.openxmlformats.org/drawingml/2006/main">
            <a:r>
              <a:t>This comparison is descriptive. It is not a model-accuracy test, and neither layer is a threshold for deciding whether a particular property is acceptable.”</a:t>
            </a:r>
          </a:p>
          <a:p xmlns:a="http://schemas.openxmlformats.org/drawingml/2006/main">
            <a:endParaRPr/>
          </a:p>
          <a:p xmlns:a="http://schemas.openxmlformats.org/drawingml/2006/main">
            <a:r>
              <a:rPr b="1"/>
              <a:t>Transition:</a:t>
            </a:r>
            <a:r>
              <a:t> “Historical context is useful, but I also tested whether a data-driven model could improve next-year comparative estimates.”</a:t>
            </a:r>
          </a:p>
          <a:p xmlns:a="http://schemas.openxmlformats.org/drawingml/2006/main">
            <a:endParaRPr/>
          </a:p>
          <a:p xmlns:a="http://schemas.openxmlformats.org/drawingml/2006/main">
            <a:r>
              <a:t>[Sources]</a:t>
            </a:r>
            <a:br/>
            <a:r>
              <a:t>qgis/README.md; docs/data_dictionary.md; reports/figures/historical_exposure_by_icnf_structural_hazard_crosstab.png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Main message: The nine-feature two-stage regression improves average comparative error and burned-share ranking over historical recurrence alone, while extreme fire outcomes remain difficult.</a:t>
            </a:r>
          </a:p>
          <a:p xmlns:a="http://schemas.openxmlformats.org/drawingml/2006/main">
            <a:r>
              <a:t/>
            </a:r>
            <a:endParaRPr b="1"/>
          </a:p>
          <a:p xmlns:a="http://schemas.openxmlformats.org/drawingml/2006/main">
            <a:r>
              <a:rPr b="1"/>
              <a:t>What to say:</a:t>
            </a:r>
          </a:p>
          <a:p xmlns:a="http://schemas.openxmlformats.org/drawingml/2006/main">
            <a:r>
              <a:t>“This slide compares two approaches using the final temporal evaluation: predictor years T=2022–2024 and observed outcomes 2023–2025.</a:t>
            </a:r>
          </a:p>
          <a:p xmlns:a="http://schemas.openxmlformats.org/drawingml/2006/main">
            <a:r>
              <a:t>The historical-recurrence baseline is a transparent project benchmark. It groups training records by the number of previously burned years in the 2 km context and uses the training-period average next-year burned share for each group. It is an empirical project benchmark, not a library model.</a:t>
            </a:r>
          </a:p>
          <a:p xmlns:a="http://schemas.openxmlformats.org/drawingml/2006/main">
            <a:r>
              <a:t>The nine-feature model uses two HistGradientBoosting components. The first estimates whether burning occurs in a cell. The second estimates the positive burned share when burning occurs. Their outputs are combined into one continuous estimated burned share.</a:t>
            </a:r>
          </a:p>
          <a:p xmlns:a="http://schemas.openxmlformats.org/drawingml/2006/main">
            <a:r>
              <a:t>In the final temporal evaluation, the model lowers MAE from 0.0292 to 0.0209. RMSE is almost unchanged but slightly higher, from 0.1106 to 0.1110, showing that larger and more extreme outcomes remain difficult.”</a:t>
            </a:r>
            <a:endParaRPr/>
          </a:p>
          <a:p xmlns:a="http://schemas.openxmlformats.org/drawingml/2006/main">
            <a:r>
              <a:rPr b="1"/>
              <a:t/>
            </a:r>
          </a:p>
          <a:p xmlns:a="http://schemas.openxmlformats.org/drawingml/2006/main">
            <a:r>
              <a:t>Capture@20% checks the ranking retrospectively. For each pair—T=2022 → outcome 2023, T=2023 → outcome 2024, and T=2024 → outcome 2025—the model ranks cells using T-only predictors. We then measure how much of the observed burned-share mass occurred within the highest-scored 20% of cells.</a:t>
            </a:r>
          </a:p>
          <a:p xmlns:a="http://schemas.openxmlformats.org/drawingml/2006/main">
            <a:r>
              <a:t>Across this final evaluation, the historical baseline captured 40.2% of observed burned-share mass in its top-ranked 20%; the nine-feature model captured 57.2%. This does not mean that 20% of the land burned. It is a ranking diagnostic, not a buyer threshold or a property-level forecast.</a:t>
            </a:r>
          </a:p>
          <a:p xmlns:a="http://schemas.openxmlformats.org/drawingml/2006/main">
            <a:r>
              <a:t/>
            </a:r>
          </a:p>
          <a:p xmlns:a="http://schemas.openxmlformats.org/drawingml/2006/main">
            <a:r>
              <a:t>Transition: “The practical question is how this comparative estimate can help organise broad-area research.”</a:t>
            </a:r>
            <a:endParaRPr/>
          </a:p>
          <a:p xmlns:a="http://schemas.openxmlformats.org/drawingml/2006/main">
            <a:r>
              <a:rPr b="1"/>
              <a:t/>
            </a:r>
          </a:p>
          <a:p xmlns:a="http://schemas.openxmlformats.org/drawingml/2006/main">
            <a:r>
              <a:t>[Sources]</a:t>
            </a:r>
            <a:endParaRPr b="1"/>
          </a:p>
          <a:p xmlns:a="http://schemas.openxmlformats.org/drawingml/2006/main">
            <a:r>
              <a:rPr b="1"/>
              <a:t>reports/validation/model_final_decision.md; reports/validation/final_temporal_test_2022_2024.md; reports/figures/model_final_test_metric_comparison.png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Main message:</a:t>
            </a:r>
            <a:r>
              <a:t> The output supports shortlisting broad areas, not choosing a property.</a:t>
            </a:r>
          </a:p>
          <a:p xmlns:a="http://schemas.openxmlformats.org/drawingml/2006/main">
            <a:endParaRPr/>
          </a:p>
          <a:p xmlns:a="http://schemas.openxmlformats.org/drawingml/2006/main">
            <a:r>
              <a:rPr b="1"/>
              <a:t>What to say:</a:t>
            </a:r>
            <a:endParaRPr/>
          </a:p>
          <a:p xmlns:a="http://schemas.openxmlformats.org/drawingml/2006/main">
            <a:r>
              <a:t>“Imagine a buyer considering multiple regions across mainland Portugal.</a:t>
            </a:r>
          </a:p>
          <a:p xmlns:a="http://schemas.openxmlformats.org/drawingml/2006/main">
            <a:r>
              <a:t>They begin with the 2026 comparative estimate to compare broad 1 km areas using 2025 predictor inputs. They then look alongside it at observed historical recurrence and the official ICNF structural-hazard layer.</a:t>
            </a:r>
          </a:p>
          <a:p xmlns:a="http://schemas.openxmlformats.org/drawingml/2006/main">
            <a:r>
              <a:t>The result is not a chosen property. It is a smaller, more structured set of broad areas for further research, site visits, and local checks.”</a:t>
            </a:r>
          </a:p>
          <a:p xmlns:a="http://schemas.openxmlformats.org/drawingml/2006/main">
            <a:endParaRPr/>
          </a:p>
          <a:p xmlns:a="http://schemas.openxmlformats.org/drawingml/2006/main">
            <a:r>
              <a:rPr b="1"/>
              <a:t>Transition:</a:t>
            </a:r>
            <a:r>
              <a:t> “The next slide explains the two safeguards that keep this use case responsible.”</a:t>
            </a:r>
          </a:p>
          <a:p xmlns:a="http://schemas.openxmlformats.org/drawingml/2006/main">
            <a:endParaRPr/>
          </a:p>
          <a:p xmlns:a="http://schemas.openxmlformats.org/drawingml/2006/main">
            <a:r>
              <a:t>[Sources]</a:t>
            </a:r>
          </a:p>
          <a:p xmlns:a="http://schemas.openxmlformats.org/drawingml/2006/main">
            <a:r>
              <a:t>qgis/wildfire_exposure_screening_portugal_2026.qgz; qgis/README.md; reports/validation/operational_forecast_2026_validation.md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Main message:</a:t>
            </a:r>
            <a:r>
              <a:t> Compare layers first; then replace broad evidence with local evidence.</a:t>
            </a:r>
          </a:p>
          <a:p xmlns:a="http://schemas.openxmlformats.org/drawingml/2006/main">
            <a:endParaRPr/>
          </a:p>
          <a:p xmlns:a="http://schemas.openxmlformats.org/drawingml/2006/main">
            <a:r>
              <a:rPr b="1"/>
              <a:t>What to say:</a:t>
            </a:r>
            <a:endParaRPr/>
          </a:p>
          <a:p xmlns:a="http://schemas.openxmlformats.org/drawingml/2006/main">
            <a:r>
              <a:t>“The first recommendation is to compare the three layers separately: the 2026 comparative estimate, observed historical recurrence, and official ICNF structural hazard. They answer different questions, so they should not be merged into a single score.</a:t>
            </a:r>
          </a:p>
          <a:p xmlns:a="http://schemas.openxmlformats.org/drawingml/2006/main">
            <a:r>
              <a:t>The second recommendation is local verification. Once an area is shortlisted, the decision should use planning restrictions, access and evacuation conditions, insurance, vegetation management, terrain, infrastructure, and property-specific information.</a:t>
            </a:r>
          </a:p>
          <a:p xmlns:a="http://schemas.openxmlformats.org/drawingml/2006/main">
            <a:r>
              <a:t>The model helps direct research effort. It does not replace local investigation or certify a location.”</a:t>
            </a:r>
          </a:p>
          <a:p xmlns:a="http://schemas.openxmlformats.org/drawingml/2006/main">
            <a:endParaRPr/>
          </a:p>
          <a:p xmlns:a="http://schemas.openxmlformats.org/drawingml/2006/main">
            <a:r>
              <a:rPr b="1"/>
              <a:t>Transition:</a:t>
            </a:r>
            <a:r>
              <a:t> “Finally, the value of the project is not only one 2026 map -it is a repeatable annual workflow.”</a:t>
            </a:r>
          </a:p>
          <a:p xmlns:a="http://schemas.openxmlformats.org/drawingml/2006/main">
            <a:endParaRPr/>
          </a:p>
          <a:p xmlns:a="http://schemas.openxmlformats.org/drawingml/2006/main">
            <a:r>
              <a:t>[Sources]</a:t>
            </a:r>
          </a:p>
          <a:p xmlns:a="http://schemas.openxmlformats.org/drawingml/2006/main">
            <a:r>
              <a:t>qgis/README.md; docs/data_dictionary.md; reports/validation/historical_exposure_screening_and_icnf_comparison.md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Main message:</a:t>
            </a:r>
            <a:r>
              <a:t> The project is successful as a reproducible comparative screening workflow with explicit limitations and an annual refresh path.</a:t>
            </a:r>
          </a:p>
          <a:p xmlns:a="http://schemas.openxmlformats.org/drawingml/2006/main">
            <a:endParaRPr/>
          </a:p>
          <a:p xmlns:a="http://schemas.openxmlformats.org/drawingml/2006/main">
            <a:r>
              <a:rPr b="1"/>
              <a:t>What to say:</a:t>
            </a:r>
            <a:endParaRPr/>
          </a:p>
          <a:p xmlns:a="http://schemas.openxmlformats.org/drawingml/2006/main">
            <a:r>
              <a:t>“This project delivered a reproducible national workflow: validated source data, a consistent 1 km grid, GIS outputs, historical evidence layers, and a tested nine-feature machine-learning model.</a:t>
            </a:r>
          </a:p>
          <a:p xmlns:a="http://schemas.openxmlformats.org/drawingml/2006/main">
            <a:r>
              <a:t>The model provides a modest improvement over historical recurrence alone for selected comparative diagnostics. At the same time, the evaluation shows that extreme fire outcomes remain difficult, so the output must remain a cautious broad-area estimate.</a:t>
            </a:r>
          </a:p>
          <a:p xmlns:a="http://schemas.openxmlformats.org/drawingml/2006/main">
            <a:r>
              <a:t>The practical result is a more focused location search. The annual next step is straightforward: when completed-year source data and the observed outcome for the prior estimate become available, rerun the fixed workflow, evaluate that estimate, and produce the next annual comparative layer.</a:t>
            </a:r>
          </a:p>
          <a:p xmlns:a="http://schemas.openxmlformats.org/drawingml/2006/main">
            <a:r>
              <a:t>The project therefore provides a repeatable evidence process—not a final property decision.”</a:t>
            </a:r>
          </a:p>
          <a:p xmlns:a="http://schemas.openxmlformats.org/drawingml/2006/main">
            <a:endParaRPr/>
          </a:p>
          <a:p xmlns:a="http://schemas.openxmlformats.org/drawingml/2006/main">
            <a:r>
              <a:t>[Sources]</a:t>
            </a:r>
          </a:p>
          <a:p xmlns:a="http://schemas.openxmlformats.org/drawingml/2006/main">
            <a:r>
              <a:t>README.md; reports/validation/model_final_decision.md; reports/validation/operational_forecast_readiness.md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aee6cf708304b19"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2b196decc84982" /><Relationship Type="http://schemas.openxmlformats.org/officeDocument/2006/relationships/slideLayout" Target="/ppt/slideLayouts/slideLayout1.xml" Id="R2e44dcc9c4524121"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e44dcc9c4524121"/>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a38310fd23b4154" /><Relationship Type="http://schemas.openxmlformats.org/officeDocument/2006/relationships/notesSlide" Target="/ppt/notesSlides/notesSlide1.xml" Id="Rddb7f9dc45da4d5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e8ee4da59484eb6" /><Relationship Type="http://schemas.openxmlformats.org/officeDocument/2006/relationships/notesSlide" Target="/ppt/notesSlides/notesSlide2.xml" Id="Rd9d2c9f0bb884d4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6e7a65fb0c24426" /><Relationship Type="http://schemas.openxmlformats.org/officeDocument/2006/relationships/notesSlide" Target="/ppt/notesSlides/notesSlide3.xml" Id="Rfcebd7cf7d37479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3c64c7661a04981" /><Relationship Type="http://schemas.openxmlformats.org/officeDocument/2006/relationships/image" Target="/ppt/media/image.png" Id="R267747eb6fa64a2b" /><Relationship Type="http://schemas.openxmlformats.org/officeDocument/2006/relationships/notesSlide" Target="/ppt/notesSlides/notesSlide4.xml" Id="R5d345472025344c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1856e40c4c64023" /><Relationship Type="http://schemas.openxmlformats.org/officeDocument/2006/relationships/notesSlide" Target="/ppt/notesSlides/notesSlide5.xml" Id="Rb02c63013826439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a52f66b8b3549a3" /><Relationship Type="http://schemas.openxmlformats.org/officeDocument/2006/relationships/notesSlide" Target="/ppt/notesSlides/notesSlide6.xml" Id="Rdb428e4cf939448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c5d0ff04e6543e6" /><Relationship Type="http://schemas.openxmlformats.org/officeDocument/2006/relationships/notesSlide" Target="/ppt/notesSlides/notesSlide7.xml" Id="Rea3452515c74458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6f764b380274c6f" /><Relationship Type="http://schemas.openxmlformats.org/officeDocument/2006/relationships/notesSlide" Target="/ppt/notesSlides/notesSlide8.xml" Id="Re30761d12709410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b2093d2867a4d41" /><Relationship Type="http://schemas.openxmlformats.org/officeDocument/2006/relationships/notesSlide" Target="/ppt/notesSlides/notesSlide9.xml" Id="R90c53810c1714890"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C7271A54-A21F-461B-81FE-9352EC032EC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D1F2D"/>
          </a:solidFill>
          <a:ln xmlns:a="http://schemas.openxmlformats.org/drawingml/2006/main" w="12700">
            <a:solidFill>
              <a:srgbClr val="0D1F2D"/>
            </a:solidFill>
            <a:prstDash val="solid"/>
          </a:ln>
        </p:spPr>
      </p:sp>
      <p:sp>
        <p:nvSpPr>
          <p:cNvPr id="3" name="Shape 1">
            <a:extLst xmlns:a="http://schemas.openxmlformats.org/drawingml/2006/main">
              <a:ext uri="{FF2B5EF4-FFF2-40B4-BE49-F238E27FC236}">
                <a16:creationId xmlns:a16="http://schemas.microsoft.com/office/drawing/2014/main" id="{DDACC1B4-1154-4329-A73F-48B1DC582792}"/>
              </a:ext>
            </a:extLst>
          </p:cNvPr>
          <p:cNvSpPr>
            <a:spLocks xmlns:a="http://schemas.openxmlformats.org/drawingml/2006/main" noGrp="1"/>
          </p:cNvSpPr>
          <p:nvPr/>
        </p:nvSpPr>
        <p:spPr>
          <a:xfrm xmlns:a="http://schemas.openxmlformats.org/drawingml/2006/main">
            <a:off x="0" y="0"/>
            <a:ext cx="228600" cy="5143500"/>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 name="Shape 2">
            <a:extLst xmlns:a="http://schemas.openxmlformats.org/drawingml/2006/main">
              <a:ext uri="{FF2B5EF4-FFF2-40B4-BE49-F238E27FC236}">
                <a16:creationId xmlns:a16="http://schemas.microsoft.com/office/drawing/2014/main" id="{321EBCE3-53B5-467C-8E29-72B844CA383B}"/>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5" name="Shape 3">
            <a:extLst xmlns:a="http://schemas.openxmlformats.org/drawingml/2006/main">
              <a:ext uri="{FF2B5EF4-FFF2-40B4-BE49-F238E27FC236}">
                <a16:creationId xmlns:a16="http://schemas.microsoft.com/office/drawing/2014/main" id="{9017F92D-E245-4025-90D8-8EDF916CA9EF}"/>
              </a:ext>
            </a:extLst>
          </p:cNvPr>
          <p:cNvSpPr>
            <a:spLocks xmlns:a="http://schemas.openxmlformats.org/drawingml/2006/main" noGrp="1"/>
          </p:cNvSpPr>
          <p:nvPr/>
        </p:nvSpPr>
        <p:spPr>
          <a:xfrm xmlns:a="http://schemas.openxmlformats.org/drawingml/2006/main">
            <a:off x="320040" y="137160"/>
            <a:ext cx="1417320" cy="29260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6" name="Text 4">
            <a:extLst xmlns:a="http://schemas.openxmlformats.org/drawingml/2006/main">
              <a:ext uri="{FF2B5EF4-FFF2-40B4-BE49-F238E27FC236}">
                <a16:creationId xmlns:a16="http://schemas.microsoft.com/office/drawing/2014/main" id="{50F063B7-97FC-4057-91C5-01147213D4BB}"/>
              </a:ext>
            </a:extLst>
          </p:cNvPr>
          <p:cNvSpPr>
            <a:spLocks xmlns:a="http://schemas.openxmlformats.org/drawingml/2006/main" noGrp="1"/>
          </p:cNvSpPr>
          <p:nvPr/>
        </p:nvSpPr>
        <p:spPr>
          <a:xfrm xmlns:a="http://schemas.openxmlformats.org/drawingml/2006/main">
            <a:off x="320040" y="137160"/>
            <a:ext cx="14173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50">
                <a:solidFill>
                  <a:srgbClr val="E1E8EF"/>
                </a:solidFill>
              </a:rPr>
              <a:t>DATA SCIENCE · ML · GIS</a:t>
            </a:r>
            <a:endParaRPr sz="750"/>
          </a:p>
        </p:txBody>
      </p:sp>
      <p:sp>
        <p:nvSpPr>
          <p:cNvPr id="7" name="Shape 5">
            <a:extLst xmlns:a="http://schemas.openxmlformats.org/drawingml/2006/main">
              <a:ext uri="{FF2B5EF4-FFF2-40B4-BE49-F238E27FC236}">
                <a16:creationId xmlns:a16="http://schemas.microsoft.com/office/drawing/2014/main" id="{70C36328-C5D1-4010-B8F0-E622D0A879DF}"/>
              </a:ext>
            </a:extLst>
          </p:cNvPr>
          <p:cNvSpPr>
            <a:spLocks xmlns:a="http://schemas.openxmlformats.org/drawingml/2006/main" noGrp="1"/>
          </p:cNvSpPr>
          <p:nvPr/>
        </p:nvSpPr>
        <p:spPr>
          <a:xfrm xmlns:a="http://schemas.openxmlformats.org/drawingml/2006/main">
            <a:off x="7498080" y="137160"/>
            <a:ext cx="1417320" cy="2926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8" name="Text 6">
            <a:extLst xmlns:a="http://schemas.openxmlformats.org/drawingml/2006/main">
              <a:ext uri="{FF2B5EF4-FFF2-40B4-BE49-F238E27FC236}">
                <a16:creationId xmlns:a16="http://schemas.microsoft.com/office/drawing/2014/main" id="{65A06437-0A3C-43F1-8C4D-8B11B9E4BD63}"/>
              </a:ext>
            </a:extLst>
          </p:cNvPr>
          <p:cNvSpPr>
            <a:spLocks xmlns:a="http://schemas.openxmlformats.org/drawingml/2006/main" noGrp="1"/>
          </p:cNvSpPr>
          <p:nvPr/>
        </p:nvSpPr>
        <p:spPr>
          <a:xfrm xmlns:a="http://schemas.openxmlformats.org/drawingml/2006/main">
            <a:off x="7498080" y="137160"/>
            <a:ext cx="14173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50" b="1">
                <a:solidFill>
                  <a:srgbClr val="0D1F2D"/>
                </a:solidFill>
              </a:rPr>
              <a:t>2026</a:t>
            </a:r>
            <a:endParaRPr sz="750"/>
          </a:p>
        </p:txBody>
      </p:sp>
      <p:sp>
        <p:nvSpPr>
          <p:cNvPr id="9" name="Text 7">
            <a:extLst xmlns:a="http://schemas.openxmlformats.org/drawingml/2006/main">
              <a:ext uri="{FF2B5EF4-FFF2-40B4-BE49-F238E27FC236}">
                <a16:creationId xmlns:a16="http://schemas.microsoft.com/office/drawing/2014/main" id="{9BC5597E-259F-4375-AD7E-442DC35DA9BA}"/>
              </a:ext>
            </a:extLst>
          </p:cNvPr>
          <p:cNvSpPr>
            <a:spLocks xmlns:a="http://schemas.openxmlformats.org/drawingml/2006/main" noGrp="1"/>
          </p:cNvSpPr>
          <p:nvPr/>
        </p:nvSpPr>
        <p:spPr>
          <a:xfrm xmlns:a="http://schemas.openxmlformats.org/drawingml/2006/main">
            <a:off x="365760" y="566928"/>
            <a:ext cx="5486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E8A020"/>
                </a:solidFill>
              </a:rPr>
              <a:t>WILDFIRE EXPOSURE SCREENING</a:t>
            </a:r>
            <a:endParaRPr sz="1000"/>
          </a:p>
        </p:txBody>
      </p:sp>
      <p:sp>
        <p:nvSpPr>
          <p:cNvPr id="10" name="Text 8">
            <a:extLst xmlns:a="http://schemas.openxmlformats.org/drawingml/2006/main">
              <a:ext uri="{FF2B5EF4-FFF2-40B4-BE49-F238E27FC236}">
                <a16:creationId xmlns:a16="http://schemas.microsoft.com/office/drawing/2014/main" id="{104374D4-53B8-40B4-AD27-574FDD973E4D}"/>
              </a:ext>
            </a:extLst>
          </p:cNvPr>
          <p:cNvSpPr>
            <a:spLocks xmlns:a="http://schemas.openxmlformats.org/drawingml/2006/main" noGrp="1"/>
          </p:cNvSpPr>
          <p:nvPr/>
        </p:nvSpPr>
        <p:spPr>
          <a:xfrm xmlns:a="http://schemas.openxmlformats.org/drawingml/2006/main">
            <a:off x="365760" y="914400"/>
            <a:ext cx="5577840"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5200" b="1">
                <a:solidFill>
                  <a:srgbClr val="FFFFFF"/>
                </a:solidFill>
              </a:rPr>
              <a:t>Wildfire Exposure</a:t>
            </a:r>
            <a:endParaRPr sz="5200"/>
          </a:p>
          <a:p xmlns:a="http://schemas.openxmlformats.org/drawingml/2006/main">
            <a:pPr marL="0" indent="0">
              <a:buNone/>
            </a:pPr>
            <a:r>
              <a:rPr sz="5200" b="1">
                <a:solidFill>
                  <a:srgbClr val="FFFFFF"/>
                </a:solidFill>
              </a:rPr>
              <a:t>Location Screening</a:t>
            </a:r>
            <a:endParaRPr sz="5200"/>
          </a:p>
        </p:txBody>
      </p:sp>
      <p:sp>
        <p:nvSpPr>
          <p:cNvPr id="11" name="Text 9">
            <a:extLst xmlns:a="http://schemas.openxmlformats.org/drawingml/2006/main">
              <a:ext uri="{FF2B5EF4-FFF2-40B4-BE49-F238E27FC236}">
                <a16:creationId xmlns:a16="http://schemas.microsoft.com/office/drawing/2014/main" id="{20E7387F-C7E0-45B4-95FC-3980C4673C6B}"/>
              </a:ext>
            </a:extLst>
          </p:cNvPr>
          <p:cNvSpPr>
            <a:spLocks xmlns:a="http://schemas.openxmlformats.org/drawingml/2006/main" noGrp="1"/>
          </p:cNvSpPr>
          <p:nvPr/>
        </p:nvSpPr>
        <p:spPr>
          <a:xfrm xmlns:a="http://schemas.openxmlformats.org/drawingml/2006/main">
            <a:off x="365760" y="2834640"/>
            <a:ext cx="55778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i="1">
                <a:solidFill>
                  <a:srgbClr val="A8C4D8"/>
                </a:solidFill>
              </a:rPr>
              <a:t>A reproducible GIS and machine-learning workflow for broad-area location research.</a:t>
            </a:r>
            <a:endParaRPr sz="1300"/>
          </a:p>
        </p:txBody>
      </p:sp>
      <p:sp>
        <p:nvSpPr>
          <p:cNvPr id="12" name="Shape 10">
            <a:extLst xmlns:a="http://schemas.openxmlformats.org/drawingml/2006/main">
              <a:ext uri="{FF2B5EF4-FFF2-40B4-BE49-F238E27FC236}">
                <a16:creationId xmlns:a16="http://schemas.microsoft.com/office/drawing/2014/main" id="{84D7FAF1-5834-4AFE-87A0-3EB7DF4F1C96}"/>
              </a:ext>
            </a:extLst>
          </p:cNvPr>
          <p:cNvSpPr>
            <a:spLocks xmlns:a="http://schemas.openxmlformats.org/drawingml/2006/main" noGrp="1"/>
          </p:cNvSpPr>
          <p:nvPr/>
        </p:nvSpPr>
        <p:spPr>
          <a:xfrm xmlns:a="http://schemas.openxmlformats.org/drawingml/2006/main">
            <a:off x="365760" y="3310128"/>
            <a:ext cx="5303520" cy="22860"/>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13" name="Text 11">
            <a:extLst xmlns:a="http://schemas.openxmlformats.org/drawingml/2006/main">
              <a:ext uri="{FF2B5EF4-FFF2-40B4-BE49-F238E27FC236}">
                <a16:creationId xmlns:a16="http://schemas.microsoft.com/office/drawing/2014/main" id="{55AB15B4-F408-4652-B072-3916646D6B7A}"/>
              </a:ext>
            </a:extLst>
          </p:cNvPr>
          <p:cNvSpPr>
            <a:spLocks xmlns:a="http://schemas.openxmlformats.org/drawingml/2006/main" noGrp="1"/>
          </p:cNvSpPr>
          <p:nvPr/>
        </p:nvSpPr>
        <p:spPr>
          <a:xfrm xmlns:a="http://schemas.openxmlformats.org/drawingml/2006/main">
            <a:off x="365760" y="3383280"/>
            <a:ext cx="53035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E1E8EF"/>
                </a:solidFill>
              </a:rPr>
              <a:t>Serhii Diadechko</a:t>
            </a:r>
            <a:endParaRPr sz="1100"/>
          </a:p>
        </p:txBody>
      </p:sp>
      <p:sp>
        <p:nvSpPr>
          <p:cNvPr id="14" name="Shape 12">
            <a:extLst xmlns:a="http://schemas.openxmlformats.org/drawingml/2006/main">
              <a:ext uri="{FF2B5EF4-FFF2-40B4-BE49-F238E27FC236}">
                <a16:creationId xmlns:a16="http://schemas.microsoft.com/office/drawing/2014/main" id="{9BEE0D39-8F48-47D0-AC97-A5C1383B7E0E}"/>
              </a:ext>
            </a:extLst>
          </p:cNvPr>
          <p:cNvSpPr>
            <a:spLocks xmlns:a="http://schemas.openxmlformats.org/drawingml/2006/main" noGrp="1"/>
          </p:cNvSpPr>
          <p:nvPr/>
        </p:nvSpPr>
        <p:spPr>
          <a:xfrm xmlns:a="http://schemas.openxmlformats.org/drawingml/2006/main">
            <a:off x="6080760" y="777240"/>
            <a:ext cx="2834640" cy="3931920"/>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15" name="Text 13">
            <a:extLst xmlns:a="http://schemas.openxmlformats.org/drawingml/2006/main">
              <a:ext uri="{FF2B5EF4-FFF2-40B4-BE49-F238E27FC236}">
                <a16:creationId xmlns:a16="http://schemas.microsoft.com/office/drawing/2014/main" id="{B9DF6536-1C4E-4314-9CB6-ABE7AFD6C0A3}"/>
              </a:ext>
            </a:extLst>
          </p:cNvPr>
          <p:cNvSpPr>
            <a:spLocks xmlns:a="http://schemas.openxmlformats.org/drawingml/2006/main" noGrp="1"/>
          </p:cNvSpPr>
          <p:nvPr/>
        </p:nvSpPr>
        <p:spPr>
          <a:xfrm xmlns:a="http://schemas.openxmlformats.org/drawingml/2006/main">
            <a:off x="6080760" y="822960"/>
            <a:ext cx="28346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E8A020"/>
                </a:solidFill>
              </a:rPr>
              <a:t>Purpose</a:t>
            </a:r>
            <a:endParaRPr sz="900"/>
          </a:p>
        </p:txBody>
      </p:sp>
      <p:sp>
        <p:nvSpPr>
          <p:cNvPr id="16" name="Shape 14">
            <a:extLst xmlns:a="http://schemas.openxmlformats.org/drawingml/2006/main">
              <a:ext uri="{FF2B5EF4-FFF2-40B4-BE49-F238E27FC236}">
                <a16:creationId xmlns:a16="http://schemas.microsoft.com/office/drawing/2014/main" id="{5B21C9E4-9D51-47F8-A634-86927AA3DBCF}"/>
              </a:ext>
            </a:extLst>
          </p:cNvPr>
          <p:cNvSpPr>
            <a:spLocks xmlns:a="http://schemas.openxmlformats.org/drawingml/2006/main" noGrp="1"/>
          </p:cNvSpPr>
          <p:nvPr/>
        </p:nvSpPr>
        <p:spPr>
          <a:xfrm xmlns:a="http://schemas.openxmlformats.org/drawingml/2006/main">
            <a:off x="6217920" y="1170432"/>
            <a:ext cx="2560320" cy="22860"/>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17" name="Text 15">
            <a:extLst xmlns:a="http://schemas.openxmlformats.org/drawingml/2006/main">
              <a:ext uri="{FF2B5EF4-FFF2-40B4-BE49-F238E27FC236}">
                <a16:creationId xmlns:a16="http://schemas.microsoft.com/office/drawing/2014/main" id="{F36FA1E7-8AA0-4F97-BCC4-F9EF38BF02CA}"/>
              </a:ext>
            </a:extLst>
          </p:cNvPr>
          <p:cNvSpPr>
            <a:spLocks xmlns:a="http://schemas.openxmlformats.org/drawingml/2006/main" noGrp="1"/>
          </p:cNvSpPr>
          <p:nvPr/>
        </p:nvSpPr>
        <p:spPr>
          <a:xfrm xmlns:a="http://schemas.openxmlformats.org/drawingml/2006/main">
            <a:off x="6217920" y="1261872"/>
            <a:ext cx="256032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8A020"/>
                </a:solidFill>
              </a:rPr>
              <a:t>Observed history</a:t>
            </a:r>
            <a:endParaRPr sz="1050"/>
          </a:p>
        </p:txBody>
      </p:sp>
      <p:sp>
        <p:nvSpPr>
          <p:cNvPr id="18" name="Text 16">
            <a:extLst xmlns:a="http://schemas.openxmlformats.org/drawingml/2006/main">
              <a:ext uri="{FF2B5EF4-FFF2-40B4-BE49-F238E27FC236}">
                <a16:creationId xmlns:a16="http://schemas.microsoft.com/office/drawing/2014/main" id="{E78B0B14-0C2A-4376-A31F-8BD2A8320B1B}"/>
              </a:ext>
            </a:extLst>
          </p:cNvPr>
          <p:cNvSpPr>
            <a:spLocks xmlns:a="http://schemas.openxmlformats.org/drawingml/2006/main" noGrp="1"/>
          </p:cNvSpPr>
          <p:nvPr/>
        </p:nvSpPr>
        <p:spPr>
          <a:xfrm xmlns:a="http://schemas.openxmlformats.org/drawingml/2006/main">
            <a:off x="6217920" y="1792224"/>
            <a:ext cx="256032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8A020"/>
                </a:solidFill>
              </a:rPr>
              <a:t>Landscape, terrain and climate</a:t>
            </a:r>
            <a:endParaRPr sz="1050"/>
          </a:p>
        </p:txBody>
      </p:sp>
      <p:sp>
        <p:nvSpPr>
          <p:cNvPr id="19" name="Text 17">
            <a:extLst xmlns:a="http://schemas.openxmlformats.org/drawingml/2006/main">
              <a:ext uri="{FF2B5EF4-FFF2-40B4-BE49-F238E27FC236}">
                <a16:creationId xmlns:a16="http://schemas.microsoft.com/office/drawing/2014/main" id="{AE7E2DF4-82FF-4297-BC2B-22C484A80CC8}"/>
              </a:ext>
            </a:extLst>
          </p:cNvPr>
          <p:cNvSpPr>
            <a:spLocks xmlns:a="http://schemas.openxmlformats.org/drawingml/2006/main" noGrp="1"/>
          </p:cNvSpPr>
          <p:nvPr/>
        </p:nvSpPr>
        <p:spPr>
          <a:xfrm xmlns:a="http://schemas.openxmlformats.org/drawingml/2006/main">
            <a:off x="6217920" y="2322576"/>
            <a:ext cx="256032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8A020"/>
                </a:solidFill>
              </a:rPr>
              <a:t>Comparative 2026 estimate</a:t>
            </a:r>
            <a:endParaRPr sz="1050"/>
          </a:p>
        </p:txBody>
      </p:sp>
      <p:sp>
        <p:nvSpPr>
          <p:cNvPr id="20" name="Text 18">
            <a:extLst xmlns:a="http://schemas.openxmlformats.org/drawingml/2006/main">
              <a:ext uri="{FF2B5EF4-FFF2-40B4-BE49-F238E27FC236}">
                <a16:creationId xmlns:a16="http://schemas.microsoft.com/office/drawing/2014/main" id="{DD6F7EF9-033D-4506-9EBE-BFE18477DBE8}"/>
              </a:ext>
            </a:extLst>
          </p:cNvPr>
          <p:cNvSpPr>
            <a:spLocks xmlns:a="http://schemas.openxmlformats.org/drawingml/2006/main" noGrp="1"/>
          </p:cNvSpPr>
          <p:nvPr/>
        </p:nvSpPr>
        <p:spPr>
          <a:xfrm xmlns:a="http://schemas.openxmlformats.org/drawingml/2006/main">
            <a:off x="6217920" y="2852928"/>
            <a:ext cx="256032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8A020"/>
                </a:solidFill>
              </a:rPr>
              <a:t>Narrow broad search areas</a:t>
            </a:r>
            <a:endParaRPr sz="1050"/>
          </a:p>
        </p:txBody>
      </p:sp>
      <p:sp>
        <p:nvSpPr>
          <p:cNvPr id="21" name="Text 19">
            <a:extLst xmlns:a="http://schemas.openxmlformats.org/drawingml/2006/main">
              <a:ext uri="{FF2B5EF4-FFF2-40B4-BE49-F238E27FC236}">
                <a16:creationId xmlns:a16="http://schemas.microsoft.com/office/drawing/2014/main" id="{A8932156-3970-4237-A76D-30F8D26A7793}"/>
              </a:ext>
            </a:extLst>
          </p:cNvPr>
          <p:cNvSpPr>
            <a:spLocks xmlns:a="http://schemas.openxmlformats.org/drawingml/2006/main" noGrp="1"/>
          </p:cNvSpPr>
          <p:nvPr/>
        </p:nvSpPr>
        <p:spPr>
          <a:xfrm xmlns:a="http://schemas.openxmlformats.org/drawingml/2006/main">
            <a:off x="6217920" y="3383280"/>
            <a:ext cx="256032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8A020"/>
                </a:solidFill>
              </a:rPr>
              <a:t>Then continue with local evidence</a:t>
            </a:r>
            <a:endParaRPr sz="1050"/>
          </a:p>
        </p:txBody>
      </p:sp>
      <p:sp>
        <p:nvSpPr>
          <p:cNvPr id="22" name="Shape 20">
            <a:extLst xmlns:a="http://schemas.openxmlformats.org/drawingml/2006/main">
              <a:ext uri="{FF2B5EF4-FFF2-40B4-BE49-F238E27FC236}">
                <a16:creationId xmlns:a16="http://schemas.microsoft.com/office/drawing/2014/main" id="{60B28163-A49C-4C75-B149-473B24134259}"/>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23" name="Text 21">
            <a:extLst xmlns:a="http://schemas.openxmlformats.org/drawingml/2006/main">
              <a:ext uri="{FF2B5EF4-FFF2-40B4-BE49-F238E27FC236}">
                <a16:creationId xmlns:a16="http://schemas.microsoft.com/office/drawing/2014/main" id="{D759CE5D-7A30-48C4-B49F-00835A05CFBA}"/>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91596387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A86A1C8-DB06-4DCE-9DAF-693B7C77942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3F6F9"/>
          </a:solidFill>
          <a:ln xmlns:a="http://schemas.openxmlformats.org/drawingml/2006/main" w="12700">
            <a:solidFill>
              <a:srgbClr val="F3F6F9"/>
            </a:solidFill>
            <a:prstDash val="solid"/>
          </a:ln>
        </p:spPr>
      </p:sp>
      <p:sp>
        <p:nvSpPr>
          <p:cNvPr id="3" name="Shape 1">
            <a:extLst xmlns:a="http://schemas.openxmlformats.org/drawingml/2006/main">
              <a:ext uri="{FF2B5EF4-FFF2-40B4-BE49-F238E27FC236}">
                <a16:creationId xmlns:a16="http://schemas.microsoft.com/office/drawing/2014/main" id="{D197F66D-6C57-4707-8514-4D78C9DEF865}"/>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 name="Shape 2">
            <a:extLst xmlns:a="http://schemas.openxmlformats.org/drawingml/2006/main">
              <a:ext uri="{FF2B5EF4-FFF2-40B4-BE49-F238E27FC236}">
                <a16:creationId xmlns:a16="http://schemas.microsoft.com/office/drawing/2014/main" id="{BCC99481-8AFC-45E5-8E41-5D92798EEDD0}"/>
              </a:ext>
            </a:extLst>
          </p:cNvPr>
          <p:cNvSpPr>
            <a:spLocks xmlns:a="http://schemas.openxmlformats.org/drawingml/2006/main" noGrp="1"/>
          </p:cNvSpPr>
          <p:nvPr/>
        </p:nvSpPr>
        <p:spPr>
          <a:xfrm xmlns:a="http://schemas.openxmlformats.org/drawingml/2006/main">
            <a:off x="0" y="64008"/>
            <a:ext cx="9144000" cy="65836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5" name="Text 3">
            <a:extLst xmlns:a="http://schemas.openxmlformats.org/drawingml/2006/main">
              <a:ext uri="{FF2B5EF4-FFF2-40B4-BE49-F238E27FC236}">
                <a16:creationId xmlns:a16="http://schemas.microsoft.com/office/drawing/2014/main" id="{6BEB6717-FD6D-4B81-81A9-77D30FCEDB7F}"/>
              </a:ext>
            </a:extLst>
          </p:cNvPr>
          <p:cNvSpPr>
            <a:spLocks xmlns:a="http://schemas.openxmlformats.org/drawingml/2006/main" noGrp="1"/>
          </p:cNvSpPr>
          <p:nvPr/>
        </p:nvSpPr>
        <p:spPr>
          <a:xfrm xmlns:a="http://schemas.openxmlformats.org/drawingml/2006/main">
            <a:off x="274320" y="64008"/>
            <a:ext cx="7315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E8A020"/>
                </a:solidFill>
              </a:rPr>
              <a:t>DATASET OVERVIEW</a:t>
            </a:r>
            <a:endParaRPr sz="1100"/>
          </a:p>
        </p:txBody>
      </p:sp>
      <p:sp>
        <p:nvSpPr>
          <p:cNvPr id="6" name="Text 4">
            <a:extLst xmlns:a="http://schemas.openxmlformats.org/drawingml/2006/main">
              <a:ext uri="{FF2B5EF4-FFF2-40B4-BE49-F238E27FC236}">
                <a16:creationId xmlns:a16="http://schemas.microsoft.com/office/drawing/2014/main" id="{6C101844-9940-49BE-8B17-716FB787513D}"/>
              </a:ext>
            </a:extLst>
          </p:cNvPr>
          <p:cNvSpPr>
            <a:spLocks xmlns:a="http://schemas.openxmlformats.org/drawingml/2006/main" noGrp="1"/>
          </p:cNvSpPr>
          <p:nvPr/>
        </p:nvSpPr>
        <p:spPr>
          <a:xfrm xmlns:a="http://schemas.openxmlformats.org/drawingml/2006/main">
            <a:off x="6858000" y="64008"/>
            <a:ext cx="20116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E1E8EF"/>
                </a:solidFill>
              </a:rPr>
              <a:t>2 / 9</a:t>
            </a:r>
            <a:endParaRPr sz="1100"/>
          </a:p>
        </p:txBody>
      </p:sp>
      <p:sp>
        <p:nvSpPr>
          <p:cNvPr id="7" name="Text 5">
            <a:extLst xmlns:a="http://schemas.openxmlformats.org/drawingml/2006/main">
              <a:ext uri="{FF2B5EF4-FFF2-40B4-BE49-F238E27FC236}">
                <a16:creationId xmlns:a16="http://schemas.microsoft.com/office/drawing/2014/main" id="{0121B0D7-68D2-4F3B-B4D9-855405D8279A}"/>
              </a:ext>
            </a:extLst>
          </p:cNvPr>
          <p:cNvSpPr>
            <a:spLocks xmlns:a="http://schemas.openxmlformats.org/drawingml/2006/main" noGrp="1"/>
          </p:cNvSpPr>
          <p:nvPr/>
        </p:nvSpPr>
        <p:spPr>
          <a:xfrm xmlns:a="http://schemas.openxmlformats.org/drawingml/2006/main">
            <a:off x="274320" y="804672"/>
            <a:ext cx="859536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A2638"/>
                </a:solidFill>
              </a:rPr>
              <a:t>One 1 km mainland cell per year makes the evidence comparable</a:t>
            </a:r>
            <a:endParaRPr sz="1600"/>
          </a:p>
        </p:txBody>
      </p:sp>
      <p:sp>
        <p:nvSpPr>
          <p:cNvPr id="8" name="Shape 6">
            <a:extLst xmlns:a="http://schemas.openxmlformats.org/drawingml/2006/main">
              <a:ext uri="{FF2B5EF4-FFF2-40B4-BE49-F238E27FC236}">
                <a16:creationId xmlns:a16="http://schemas.microsoft.com/office/drawing/2014/main" id="{6015B360-BBBA-4DE0-9795-57F031507AC6}"/>
              </a:ext>
            </a:extLst>
          </p:cNvPr>
          <p:cNvSpPr>
            <a:spLocks xmlns:a="http://schemas.openxmlformats.org/drawingml/2006/main" noGrp="1"/>
          </p:cNvSpPr>
          <p:nvPr/>
        </p:nvSpPr>
        <p:spPr>
          <a:xfrm xmlns:a="http://schemas.openxmlformats.org/drawingml/2006/main">
            <a:off x="274320"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2E6DB4"/>
            </a:solidFill>
            <a:prstDash val="solid"/>
          </a:ln>
          <a:effectLst xmlns:a="http://schemas.openxmlformats.org/drawingml/2006/main">
            <a:outerShdw blurRad="101600" dist="38100" dir="8100000" algn="bl" rotWithShape="0">
              <a:srgbClr val="000000">
                <a:alpha val="10000"/>
              </a:srgbClr>
            </a:outerShdw>
          </a:effectLst>
        </p:spPr>
      </p:sp>
      <p:sp>
        <p:nvSpPr>
          <p:cNvPr id="9" name="Shape 7">
            <a:extLst xmlns:a="http://schemas.openxmlformats.org/drawingml/2006/main">
              <a:ext uri="{FF2B5EF4-FFF2-40B4-BE49-F238E27FC236}">
                <a16:creationId xmlns:a16="http://schemas.microsoft.com/office/drawing/2014/main" id="{5C07B9EA-88EE-49EE-B7D4-7BDB797C5482}"/>
              </a:ext>
            </a:extLst>
          </p:cNvPr>
          <p:cNvSpPr>
            <a:spLocks xmlns:a="http://schemas.openxmlformats.org/drawingml/2006/main" noGrp="1"/>
          </p:cNvSpPr>
          <p:nvPr/>
        </p:nvSpPr>
        <p:spPr>
          <a:xfrm xmlns:a="http://schemas.openxmlformats.org/drawingml/2006/main">
            <a:off x="274320" y="1371600"/>
            <a:ext cx="2651760" cy="384048"/>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10" name="Text 8">
            <a:extLst xmlns:a="http://schemas.openxmlformats.org/drawingml/2006/main">
              <a:ext uri="{FF2B5EF4-FFF2-40B4-BE49-F238E27FC236}">
                <a16:creationId xmlns:a16="http://schemas.microsoft.com/office/drawing/2014/main" id="{D9484D15-B5B7-461A-BAA9-47327A4B2126}"/>
              </a:ext>
            </a:extLst>
          </p:cNvPr>
          <p:cNvSpPr>
            <a:spLocks xmlns:a="http://schemas.openxmlformats.org/drawingml/2006/main" noGrp="1"/>
          </p:cNvSpPr>
          <p:nvPr/>
        </p:nvSpPr>
        <p:spPr>
          <a:xfrm xmlns:a="http://schemas.openxmlformats.org/drawingml/2006/main">
            <a:off x="274320"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OBSERVED FIRE</a:t>
            </a:r>
            <a:endParaRPr sz="1100"/>
          </a:p>
        </p:txBody>
      </p:sp>
      <p:sp>
        <p:nvSpPr>
          <p:cNvPr id="11" name="Text 9">
            <a:extLst xmlns:a="http://schemas.openxmlformats.org/drawingml/2006/main">
              <a:ext uri="{FF2B5EF4-FFF2-40B4-BE49-F238E27FC236}">
                <a16:creationId xmlns:a16="http://schemas.microsoft.com/office/drawing/2014/main" id="{67C6A5B0-CECC-4ACC-9832-24A59DDB136C}"/>
              </a:ext>
            </a:extLst>
          </p:cNvPr>
          <p:cNvSpPr>
            <a:spLocks xmlns:a="http://schemas.openxmlformats.org/drawingml/2006/main" noGrp="1"/>
          </p:cNvSpPr>
          <p:nvPr/>
        </p:nvSpPr>
        <p:spPr>
          <a:xfrm xmlns:a="http://schemas.openxmlformats.org/drawingml/2006/main">
            <a:off x="365760"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2E6DB4"/>
                </a:solidFill>
              </a:rPr>
              <a:t>ICNF annual burned areas</a:t>
            </a:r>
            <a:endParaRPr sz="800"/>
          </a:p>
        </p:txBody>
      </p:sp>
      <p:sp>
        <p:nvSpPr>
          <p:cNvPr id="12" name="Text 10">
            <a:extLst xmlns:a="http://schemas.openxmlformats.org/drawingml/2006/main">
              <a:ext uri="{FF2B5EF4-FFF2-40B4-BE49-F238E27FC236}">
                <a16:creationId xmlns:a16="http://schemas.microsoft.com/office/drawing/2014/main" id="{22DC359E-9E6E-4E9F-BF48-BEF9690E6A70}"/>
              </a:ext>
            </a:extLst>
          </p:cNvPr>
          <p:cNvSpPr>
            <a:spLocks xmlns:a="http://schemas.openxmlformats.org/drawingml/2006/main" noGrp="1"/>
          </p:cNvSpPr>
          <p:nvPr/>
        </p:nvSpPr>
        <p:spPr>
          <a:xfrm xmlns:a="http://schemas.openxmlformats.org/drawingml/2006/main">
            <a:off x="365760"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Historical occurrence and next-year burned-share outcomes. Fire recurrence is measured in a 2 km context buffer.</a:t>
            </a:r>
            <a:endParaRPr sz="850"/>
          </a:p>
        </p:txBody>
      </p:sp>
      <p:sp>
        <p:nvSpPr>
          <p:cNvPr id="13" name="Shape 11">
            <a:extLst xmlns:a="http://schemas.openxmlformats.org/drawingml/2006/main">
              <a:ext uri="{FF2B5EF4-FFF2-40B4-BE49-F238E27FC236}">
                <a16:creationId xmlns:a16="http://schemas.microsoft.com/office/drawing/2014/main" id="{1CD4E307-F1DC-41BD-A2A0-EF4229C67E73}"/>
              </a:ext>
            </a:extLst>
          </p:cNvPr>
          <p:cNvSpPr>
            <a:spLocks xmlns:a="http://schemas.openxmlformats.org/drawingml/2006/main" noGrp="1"/>
          </p:cNvSpPr>
          <p:nvPr/>
        </p:nvSpPr>
        <p:spPr>
          <a:xfrm xmlns:a="http://schemas.openxmlformats.org/drawingml/2006/main">
            <a:off x="365760" y="2578608"/>
            <a:ext cx="2468880" cy="502920"/>
          </a:xfrm>
          <a:prstGeom xmlns:a="http://schemas.openxmlformats.org/drawingml/2006/main" prst="rect">
            <a:avLst/>
          </a:prstGeom>
          <a:solidFill xmlns:a="http://schemas.openxmlformats.org/drawingml/2006/main">
            <a:srgbClr val="EBF0FD"/>
          </a:solidFill>
          <a:ln xmlns:a="http://schemas.openxmlformats.org/drawingml/2006/main" w="12700">
            <a:solidFill>
              <a:srgbClr val="EBF0FD"/>
            </a:solidFill>
            <a:prstDash val="solid"/>
          </a:ln>
        </p:spPr>
      </p:sp>
      <p:sp>
        <p:nvSpPr>
          <p:cNvPr id="14" name="Text 12">
            <a:extLst xmlns:a="http://schemas.openxmlformats.org/drawingml/2006/main">
              <a:ext uri="{FF2B5EF4-FFF2-40B4-BE49-F238E27FC236}">
                <a16:creationId xmlns:a16="http://schemas.microsoft.com/office/drawing/2014/main" id="{C2C8DE72-7721-45D6-B469-D1F7820E4A35}"/>
              </a:ext>
            </a:extLst>
          </p:cNvPr>
          <p:cNvSpPr>
            <a:spLocks xmlns:a="http://schemas.openxmlformats.org/drawingml/2006/main" noGrp="1"/>
          </p:cNvSpPr>
          <p:nvPr/>
        </p:nvSpPr>
        <p:spPr>
          <a:xfrm xmlns:a="http://schemas.openxmlformats.org/drawingml/2006/main">
            <a:off x="411480"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ICNF source coverage: 2000–2025</a:t>
            </a:r>
            <a:endParaRPr sz="800"/>
          </a:p>
        </p:txBody>
      </p:sp>
      <p:sp>
        <p:nvSpPr>
          <p:cNvPr id="15" name="Text 13">
            <a:extLst xmlns:a="http://schemas.openxmlformats.org/drawingml/2006/main">
              <a:ext uri="{FF2B5EF4-FFF2-40B4-BE49-F238E27FC236}">
                <a16:creationId xmlns:a16="http://schemas.microsoft.com/office/drawing/2014/main" id="{A0536C49-BFED-466A-8A4F-1AF9F8838334}"/>
              </a:ext>
            </a:extLst>
          </p:cNvPr>
          <p:cNvSpPr>
            <a:spLocks xmlns:a="http://schemas.openxmlformats.org/drawingml/2006/main" noGrp="1"/>
          </p:cNvSpPr>
          <p:nvPr/>
        </p:nvSpPr>
        <p:spPr>
          <a:xfrm xmlns:a="http://schemas.openxmlformats.org/drawingml/2006/main">
            <a:off x="365760"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Use: observed history and outcome labels</a:t>
            </a:r>
            <a:endParaRPr sz="750"/>
          </a:p>
        </p:txBody>
      </p:sp>
      <p:sp>
        <p:nvSpPr>
          <p:cNvPr id="16" name="Text 14">
            <a:extLst xmlns:a="http://schemas.openxmlformats.org/drawingml/2006/main">
              <a:ext uri="{FF2B5EF4-FFF2-40B4-BE49-F238E27FC236}">
                <a16:creationId xmlns:a16="http://schemas.microsoft.com/office/drawing/2014/main" id="{061C0752-DC49-4F35-AFC7-AB88C79FAF0D}"/>
              </a:ext>
            </a:extLst>
          </p:cNvPr>
          <p:cNvSpPr>
            <a:spLocks xmlns:a="http://schemas.openxmlformats.org/drawingml/2006/main" noGrp="1"/>
          </p:cNvSpPr>
          <p:nvPr/>
        </p:nvSpPr>
        <p:spPr>
          <a:xfrm xmlns:a="http://schemas.openxmlformats.org/drawingml/2006/main">
            <a:off x="365760"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Burned share = burned land area / cell land area.</a:t>
            </a:r>
            <a:endParaRPr sz="750"/>
          </a:p>
        </p:txBody>
      </p:sp>
      <p:sp>
        <p:nvSpPr>
          <p:cNvPr id="17" name="Text 15">
            <a:extLst xmlns:a="http://schemas.openxmlformats.org/drawingml/2006/main">
              <a:ext uri="{FF2B5EF4-FFF2-40B4-BE49-F238E27FC236}">
                <a16:creationId xmlns:a16="http://schemas.microsoft.com/office/drawing/2014/main" id="{E4724BAC-EE83-433E-87E5-BC0E996BDFFC}"/>
              </a:ext>
            </a:extLst>
          </p:cNvPr>
          <p:cNvSpPr>
            <a:spLocks xmlns:a="http://schemas.openxmlformats.org/drawingml/2006/main" noGrp="1"/>
          </p:cNvSpPr>
          <p:nvPr/>
        </p:nvSpPr>
        <p:spPr>
          <a:xfrm xmlns:a="http://schemas.openxmlformats.org/drawingml/2006/main">
            <a:off x="2962656" y="2560320"/>
            <a:ext cx="320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E8A020"/>
                </a:solidFill>
              </a:rPr>
              <a:t>-&gt;</a:t>
            </a:r>
            <a:endParaRPr sz="2000"/>
          </a:p>
        </p:txBody>
      </p:sp>
      <p:sp>
        <p:nvSpPr>
          <p:cNvPr id="18" name="Shape 16">
            <a:extLst xmlns:a="http://schemas.openxmlformats.org/drawingml/2006/main">
              <a:ext uri="{FF2B5EF4-FFF2-40B4-BE49-F238E27FC236}">
                <a16:creationId xmlns:a16="http://schemas.microsoft.com/office/drawing/2014/main" id="{88BDC9BD-5FAD-4BBE-B51A-B021702F2F4D}"/>
              </a:ext>
            </a:extLst>
          </p:cNvPr>
          <p:cNvSpPr>
            <a:spLocks xmlns:a="http://schemas.openxmlformats.org/drawingml/2006/main" noGrp="1"/>
          </p:cNvSpPr>
          <p:nvPr/>
        </p:nvSpPr>
        <p:spPr>
          <a:xfrm xmlns:a="http://schemas.openxmlformats.org/drawingml/2006/main">
            <a:off x="3310128"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E67E22"/>
            </a:solidFill>
            <a:prstDash val="solid"/>
          </a:ln>
          <a:effectLst xmlns:a="http://schemas.openxmlformats.org/drawingml/2006/main">
            <a:outerShdw blurRad="101600" dist="38100" dir="8100000" algn="bl" rotWithShape="0">
              <a:srgbClr val="000000">
                <a:alpha val="10000"/>
              </a:srgbClr>
            </a:outerShdw>
          </a:effectLst>
        </p:spPr>
      </p:sp>
      <p:sp>
        <p:nvSpPr>
          <p:cNvPr id="19" name="Shape 17">
            <a:extLst xmlns:a="http://schemas.openxmlformats.org/drawingml/2006/main">
              <a:ext uri="{FF2B5EF4-FFF2-40B4-BE49-F238E27FC236}">
                <a16:creationId xmlns:a16="http://schemas.microsoft.com/office/drawing/2014/main" id="{8FE4F804-F3B6-4684-BFCD-653595482E22}"/>
              </a:ext>
            </a:extLst>
          </p:cNvPr>
          <p:cNvSpPr>
            <a:spLocks xmlns:a="http://schemas.openxmlformats.org/drawingml/2006/main" noGrp="1"/>
          </p:cNvSpPr>
          <p:nvPr/>
        </p:nvSpPr>
        <p:spPr>
          <a:xfrm xmlns:a="http://schemas.openxmlformats.org/drawingml/2006/main">
            <a:off x="3310128" y="1371600"/>
            <a:ext cx="2651760" cy="384048"/>
          </a:xfrm>
          <a:prstGeom xmlns:a="http://schemas.openxmlformats.org/drawingml/2006/main" prst="rect">
            <a:avLst/>
          </a:prstGeom>
          <a:solidFill xmlns:a="http://schemas.openxmlformats.org/drawingml/2006/main">
            <a:srgbClr val="E67E22"/>
          </a:solidFill>
          <a:ln xmlns:a="http://schemas.openxmlformats.org/drawingml/2006/main" w="12700">
            <a:solidFill>
              <a:srgbClr val="E67E22"/>
            </a:solidFill>
            <a:prstDash val="solid"/>
          </a:ln>
        </p:spPr>
      </p:sp>
      <p:sp>
        <p:nvSpPr>
          <p:cNvPr id="20" name="Text 18">
            <a:extLst xmlns:a="http://schemas.openxmlformats.org/drawingml/2006/main">
              <a:ext uri="{FF2B5EF4-FFF2-40B4-BE49-F238E27FC236}">
                <a16:creationId xmlns:a16="http://schemas.microsoft.com/office/drawing/2014/main" id="{F823FAC1-C9B5-4631-81A0-0779D0A744E5}"/>
              </a:ext>
            </a:extLst>
          </p:cNvPr>
          <p:cNvSpPr>
            <a:spLocks xmlns:a="http://schemas.openxmlformats.org/drawingml/2006/main" noGrp="1"/>
          </p:cNvSpPr>
          <p:nvPr/>
        </p:nvSpPr>
        <p:spPr>
          <a:xfrm xmlns:a="http://schemas.openxmlformats.org/drawingml/2006/main">
            <a:off x="3310128"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PLACE CONTEXT</a:t>
            </a:r>
            <a:endParaRPr sz="1100"/>
          </a:p>
        </p:txBody>
      </p:sp>
      <p:sp>
        <p:nvSpPr>
          <p:cNvPr id="21" name="Text 19">
            <a:extLst xmlns:a="http://schemas.openxmlformats.org/drawingml/2006/main">
              <a:ext uri="{FF2B5EF4-FFF2-40B4-BE49-F238E27FC236}">
                <a16:creationId xmlns:a16="http://schemas.microsoft.com/office/drawing/2014/main" id="{CDF192D1-D9B3-4618-B786-9A11E17D0DE9}"/>
              </a:ext>
            </a:extLst>
          </p:cNvPr>
          <p:cNvSpPr>
            <a:spLocks xmlns:a="http://schemas.openxmlformats.org/drawingml/2006/main" noGrp="1"/>
          </p:cNvSpPr>
          <p:nvPr/>
        </p:nvSpPr>
        <p:spPr>
          <a:xfrm xmlns:a="http://schemas.openxmlformats.org/drawingml/2006/main">
            <a:off x="3401568"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E67E22"/>
                </a:solidFill>
              </a:rPr>
              <a:t>CLC and Copernicus DEM</a:t>
            </a:r>
            <a:endParaRPr sz="800"/>
          </a:p>
        </p:txBody>
      </p:sp>
      <p:sp>
        <p:nvSpPr>
          <p:cNvPr id="22" name="Text 20">
            <a:extLst xmlns:a="http://schemas.openxmlformats.org/drawingml/2006/main">
              <a:ext uri="{FF2B5EF4-FFF2-40B4-BE49-F238E27FC236}">
                <a16:creationId xmlns:a16="http://schemas.microsoft.com/office/drawing/2014/main" id="{35B99BF9-D34E-45F7-A42A-E1EE7420E18A}"/>
              </a:ext>
            </a:extLst>
          </p:cNvPr>
          <p:cNvSpPr>
            <a:spLocks xmlns:a="http://schemas.openxmlformats.org/drawingml/2006/main" noGrp="1"/>
          </p:cNvSpPr>
          <p:nvPr/>
        </p:nvSpPr>
        <p:spPr>
          <a:xfrm xmlns:a="http://schemas.openxmlformats.org/drawingml/2006/main">
            <a:off x="3401568"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Built-up share, forest/shrub context and mean slope describe the surrounding landscape.</a:t>
            </a:r>
            <a:endParaRPr sz="850"/>
          </a:p>
        </p:txBody>
      </p:sp>
      <p:sp>
        <p:nvSpPr>
          <p:cNvPr id="23" name="Shape 21">
            <a:extLst xmlns:a="http://schemas.openxmlformats.org/drawingml/2006/main">
              <a:ext uri="{FF2B5EF4-FFF2-40B4-BE49-F238E27FC236}">
                <a16:creationId xmlns:a16="http://schemas.microsoft.com/office/drawing/2014/main" id="{6F886BEF-D149-4B22-AB28-BF3F16160D69}"/>
              </a:ext>
            </a:extLst>
          </p:cNvPr>
          <p:cNvSpPr>
            <a:spLocks xmlns:a="http://schemas.openxmlformats.org/drawingml/2006/main" noGrp="1"/>
          </p:cNvSpPr>
          <p:nvPr/>
        </p:nvSpPr>
        <p:spPr>
          <a:xfrm xmlns:a="http://schemas.openxmlformats.org/drawingml/2006/main">
            <a:off x="3401568" y="2578608"/>
            <a:ext cx="2468880" cy="502920"/>
          </a:xfrm>
          <a:prstGeom xmlns:a="http://schemas.openxmlformats.org/drawingml/2006/main" prst="rect">
            <a:avLst/>
          </a:prstGeom>
          <a:solidFill xmlns:a="http://schemas.openxmlformats.org/drawingml/2006/main">
            <a:srgbClr val="FEF3E2"/>
          </a:solidFill>
          <a:ln xmlns:a="http://schemas.openxmlformats.org/drawingml/2006/main" w="12700">
            <a:solidFill>
              <a:srgbClr val="FEF3E2"/>
            </a:solidFill>
            <a:prstDash val="solid"/>
          </a:ln>
        </p:spPr>
      </p:sp>
      <p:sp>
        <p:nvSpPr>
          <p:cNvPr id="24" name="Text 22">
            <a:extLst xmlns:a="http://schemas.openxmlformats.org/drawingml/2006/main">
              <a:ext uri="{FF2B5EF4-FFF2-40B4-BE49-F238E27FC236}">
                <a16:creationId xmlns:a16="http://schemas.microsoft.com/office/drawing/2014/main" id="{80A0214D-E33A-4BF0-8D70-726CFE0375AB}"/>
              </a:ext>
            </a:extLst>
          </p:cNvPr>
          <p:cNvSpPr>
            <a:spLocks xmlns:a="http://schemas.openxmlformats.org/drawingml/2006/main" noGrp="1"/>
          </p:cNvSpPr>
          <p:nvPr/>
        </p:nvSpPr>
        <p:spPr>
          <a:xfrm xmlns:a="http://schemas.openxmlformats.org/drawingml/2006/main">
            <a:off x="3447288"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Static or governed historical layers</a:t>
            </a:r>
            <a:endParaRPr sz="800"/>
          </a:p>
        </p:txBody>
      </p:sp>
      <p:sp>
        <p:nvSpPr>
          <p:cNvPr id="25" name="Text 23">
            <a:extLst xmlns:a="http://schemas.openxmlformats.org/drawingml/2006/main">
              <a:ext uri="{FF2B5EF4-FFF2-40B4-BE49-F238E27FC236}">
                <a16:creationId xmlns:a16="http://schemas.microsoft.com/office/drawing/2014/main" id="{EDB0DD6E-990A-42DB-9875-F090FBA9738B}"/>
              </a:ext>
            </a:extLst>
          </p:cNvPr>
          <p:cNvSpPr>
            <a:spLocks xmlns:a="http://schemas.openxmlformats.org/drawingml/2006/main" noGrp="1"/>
          </p:cNvSpPr>
          <p:nvPr/>
        </p:nvSpPr>
        <p:spPr>
          <a:xfrm xmlns:a="http://schemas.openxmlformats.org/drawingml/2006/main">
            <a:off x="3401568"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Use: landscape and terrain predictors</a:t>
            </a:r>
            <a:endParaRPr sz="750"/>
          </a:p>
        </p:txBody>
      </p:sp>
      <p:sp>
        <p:nvSpPr>
          <p:cNvPr id="26" name="Text 24">
            <a:extLst xmlns:a="http://schemas.openxmlformats.org/drawingml/2006/main">
              <a:ext uri="{FF2B5EF4-FFF2-40B4-BE49-F238E27FC236}">
                <a16:creationId xmlns:a16="http://schemas.microsoft.com/office/drawing/2014/main" id="{C7AC1FC5-9639-4DA9-B51C-80DD5E469942}"/>
              </a:ext>
            </a:extLst>
          </p:cNvPr>
          <p:cNvSpPr>
            <a:spLocks xmlns:a="http://schemas.openxmlformats.org/drawingml/2006/main" noGrp="1"/>
          </p:cNvSpPr>
          <p:nvPr/>
        </p:nvSpPr>
        <p:spPr>
          <a:xfrm xmlns:a="http://schemas.openxmlformats.org/drawingml/2006/main">
            <a:off x="3401568"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No parcel-level claim.</a:t>
            </a:r>
            <a:endParaRPr sz="750"/>
          </a:p>
        </p:txBody>
      </p:sp>
      <p:sp>
        <p:nvSpPr>
          <p:cNvPr id="27" name="Text 25">
            <a:extLst xmlns:a="http://schemas.openxmlformats.org/drawingml/2006/main">
              <a:ext uri="{FF2B5EF4-FFF2-40B4-BE49-F238E27FC236}">
                <a16:creationId xmlns:a16="http://schemas.microsoft.com/office/drawing/2014/main" id="{44357DB5-05F8-4CF5-8D21-E89F0DFA12F8}"/>
              </a:ext>
            </a:extLst>
          </p:cNvPr>
          <p:cNvSpPr>
            <a:spLocks xmlns:a="http://schemas.openxmlformats.org/drawingml/2006/main" noGrp="1"/>
          </p:cNvSpPr>
          <p:nvPr/>
        </p:nvSpPr>
        <p:spPr>
          <a:xfrm xmlns:a="http://schemas.openxmlformats.org/drawingml/2006/main">
            <a:off x="5998464" y="2560320"/>
            <a:ext cx="320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E8A020"/>
                </a:solidFill>
              </a:rPr>
              <a:t>-&gt;</a:t>
            </a:r>
            <a:endParaRPr sz="2000"/>
          </a:p>
        </p:txBody>
      </p:sp>
      <p:sp>
        <p:nvSpPr>
          <p:cNvPr id="28" name="Shape 26">
            <a:extLst xmlns:a="http://schemas.openxmlformats.org/drawingml/2006/main">
              <a:ext uri="{FF2B5EF4-FFF2-40B4-BE49-F238E27FC236}">
                <a16:creationId xmlns:a16="http://schemas.microsoft.com/office/drawing/2014/main" id="{C1EB402B-5D07-41FD-A88B-C668B30929ED}"/>
              </a:ext>
            </a:extLst>
          </p:cNvPr>
          <p:cNvSpPr>
            <a:spLocks xmlns:a="http://schemas.openxmlformats.org/drawingml/2006/main" noGrp="1"/>
          </p:cNvSpPr>
          <p:nvPr/>
        </p:nvSpPr>
        <p:spPr>
          <a:xfrm xmlns:a="http://schemas.openxmlformats.org/drawingml/2006/main">
            <a:off x="6345936"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2A9D61"/>
            </a:solidFill>
            <a:prstDash val="solid"/>
          </a:ln>
          <a:effectLst xmlns:a="http://schemas.openxmlformats.org/drawingml/2006/main">
            <a:outerShdw blurRad="101600" dist="38100" dir="8100000" algn="bl" rotWithShape="0">
              <a:srgbClr val="000000">
                <a:alpha val="10000"/>
              </a:srgbClr>
            </a:outerShdw>
          </a:effectLst>
        </p:spPr>
      </p:sp>
      <p:sp>
        <p:nvSpPr>
          <p:cNvPr id="29" name="Shape 27">
            <a:extLst xmlns:a="http://schemas.openxmlformats.org/drawingml/2006/main">
              <a:ext uri="{FF2B5EF4-FFF2-40B4-BE49-F238E27FC236}">
                <a16:creationId xmlns:a16="http://schemas.microsoft.com/office/drawing/2014/main" id="{CB31566B-19C9-48AC-A726-E822C5985068}"/>
              </a:ext>
            </a:extLst>
          </p:cNvPr>
          <p:cNvSpPr>
            <a:spLocks xmlns:a="http://schemas.openxmlformats.org/drawingml/2006/main" noGrp="1"/>
          </p:cNvSpPr>
          <p:nvPr/>
        </p:nvSpPr>
        <p:spPr>
          <a:xfrm xmlns:a="http://schemas.openxmlformats.org/drawingml/2006/main">
            <a:off x="6345936" y="1371600"/>
            <a:ext cx="2651760" cy="38404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30" name="Text 28">
            <a:extLst xmlns:a="http://schemas.openxmlformats.org/drawingml/2006/main">
              <a:ext uri="{FF2B5EF4-FFF2-40B4-BE49-F238E27FC236}">
                <a16:creationId xmlns:a16="http://schemas.microsoft.com/office/drawing/2014/main" id="{576FE3D7-10A4-4179-9328-3F34C913B9ED}"/>
              </a:ext>
            </a:extLst>
          </p:cNvPr>
          <p:cNvSpPr>
            <a:spLocks xmlns:a="http://schemas.openxmlformats.org/drawingml/2006/main" noGrp="1"/>
          </p:cNvSpPr>
          <p:nvPr/>
        </p:nvSpPr>
        <p:spPr>
          <a:xfrm xmlns:a="http://schemas.openxmlformats.org/drawingml/2006/main">
            <a:off x="6345936"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CLIMATE CONTEXT</a:t>
            </a:r>
            <a:endParaRPr sz="1100"/>
          </a:p>
        </p:txBody>
      </p:sp>
      <p:sp>
        <p:nvSpPr>
          <p:cNvPr id="31" name="Text 29">
            <a:extLst xmlns:a="http://schemas.openxmlformats.org/drawingml/2006/main">
              <a:ext uri="{FF2B5EF4-FFF2-40B4-BE49-F238E27FC236}">
                <a16:creationId xmlns:a16="http://schemas.microsoft.com/office/drawing/2014/main" id="{088C263C-A0CB-4982-A338-F3A1BB2F9F95}"/>
              </a:ext>
            </a:extLst>
          </p:cNvPr>
          <p:cNvSpPr>
            <a:spLocks xmlns:a="http://schemas.openxmlformats.org/drawingml/2006/main" noGrp="1"/>
          </p:cNvSpPr>
          <p:nvPr/>
        </p:nvSpPr>
        <p:spPr>
          <a:xfrm xmlns:a="http://schemas.openxmlformats.org/drawingml/2006/main">
            <a:off x="6437376"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2A9D61"/>
                </a:solidFill>
              </a:rPr>
              <a:t>ERA5-Land JJAS</a:t>
            </a:r>
            <a:endParaRPr sz="800"/>
          </a:p>
        </p:txBody>
      </p:sp>
      <p:sp>
        <p:nvSpPr>
          <p:cNvPr id="32" name="Text 30">
            <a:extLst xmlns:a="http://schemas.openxmlformats.org/drawingml/2006/main">
              <a:ext uri="{FF2B5EF4-FFF2-40B4-BE49-F238E27FC236}">
                <a16:creationId xmlns:a16="http://schemas.microsoft.com/office/drawing/2014/main" id="{3591A679-B15E-406C-86A0-00F6CAE7220A}"/>
              </a:ext>
            </a:extLst>
          </p:cNvPr>
          <p:cNvSpPr>
            <a:spLocks xmlns:a="http://schemas.openxmlformats.org/drawingml/2006/main" noGrp="1"/>
          </p:cNvSpPr>
          <p:nvPr/>
        </p:nvSpPr>
        <p:spPr>
          <a:xfrm xmlns:a="http://schemas.openxmlformats.org/drawingml/2006/main">
            <a:off x="6437376"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Warm-season temperature, precipitation and shallow soil-water conditions from predictor year T only.</a:t>
            </a:r>
            <a:endParaRPr sz="850"/>
          </a:p>
        </p:txBody>
      </p:sp>
      <p:sp>
        <p:nvSpPr>
          <p:cNvPr id="33" name="Shape 31">
            <a:extLst xmlns:a="http://schemas.openxmlformats.org/drawingml/2006/main">
              <a:ext uri="{FF2B5EF4-FFF2-40B4-BE49-F238E27FC236}">
                <a16:creationId xmlns:a16="http://schemas.microsoft.com/office/drawing/2014/main" id="{21F582AF-C78B-4E58-9B57-6833B74F7712}"/>
              </a:ext>
            </a:extLst>
          </p:cNvPr>
          <p:cNvSpPr>
            <a:spLocks xmlns:a="http://schemas.openxmlformats.org/drawingml/2006/main" noGrp="1"/>
          </p:cNvSpPr>
          <p:nvPr/>
        </p:nvSpPr>
        <p:spPr>
          <a:xfrm xmlns:a="http://schemas.openxmlformats.org/drawingml/2006/main">
            <a:off x="6437376" y="2578608"/>
            <a:ext cx="2468880" cy="502920"/>
          </a:xfrm>
          <a:prstGeom xmlns:a="http://schemas.openxmlformats.org/drawingml/2006/main" prst="rect">
            <a:avLst/>
          </a:prstGeom>
          <a:solidFill xmlns:a="http://schemas.openxmlformats.org/drawingml/2006/main">
            <a:srgbClr val="E6F5EE"/>
          </a:solidFill>
          <a:ln xmlns:a="http://schemas.openxmlformats.org/drawingml/2006/main" w="12700">
            <a:solidFill>
              <a:srgbClr val="E6F5EE"/>
            </a:solidFill>
            <a:prstDash val="solid"/>
          </a:ln>
        </p:spPr>
      </p:sp>
      <p:sp>
        <p:nvSpPr>
          <p:cNvPr id="34" name="Text 32">
            <a:extLst xmlns:a="http://schemas.openxmlformats.org/drawingml/2006/main">
              <a:ext uri="{FF2B5EF4-FFF2-40B4-BE49-F238E27FC236}">
                <a16:creationId xmlns:a16="http://schemas.microsoft.com/office/drawing/2014/main" id="{131D7657-5536-4C80-9B52-926E19C32495}"/>
              </a:ext>
            </a:extLst>
          </p:cNvPr>
          <p:cNvSpPr>
            <a:spLocks xmlns:a="http://schemas.openxmlformats.org/drawingml/2006/main" noGrp="1"/>
          </p:cNvSpPr>
          <p:nvPr/>
        </p:nvSpPr>
        <p:spPr>
          <a:xfrm xmlns:a="http://schemas.openxmlformats.org/drawingml/2006/main">
            <a:off x="6483096"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0.1° regional climate cells</a:t>
            </a:r>
            <a:endParaRPr sz="800"/>
          </a:p>
        </p:txBody>
      </p:sp>
      <p:sp>
        <p:nvSpPr>
          <p:cNvPr id="35" name="Text 33">
            <a:extLst xmlns:a="http://schemas.openxmlformats.org/drawingml/2006/main">
              <a:ext uri="{FF2B5EF4-FFF2-40B4-BE49-F238E27FC236}">
                <a16:creationId xmlns:a16="http://schemas.microsoft.com/office/drawing/2014/main" id="{555C2D91-F1C0-4C81-A522-273CE805D265}"/>
              </a:ext>
            </a:extLst>
          </p:cNvPr>
          <p:cNvSpPr>
            <a:spLocks xmlns:a="http://schemas.openxmlformats.org/drawingml/2006/main" noGrp="1"/>
          </p:cNvSpPr>
          <p:nvPr/>
        </p:nvSpPr>
        <p:spPr>
          <a:xfrm xmlns:a="http://schemas.openxmlformats.org/drawingml/2006/main">
            <a:off x="6437376"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Use: predictor-year climate context</a:t>
            </a:r>
            <a:endParaRPr sz="750"/>
          </a:p>
        </p:txBody>
      </p:sp>
      <p:sp>
        <p:nvSpPr>
          <p:cNvPr id="36" name="Text 34">
            <a:extLst xmlns:a="http://schemas.openxmlformats.org/drawingml/2006/main">
              <a:ext uri="{FF2B5EF4-FFF2-40B4-BE49-F238E27FC236}">
                <a16:creationId xmlns:a16="http://schemas.microsoft.com/office/drawing/2014/main" id="{348B69A9-A889-4CDD-892E-2DD982669C0A}"/>
              </a:ext>
            </a:extLst>
          </p:cNvPr>
          <p:cNvSpPr>
            <a:spLocks xmlns:a="http://schemas.openxmlformats.org/drawingml/2006/main" noGrp="1"/>
          </p:cNvSpPr>
          <p:nvPr/>
        </p:nvSpPr>
        <p:spPr>
          <a:xfrm xmlns:a="http://schemas.openxmlformats.org/drawingml/2006/main">
            <a:off x="6437376"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No interpolation or downscaling.</a:t>
            </a:r>
            <a:endParaRPr sz="750"/>
          </a:p>
        </p:txBody>
      </p:sp>
      <p:sp>
        <p:nvSpPr>
          <p:cNvPr id="37" name="Shape 35">
            <a:extLst xmlns:a="http://schemas.openxmlformats.org/drawingml/2006/main">
              <a:ext uri="{FF2B5EF4-FFF2-40B4-BE49-F238E27FC236}">
                <a16:creationId xmlns:a16="http://schemas.microsoft.com/office/drawing/2014/main" id="{1CF7DD12-EEE0-44CF-90BD-A5A6555384C9}"/>
              </a:ext>
            </a:extLst>
          </p:cNvPr>
          <p:cNvSpPr>
            <a:spLocks xmlns:a="http://schemas.openxmlformats.org/drawingml/2006/main" noGrp="1"/>
          </p:cNvSpPr>
          <p:nvPr/>
        </p:nvSpPr>
        <p:spPr>
          <a:xfrm xmlns:a="http://schemas.openxmlformats.org/drawingml/2006/main">
            <a:off x="274320" y="4315968"/>
            <a:ext cx="8595360" cy="457200"/>
          </a:xfrm>
          <a:prstGeom xmlns:a="http://schemas.openxmlformats.org/drawingml/2006/main" prst="rect">
            <a:avLst/>
          </a:prstGeom>
          <a:solidFill xmlns:a="http://schemas.openxmlformats.org/drawingml/2006/main">
            <a:srgbClr val="0D1F2D"/>
          </a:solidFill>
          <a:ln xmlns:a="http://schemas.openxmlformats.org/drawingml/2006/main" w="12700">
            <a:solidFill>
              <a:srgbClr val="0D1F2D"/>
            </a:solidFill>
            <a:prstDash val="solid"/>
          </a:ln>
        </p:spPr>
      </p:sp>
      <p:sp>
        <p:nvSpPr>
          <p:cNvPr id="38" name="Text 36">
            <a:extLst xmlns:a="http://schemas.openxmlformats.org/drawingml/2006/main">
              <a:ext uri="{FF2B5EF4-FFF2-40B4-BE49-F238E27FC236}">
                <a16:creationId xmlns:a16="http://schemas.microsoft.com/office/drawing/2014/main" id="{437652F4-0A68-4E8D-8FB1-0D1F3BBDF796}"/>
              </a:ext>
            </a:extLst>
          </p:cNvPr>
          <p:cNvSpPr>
            <a:spLocks xmlns:a="http://schemas.openxmlformats.org/drawingml/2006/main" noGrp="1"/>
          </p:cNvSpPr>
          <p:nvPr/>
        </p:nvSpPr>
        <p:spPr>
          <a:xfrm xmlns:a="http://schemas.openxmlformats.org/drawingml/2006/main">
            <a:off x="411480" y="4315968"/>
            <a:ext cx="8321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E8A020"/>
                </a:solidFill>
              </a:rPr>
              <a:t>89,112 mainland cells; one EPSG:3763 1 km cell × predictor year record.</a:t>
            </a:r>
            <a:endParaRPr sz="850"/>
          </a:p>
        </p:txBody>
      </p:sp>
      <p:sp>
        <p:nvSpPr>
          <p:cNvPr id="39" name="Shape 37">
            <a:extLst xmlns:a="http://schemas.openxmlformats.org/drawingml/2006/main">
              <a:ext uri="{FF2B5EF4-FFF2-40B4-BE49-F238E27FC236}">
                <a16:creationId xmlns:a16="http://schemas.microsoft.com/office/drawing/2014/main" id="{49A759C5-57AB-43DF-B3F0-A2B8CCABD533}"/>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40" name="Text 38">
            <a:extLst xmlns:a="http://schemas.openxmlformats.org/drawingml/2006/main">
              <a:ext uri="{FF2B5EF4-FFF2-40B4-BE49-F238E27FC236}">
                <a16:creationId xmlns:a16="http://schemas.microsoft.com/office/drawing/2014/main" id="{D0C3C7AC-0669-4B0F-BD8F-AB88AC487A35}"/>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A86A1C8-DB06-4DCE-9DAF-693B7C77942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3F6F9"/>
          </a:solidFill>
          <a:ln xmlns:a="http://schemas.openxmlformats.org/drawingml/2006/main" w="12700">
            <a:solidFill>
              <a:srgbClr val="F3F6F9"/>
            </a:solidFill>
            <a:prstDash val="solid"/>
          </a:ln>
        </p:spPr>
      </p:sp>
      <p:sp>
        <p:nvSpPr>
          <p:cNvPr id="3" name="Shape 1">
            <a:extLst xmlns:a="http://schemas.openxmlformats.org/drawingml/2006/main">
              <a:ext uri="{FF2B5EF4-FFF2-40B4-BE49-F238E27FC236}">
                <a16:creationId xmlns:a16="http://schemas.microsoft.com/office/drawing/2014/main" id="{D197F66D-6C57-4707-8514-4D78C9DEF865}"/>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 name="Shape 2">
            <a:extLst xmlns:a="http://schemas.openxmlformats.org/drawingml/2006/main">
              <a:ext uri="{FF2B5EF4-FFF2-40B4-BE49-F238E27FC236}">
                <a16:creationId xmlns:a16="http://schemas.microsoft.com/office/drawing/2014/main" id="{BCC99481-8AFC-45E5-8E41-5D92798EEDD0}"/>
              </a:ext>
            </a:extLst>
          </p:cNvPr>
          <p:cNvSpPr>
            <a:spLocks xmlns:a="http://schemas.openxmlformats.org/drawingml/2006/main" noGrp="1"/>
          </p:cNvSpPr>
          <p:nvPr/>
        </p:nvSpPr>
        <p:spPr>
          <a:xfrm xmlns:a="http://schemas.openxmlformats.org/drawingml/2006/main">
            <a:off x="0" y="64008"/>
            <a:ext cx="9144000" cy="65836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5" name="Text 3">
            <a:extLst xmlns:a="http://schemas.openxmlformats.org/drawingml/2006/main">
              <a:ext uri="{FF2B5EF4-FFF2-40B4-BE49-F238E27FC236}">
                <a16:creationId xmlns:a16="http://schemas.microsoft.com/office/drawing/2014/main" id="{6BEB6717-FD6D-4B81-81A9-77D30FCEDB7F}"/>
              </a:ext>
            </a:extLst>
          </p:cNvPr>
          <p:cNvSpPr>
            <a:spLocks xmlns:a="http://schemas.openxmlformats.org/drawingml/2006/main" noGrp="1"/>
          </p:cNvSpPr>
          <p:nvPr/>
        </p:nvSpPr>
        <p:spPr>
          <a:xfrm xmlns:a="http://schemas.openxmlformats.org/drawingml/2006/main">
            <a:off x="274320" y="64008"/>
            <a:ext cx="7315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E8A020"/>
                </a:solidFill>
              </a:rPr>
              <a:t>MODEL DEVELOPMENT FLOW</a:t>
            </a:r>
            <a:endParaRPr sz="1100"/>
          </a:p>
        </p:txBody>
      </p:sp>
      <p:sp>
        <p:nvSpPr>
          <p:cNvPr id="6" name="Text 4">
            <a:extLst xmlns:a="http://schemas.openxmlformats.org/drawingml/2006/main">
              <a:ext uri="{FF2B5EF4-FFF2-40B4-BE49-F238E27FC236}">
                <a16:creationId xmlns:a16="http://schemas.microsoft.com/office/drawing/2014/main" id="{6C101844-9940-49BE-8B17-716FB787513D}"/>
              </a:ext>
            </a:extLst>
          </p:cNvPr>
          <p:cNvSpPr>
            <a:spLocks xmlns:a="http://schemas.openxmlformats.org/drawingml/2006/main" noGrp="1"/>
          </p:cNvSpPr>
          <p:nvPr/>
        </p:nvSpPr>
        <p:spPr>
          <a:xfrm xmlns:a="http://schemas.openxmlformats.org/drawingml/2006/main">
            <a:off x="6858000" y="64008"/>
            <a:ext cx="20116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E1E8EF"/>
                </a:solidFill>
              </a:rPr>
              <a:t>3 / 9</a:t>
            </a:r>
            <a:endParaRPr sz="1100"/>
          </a:p>
        </p:txBody>
      </p:sp>
      <p:sp>
        <p:nvSpPr>
          <p:cNvPr id="7" name="Text 5">
            <a:extLst xmlns:a="http://schemas.openxmlformats.org/drawingml/2006/main">
              <a:ext uri="{FF2B5EF4-FFF2-40B4-BE49-F238E27FC236}">
                <a16:creationId xmlns:a16="http://schemas.microsoft.com/office/drawing/2014/main" id="{0121B0D7-68D2-4F3B-B4D9-855405D8279A}"/>
              </a:ext>
            </a:extLst>
          </p:cNvPr>
          <p:cNvSpPr>
            <a:spLocks xmlns:a="http://schemas.openxmlformats.org/drawingml/2006/main" noGrp="1"/>
          </p:cNvSpPr>
          <p:nvPr/>
        </p:nvSpPr>
        <p:spPr>
          <a:xfrm xmlns:a="http://schemas.openxmlformats.org/drawingml/2006/main">
            <a:off x="274320" y="804672"/>
            <a:ext cx="859536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A2638"/>
                </a:solidFill>
              </a:rPr>
              <a:t>How historical data becomes the 2026 estimate</a:t>
            </a:r>
            <a:endParaRPr sz="1600"/>
          </a:p>
        </p:txBody>
      </p:sp>
      <p:sp>
        <p:nvSpPr>
          <p:cNvPr id="8" name="Shape 6">
            <a:extLst xmlns:a="http://schemas.openxmlformats.org/drawingml/2006/main">
              <a:ext uri="{FF2B5EF4-FFF2-40B4-BE49-F238E27FC236}">
                <a16:creationId xmlns:a16="http://schemas.microsoft.com/office/drawing/2014/main" id="{6015B360-BBBA-4DE0-9795-57F031507AC6}"/>
              </a:ext>
            </a:extLst>
          </p:cNvPr>
          <p:cNvSpPr>
            <a:spLocks xmlns:a="http://schemas.openxmlformats.org/drawingml/2006/main" noGrp="1"/>
          </p:cNvSpPr>
          <p:nvPr/>
        </p:nvSpPr>
        <p:spPr>
          <a:xfrm xmlns:a="http://schemas.openxmlformats.org/drawingml/2006/main">
            <a:off x="274320"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2E6DB4"/>
            </a:solidFill>
            <a:prstDash val="solid"/>
          </a:ln>
          <a:effectLst xmlns:a="http://schemas.openxmlformats.org/drawingml/2006/main">
            <a:outerShdw blurRad="101600" dist="38100" dir="8100000" algn="bl" rotWithShape="0">
              <a:srgbClr val="000000">
                <a:alpha val="10000"/>
              </a:srgbClr>
            </a:outerShdw>
          </a:effectLst>
        </p:spPr>
      </p:sp>
      <p:sp>
        <p:nvSpPr>
          <p:cNvPr id="9" name="Shape 7">
            <a:extLst xmlns:a="http://schemas.openxmlformats.org/drawingml/2006/main">
              <a:ext uri="{FF2B5EF4-FFF2-40B4-BE49-F238E27FC236}">
                <a16:creationId xmlns:a16="http://schemas.microsoft.com/office/drawing/2014/main" id="{5C07B9EA-88EE-49EE-B7D4-7BDB797C5482}"/>
              </a:ext>
            </a:extLst>
          </p:cNvPr>
          <p:cNvSpPr>
            <a:spLocks xmlns:a="http://schemas.openxmlformats.org/drawingml/2006/main" noGrp="1"/>
          </p:cNvSpPr>
          <p:nvPr/>
        </p:nvSpPr>
        <p:spPr>
          <a:xfrm xmlns:a="http://schemas.openxmlformats.org/drawingml/2006/main">
            <a:off x="274320" y="1371600"/>
            <a:ext cx="2651760" cy="384048"/>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10" name="Text 8">
            <a:extLst xmlns:a="http://schemas.openxmlformats.org/drawingml/2006/main">
              <a:ext uri="{FF2B5EF4-FFF2-40B4-BE49-F238E27FC236}">
                <a16:creationId xmlns:a16="http://schemas.microsoft.com/office/drawing/2014/main" id="{D9484D15-B5B7-461A-BAA9-47327A4B2126}"/>
              </a:ext>
            </a:extLst>
          </p:cNvPr>
          <p:cNvSpPr>
            <a:spLocks xmlns:a="http://schemas.openxmlformats.org/drawingml/2006/main" noGrp="1"/>
          </p:cNvSpPr>
          <p:nvPr/>
        </p:nvSpPr>
        <p:spPr>
          <a:xfrm xmlns:a="http://schemas.openxmlformats.org/drawingml/2006/main">
            <a:off x="274320"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COLLECT + PREPARE</a:t>
            </a:r>
            <a:endParaRPr sz="1100"/>
          </a:p>
        </p:txBody>
      </p:sp>
      <p:sp>
        <p:nvSpPr>
          <p:cNvPr id="11" name="Text 9">
            <a:extLst xmlns:a="http://schemas.openxmlformats.org/drawingml/2006/main">
              <a:ext uri="{FF2B5EF4-FFF2-40B4-BE49-F238E27FC236}">
                <a16:creationId xmlns:a16="http://schemas.microsoft.com/office/drawing/2014/main" id="{67C6A5B0-CECC-4ACC-9832-24A59DDB136C}"/>
              </a:ext>
            </a:extLst>
          </p:cNvPr>
          <p:cNvSpPr>
            <a:spLocks xmlns:a="http://schemas.openxmlformats.org/drawingml/2006/main" noGrp="1"/>
          </p:cNvSpPr>
          <p:nvPr/>
        </p:nvSpPr>
        <p:spPr>
          <a:xfrm xmlns:a="http://schemas.openxmlformats.org/drawingml/2006/main">
            <a:off x="365760"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2E6DB4"/>
                </a:solidFill>
              </a:rPr>
              <a:t>Validated source inputs</a:t>
            </a:r>
            <a:endParaRPr sz="800"/>
          </a:p>
        </p:txBody>
      </p:sp>
      <p:sp>
        <p:nvSpPr>
          <p:cNvPr id="12" name="Text 10">
            <a:extLst xmlns:a="http://schemas.openxmlformats.org/drawingml/2006/main">
              <a:ext uri="{FF2B5EF4-FFF2-40B4-BE49-F238E27FC236}">
                <a16:creationId xmlns:a16="http://schemas.microsoft.com/office/drawing/2014/main" id="{22DC359E-9E6E-4E9F-BF48-BEF9690E6A70}"/>
              </a:ext>
            </a:extLst>
          </p:cNvPr>
          <p:cNvSpPr>
            <a:spLocks xmlns:a="http://schemas.openxmlformats.org/drawingml/2006/main" noGrp="1"/>
          </p:cNvSpPr>
          <p:nvPr/>
        </p:nvSpPr>
        <p:spPr>
          <a:xfrm xmlns:a="http://schemas.openxmlformats.org/drawingml/2006/main">
            <a:off x="365760"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CAOP grid; ICNF burned areas; CLC; DEM; ERA5-Land.</a:t>
            </a:r>
            <a:endParaRPr sz="850"/>
          </a:p>
        </p:txBody>
      </p:sp>
      <p:sp>
        <p:nvSpPr>
          <p:cNvPr id="13" name="Shape 11">
            <a:extLst xmlns:a="http://schemas.openxmlformats.org/drawingml/2006/main">
              <a:ext uri="{FF2B5EF4-FFF2-40B4-BE49-F238E27FC236}">
                <a16:creationId xmlns:a16="http://schemas.microsoft.com/office/drawing/2014/main" id="{1CD4E307-F1DC-41BD-A2A0-EF4229C67E73}"/>
              </a:ext>
            </a:extLst>
          </p:cNvPr>
          <p:cNvSpPr>
            <a:spLocks xmlns:a="http://schemas.openxmlformats.org/drawingml/2006/main" noGrp="1"/>
          </p:cNvSpPr>
          <p:nvPr/>
        </p:nvSpPr>
        <p:spPr>
          <a:xfrm xmlns:a="http://schemas.openxmlformats.org/drawingml/2006/main">
            <a:off x="365760" y="2578608"/>
            <a:ext cx="2468880" cy="502920"/>
          </a:xfrm>
          <a:prstGeom xmlns:a="http://schemas.openxmlformats.org/drawingml/2006/main" prst="rect">
            <a:avLst/>
          </a:prstGeom>
          <a:solidFill xmlns:a="http://schemas.openxmlformats.org/drawingml/2006/main">
            <a:srgbClr val="EBF0FD"/>
          </a:solidFill>
          <a:ln xmlns:a="http://schemas.openxmlformats.org/drawingml/2006/main" w="12700">
            <a:solidFill>
              <a:srgbClr val="EBF0FD"/>
            </a:solidFill>
            <a:prstDash val="solid"/>
          </a:ln>
        </p:spPr>
      </p:sp>
      <p:sp>
        <p:nvSpPr>
          <p:cNvPr id="14" name="Text 12">
            <a:extLst xmlns:a="http://schemas.openxmlformats.org/drawingml/2006/main">
              <a:ext uri="{FF2B5EF4-FFF2-40B4-BE49-F238E27FC236}">
                <a16:creationId xmlns:a16="http://schemas.microsoft.com/office/drawing/2014/main" id="{C2C8DE72-7721-45D6-B469-D1F7820E4A35}"/>
              </a:ext>
            </a:extLst>
          </p:cNvPr>
          <p:cNvSpPr>
            <a:spLocks xmlns:a="http://schemas.openxmlformats.org/drawingml/2006/main" noGrp="1"/>
          </p:cNvSpPr>
          <p:nvPr/>
        </p:nvSpPr>
        <p:spPr>
          <a:xfrm xmlns:a="http://schemas.openxmlformats.org/drawingml/2006/main">
            <a:off x="411480"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One 1 km cell × predictor year</a:t>
            </a:r>
            <a:endParaRPr sz="800"/>
          </a:p>
        </p:txBody>
      </p:sp>
      <p:sp>
        <p:nvSpPr>
          <p:cNvPr id="15" name="Text 13">
            <a:extLst xmlns:a="http://schemas.openxmlformats.org/drawingml/2006/main">
              <a:ext uri="{FF2B5EF4-FFF2-40B4-BE49-F238E27FC236}">
                <a16:creationId xmlns:a16="http://schemas.microsoft.com/office/drawing/2014/main" id="{A0536C49-BFED-466A-8A4F-1AF9F8838334}"/>
              </a:ext>
            </a:extLst>
          </p:cNvPr>
          <p:cNvSpPr>
            <a:spLocks xmlns:a="http://schemas.openxmlformats.org/drawingml/2006/main" noGrp="1"/>
          </p:cNvSpPr>
          <p:nvPr/>
        </p:nvSpPr>
        <p:spPr>
          <a:xfrm xmlns:a="http://schemas.openxmlformats.org/drawingml/2006/main">
            <a:off x="365760"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Nine predictors from year T</a:t>
            </a:r>
            <a:endParaRPr sz="750"/>
          </a:p>
        </p:txBody>
      </p:sp>
      <p:sp>
        <p:nvSpPr>
          <p:cNvPr id="16" name="Text 14">
            <a:extLst xmlns:a="http://schemas.openxmlformats.org/drawingml/2006/main">
              <a:ext uri="{FF2B5EF4-FFF2-40B4-BE49-F238E27FC236}">
                <a16:creationId xmlns:a16="http://schemas.microsoft.com/office/drawing/2014/main" id="{061C0752-DC49-4F35-AFC7-AB88C79FAF0D}"/>
              </a:ext>
            </a:extLst>
          </p:cNvPr>
          <p:cNvSpPr>
            <a:spLocks xmlns:a="http://schemas.openxmlformats.org/drawingml/2006/main" noGrp="1"/>
          </p:cNvSpPr>
          <p:nvPr/>
        </p:nvSpPr>
        <p:spPr>
          <a:xfrm xmlns:a="http://schemas.openxmlformats.org/drawingml/2006/main">
            <a:off x="365760"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Observed target from year T+1 only</a:t>
            </a:r>
            <a:endParaRPr sz="750"/>
          </a:p>
        </p:txBody>
      </p:sp>
      <p:sp>
        <p:nvSpPr>
          <p:cNvPr id="17" name="Text 15">
            <a:extLst xmlns:a="http://schemas.openxmlformats.org/drawingml/2006/main">
              <a:ext uri="{FF2B5EF4-FFF2-40B4-BE49-F238E27FC236}">
                <a16:creationId xmlns:a16="http://schemas.microsoft.com/office/drawing/2014/main" id="{E4724BAC-EE83-433E-87E5-BC0E996BDFFC}"/>
              </a:ext>
            </a:extLst>
          </p:cNvPr>
          <p:cNvSpPr>
            <a:spLocks xmlns:a="http://schemas.openxmlformats.org/drawingml/2006/main" noGrp="1"/>
          </p:cNvSpPr>
          <p:nvPr/>
        </p:nvSpPr>
        <p:spPr>
          <a:xfrm xmlns:a="http://schemas.openxmlformats.org/drawingml/2006/main">
            <a:off x="2962656" y="2560320"/>
            <a:ext cx="320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E8A020"/>
                </a:solidFill>
              </a:rPr>
              <a:t>-&gt;</a:t>
            </a:r>
            <a:endParaRPr sz="2000"/>
          </a:p>
        </p:txBody>
      </p:sp>
      <p:sp>
        <p:nvSpPr>
          <p:cNvPr id="18" name="Shape 16">
            <a:extLst xmlns:a="http://schemas.openxmlformats.org/drawingml/2006/main">
              <a:ext uri="{FF2B5EF4-FFF2-40B4-BE49-F238E27FC236}">
                <a16:creationId xmlns:a16="http://schemas.microsoft.com/office/drawing/2014/main" id="{88BDC9BD-5FAD-4BBE-B51A-B021702F2F4D}"/>
              </a:ext>
            </a:extLst>
          </p:cNvPr>
          <p:cNvSpPr>
            <a:spLocks xmlns:a="http://schemas.openxmlformats.org/drawingml/2006/main" noGrp="1"/>
          </p:cNvSpPr>
          <p:nvPr/>
        </p:nvSpPr>
        <p:spPr>
          <a:xfrm xmlns:a="http://schemas.openxmlformats.org/drawingml/2006/main">
            <a:off x="3310128"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E67E22"/>
            </a:solidFill>
            <a:prstDash val="solid"/>
          </a:ln>
          <a:effectLst xmlns:a="http://schemas.openxmlformats.org/drawingml/2006/main">
            <a:outerShdw blurRad="101600" dist="38100" dir="8100000" algn="bl" rotWithShape="0">
              <a:srgbClr val="000000">
                <a:alpha val="10000"/>
              </a:srgbClr>
            </a:outerShdw>
          </a:effectLst>
        </p:spPr>
      </p:sp>
      <p:sp>
        <p:nvSpPr>
          <p:cNvPr id="19" name="Shape 17">
            <a:extLst xmlns:a="http://schemas.openxmlformats.org/drawingml/2006/main">
              <a:ext uri="{FF2B5EF4-FFF2-40B4-BE49-F238E27FC236}">
                <a16:creationId xmlns:a16="http://schemas.microsoft.com/office/drawing/2014/main" id="{8FE4F804-F3B6-4684-BFCD-653595482E22}"/>
              </a:ext>
            </a:extLst>
          </p:cNvPr>
          <p:cNvSpPr>
            <a:spLocks xmlns:a="http://schemas.openxmlformats.org/drawingml/2006/main" noGrp="1"/>
          </p:cNvSpPr>
          <p:nvPr/>
        </p:nvSpPr>
        <p:spPr>
          <a:xfrm xmlns:a="http://schemas.openxmlformats.org/drawingml/2006/main">
            <a:off x="3310128" y="1371600"/>
            <a:ext cx="2651760" cy="384048"/>
          </a:xfrm>
          <a:prstGeom xmlns:a="http://schemas.openxmlformats.org/drawingml/2006/main" prst="rect">
            <a:avLst/>
          </a:prstGeom>
          <a:solidFill xmlns:a="http://schemas.openxmlformats.org/drawingml/2006/main">
            <a:srgbClr val="E67E22"/>
          </a:solidFill>
          <a:ln xmlns:a="http://schemas.openxmlformats.org/drawingml/2006/main" w="12700">
            <a:solidFill>
              <a:srgbClr val="E67E22"/>
            </a:solidFill>
            <a:prstDash val="solid"/>
          </a:ln>
        </p:spPr>
      </p:sp>
      <p:sp>
        <p:nvSpPr>
          <p:cNvPr id="20" name="Text 18">
            <a:extLst xmlns:a="http://schemas.openxmlformats.org/drawingml/2006/main">
              <a:ext uri="{FF2B5EF4-FFF2-40B4-BE49-F238E27FC236}">
                <a16:creationId xmlns:a16="http://schemas.microsoft.com/office/drawing/2014/main" id="{F823FAC1-C9B5-4631-81A0-0779D0A744E5}"/>
              </a:ext>
            </a:extLst>
          </p:cNvPr>
          <p:cNvSpPr>
            <a:spLocks xmlns:a="http://schemas.openxmlformats.org/drawingml/2006/main" noGrp="1"/>
          </p:cNvSpPr>
          <p:nvPr/>
        </p:nvSpPr>
        <p:spPr>
          <a:xfrm xmlns:a="http://schemas.openxmlformats.org/drawingml/2006/main">
            <a:off x="3310128"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TRAIN</a:t>
            </a:r>
            <a:endParaRPr sz="1100"/>
          </a:p>
        </p:txBody>
      </p:sp>
      <p:sp>
        <p:nvSpPr>
          <p:cNvPr id="21" name="Text 19">
            <a:extLst xmlns:a="http://schemas.openxmlformats.org/drawingml/2006/main">
              <a:ext uri="{FF2B5EF4-FFF2-40B4-BE49-F238E27FC236}">
                <a16:creationId xmlns:a16="http://schemas.microsoft.com/office/drawing/2014/main" id="{CDF192D1-D9B3-4618-B786-9A11E17D0DE9}"/>
              </a:ext>
            </a:extLst>
          </p:cNvPr>
          <p:cNvSpPr>
            <a:spLocks xmlns:a="http://schemas.openxmlformats.org/drawingml/2006/main" noGrp="1"/>
          </p:cNvSpPr>
          <p:nvPr/>
        </p:nvSpPr>
        <p:spPr>
          <a:xfrm xmlns:a="http://schemas.openxmlformats.org/drawingml/2006/main">
            <a:off x="3401568"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E67E22"/>
                </a:solidFill>
              </a:rPr>
              <a:t>Fit historical relationships</a:t>
            </a:r>
            <a:endParaRPr sz="800"/>
          </a:p>
        </p:txBody>
      </p:sp>
      <p:sp>
        <p:nvSpPr>
          <p:cNvPr id="22" name="Text 20">
            <a:extLst xmlns:a="http://schemas.openxmlformats.org/drawingml/2006/main">
              <a:ext uri="{FF2B5EF4-FFF2-40B4-BE49-F238E27FC236}">
                <a16:creationId xmlns:a16="http://schemas.microsoft.com/office/drawing/2014/main" id="{35B99BF9-D34E-45F7-A42A-E1EE7420E18A}"/>
              </a:ext>
            </a:extLst>
          </p:cNvPr>
          <p:cNvSpPr>
            <a:spLocks xmlns:a="http://schemas.openxmlformats.org/drawingml/2006/main" noGrp="1"/>
          </p:cNvSpPr>
          <p:nvPr/>
        </p:nvSpPr>
        <p:spPr>
          <a:xfrm xmlns:a="http://schemas.openxmlformats.org/drawingml/2006/main">
            <a:off x="3401568"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Training: T=2010–2019 → outcomes 2011–2020.</a:t>
            </a:r>
            <a:endParaRPr sz="850"/>
          </a:p>
        </p:txBody>
      </p:sp>
      <p:sp>
        <p:nvSpPr>
          <p:cNvPr id="23" name="Shape 21">
            <a:extLst xmlns:a="http://schemas.openxmlformats.org/drawingml/2006/main">
              <a:ext uri="{FF2B5EF4-FFF2-40B4-BE49-F238E27FC236}">
                <a16:creationId xmlns:a16="http://schemas.microsoft.com/office/drawing/2014/main" id="{6F886BEF-D149-4B22-AB28-BF3F16160D69}"/>
              </a:ext>
            </a:extLst>
          </p:cNvPr>
          <p:cNvSpPr>
            <a:spLocks xmlns:a="http://schemas.openxmlformats.org/drawingml/2006/main" noGrp="1"/>
          </p:cNvSpPr>
          <p:nvPr/>
        </p:nvSpPr>
        <p:spPr>
          <a:xfrm xmlns:a="http://schemas.openxmlformats.org/drawingml/2006/main">
            <a:off x="3401568" y="2578608"/>
            <a:ext cx="2468880" cy="502920"/>
          </a:xfrm>
          <a:prstGeom xmlns:a="http://schemas.openxmlformats.org/drawingml/2006/main" prst="rect">
            <a:avLst/>
          </a:prstGeom>
          <a:solidFill xmlns:a="http://schemas.openxmlformats.org/drawingml/2006/main">
            <a:srgbClr val="FEF3E2"/>
          </a:solidFill>
          <a:ln xmlns:a="http://schemas.openxmlformats.org/drawingml/2006/main" w="12700">
            <a:solidFill>
              <a:srgbClr val="FEF3E2"/>
            </a:solidFill>
            <a:prstDash val="solid"/>
          </a:ln>
        </p:spPr>
      </p:sp>
      <p:sp>
        <p:nvSpPr>
          <p:cNvPr id="24" name="Text 22">
            <a:extLst xmlns:a="http://schemas.openxmlformats.org/drawingml/2006/main">
              <a:ext uri="{FF2B5EF4-FFF2-40B4-BE49-F238E27FC236}">
                <a16:creationId xmlns:a16="http://schemas.microsoft.com/office/drawing/2014/main" id="{80A0214D-E33A-4BF0-8D70-726CFE0375AB}"/>
              </a:ext>
            </a:extLst>
          </p:cNvPr>
          <p:cNvSpPr>
            <a:spLocks xmlns:a="http://schemas.openxmlformats.org/drawingml/2006/main" noGrp="1"/>
          </p:cNvSpPr>
          <p:nvPr/>
        </p:nvSpPr>
        <p:spPr>
          <a:xfrm xmlns:a="http://schemas.openxmlformats.org/drawingml/2006/main">
            <a:off x="3447288"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Baseline + candidate models</a:t>
            </a:r>
            <a:endParaRPr sz="800"/>
          </a:p>
        </p:txBody>
      </p:sp>
      <p:sp>
        <p:nvSpPr>
          <p:cNvPr id="25" name="Text 23">
            <a:extLst xmlns:a="http://schemas.openxmlformats.org/drawingml/2006/main">
              <a:ext uri="{FF2B5EF4-FFF2-40B4-BE49-F238E27FC236}">
                <a16:creationId xmlns:a16="http://schemas.microsoft.com/office/drawing/2014/main" id="{EDB0DD6E-990A-42DB-9875-F090FBA9738B}"/>
              </a:ext>
            </a:extLst>
          </p:cNvPr>
          <p:cNvSpPr>
            <a:spLocks xmlns:a="http://schemas.openxmlformats.org/drawingml/2006/main" noGrp="1"/>
          </p:cNvSpPr>
          <p:nvPr/>
        </p:nvSpPr>
        <p:spPr>
          <a:xfrm xmlns:a="http://schemas.openxmlformats.org/drawingml/2006/main">
            <a:off x="3401568"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Learn from training years only</a:t>
            </a:r>
            <a:endParaRPr sz="750"/>
          </a:p>
        </p:txBody>
      </p:sp>
      <p:sp>
        <p:nvSpPr>
          <p:cNvPr id="26" name="Text 24">
            <a:extLst xmlns:a="http://schemas.openxmlformats.org/drawingml/2006/main">
              <a:ext uri="{FF2B5EF4-FFF2-40B4-BE49-F238E27FC236}">
                <a16:creationId xmlns:a16="http://schemas.microsoft.com/office/drawing/2014/main" id="{C7AC1FC5-9639-4DA9-B51C-80DD5E469942}"/>
              </a:ext>
            </a:extLst>
          </p:cNvPr>
          <p:cNvSpPr>
            <a:spLocks xmlns:a="http://schemas.openxmlformats.org/drawingml/2006/main" noGrp="1"/>
          </p:cNvSpPr>
          <p:nvPr/>
        </p:nvSpPr>
        <p:spPr>
          <a:xfrm xmlns:a="http://schemas.openxmlformats.org/drawingml/2006/main">
            <a:off x="3401568"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Validation and final years stay outside fitting</a:t>
            </a:r>
            <a:endParaRPr sz="750"/>
          </a:p>
        </p:txBody>
      </p:sp>
      <p:sp>
        <p:nvSpPr>
          <p:cNvPr id="27" name="Text 25">
            <a:extLst xmlns:a="http://schemas.openxmlformats.org/drawingml/2006/main">
              <a:ext uri="{FF2B5EF4-FFF2-40B4-BE49-F238E27FC236}">
                <a16:creationId xmlns:a16="http://schemas.microsoft.com/office/drawing/2014/main" id="{44357DB5-05F8-4CF5-8D21-E89F0DFA12F8}"/>
              </a:ext>
            </a:extLst>
          </p:cNvPr>
          <p:cNvSpPr>
            <a:spLocks xmlns:a="http://schemas.openxmlformats.org/drawingml/2006/main" noGrp="1"/>
          </p:cNvSpPr>
          <p:nvPr/>
        </p:nvSpPr>
        <p:spPr>
          <a:xfrm xmlns:a="http://schemas.openxmlformats.org/drawingml/2006/main">
            <a:off x="5998464" y="2560320"/>
            <a:ext cx="320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E8A020"/>
                </a:solidFill>
              </a:rPr>
              <a:t>-&gt;</a:t>
            </a:r>
            <a:endParaRPr sz="2000"/>
          </a:p>
        </p:txBody>
      </p:sp>
      <p:sp>
        <p:nvSpPr>
          <p:cNvPr id="28" name="Shape 26">
            <a:extLst xmlns:a="http://schemas.openxmlformats.org/drawingml/2006/main">
              <a:ext uri="{FF2B5EF4-FFF2-40B4-BE49-F238E27FC236}">
                <a16:creationId xmlns:a16="http://schemas.microsoft.com/office/drawing/2014/main" id="{C1EB402B-5D07-41FD-A88B-C668B30929ED}"/>
              </a:ext>
            </a:extLst>
          </p:cNvPr>
          <p:cNvSpPr>
            <a:spLocks xmlns:a="http://schemas.openxmlformats.org/drawingml/2006/main" noGrp="1"/>
          </p:cNvSpPr>
          <p:nvPr/>
        </p:nvSpPr>
        <p:spPr>
          <a:xfrm xmlns:a="http://schemas.openxmlformats.org/drawingml/2006/main">
            <a:off x="6345936"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2A9D61"/>
            </a:solidFill>
            <a:prstDash val="solid"/>
          </a:ln>
          <a:effectLst xmlns:a="http://schemas.openxmlformats.org/drawingml/2006/main">
            <a:outerShdw blurRad="101600" dist="38100" dir="8100000" algn="bl" rotWithShape="0">
              <a:srgbClr val="000000">
                <a:alpha val="10000"/>
              </a:srgbClr>
            </a:outerShdw>
          </a:effectLst>
        </p:spPr>
      </p:sp>
      <p:sp>
        <p:nvSpPr>
          <p:cNvPr id="29" name="Shape 27">
            <a:extLst xmlns:a="http://schemas.openxmlformats.org/drawingml/2006/main">
              <a:ext uri="{FF2B5EF4-FFF2-40B4-BE49-F238E27FC236}">
                <a16:creationId xmlns:a16="http://schemas.microsoft.com/office/drawing/2014/main" id="{CB31566B-19C9-48AC-A726-E822C5985068}"/>
              </a:ext>
            </a:extLst>
          </p:cNvPr>
          <p:cNvSpPr>
            <a:spLocks xmlns:a="http://schemas.openxmlformats.org/drawingml/2006/main" noGrp="1"/>
          </p:cNvSpPr>
          <p:nvPr/>
        </p:nvSpPr>
        <p:spPr>
          <a:xfrm xmlns:a="http://schemas.openxmlformats.org/drawingml/2006/main">
            <a:off x="6345936" y="1371600"/>
            <a:ext cx="2651760" cy="38404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30" name="Text 28">
            <a:extLst xmlns:a="http://schemas.openxmlformats.org/drawingml/2006/main">
              <a:ext uri="{FF2B5EF4-FFF2-40B4-BE49-F238E27FC236}">
                <a16:creationId xmlns:a16="http://schemas.microsoft.com/office/drawing/2014/main" id="{576FE3D7-10A4-4179-9328-3F34C913B9ED}"/>
              </a:ext>
            </a:extLst>
          </p:cNvPr>
          <p:cNvSpPr>
            <a:spLocks xmlns:a="http://schemas.openxmlformats.org/drawingml/2006/main" noGrp="1"/>
          </p:cNvSpPr>
          <p:nvPr/>
        </p:nvSpPr>
        <p:spPr>
          <a:xfrm xmlns:a="http://schemas.openxmlformats.org/drawingml/2006/main">
            <a:off x="6345936"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SELECT + CHECK</a:t>
            </a:r>
            <a:endParaRPr sz="1100"/>
          </a:p>
        </p:txBody>
      </p:sp>
      <p:sp>
        <p:nvSpPr>
          <p:cNvPr id="31" name="Text 29">
            <a:extLst xmlns:a="http://schemas.openxmlformats.org/drawingml/2006/main">
              <a:ext uri="{FF2B5EF4-FFF2-40B4-BE49-F238E27FC236}">
                <a16:creationId xmlns:a16="http://schemas.microsoft.com/office/drawing/2014/main" id="{088C263C-A0CB-4982-A338-F3A1BB2F9F95}"/>
              </a:ext>
            </a:extLst>
          </p:cNvPr>
          <p:cNvSpPr>
            <a:spLocks xmlns:a="http://schemas.openxmlformats.org/drawingml/2006/main" noGrp="1"/>
          </p:cNvSpPr>
          <p:nvPr/>
        </p:nvSpPr>
        <p:spPr>
          <a:xfrm xmlns:a="http://schemas.openxmlformats.org/drawingml/2006/main">
            <a:off x="6437376"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2A9D61"/>
                </a:solidFill>
              </a:rPr>
              <a:t>Validation and final evaluation</a:t>
            </a:r>
            <a:endParaRPr sz="800"/>
          </a:p>
        </p:txBody>
      </p:sp>
      <p:sp>
        <p:nvSpPr>
          <p:cNvPr id="32" name="Text 30">
            <a:extLst xmlns:a="http://schemas.openxmlformats.org/drawingml/2006/main">
              <a:ext uri="{FF2B5EF4-FFF2-40B4-BE49-F238E27FC236}">
                <a16:creationId xmlns:a16="http://schemas.microsoft.com/office/drawing/2014/main" id="{3591A679-B15E-406C-86A0-00F6CAE7220A}"/>
              </a:ext>
            </a:extLst>
          </p:cNvPr>
          <p:cNvSpPr>
            <a:spLocks xmlns:a="http://schemas.openxmlformats.org/drawingml/2006/main" noGrp="1"/>
          </p:cNvSpPr>
          <p:nvPr/>
        </p:nvSpPr>
        <p:spPr>
          <a:xfrm xmlns:a="http://schemas.openxmlformats.org/drawingml/2006/main">
            <a:off x="6437376"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Validation: T=2020–2021 → outcomes 2021–2022.</a:t>
            </a:r>
            <a:endParaRPr sz="850"/>
          </a:p>
        </p:txBody>
      </p:sp>
      <p:sp>
        <p:nvSpPr>
          <p:cNvPr id="33" name="Shape 31">
            <a:extLst xmlns:a="http://schemas.openxmlformats.org/drawingml/2006/main">
              <a:ext uri="{FF2B5EF4-FFF2-40B4-BE49-F238E27FC236}">
                <a16:creationId xmlns:a16="http://schemas.microsoft.com/office/drawing/2014/main" id="{21F582AF-C78B-4E58-9B57-6833B74F7712}"/>
              </a:ext>
            </a:extLst>
          </p:cNvPr>
          <p:cNvSpPr>
            <a:spLocks xmlns:a="http://schemas.openxmlformats.org/drawingml/2006/main" noGrp="1"/>
          </p:cNvSpPr>
          <p:nvPr/>
        </p:nvSpPr>
        <p:spPr>
          <a:xfrm xmlns:a="http://schemas.openxmlformats.org/drawingml/2006/main">
            <a:off x="6437376" y="2578608"/>
            <a:ext cx="2468880" cy="502920"/>
          </a:xfrm>
          <a:prstGeom xmlns:a="http://schemas.openxmlformats.org/drawingml/2006/main" prst="rect">
            <a:avLst/>
          </a:prstGeom>
          <a:solidFill xmlns:a="http://schemas.openxmlformats.org/drawingml/2006/main">
            <a:srgbClr val="E6F5EE"/>
          </a:solidFill>
          <a:ln xmlns:a="http://schemas.openxmlformats.org/drawingml/2006/main" w="12700">
            <a:solidFill>
              <a:srgbClr val="E6F5EE"/>
            </a:solidFill>
            <a:prstDash val="solid"/>
          </a:ln>
        </p:spPr>
      </p:sp>
      <p:sp>
        <p:nvSpPr>
          <p:cNvPr id="34" name="Text 32">
            <a:extLst xmlns:a="http://schemas.openxmlformats.org/drawingml/2006/main">
              <a:ext uri="{FF2B5EF4-FFF2-40B4-BE49-F238E27FC236}">
                <a16:creationId xmlns:a16="http://schemas.microsoft.com/office/drawing/2014/main" id="{131D7657-5536-4C80-9B52-926E19C32495}"/>
              </a:ext>
            </a:extLst>
          </p:cNvPr>
          <p:cNvSpPr>
            <a:spLocks xmlns:a="http://schemas.openxmlformats.org/drawingml/2006/main" noGrp="1"/>
          </p:cNvSpPr>
          <p:nvPr/>
        </p:nvSpPr>
        <p:spPr>
          <a:xfrm xmlns:a="http://schemas.openxmlformats.org/drawingml/2006/main">
            <a:off x="6483096"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Final: T=2022–2024 → outcomes 2023–2025</a:t>
            </a:r>
            <a:endParaRPr sz="800"/>
          </a:p>
        </p:txBody>
      </p:sp>
      <p:sp>
        <p:nvSpPr>
          <p:cNvPr id="35" name="Text 33">
            <a:extLst xmlns:a="http://schemas.openxmlformats.org/drawingml/2006/main">
              <a:ext uri="{FF2B5EF4-FFF2-40B4-BE49-F238E27FC236}">
                <a16:creationId xmlns:a16="http://schemas.microsoft.com/office/drawing/2014/main" id="{555C2D91-F1C0-4C81-A522-273CE805D265}"/>
              </a:ext>
            </a:extLst>
          </p:cNvPr>
          <p:cNvSpPr>
            <a:spLocks xmlns:a="http://schemas.openxmlformats.org/drawingml/2006/main" noGrp="1"/>
          </p:cNvSpPr>
          <p:nvPr/>
        </p:nvSpPr>
        <p:spPr>
          <a:xfrm xmlns:a="http://schemas.openxmlformats.org/drawingml/2006/main">
            <a:off x="6437376"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Select on validation; evaluate final once</a:t>
            </a:r>
            <a:endParaRPr sz="750"/>
          </a:p>
        </p:txBody>
      </p:sp>
      <p:sp>
        <p:nvSpPr>
          <p:cNvPr id="36" name="Text 34">
            <a:extLst xmlns:a="http://schemas.openxmlformats.org/drawingml/2006/main">
              <a:ext uri="{FF2B5EF4-FFF2-40B4-BE49-F238E27FC236}">
                <a16:creationId xmlns:a16="http://schemas.microsoft.com/office/drawing/2014/main" id="{348B69A9-A889-4CDD-892E-2DD982669C0A}"/>
              </a:ext>
            </a:extLst>
          </p:cNvPr>
          <p:cNvSpPr>
            <a:spLocks xmlns:a="http://schemas.openxmlformats.org/drawingml/2006/main" noGrp="1"/>
          </p:cNvSpPr>
          <p:nvPr/>
        </p:nvSpPr>
        <p:spPr>
          <a:xfrm xmlns:a="http://schemas.openxmlformats.org/drawingml/2006/main">
            <a:off x="6437376"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 Refit the selected specification</a:t>
            </a:r>
            <a:endParaRPr sz="750"/>
          </a:p>
        </p:txBody>
      </p:sp>
      <p:sp>
        <p:nvSpPr>
          <p:cNvPr id="37" name="Shape 35">
            <a:extLst xmlns:a="http://schemas.openxmlformats.org/drawingml/2006/main">
              <a:ext uri="{FF2B5EF4-FFF2-40B4-BE49-F238E27FC236}">
                <a16:creationId xmlns:a16="http://schemas.microsoft.com/office/drawing/2014/main" id="{1CF7DD12-EEE0-44CF-90BD-A5A6555384C9}"/>
              </a:ext>
            </a:extLst>
          </p:cNvPr>
          <p:cNvSpPr>
            <a:spLocks xmlns:a="http://schemas.openxmlformats.org/drawingml/2006/main" noGrp="1"/>
          </p:cNvSpPr>
          <p:nvPr/>
        </p:nvSpPr>
        <p:spPr>
          <a:xfrm xmlns:a="http://schemas.openxmlformats.org/drawingml/2006/main">
            <a:off x="274320" y="4315968"/>
            <a:ext cx="8595360" cy="457200"/>
          </a:xfrm>
          <a:prstGeom xmlns:a="http://schemas.openxmlformats.org/drawingml/2006/main" prst="rect">
            <a:avLst/>
          </a:prstGeom>
          <a:solidFill xmlns:a="http://schemas.openxmlformats.org/drawingml/2006/main">
            <a:srgbClr val="0D1F2D"/>
          </a:solidFill>
          <a:ln xmlns:a="http://schemas.openxmlformats.org/drawingml/2006/main" w="12700">
            <a:solidFill>
              <a:srgbClr val="0D1F2D"/>
            </a:solidFill>
            <a:prstDash val="solid"/>
          </a:ln>
        </p:spPr>
      </p:sp>
      <p:sp>
        <p:nvSpPr>
          <p:cNvPr id="38" name="Text 36">
            <a:extLst xmlns:a="http://schemas.openxmlformats.org/drawingml/2006/main">
              <a:ext uri="{FF2B5EF4-FFF2-40B4-BE49-F238E27FC236}">
                <a16:creationId xmlns:a16="http://schemas.microsoft.com/office/drawing/2014/main" id="{437652F4-0A68-4E8D-8FB1-0D1F3BBDF796}"/>
              </a:ext>
            </a:extLst>
          </p:cNvPr>
          <p:cNvSpPr>
            <a:spLocks xmlns:a="http://schemas.openxmlformats.org/drawingml/2006/main" noGrp="1"/>
          </p:cNvSpPr>
          <p:nvPr/>
        </p:nvSpPr>
        <p:spPr>
          <a:xfrm xmlns:a="http://schemas.openxmlformats.org/drawingml/2006/main">
            <a:off x="411480" y="4315968"/>
            <a:ext cx="8321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E8A020"/>
                </a:solidFill>
              </a:rPr>
              <a:t>REFIT + 2026 ESTIMATE | T=2010–2024 → outcomes 2011–2025; T=2025 inputs → 2026 estimate (outcome pending).</a:t>
            </a:r>
            <a:endParaRPr sz="850"/>
          </a:p>
        </p:txBody>
      </p:sp>
      <p:sp>
        <p:nvSpPr>
          <p:cNvPr id="39" name="Shape 37">
            <a:extLst xmlns:a="http://schemas.openxmlformats.org/drawingml/2006/main">
              <a:ext uri="{FF2B5EF4-FFF2-40B4-BE49-F238E27FC236}">
                <a16:creationId xmlns:a16="http://schemas.microsoft.com/office/drawing/2014/main" id="{49A759C5-57AB-43DF-B3F0-A2B8CCABD533}"/>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40" name="Text 38">
            <a:extLst xmlns:a="http://schemas.openxmlformats.org/drawingml/2006/main">
              <a:ext uri="{FF2B5EF4-FFF2-40B4-BE49-F238E27FC236}">
                <a16:creationId xmlns:a16="http://schemas.microsoft.com/office/drawing/2014/main" id="{D0C3C7AC-0669-4B0F-BD8F-AB88AC487A35}"/>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D916D61E-8D80-4696-BE48-571111EE6D65}"/>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3F6F9"/>
          </a:solidFill>
          <a:ln xmlns:a="http://schemas.openxmlformats.org/drawingml/2006/main" w="12700">
            <a:solidFill>
              <a:srgbClr val="F3F6F9"/>
            </a:solidFill>
            <a:prstDash val="solid"/>
          </a:ln>
        </p:spPr>
      </p:sp>
      <p:sp>
        <p:nvSpPr>
          <p:cNvPr id="3" name="Shape 1">
            <a:extLst xmlns:a="http://schemas.openxmlformats.org/drawingml/2006/main">
              <a:ext uri="{FF2B5EF4-FFF2-40B4-BE49-F238E27FC236}">
                <a16:creationId xmlns:a16="http://schemas.microsoft.com/office/drawing/2014/main" id="{7C197073-0349-496C-B731-E02726BC0FD2}"/>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 name="Shape 2">
            <a:extLst xmlns:a="http://schemas.openxmlformats.org/drawingml/2006/main">
              <a:ext uri="{FF2B5EF4-FFF2-40B4-BE49-F238E27FC236}">
                <a16:creationId xmlns:a16="http://schemas.microsoft.com/office/drawing/2014/main" id="{5344C750-A1AC-4D96-B5ED-2E59EAB552A3}"/>
              </a:ext>
            </a:extLst>
          </p:cNvPr>
          <p:cNvSpPr>
            <a:spLocks xmlns:a="http://schemas.openxmlformats.org/drawingml/2006/main" noGrp="1"/>
          </p:cNvSpPr>
          <p:nvPr/>
        </p:nvSpPr>
        <p:spPr>
          <a:xfrm xmlns:a="http://schemas.openxmlformats.org/drawingml/2006/main">
            <a:off x="0" y="64008"/>
            <a:ext cx="9144000" cy="65836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5" name="Text 3">
            <a:extLst xmlns:a="http://schemas.openxmlformats.org/drawingml/2006/main">
              <a:ext uri="{FF2B5EF4-FFF2-40B4-BE49-F238E27FC236}">
                <a16:creationId xmlns:a16="http://schemas.microsoft.com/office/drawing/2014/main" id="{4BCF9260-F9BB-427A-A715-0CA619DDD669}"/>
              </a:ext>
            </a:extLst>
          </p:cNvPr>
          <p:cNvSpPr>
            <a:spLocks xmlns:a="http://schemas.openxmlformats.org/drawingml/2006/main" noGrp="1"/>
          </p:cNvSpPr>
          <p:nvPr/>
        </p:nvSpPr>
        <p:spPr>
          <a:xfrm xmlns:a="http://schemas.openxmlformats.org/drawingml/2006/main">
            <a:off x="274320" y="64008"/>
            <a:ext cx="7315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E8A020"/>
                </a:solidFill>
              </a:rPr>
              <a:t>KEY FINDING 1</a:t>
            </a:r>
          </a:p>
          <a:p xmlns:a="http://schemas.openxmlformats.org/drawingml/2006/main">
            <a:pPr marL="0" indent="0">
              <a:buNone/>
            </a:pPr>
            <a:r>
              <a:rPr sz="1000">
                <a:solidFill>
                  <a:schemeClr val="accent6"/>
                </a:solidFill>
              </a:rPr>
              <a:t>observed history and 2026 comparative estimate</a:t>
            </a:r>
          </a:p>
        </p:txBody>
      </p:sp>
      <p:sp>
        <p:nvSpPr>
          <p:cNvPr id="6" name="Text 4">
            <a:extLst xmlns:a="http://schemas.openxmlformats.org/drawingml/2006/main">
              <a:ext uri="{FF2B5EF4-FFF2-40B4-BE49-F238E27FC236}">
                <a16:creationId xmlns:a16="http://schemas.microsoft.com/office/drawing/2014/main" id="{7C069EAE-F0EA-403F-93EC-4D5FAD01EDA4}"/>
              </a:ext>
            </a:extLst>
          </p:cNvPr>
          <p:cNvSpPr>
            <a:spLocks xmlns:a="http://schemas.openxmlformats.org/drawingml/2006/main" noGrp="1"/>
          </p:cNvSpPr>
          <p:nvPr/>
        </p:nvSpPr>
        <p:spPr>
          <a:xfrm xmlns:a="http://schemas.openxmlformats.org/drawingml/2006/main">
            <a:off x="6858000" y="64008"/>
            <a:ext cx="20116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E1E8EF"/>
                </a:solidFill>
              </a:rPr>
              <a:t>4 / 9</a:t>
            </a:r>
            <a:endParaRPr sz="1100"/>
          </a:p>
        </p:txBody>
      </p:sp>
      <p:sp>
        <p:nvSpPr>
          <p:cNvPr id="7" name="Text 5">
            <a:extLst xmlns:a="http://schemas.openxmlformats.org/drawingml/2006/main">
              <a:ext uri="{FF2B5EF4-FFF2-40B4-BE49-F238E27FC236}">
                <a16:creationId xmlns:a16="http://schemas.microsoft.com/office/drawing/2014/main" id="{166943B0-65A2-4E8E-A093-55763EACAA06}"/>
              </a:ext>
            </a:extLst>
          </p:cNvPr>
          <p:cNvSpPr>
            <a:spLocks xmlns:a="http://schemas.openxmlformats.org/drawingml/2006/main" noGrp="1"/>
          </p:cNvSpPr>
          <p:nvPr/>
        </p:nvSpPr>
        <p:spPr>
          <a:xfrm xmlns:a="http://schemas.openxmlformats.org/drawingml/2006/main">
            <a:off x="274320" y="804672"/>
            <a:ext cx="8595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A2638"/>
                </a:solidFill>
              </a:rPr>
              <a:t>Historical wildfire recurrence is uneven across mainland Portugal (left map)</a:t>
            </a:r>
            <a:endParaRPr sz="1600"/>
          </a:p>
        </p:txBody>
      </p:sp>
      <p:sp>
        <p:nvSpPr>
          <p:cNvPr id="33" name="Shape 31">
            <a:extLst xmlns:a="http://schemas.openxmlformats.org/drawingml/2006/main">
              <a:ext uri="{FF2B5EF4-FFF2-40B4-BE49-F238E27FC236}">
                <a16:creationId xmlns:a16="http://schemas.microsoft.com/office/drawing/2014/main" id="{35375F54-2542-44E4-9AE4-25E5F5E7CCD6}"/>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34" name="Text 32">
            <a:extLst xmlns:a="http://schemas.openxmlformats.org/drawingml/2006/main">
              <a:ext uri="{FF2B5EF4-FFF2-40B4-BE49-F238E27FC236}">
                <a16:creationId xmlns:a16="http://schemas.microsoft.com/office/drawing/2014/main" id="{311C9A05-ACCC-4E9D-9690-B5C3213DD01B}"/>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pic>
        <p:nvPicPr>
          <p:cNvPr id="44" name="Picture 8"/>
          <p:cNvPicPr>
            <a:picLocks xmlns:a="http://schemas.openxmlformats.org/drawingml/2006/main" noChangeAspect="1"/>
          </p:cNvPicPr>
          <p:nvPr/>
        </p:nvPicPr>
        <p:blipFill>
          <a:blip xmlns:r="http://schemas.openxmlformats.org/officeDocument/2006/relationships" xmlns:a="http://schemas.openxmlformats.org/drawingml/2006/main" r:embed="R267747eb6fa64a2b"/>
          <a:stretch xmlns:a="http://schemas.openxmlformats.org/drawingml/2006/main">
            <a:fillRect l="0" t="0" r="0" b="0"/>
          </a:stretch>
        </p:blipFill>
        <p:spPr>
          <a:xfrm xmlns:a="http://schemas.openxmlformats.org/drawingml/2006/main">
            <a:off x="742950" y="1107383"/>
            <a:ext cx="7581900" cy="3810525"/>
          </a:xfrm>
          <a:prstGeom xmlns:a="http://schemas.openxmlformats.org/drawingml/2006/main" prst="rect">
            <a:avLst/>
          </a:prstGeom>
        </p:spPr>
      </p:pic>
    </p:spTree>
    <p:extLst>
      <p:ext uri="{BB962C8B-B14F-4D97-AF65-F5344CB8AC3E}">
        <p14:creationId xmlns:p14="http://schemas.microsoft.com/office/powerpoint/2010/main" val="61253404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433246D-B8F5-43EE-AF32-B05C98498242}"/>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3F6F9"/>
          </a:solidFill>
          <a:ln xmlns:a="http://schemas.openxmlformats.org/drawingml/2006/main" w="12700">
            <a:solidFill>
              <a:srgbClr val="F3F6F9"/>
            </a:solidFill>
            <a:prstDash val="solid"/>
          </a:ln>
        </p:spPr>
      </p:sp>
      <p:sp>
        <p:nvSpPr>
          <p:cNvPr id="3" name="Shape 1">
            <a:extLst xmlns:a="http://schemas.openxmlformats.org/drawingml/2006/main">
              <a:ext uri="{FF2B5EF4-FFF2-40B4-BE49-F238E27FC236}">
                <a16:creationId xmlns:a16="http://schemas.microsoft.com/office/drawing/2014/main" id="{B9907FB8-8328-4B2E-B5E1-84E6FBE1233F}"/>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 name="Shape 2">
            <a:extLst xmlns:a="http://schemas.openxmlformats.org/drawingml/2006/main">
              <a:ext uri="{FF2B5EF4-FFF2-40B4-BE49-F238E27FC236}">
                <a16:creationId xmlns:a16="http://schemas.microsoft.com/office/drawing/2014/main" id="{F3F02133-847A-404E-9F4B-6A7DE78DB92B}"/>
              </a:ext>
            </a:extLst>
          </p:cNvPr>
          <p:cNvSpPr>
            <a:spLocks xmlns:a="http://schemas.openxmlformats.org/drawingml/2006/main" noGrp="1"/>
          </p:cNvSpPr>
          <p:nvPr/>
        </p:nvSpPr>
        <p:spPr>
          <a:xfrm xmlns:a="http://schemas.openxmlformats.org/drawingml/2006/main">
            <a:off x="0" y="64008"/>
            <a:ext cx="9144000" cy="65836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3">
            <a:extLst xmlns:a="http://schemas.openxmlformats.org/drawingml/2006/main">
              <a:ext uri="{FF2B5EF4-FFF2-40B4-BE49-F238E27FC236}">
                <a16:creationId xmlns:a16="http://schemas.microsoft.com/office/drawing/2014/main" id="{59F12DB4-3B5B-4A67-979D-6151E1B67D1F}"/>
              </a:ext>
            </a:extLst>
          </p:cNvPr>
          <p:cNvSpPr>
            <a:spLocks xmlns:a="http://schemas.openxmlformats.org/drawingml/2006/main" noGrp="1"/>
          </p:cNvSpPr>
          <p:nvPr/>
        </p:nvSpPr>
        <p:spPr>
          <a:xfrm xmlns:a="http://schemas.openxmlformats.org/drawingml/2006/main">
            <a:off x="274320" y="64008"/>
            <a:ext cx="7315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E8A020"/>
                </a:solidFill>
              </a:rPr>
              <a:t>KEY FINDING 2</a:t>
            </a:r>
          </a:p>
          <a:p xmlns:a="http://schemas.openxmlformats.org/drawingml/2006/main">
            <a:pPr marL="0" indent="0">
              <a:buNone/>
            </a:pPr>
            <a:r>
              <a:rPr sz="1000">
                <a:solidFill>
                  <a:schemeClr val="accent6"/>
                </a:solidFill>
              </a:rPr>
              <a:t>complementary context</a:t>
            </a:r>
          </a:p>
        </p:txBody>
      </p:sp>
      <p:sp>
        <p:nvSpPr>
          <p:cNvPr id="6" name="Text 4">
            <a:extLst xmlns:a="http://schemas.openxmlformats.org/drawingml/2006/main">
              <a:ext uri="{FF2B5EF4-FFF2-40B4-BE49-F238E27FC236}">
                <a16:creationId xmlns:a16="http://schemas.microsoft.com/office/drawing/2014/main" id="{157AA592-FB08-4D64-B87E-9FC8E806087F}"/>
              </a:ext>
            </a:extLst>
          </p:cNvPr>
          <p:cNvSpPr>
            <a:spLocks xmlns:a="http://schemas.openxmlformats.org/drawingml/2006/main" noGrp="1"/>
          </p:cNvSpPr>
          <p:nvPr/>
        </p:nvSpPr>
        <p:spPr>
          <a:xfrm xmlns:a="http://schemas.openxmlformats.org/drawingml/2006/main">
            <a:off x="6858000" y="64008"/>
            <a:ext cx="20116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E1E8EF"/>
                </a:solidFill>
              </a:rPr>
              <a:t>5 / 9</a:t>
            </a:r>
            <a:endParaRPr sz="1100"/>
          </a:p>
        </p:txBody>
      </p:sp>
      <p:sp>
        <p:nvSpPr>
          <p:cNvPr id="7" name="Text 5">
            <a:extLst xmlns:a="http://schemas.openxmlformats.org/drawingml/2006/main">
              <a:ext uri="{FF2B5EF4-FFF2-40B4-BE49-F238E27FC236}">
                <a16:creationId xmlns:a16="http://schemas.microsoft.com/office/drawing/2014/main" id="{9FAC5376-DFD7-4DF7-A857-0C2FD5CBD7A4}"/>
              </a:ext>
            </a:extLst>
          </p:cNvPr>
          <p:cNvSpPr>
            <a:spLocks xmlns:a="http://schemas.openxmlformats.org/drawingml/2006/main" noGrp="1"/>
          </p:cNvSpPr>
          <p:nvPr/>
        </p:nvSpPr>
        <p:spPr>
          <a:xfrm xmlns:a="http://schemas.openxmlformats.org/drawingml/2006/main">
            <a:off x="274320" y="804672"/>
            <a:ext cx="8595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A2638"/>
                </a:solidFill>
              </a:rPr>
              <a:t>Historical recurrence and structural hazard provide complementary context</a:t>
            </a:r>
            <a:endParaRPr sz="1600"/>
          </a:p>
        </p:txBody>
      </p:sp>
      <p:sp>
        <p:nvSpPr>
          <p:cNvPr id="8" name="Shape 6">
            <a:extLst xmlns:a="http://schemas.openxmlformats.org/drawingml/2006/main">
              <a:ext uri="{FF2B5EF4-FFF2-40B4-BE49-F238E27FC236}">
                <a16:creationId xmlns:a16="http://schemas.microsoft.com/office/drawing/2014/main" id="{5A356FE9-CB03-42D1-9C21-8542E6BF0EFC}"/>
              </a:ext>
            </a:extLst>
          </p:cNvPr>
          <p:cNvSpPr>
            <a:spLocks xmlns:a="http://schemas.openxmlformats.org/drawingml/2006/main" noGrp="1"/>
          </p:cNvSpPr>
          <p:nvPr/>
        </p:nvSpPr>
        <p:spPr>
          <a:xfrm xmlns:a="http://schemas.openxmlformats.org/drawingml/2006/main">
            <a:off x="274320" y="1298448"/>
            <a:ext cx="4160520" cy="3291840"/>
          </a:xfrm>
          <a:prstGeom xmlns:a="http://schemas.openxmlformats.org/drawingml/2006/main" prst="rect">
            <a:avLst/>
          </a:prstGeom>
          <a:solidFill xmlns:a="http://schemas.openxmlformats.org/drawingml/2006/main">
            <a:srgbClr val="FFFFFF"/>
          </a:solidFill>
          <a:ln xmlns:a="http://schemas.openxmlformats.org/drawingml/2006/main" w="12700">
            <a:solidFill>
              <a:srgbClr val="E1E8EF"/>
            </a:solidFill>
            <a:prstDash val="solid"/>
          </a:ln>
          <a:effectLst xmlns:a="http://schemas.openxmlformats.org/drawingml/2006/main">
            <a:outerShdw blurRad="101600" dist="38100" dir="8100000" algn="bl" rotWithShape="0">
              <a:srgbClr val="000000">
                <a:alpha val="10000"/>
              </a:srgbClr>
            </a:outerShdw>
          </a:effectLst>
        </p:spPr>
      </p:sp>
      <p:sp>
        <p:nvSpPr>
          <p:cNvPr id="9" name="Shape 7">
            <a:extLst xmlns:a="http://schemas.openxmlformats.org/drawingml/2006/main">
              <a:ext uri="{FF2B5EF4-FFF2-40B4-BE49-F238E27FC236}">
                <a16:creationId xmlns:a16="http://schemas.microsoft.com/office/drawing/2014/main" id="{C9A34953-58C7-478E-9736-94E8E8AC9D55}"/>
              </a:ext>
            </a:extLst>
          </p:cNvPr>
          <p:cNvSpPr>
            <a:spLocks xmlns:a="http://schemas.openxmlformats.org/drawingml/2006/main" noGrp="1"/>
          </p:cNvSpPr>
          <p:nvPr/>
        </p:nvSpPr>
        <p:spPr>
          <a:xfrm xmlns:a="http://schemas.openxmlformats.org/drawingml/2006/main">
            <a:off x="274320" y="1298448"/>
            <a:ext cx="4160520" cy="38404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10" name="Text 8">
            <a:extLst xmlns:a="http://schemas.openxmlformats.org/drawingml/2006/main">
              <a:ext uri="{FF2B5EF4-FFF2-40B4-BE49-F238E27FC236}">
                <a16:creationId xmlns:a16="http://schemas.microsoft.com/office/drawing/2014/main" id="{0138816D-F851-4B14-B5E7-C78921973D27}"/>
              </a:ext>
            </a:extLst>
          </p:cNvPr>
          <p:cNvSpPr>
            <a:spLocks xmlns:a="http://schemas.openxmlformats.org/drawingml/2006/main" noGrp="1"/>
          </p:cNvSpPr>
          <p:nvPr/>
        </p:nvSpPr>
        <p:spPr>
          <a:xfrm xmlns:a="http://schemas.openxmlformats.org/drawingml/2006/main">
            <a:off x="274320" y="1298448"/>
            <a:ext cx="4160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rPr>
              <a:t>Evidence layers</a:t>
            </a:r>
            <a:endParaRPr sz="1000"/>
          </a:p>
        </p:txBody>
      </p:sp>
      <p:sp>
        <p:nvSpPr>
          <p:cNvPr id="11" name="Shape 9">
            <a:extLst xmlns:a="http://schemas.openxmlformats.org/drawingml/2006/main">
              <a:ext uri="{FF2B5EF4-FFF2-40B4-BE49-F238E27FC236}">
                <a16:creationId xmlns:a16="http://schemas.microsoft.com/office/drawing/2014/main" id="{A48F928C-F102-49B4-A59E-1D4EE3D1DC18}"/>
              </a:ext>
            </a:extLst>
          </p:cNvPr>
          <p:cNvSpPr>
            <a:spLocks xmlns:a="http://schemas.openxmlformats.org/drawingml/2006/main" noGrp="1"/>
          </p:cNvSpPr>
          <p:nvPr/>
        </p:nvSpPr>
        <p:spPr>
          <a:xfrm xmlns:a="http://schemas.openxmlformats.org/drawingml/2006/main">
            <a:off x="438912" y="1810512"/>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2" name="Text 10">
            <a:extLst xmlns:a="http://schemas.openxmlformats.org/drawingml/2006/main">
              <a:ext uri="{FF2B5EF4-FFF2-40B4-BE49-F238E27FC236}">
                <a16:creationId xmlns:a16="http://schemas.microsoft.com/office/drawing/2014/main" id="{BD60D940-2AB4-4323-ACDD-A19A5EA667C8}"/>
              </a:ext>
            </a:extLst>
          </p:cNvPr>
          <p:cNvSpPr>
            <a:spLocks xmlns:a="http://schemas.openxmlformats.org/drawingml/2006/main" noGrp="1"/>
          </p:cNvSpPr>
          <p:nvPr/>
        </p:nvSpPr>
        <p:spPr>
          <a:xfrm xmlns:a="http://schemas.openxmlformats.org/drawingml/2006/main">
            <a:off x="438912" y="1810512"/>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3" name="Text 11">
            <a:extLst xmlns:a="http://schemas.openxmlformats.org/drawingml/2006/main">
              <a:ext uri="{FF2B5EF4-FFF2-40B4-BE49-F238E27FC236}">
                <a16:creationId xmlns:a16="http://schemas.microsoft.com/office/drawing/2014/main" id="{433F46A5-1D2D-44A3-B1A4-F5935365DDDC}"/>
              </a:ext>
            </a:extLst>
          </p:cNvPr>
          <p:cNvSpPr>
            <a:spLocks xmlns:a="http://schemas.openxmlformats.org/drawingml/2006/main" noGrp="1"/>
          </p:cNvSpPr>
          <p:nvPr/>
        </p:nvSpPr>
        <p:spPr>
          <a:xfrm xmlns:a="http://schemas.openxmlformats.org/drawingml/2006/main">
            <a:off x="713232" y="1773936"/>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Counts 2016–2025 burned years in the 2 km context around each 1 km cell.</a:t>
            </a:r>
            <a:endParaRPr sz="850"/>
          </a:p>
        </p:txBody>
      </p:sp>
      <p:sp>
        <p:nvSpPr>
          <p:cNvPr id="14" name="Shape 12">
            <a:extLst xmlns:a="http://schemas.openxmlformats.org/drawingml/2006/main">
              <a:ext uri="{FF2B5EF4-FFF2-40B4-BE49-F238E27FC236}">
                <a16:creationId xmlns:a16="http://schemas.microsoft.com/office/drawing/2014/main" id="{9A77203C-C6FB-43FE-9635-189E862BC538}"/>
              </a:ext>
            </a:extLst>
          </p:cNvPr>
          <p:cNvSpPr>
            <a:spLocks xmlns:a="http://schemas.openxmlformats.org/drawingml/2006/main" noGrp="1"/>
          </p:cNvSpPr>
          <p:nvPr/>
        </p:nvSpPr>
        <p:spPr>
          <a:xfrm xmlns:a="http://schemas.openxmlformats.org/drawingml/2006/main">
            <a:off x="438912" y="2212848"/>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5" name="Text 13">
            <a:extLst xmlns:a="http://schemas.openxmlformats.org/drawingml/2006/main">
              <a:ext uri="{FF2B5EF4-FFF2-40B4-BE49-F238E27FC236}">
                <a16:creationId xmlns:a16="http://schemas.microsoft.com/office/drawing/2014/main" id="{C4054035-0280-46D0-8271-E333012C74D8}"/>
              </a:ext>
            </a:extLst>
          </p:cNvPr>
          <p:cNvSpPr>
            <a:spLocks xmlns:a="http://schemas.openxmlformats.org/drawingml/2006/main" noGrp="1"/>
          </p:cNvSpPr>
          <p:nvPr/>
        </p:nvSpPr>
        <p:spPr>
          <a:xfrm xmlns:a="http://schemas.openxmlformats.org/drawingml/2006/main">
            <a:off x="438912" y="2212848"/>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6" name="Text 14">
            <a:extLst xmlns:a="http://schemas.openxmlformats.org/drawingml/2006/main">
              <a:ext uri="{FF2B5EF4-FFF2-40B4-BE49-F238E27FC236}">
                <a16:creationId xmlns:a16="http://schemas.microsoft.com/office/drawing/2014/main" id="{3A866D65-32E1-4D14-85BC-277D343C0267}"/>
              </a:ext>
            </a:extLst>
          </p:cNvPr>
          <p:cNvSpPr>
            <a:spLocks xmlns:a="http://schemas.openxmlformats.org/drawingml/2006/main" noGrp="1"/>
          </p:cNvSpPr>
          <p:nvPr/>
        </p:nvSpPr>
        <p:spPr>
          <a:xfrm xmlns:a="http://schemas.openxmlformats.org/drawingml/2006/main">
            <a:off x="713232" y="2176272"/>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Official structural hazard</a:t>
            </a:r>
            <a:endParaRPr sz="850"/>
          </a:p>
        </p:txBody>
      </p:sp>
      <p:sp>
        <p:nvSpPr>
          <p:cNvPr id="17" name="Shape 15">
            <a:extLst xmlns:a="http://schemas.openxmlformats.org/drawingml/2006/main">
              <a:ext uri="{FF2B5EF4-FFF2-40B4-BE49-F238E27FC236}">
                <a16:creationId xmlns:a16="http://schemas.microsoft.com/office/drawing/2014/main" id="{340346DD-06C1-46D3-B84B-71D11B0BD4C8}"/>
              </a:ext>
            </a:extLst>
          </p:cNvPr>
          <p:cNvSpPr>
            <a:spLocks xmlns:a="http://schemas.openxmlformats.org/drawingml/2006/main" noGrp="1"/>
          </p:cNvSpPr>
          <p:nvPr/>
        </p:nvSpPr>
        <p:spPr>
          <a:xfrm xmlns:a="http://schemas.openxmlformats.org/drawingml/2006/main">
            <a:off x="438912" y="2615184"/>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8" name="Text 16">
            <a:extLst xmlns:a="http://schemas.openxmlformats.org/drawingml/2006/main">
              <a:ext uri="{FF2B5EF4-FFF2-40B4-BE49-F238E27FC236}">
                <a16:creationId xmlns:a16="http://schemas.microsoft.com/office/drawing/2014/main" id="{54CE7231-C7DF-4668-B5A1-98622531C369}"/>
              </a:ext>
            </a:extLst>
          </p:cNvPr>
          <p:cNvSpPr>
            <a:spLocks xmlns:a="http://schemas.openxmlformats.org/drawingml/2006/main" noGrp="1"/>
          </p:cNvSpPr>
          <p:nvPr/>
        </p:nvSpPr>
        <p:spPr>
          <a:xfrm xmlns:a="http://schemas.openxmlformats.org/drawingml/2006/main">
            <a:off x="438912" y="2615184"/>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9" name="Text 17">
            <a:extLst xmlns:a="http://schemas.openxmlformats.org/drawingml/2006/main">
              <a:ext uri="{FF2B5EF4-FFF2-40B4-BE49-F238E27FC236}">
                <a16:creationId xmlns:a16="http://schemas.microsoft.com/office/drawing/2014/main" id="{62EF2D98-2C4B-4478-B6DE-59400CA06235}"/>
              </a:ext>
            </a:extLst>
          </p:cNvPr>
          <p:cNvSpPr>
            <a:spLocks xmlns:a="http://schemas.openxmlformats.org/drawingml/2006/main" noGrp="1"/>
          </p:cNvSpPr>
          <p:nvPr/>
        </p:nvSpPr>
        <p:spPr>
          <a:xfrm xmlns:a="http://schemas.openxmlformats.org/drawingml/2006/main">
            <a:off x="713232" y="2578608"/>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An official ICNF classification of underlying landscape hazard conditions, summarised from 25 m classes to the predominant 1 km class.</a:t>
            </a:r>
            <a:endParaRPr sz="850"/>
          </a:p>
        </p:txBody>
      </p:sp>
      <p:sp>
        <p:nvSpPr>
          <p:cNvPr id="20" name="Shape 18">
            <a:extLst xmlns:a="http://schemas.openxmlformats.org/drawingml/2006/main">
              <a:ext uri="{FF2B5EF4-FFF2-40B4-BE49-F238E27FC236}">
                <a16:creationId xmlns:a16="http://schemas.microsoft.com/office/drawing/2014/main" id="{ACCE5F55-0293-4ED9-B7A2-2A8422E5B9D4}"/>
              </a:ext>
            </a:extLst>
          </p:cNvPr>
          <p:cNvSpPr>
            <a:spLocks xmlns:a="http://schemas.openxmlformats.org/drawingml/2006/main" noGrp="1"/>
          </p:cNvSpPr>
          <p:nvPr/>
        </p:nvSpPr>
        <p:spPr>
          <a:xfrm xmlns:a="http://schemas.openxmlformats.org/drawingml/2006/main">
            <a:off x="438912" y="3017520"/>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1" name="Text 19">
            <a:extLst xmlns:a="http://schemas.openxmlformats.org/drawingml/2006/main">
              <a:ext uri="{FF2B5EF4-FFF2-40B4-BE49-F238E27FC236}">
                <a16:creationId xmlns:a16="http://schemas.microsoft.com/office/drawing/2014/main" id="{021FABFD-07BB-4CB1-9DF3-6AB4C7F7418A}"/>
              </a:ext>
            </a:extLst>
          </p:cNvPr>
          <p:cNvSpPr>
            <a:spLocks xmlns:a="http://schemas.openxmlformats.org/drawingml/2006/main" noGrp="1"/>
          </p:cNvSpPr>
          <p:nvPr/>
        </p:nvSpPr>
        <p:spPr>
          <a:xfrm xmlns:a="http://schemas.openxmlformats.org/drawingml/2006/main">
            <a:off x="438912" y="3017520"/>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2" name="Text 20">
            <a:extLst xmlns:a="http://schemas.openxmlformats.org/drawingml/2006/main">
              <a:ext uri="{FF2B5EF4-FFF2-40B4-BE49-F238E27FC236}">
                <a16:creationId xmlns:a16="http://schemas.microsoft.com/office/drawing/2014/main" id="{DF395E92-F661-43E4-B279-247D4D7CBDF8}"/>
              </a:ext>
            </a:extLst>
          </p:cNvPr>
          <p:cNvSpPr>
            <a:spLocks xmlns:a="http://schemas.openxmlformats.org/drawingml/2006/main" noGrp="1"/>
          </p:cNvSpPr>
          <p:nvPr/>
        </p:nvSpPr>
        <p:spPr>
          <a:xfrm xmlns:a="http://schemas.openxmlformats.org/drawingml/2006/main">
            <a:off x="713232" y="2980944"/>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Why compare both?</a:t>
            </a:r>
            <a:endParaRPr sz="850"/>
          </a:p>
        </p:txBody>
      </p:sp>
      <p:sp>
        <p:nvSpPr>
          <p:cNvPr id="23" name="Shape 21">
            <a:extLst xmlns:a="http://schemas.openxmlformats.org/drawingml/2006/main">
              <a:ext uri="{FF2B5EF4-FFF2-40B4-BE49-F238E27FC236}">
                <a16:creationId xmlns:a16="http://schemas.microsoft.com/office/drawing/2014/main" id="{488D5AAF-075C-4381-8425-C89597170446}"/>
              </a:ext>
            </a:extLst>
          </p:cNvPr>
          <p:cNvSpPr>
            <a:spLocks xmlns:a="http://schemas.openxmlformats.org/drawingml/2006/main" noGrp="1"/>
          </p:cNvSpPr>
          <p:nvPr/>
        </p:nvSpPr>
        <p:spPr>
          <a:xfrm xmlns:a="http://schemas.openxmlformats.org/drawingml/2006/main">
            <a:off x="438912" y="3419856"/>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4" name="Text 22">
            <a:extLst xmlns:a="http://schemas.openxmlformats.org/drawingml/2006/main">
              <a:ext uri="{FF2B5EF4-FFF2-40B4-BE49-F238E27FC236}">
                <a16:creationId xmlns:a16="http://schemas.microsoft.com/office/drawing/2014/main" id="{3E83D27C-B8E2-4DEE-B204-D31E94B3282A}"/>
              </a:ext>
            </a:extLst>
          </p:cNvPr>
          <p:cNvSpPr>
            <a:spLocks xmlns:a="http://schemas.openxmlformats.org/drawingml/2006/main" noGrp="1"/>
          </p:cNvSpPr>
          <p:nvPr/>
        </p:nvSpPr>
        <p:spPr>
          <a:xfrm xmlns:a="http://schemas.openxmlformats.org/drawingml/2006/main">
            <a:off x="438912" y="3419856"/>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5" name="Text 23">
            <a:extLst xmlns:a="http://schemas.openxmlformats.org/drawingml/2006/main">
              <a:ext uri="{FF2B5EF4-FFF2-40B4-BE49-F238E27FC236}">
                <a16:creationId xmlns:a16="http://schemas.microsoft.com/office/drawing/2014/main" id="{38E3C507-F339-4F2F-954D-39C52FC073E3}"/>
              </a:ext>
            </a:extLst>
          </p:cNvPr>
          <p:cNvSpPr>
            <a:spLocks xmlns:a="http://schemas.openxmlformats.org/drawingml/2006/main" noGrp="1"/>
          </p:cNvSpPr>
          <p:nvPr/>
        </p:nvSpPr>
        <p:spPr>
          <a:xfrm xmlns:a="http://schemas.openxmlformats.org/drawingml/2006/main">
            <a:off x="713232" y="3383280"/>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They use different methods and time frames, so agreement or disagreement adds context.</a:t>
            </a:r>
            <a:endParaRPr sz="850"/>
          </a:p>
        </p:txBody>
      </p:sp>
      <p:sp>
        <p:nvSpPr>
          <p:cNvPr id="26" name="Shape 24">
            <a:extLst xmlns:a="http://schemas.openxmlformats.org/drawingml/2006/main">
              <a:ext uri="{FF2B5EF4-FFF2-40B4-BE49-F238E27FC236}">
                <a16:creationId xmlns:a16="http://schemas.microsoft.com/office/drawing/2014/main" id="{08C68075-9284-4574-87C1-08DABFEF76DE}"/>
              </a:ext>
            </a:extLst>
          </p:cNvPr>
          <p:cNvSpPr>
            <a:spLocks xmlns:a="http://schemas.openxmlformats.org/drawingml/2006/main" noGrp="1"/>
          </p:cNvSpPr>
          <p:nvPr/>
        </p:nvSpPr>
        <p:spPr>
          <a:xfrm xmlns:a="http://schemas.openxmlformats.org/drawingml/2006/main">
            <a:off x="438912" y="3822192"/>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7" name="Text 25">
            <a:extLst xmlns:a="http://schemas.openxmlformats.org/drawingml/2006/main">
              <a:ext uri="{FF2B5EF4-FFF2-40B4-BE49-F238E27FC236}">
                <a16:creationId xmlns:a16="http://schemas.microsoft.com/office/drawing/2014/main" id="{E6782FB0-9CF8-4988-961D-609E903C78A1}"/>
              </a:ext>
            </a:extLst>
          </p:cNvPr>
          <p:cNvSpPr>
            <a:spLocks xmlns:a="http://schemas.openxmlformats.org/drawingml/2006/main" noGrp="1"/>
          </p:cNvSpPr>
          <p:nvPr/>
        </p:nvSpPr>
        <p:spPr>
          <a:xfrm xmlns:a="http://schemas.openxmlformats.org/drawingml/2006/main">
            <a:off x="438912" y="3822192"/>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8" name="Text 26">
            <a:extLst xmlns:a="http://schemas.openxmlformats.org/drawingml/2006/main">
              <a:ext uri="{FF2B5EF4-FFF2-40B4-BE49-F238E27FC236}">
                <a16:creationId xmlns:a16="http://schemas.microsoft.com/office/drawing/2014/main" id="{70F27152-BCAD-46B7-826B-959E39FABFED}"/>
              </a:ext>
            </a:extLst>
          </p:cNvPr>
          <p:cNvSpPr>
            <a:spLocks xmlns:a="http://schemas.openxmlformats.org/drawingml/2006/main" noGrp="1"/>
          </p:cNvSpPr>
          <p:nvPr/>
        </p:nvSpPr>
        <p:spPr>
          <a:xfrm xmlns:a="http://schemas.openxmlformats.org/drawingml/2006/main">
            <a:off x="713232" y="3785616"/>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Interpretation</a:t>
            </a:r>
            <a:endParaRPr sz="850"/>
          </a:p>
        </p:txBody>
      </p:sp>
      <p:sp>
        <p:nvSpPr>
          <p:cNvPr id="29" name="Shape 27">
            <a:extLst xmlns:a="http://schemas.openxmlformats.org/drawingml/2006/main">
              <a:ext uri="{FF2B5EF4-FFF2-40B4-BE49-F238E27FC236}">
                <a16:creationId xmlns:a16="http://schemas.microsoft.com/office/drawing/2014/main" id="{6FE7194F-DD64-44E7-98A2-9C4D403266C2}"/>
              </a:ext>
            </a:extLst>
          </p:cNvPr>
          <p:cNvSpPr>
            <a:spLocks xmlns:a="http://schemas.openxmlformats.org/drawingml/2006/main" noGrp="1"/>
          </p:cNvSpPr>
          <p:nvPr/>
        </p:nvSpPr>
        <p:spPr>
          <a:xfrm xmlns:a="http://schemas.openxmlformats.org/drawingml/2006/main">
            <a:off x="438912" y="4224528"/>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30" name="Text 28">
            <a:extLst xmlns:a="http://schemas.openxmlformats.org/drawingml/2006/main">
              <a:ext uri="{FF2B5EF4-FFF2-40B4-BE49-F238E27FC236}">
                <a16:creationId xmlns:a16="http://schemas.microsoft.com/office/drawing/2014/main" id="{6BF79431-F44F-4E26-8B43-6D69C49965C2}"/>
              </a:ext>
            </a:extLst>
          </p:cNvPr>
          <p:cNvSpPr>
            <a:spLocks xmlns:a="http://schemas.openxmlformats.org/drawingml/2006/main" noGrp="1"/>
          </p:cNvSpPr>
          <p:nvPr/>
        </p:nvSpPr>
        <p:spPr>
          <a:xfrm xmlns:a="http://schemas.openxmlformats.org/drawingml/2006/main">
            <a:off x="438912" y="4224528"/>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31" name="Text 29">
            <a:extLst xmlns:a="http://schemas.openxmlformats.org/drawingml/2006/main">
              <a:ext uri="{FF2B5EF4-FFF2-40B4-BE49-F238E27FC236}">
                <a16:creationId xmlns:a16="http://schemas.microsoft.com/office/drawing/2014/main" id="{234F4672-94F5-40EC-848A-2B04CEEC2D52}"/>
              </a:ext>
            </a:extLst>
          </p:cNvPr>
          <p:cNvSpPr>
            <a:spLocks xmlns:a="http://schemas.openxmlformats.org/drawingml/2006/main" noGrp="1"/>
          </p:cNvSpPr>
          <p:nvPr/>
        </p:nvSpPr>
        <p:spPr>
          <a:xfrm xmlns:a="http://schemas.openxmlformats.org/drawingml/2006/main">
            <a:off x="713232" y="4187952"/>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Structural hazard is not this project’s prediction and does not describe one particular year’s burned area.</a:t>
            </a:r>
            <a:endParaRPr sz="850"/>
          </a:p>
        </p:txBody>
      </p:sp>
      <p:sp>
        <p:nvSpPr>
          <p:cNvPr id="32" name="Shape 30">
            <a:extLst xmlns:a="http://schemas.openxmlformats.org/drawingml/2006/main">
              <a:ext uri="{FF2B5EF4-FFF2-40B4-BE49-F238E27FC236}">
                <a16:creationId xmlns:a16="http://schemas.microsoft.com/office/drawing/2014/main" id="{8CFE47B9-6214-49BF-BAB5-E46AF5D658EC}"/>
              </a:ext>
            </a:extLst>
          </p:cNvPr>
          <p:cNvSpPr>
            <a:spLocks xmlns:a="http://schemas.openxmlformats.org/drawingml/2006/main" noGrp="1"/>
          </p:cNvSpPr>
          <p:nvPr/>
        </p:nvSpPr>
        <p:spPr>
          <a:xfrm xmlns:a="http://schemas.openxmlformats.org/drawingml/2006/main">
            <a:off x="4764024" y="1554480"/>
            <a:ext cx="4160520" cy="3291840"/>
          </a:xfrm>
          <a:prstGeom xmlns:a="http://schemas.openxmlformats.org/drawingml/2006/main" prst="rect">
            <a:avLst/>
          </a:prstGeom>
          <a:solidFill xmlns:a="http://schemas.openxmlformats.org/drawingml/2006/main">
            <a:srgbClr val="FFFFFF"/>
          </a:solidFill>
          <a:ln xmlns:a="http://schemas.openxmlformats.org/drawingml/2006/main" w="12700">
            <a:solidFill>
              <a:srgbClr val="E1E8EF"/>
            </a:solidFill>
            <a:prstDash val="solid"/>
          </a:ln>
          <a:effectLst xmlns:a="http://schemas.openxmlformats.org/drawingml/2006/main">
            <a:outerShdw blurRad="101600" dist="38100" dir="8100000" algn="bl" rotWithShape="0">
              <a:srgbClr val="000000">
                <a:alpha val="10000"/>
              </a:srgbClr>
            </a:outerShdw>
          </a:effectLst>
        </p:spPr>
        <p:txBody>
          <a:bodyPr xmlns:a="http://schemas.openxmlformats.org/drawingml/2006/main"/>
          <a:lstStyle xmlns:a="http://schemas.openxmlformats.org/drawingml/2006/main"/>
          <a:p xmlns:a="http://schemas.openxmlformats.org/drawingml/2006/main">
            <a:endParaRPr/>
          </a:p>
        </p:txBody>
      </p:sp>
      <p:sp>
        <p:nvSpPr>
          <p:cNvPr id="33" name="Shape 31">
            <a:extLst xmlns:a="http://schemas.openxmlformats.org/drawingml/2006/main">
              <a:ext uri="{FF2B5EF4-FFF2-40B4-BE49-F238E27FC236}">
                <a16:creationId xmlns:a16="http://schemas.microsoft.com/office/drawing/2014/main" id="{A8D64D74-58C5-46B8-81B3-038E3D611275}"/>
              </a:ext>
            </a:extLst>
          </p:cNvPr>
          <p:cNvSpPr>
            <a:spLocks xmlns:a="http://schemas.openxmlformats.org/drawingml/2006/main" noGrp="1"/>
          </p:cNvSpPr>
          <p:nvPr/>
        </p:nvSpPr>
        <p:spPr>
          <a:xfrm xmlns:a="http://schemas.openxmlformats.org/drawingml/2006/main">
            <a:off x="4764024" y="1280160"/>
            <a:ext cx="4160520" cy="38404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34" name="Text 32">
            <a:extLst xmlns:a="http://schemas.openxmlformats.org/drawingml/2006/main">
              <a:ext uri="{FF2B5EF4-FFF2-40B4-BE49-F238E27FC236}">
                <a16:creationId xmlns:a16="http://schemas.microsoft.com/office/drawing/2014/main" id="{94210AFE-3DED-4395-AC76-61EA6433B9A0}"/>
              </a:ext>
            </a:extLst>
          </p:cNvPr>
          <p:cNvSpPr>
            <a:spLocks xmlns:a="http://schemas.openxmlformats.org/drawingml/2006/main" noGrp="1"/>
          </p:cNvSpPr>
          <p:nvPr/>
        </p:nvSpPr>
        <p:spPr>
          <a:xfrm xmlns:a="http://schemas.openxmlformats.org/drawingml/2006/main">
            <a:off x="4709160" y="1298448"/>
            <a:ext cx="4160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rPr>
              <a:t>One comparison, two sources</a:t>
            </a:r>
            <a:endParaRPr sz="1000"/>
          </a:p>
        </p:txBody>
      </p:sp>
      <p:sp>
        <p:nvSpPr>
          <p:cNvPr id="35" name="Text 33">
            <a:extLst xmlns:a="http://schemas.openxmlformats.org/drawingml/2006/main">
              <a:ext uri="{FF2B5EF4-FFF2-40B4-BE49-F238E27FC236}">
                <a16:creationId xmlns:a16="http://schemas.microsoft.com/office/drawing/2014/main" id="{7D1E2215-4749-4102-8766-0EF9CB908835}"/>
              </a:ext>
            </a:extLst>
          </p:cNvPr>
          <p:cNvSpPr>
            <a:spLocks xmlns:a="http://schemas.openxmlformats.org/drawingml/2006/main" noGrp="1"/>
          </p:cNvSpPr>
          <p:nvPr/>
        </p:nvSpPr>
        <p:spPr>
          <a:xfrm xmlns:a="http://schemas.openxmlformats.org/drawingml/2006/main">
            <a:off x="4873752" y="1755648"/>
            <a:ext cx="3886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5B6880"/>
                </a:solidFill>
              </a:rPr>
              <a:t>Technical</a:t>
            </a:r>
            <a:endParaRPr sz="800"/>
          </a:p>
        </p:txBody>
      </p:sp>
      <p:sp>
        <p:nvSpPr>
          <p:cNvPr id="36" name="Shape 34">
            <a:extLst xmlns:a="http://schemas.openxmlformats.org/drawingml/2006/main">
              <a:ext uri="{FF2B5EF4-FFF2-40B4-BE49-F238E27FC236}">
                <a16:creationId xmlns:a16="http://schemas.microsoft.com/office/drawing/2014/main" id="{E9765024-23F7-4BAD-82E2-D0944ECD817D}"/>
              </a:ext>
            </a:extLst>
          </p:cNvPr>
          <p:cNvSpPr>
            <a:spLocks xmlns:a="http://schemas.openxmlformats.org/drawingml/2006/main" noGrp="1"/>
          </p:cNvSpPr>
          <p:nvPr/>
        </p:nvSpPr>
        <p:spPr>
          <a:xfrm xmlns:a="http://schemas.openxmlformats.org/drawingml/2006/main">
            <a:off x="4873752" y="2093976"/>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37" name="Text 35">
            <a:extLst xmlns:a="http://schemas.openxmlformats.org/drawingml/2006/main">
              <a:ext uri="{FF2B5EF4-FFF2-40B4-BE49-F238E27FC236}">
                <a16:creationId xmlns:a16="http://schemas.microsoft.com/office/drawing/2014/main" id="{3DB21FEE-311F-4CB4-9BB7-CEE277DD9E7E}"/>
              </a:ext>
            </a:extLst>
          </p:cNvPr>
          <p:cNvSpPr>
            <a:spLocks xmlns:a="http://schemas.openxmlformats.org/drawingml/2006/main" noGrp="1"/>
          </p:cNvSpPr>
          <p:nvPr/>
        </p:nvSpPr>
        <p:spPr>
          <a:xfrm xmlns:a="http://schemas.openxmlformats.org/drawingml/2006/main">
            <a:off x="4873752" y="2093976"/>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38" name="Text 36">
            <a:extLst xmlns:a="http://schemas.openxmlformats.org/drawingml/2006/main">
              <a:ext uri="{FF2B5EF4-FFF2-40B4-BE49-F238E27FC236}">
                <a16:creationId xmlns:a16="http://schemas.microsoft.com/office/drawing/2014/main" id="{EC831CFF-D119-4E88-B1D0-71E2982079DD}"/>
              </a:ext>
            </a:extLst>
          </p:cNvPr>
          <p:cNvSpPr>
            <a:spLocks xmlns:a="http://schemas.openxmlformats.org/drawingml/2006/main" noGrp="1"/>
          </p:cNvSpPr>
          <p:nvPr/>
        </p:nvSpPr>
        <p:spPr>
          <a:xfrm xmlns:a="http://schemas.openxmlformats.org/drawingml/2006/main">
            <a:off x="5111496" y="2048256"/>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Use the layers together to understand patterns; neither layer is a buyer threshold.</a:t>
            </a:r>
            <a:endParaRPr sz="800"/>
          </a:p>
        </p:txBody>
      </p:sp>
      <p:sp>
        <p:nvSpPr>
          <p:cNvPr id="39" name="Shape 37">
            <a:extLst xmlns:a="http://schemas.openxmlformats.org/drawingml/2006/main">
              <a:ext uri="{FF2B5EF4-FFF2-40B4-BE49-F238E27FC236}">
                <a16:creationId xmlns:a16="http://schemas.microsoft.com/office/drawing/2014/main" id="{6E8C027E-8773-4500-B33B-62E87DB5F217}"/>
              </a:ext>
            </a:extLst>
          </p:cNvPr>
          <p:cNvSpPr>
            <a:spLocks xmlns:a="http://schemas.openxmlformats.org/drawingml/2006/main" noGrp="1"/>
          </p:cNvSpPr>
          <p:nvPr/>
        </p:nvSpPr>
        <p:spPr>
          <a:xfrm xmlns:a="http://schemas.openxmlformats.org/drawingml/2006/main">
            <a:off x="4873752" y="2441448"/>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40" name="Text 38">
            <a:extLst xmlns:a="http://schemas.openxmlformats.org/drawingml/2006/main">
              <a:ext uri="{FF2B5EF4-FFF2-40B4-BE49-F238E27FC236}">
                <a16:creationId xmlns:a16="http://schemas.microsoft.com/office/drawing/2014/main" id="{60AA1538-DD26-48A4-801E-5B50EDDC6EF9}"/>
              </a:ext>
            </a:extLst>
          </p:cNvPr>
          <p:cNvSpPr>
            <a:spLocks xmlns:a="http://schemas.openxmlformats.org/drawingml/2006/main" noGrp="1"/>
          </p:cNvSpPr>
          <p:nvPr/>
        </p:nvSpPr>
        <p:spPr>
          <a:xfrm xmlns:a="http://schemas.openxmlformats.org/drawingml/2006/main">
            <a:off x="4873752" y="2441448"/>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41" name="Text 39">
            <a:extLst xmlns:a="http://schemas.openxmlformats.org/drawingml/2006/main">
              <a:ext uri="{FF2B5EF4-FFF2-40B4-BE49-F238E27FC236}">
                <a16:creationId xmlns:a16="http://schemas.microsoft.com/office/drawing/2014/main" id="{AB334C3D-7F39-4FE7-B95B-21588560F91A}"/>
              </a:ext>
            </a:extLst>
          </p:cNvPr>
          <p:cNvSpPr>
            <a:spLocks xmlns:a="http://schemas.openxmlformats.org/drawingml/2006/main" noGrp="1"/>
          </p:cNvSpPr>
          <p:nvPr/>
        </p:nvSpPr>
        <p:spPr>
          <a:xfrm xmlns:a="http://schemas.openxmlformats.org/drawingml/2006/main">
            <a:off x="5111496" y="2395728"/>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Maps describe evidence; they do not certify a location.</a:t>
            </a:r>
            <a:endParaRPr sz="800"/>
          </a:p>
        </p:txBody>
      </p:sp>
      <p:sp>
        <p:nvSpPr>
          <p:cNvPr id="42" name="Shape 40">
            <a:extLst xmlns:a="http://schemas.openxmlformats.org/drawingml/2006/main">
              <a:ext uri="{FF2B5EF4-FFF2-40B4-BE49-F238E27FC236}">
                <a16:creationId xmlns:a16="http://schemas.microsoft.com/office/drawing/2014/main" id="{EB1A818B-27E2-4AC9-A7A5-A37B13D81AEE}"/>
              </a:ext>
            </a:extLst>
          </p:cNvPr>
          <p:cNvSpPr>
            <a:spLocks xmlns:a="http://schemas.openxmlformats.org/drawingml/2006/main" noGrp="1"/>
          </p:cNvSpPr>
          <p:nvPr/>
        </p:nvSpPr>
        <p:spPr>
          <a:xfrm xmlns:a="http://schemas.openxmlformats.org/drawingml/2006/main">
            <a:off x="4873752" y="2788920"/>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43" name="Text 41">
            <a:extLst xmlns:a="http://schemas.openxmlformats.org/drawingml/2006/main">
              <a:ext uri="{FF2B5EF4-FFF2-40B4-BE49-F238E27FC236}">
                <a16:creationId xmlns:a16="http://schemas.microsoft.com/office/drawing/2014/main" id="{C9A0C132-E061-47E9-86DA-C56EBC4FE862}"/>
              </a:ext>
            </a:extLst>
          </p:cNvPr>
          <p:cNvSpPr>
            <a:spLocks xmlns:a="http://schemas.openxmlformats.org/drawingml/2006/main" noGrp="1"/>
          </p:cNvSpPr>
          <p:nvPr/>
        </p:nvSpPr>
        <p:spPr>
          <a:xfrm xmlns:a="http://schemas.openxmlformats.org/drawingml/2006/main">
            <a:off x="4873752" y="2788920"/>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44" name="Text 42">
            <a:extLst xmlns:a="http://schemas.openxmlformats.org/drawingml/2006/main">
              <a:ext uri="{FF2B5EF4-FFF2-40B4-BE49-F238E27FC236}">
                <a16:creationId xmlns:a16="http://schemas.microsoft.com/office/drawing/2014/main" id="{A498733C-FEFE-442D-BBCC-FBAA98860A46}"/>
              </a:ext>
            </a:extLst>
          </p:cNvPr>
          <p:cNvSpPr>
            <a:spLocks xmlns:a="http://schemas.openxmlformats.org/drawingml/2006/main" noGrp="1"/>
          </p:cNvSpPr>
          <p:nvPr/>
        </p:nvSpPr>
        <p:spPr>
          <a:xfrm xmlns:a="http://schemas.openxmlformats.org/drawingml/2006/main">
            <a:off x="5111496" y="2743200"/>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Both layers still require local verification.</a:t>
            </a:r>
            <a:endParaRPr sz="800"/>
          </a:p>
        </p:txBody>
      </p:sp>
      <p:sp>
        <p:nvSpPr>
          <p:cNvPr id="45" name="Text 43">
            <a:extLst xmlns:a="http://schemas.openxmlformats.org/drawingml/2006/main">
              <a:ext uri="{FF2B5EF4-FFF2-40B4-BE49-F238E27FC236}">
                <a16:creationId xmlns:a16="http://schemas.microsoft.com/office/drawing/2014/main" id="{2261A078-89E7-4EDE-AF5A-975F083F6C40}"/>
              </a:ext>
            </a:extLst>
          </p:cNvPr>
          <p:cNvSpPr>
            <a:spLocks xmlns:a="http://schemas.openxmlformats.org/drawingml/2006/main" noGrp="1"/>
          </p:cNvSpPr>
          <p:nvPr/>
        </p:nvSpPr>
        <p:spPr>
          <a:xfrm xmlns:a="http://schemas.openxmlformats.org/drawingml/2006/main">
            <a:off x="4873752" y="3364992"/>
            <a:ext cx="3886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5B6880"/>
                </a:solidFill>
              </a:rPr>
              <a:t>Delivery Tips</a:t>
            </a:r>
            <a:endParaRPr sz="800"/>
          </a:p>
        </p:txBody>
      </p:sp>
      <p:sp>
        <p:nvSpPr>
          <p:cNvPr id="46" name="Text 44">
            <a:extLst xmlns:a="http://schemas.openxmlformats.org/drawingml/2006/main">
              <a:ext uri="{FF2B5EF4-FFF2-40B4-BE49-F238E27FC236}">
                <a16:creationId xmlns:a16="http://schemas.microsoft.com/office/drawing/2014/main" id="{878FBAF7-6DD0-4D72-8C29-5EBD1F7FB714}"/>
              </a:ext>
            </a:extLst>
          </p:cNvPr>
          <p:cNvSpPr>
            <a:spLocks xmlns:a="http://schemas.openxmlformats.org/drawingml/2006/main" noGrp="1"/>
          </p:cNvSpPr>
          <p:nvPr/>
        </p:nvSpPr>
        <p:spPr>
          <a:xfrm xmlns:a="http://schemas.openxmlformats.org/drawingml/2006/main">
            <a:off x="4873752" y="34015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750"/>
          </a:p>
        </p:txBody>
      </p:sp>
      <p:sp>
        <p:nvSpPr>
          <p:cNvPr id="47" name="Text 45">
            <a:extLst xmlns:a="http://schemas.openxmlformats.org/drawingml/2006/main">
              <a:ext uri="{FF2B5EF4-FFF2-40B4-BE49-F238E27FC236}">
                <a16:creationId xmlns:a16="http://schemas.microsoft.com/office/drawing/2014/main" id="{F3852103-32CC-4EA7-912B-BBCD278D546F}"/>
              </a:ext>
            </a:extLst>
          </p:cNvPr>
          <p:cNvSpPr>
            <a:spLocks xmlns:a="http://schemas.openxmlformats.org/drawingml/2006/main" noGrp="1"/>
          </p:cNvSpPr>
          <p:nvPr/>
        </p:nvSpPr>
        <p:spPr>
          <a:xfrm xmlns:a="http://schemas.openxmlformats.org/drawingml/2006/main">
            <a:off x="4873752" y="36301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Observed recurrence = what burned.</a:t>
            </a:r>
            <a:endParaRPr sz="750"/>
          </a:p>
        </p:txBody>
      </p:sp>
      <p:sp>
        <p:nvSpPr>
          <p:cNvPr id="48" name="Text 46">
            <a:extLst xmlns:a="http://schemas.openxmlformats.org/drawingml/2006/main">
              <a:ext uri="{FF2B5EF4-FFF2-40B4-BE49-F238E27FC236}">
                <a16:creationId xmlns:a16="http://schemas.microsoft.com/office/drawing/2014/main" id="{2967BB4C-17C8-44CC-8349-2DF3F492CC1E}"/>
              </a:ext>
            </a:extLst>
          </p:cNvPr>
          <p:cNvSpPr>
            <a:spLocks xmlns:a="http://schemas.openxmlformats.org/drawingml/2006/main" noGrp="1"/>
          </p:cNvSpPr>
          <p:nvPr/>
        </p:nvSpPr>
        <p:spPr>
          <a:xfrm xmlns:a="http://schemas.openxmlformats.org/drawingml/2006/main">
            <a:off x="4873752" y="38587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Structural hazard = underlying landscape classification.</a:t>
            </a:r>
            <a:endParaRPr sz="750"/>
          </a:p>
        </p:txBody>
      </p:sp>
      <p:sp>
        <p:nvSpPr>
          <p:cNvPr id="49" name="Text 47">
            <a:extLst xmlns:a="http://schemas.openxmlformats.org/drawingml/2006/main">
              <a:ext uri="{FF2B5EF4-FFF2-40B4-BE49-F238E27FC236}">
                <a16:creationId xmlns:a16="http://schemas.microsoft.com/office/drawing/2014/main" id="{DF4EBCB9-CEB0-41F1-802C-53DA0FCDC1F9}"/>
              </a:ext>
            </a:extLst>
          </p:cNvPr>
          <p:cNvSpPr>
            <a:spLocks xmlns:a="http://schemas.openxmlformats.org/drawingml/2006/main" noGrp="1"/>
          </p:cNvSpPr>
          <p:nvPr/>
        </p:nvSpPr>
        <p:spPr>
          <a:xfrm xmlns:a="http://schemas.openxmlformats.org/drawingml/2006/main">
            <a:off x="4873752" y="40873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Together = broader screening context.</a:t>
            </a:r>
            <a:endParaRPr sz="750"/>
          </a:p>
        </p:txBody>
      </p:sp>
      <p:sp>
        <p:nvSpPr>
          <p:cNvPr id="50" name="Text 48">
            <a:extLst xmlns:a="http://schemas.openxmlformats.org/drawingml/2006/main">
              <a:ext uri="{FF2B5EF4-FFF2-40B4-BE49-F238E27FC236}">
                <a16:creationId xmlns:a16="http://schemas.microsoft.com/office/drawing/2014/main" id="{65D5A184-9B2C-4B10-B5DC-1A3F3D8E2894}"/>
              </a:ext>
            </a:extLst>
          </p:cNvPr>
          <p:cNvSpPr>
            <a:spLocks xmlns:a="http://schemas.openxmlformats.org/drawingml/2006/main" noGrp="1"/>
          </p:cNvSpPr>
          <p:nvPr/>
        </p:nvSpPr>
        <p:spPr>
          <a:xfrm xmlns:a="http://schemas.openxmlformats.org/drawingml/2006/main">
            <a:off x="4873752" y="43159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No model-accuracy claim is made from this comparison.</a:t>
            </a:r>
            <a:endParaRPr sz="750"/>
          </a:p>
        </p:txBody>
      </p:sp>
      <p:sp>
        <p:nvSpPr>
          <p:cNvPr id="51" name="Shape 49">
            <a:extLst xmlns:a="http://schemas.openxmlformats.org/drawingml/2006/main">
              <a:ext uri="{FF2B5EF4-FFF2-40B4-BE49-F238E27FC236}">
                <a16:creationId xmlns:a16="http://schemas.microsoft.com/office/drawing/2014/main" id="{60AB1022-AFE8-48AA-AF67-D4B907288A08}"/>
              </a:ext>
            </a:extLst>
          </p:cNvPr>
          <p:cNvSpPr>
            <a:spLocks xmlns:a="http://schemas.openxmlformats.org/drawingml/2006/main" noGrp="1"/>
          </p:cNvSpPr>
          <p:nvPr/>
        </p:nvSpPr>
        <p:spPr>
          <a:xfrm xmlns:a="http://schemas.openxmlformats.org/drawingml/2006/main">
            <a:off x="274320" y="4663440"/>
            <a:ext cx="8595360" cy="29260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52" name="Text 50">
            <a:extLst xmlns:a="http://schemas.openxmlformats.org/drawingml/2006/main">
              <a:ext uri="{FF2B5EF4-FFF2-40B4-BE49-F238E27FC236}">
                <a16:creationId xmlns:a16="http://schemas.microsoft.com/office/drawing/2014/main" id="{888510B6-7C6A-4727-A0E5-F48D9F362954}"/>
              </a:ext>
            </a:extLst>
          </p:cNvPr>
          <p:cNvSpPr>
            <a:spLocks xmlns:a="http://schemas.openxmlformats.org/drawingml/2006/main" noGrp="1"/>
          </p:cNvSpPr>
          <p:nvPr/>
        </p:nvSpPr>
        <p:spPr>
          <a:xfrm xmlns:a="http://schemas.openxmlformats.org/drawingml/2006/main">
            <a:off x="411480" y="4663440"/>
            <a:ext cx="83210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FFFFFF"/>
                </a:solidFill>
              </a:rPr>
              <a:t>The official ICNF layer is a reference, not the project’s ML output.</a:t>
            </a:r>
            <a:endParaRPr sz="850"/>
          </a:p>
        </p:txBody>
      </p:sp>
      <p:sp>
        <p:nvSpPr>
          <p:cNvPr id="53" name="Shape 51">
            <a:extLst xmlns:a="http://schemas.openxmlformats.org/drawingml/2006/main">
              <a:ext uri="{FF2B5EF4-FFF2-40B4-BE49-F238E27FC236}">
                <a16:creationId xmlns:a16="http://schemas.microsoft.com/office/drawing/2014/main" id="{4EF06526-1530-434D-877D-54CADC545895}"/>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54" name="Text 52">
            <a:extLst xmlns:a="http://schemas.openxmlformats.org/drawingml/2006/main">
              <a:ext uri="{FF2B5EF4-FFF2-40B4-BE49-F238E27FC236}">
                <a16:creationId xmlns:a16="http://schemas.microsoft.com/office/drawing/2014/main" id="{AAD75AC7-5746-4AD0-892D-25E5587B3A5D}"/>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433246D-B8F5-43EE-AF32-B05C98498242}"/>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3F6F9"/>
          </a:solidFill>
          <a:ln xmlns:a="http://schemas.openxmlformats.org/drawingml/2006/main" w="12700">
            <a:solidFill>
              <a:srgbClr val="F3F6F9"/>
            </a:solidFill>
            <a:prstDash val="solid"/>
          </a:ln>
        </p:spPr>
      </p:sp>
      <p:sp>
        <p:nvSpPr>
          <p:cNvPr id="3" name="Shape 1">
            <a:extLst xmlns:a="http://schemas.openxmlformats.org/drawingml/2006/main">
              <a:ext uri="{FF2B5EF4-FFF2-40B4-BE49-F238E27FC236}">
                <a16:creationId xmlns:a16="http://schemas.microsoft.com/office/drawing/2014/main" id="{B9907FB8-8328-4B2E-B5E1-84E6FBE1233F}"/>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 name="Shape 2">
            <a:extLst xmlns:a="http://schemas.openxmlformats.org/drawingml/2006/main">
              <a:ext uri="{FF2B5EF4-FFF2-40B4-BE49-F238E27FC236}">
                <a16:creationId xmlns:a16="http://schemas.microsoft.com/office/drawing/2014/main" id="{F3F02133-847A-404E-9F4B-6A7DE78DB92B}"/>
              </a:ext>
            </a:extLst>
          </p:cNvPr>
          <p:cNvSpPr>
            <a:spLocks xmlns:a="http://schemas.openxmlformats.org/drawingml/2006/main" noGrp="1"/>
          </p:cNvSpPr>
          <p:nvPr/>
        </p:nvSpPr>
        <p:spPr>
          <a:xfrm xmlns:a="http://schemas.openxmlformats.org/drawingml/2006/main">
            <a:off x="0" y="64008"/>
            <a:ext cx="9144000" cy="65836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5" name="Text 3">
            <a:extLst xmlns:a="http://schemas.openxmlformats.org/drawingml/2006/main">
              <a:ext uri="{FF2B5EF4-FFF2-40B4-BE49-F238E27FC236}">
                <a16:creationId xmlns:a16="http://schemas.microsoft.com/office/drawing/2014/main" id="{59F12DB4-3B5B-4A67-979D-6151E1B67D1F}"/>
              </a:ext>
            </a:extLst>
          </p:cNvPr>
          <p:cNvSpPr>
            <a:spLocks xmlns:a="http://schemas.openxmlformats.org/drawingml/2006/main" noGrp="1"/>
          </p:cNvSpPr>
          <p:nvPr/>
        </p:nvSpPr>
        <p:spPr>
          <a:xfrm xmlns:a="http://schemas.openxmlformats.org/drawingml/2006/main">
            <a:off x="274320" y="64008"/>
            <a:ext cx="7315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E8A020"/>
                </a:solidFill>
              </a:rPr>
              <a:t>KEY FINDING 3 — MODEL</a:t>
            </a:r>
          </a:p>
          <a:p xmlns:a="http://schemas.openxmlformats.org/drawingml/2006/main">
            <a:pPr marL="0" indent="0">
              <a:buNone/>
            </a:pPr>
            <a:r>
              <a:rPr sz="1000">
                <a:solidFill>
                  <a:schemeClr val="accent6"/>
                </a:solidFill>
              </a:rPr>
              <a:t>model comparison</a:t>
            </a:r>
          </a:p>
        </p:txBody>
      </p:sp>
      <p:sp>
        <p:nvSpPr>
          <p:cNvPr id="6" name="Text 4">
            <a:extLst xmlns:a="http://schemas.openxmlformats.org/drawingml/2006/main">
              <a:ext uri="{FF2B5EF4-FFF2-40B4-BE49-F238E27FC236}">
                <a16:creationId xmlns:a16="http://schemas.microsoft.com/office/drawing/2014/main" id="{157AA592-FB08-4D64-B87E-9FC8E806087F}"/>
              </a:ext>
            </a:extLst>
          </p:cNvPr>
          <p:cNvSpPr>
            <a:spLocks xmlns:a="http://schemas.openxmlformats.org/drawingml/2006/main" noGrp="1"/>
          </p:cNvSpPr>
          <p:nvPr/>
        </p:nvSpPr>
        <p:spPr>
          <a:xfrm xmlns:a="http://schemas.openxmlformats.org/drawingml/2006/main">
            <a:off x="6858000" y="64008"/>
            <a:ext cx="20116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E1E8EF"/>
                </a:solidFill>
              </a:rPr>
              <a:t>6 / 9</a:t>
            </a:r>
            <a:endParaRPr sz="1100"/>
          </a:p>
        </p:txBody>
      </p:sp>
      <p:sp>
        <p:nvSpPr>
          <p:cNvPr id="7" name="Text 5">
            <a:extLst xmlns:a="http://schemas.openxmlformats.org/drawingml/2006/main">
              <a:ext uri="{FF2B5EF4-FFF2-40B4-BE49-F238E27FC236}">
                <a16:creationId xmlns:a16="http://schemas.microsoft.com/office/drawing/2014/main" id="{9FAC5376-DFD7-4DF7-A857-0C2FD5CBD7A4}"/>
              </a:ext>
            </a:extLst>
          </p:cNvPr>
          <p:cNvSpPr>
            <a:spLocks xmlns:a="http://schemas.openxmlformats.org/drawingml/2006/main" noGrp="1"/>
          </p:cNvSpPr>
          <p:nvPr/>
        </p:nvSpPr>
        <p:spPr>
          <a:xfrm xmlns:a="http://schemas.openxmlformats.org/drawingml/2006/main">
            <a:off x="274320" y="804672"/>
            <a:ext cx="8595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A2638"/>
                </a:solidFill>
              </a:rPr>
              <a:t>The nine-feature model improves selected comparative diagnostics</a:t>
            </a:r>
            <a:endParaRPr sz="1600"/>
          </a:p>
        </p:txBody>
      </p:sp>
      <p:sp>
        <p:nvSpPr>
          <p:cNvPr id="8" name="Shape 6">
            <a:extLst xmlns:a="http://schemas.openxmlformats.org/drawingml/2006/main">
              <a:ext uri="{FF2B5EF4-FFF2-40B4-BE49-F238E27FC236}">
                <a16:creationId xmlns:a16="http://schemas.microsoft.com/office/drawing/2014/main" id="{5A356FE9-CB03-42D1-9C21-8542E6BF0EFC}"/>
              </a:ext>
            </a:extLst>
          </p:cNvPr>
          <p:cNvSpPr>
            <a:spLocks xmlns:a="http://schemas.openxmlformats.org/drawingml/2006/main" noGrp="1"/>
          </p:cNvSpPr>
          <p:nvPr/>
        </p:nvSpPr>
        <p:spPr>
          <a:xfrm xmlns:a="http://schemas.openxmlformats.org/drawingml/2006/main">
            <a:off x="274320" y="1298448"/>
            <a:ext cx="4160520" cy="3291840"/>
          </a:xfrm>
          <a:prstGeom xmlns:a="http://schemas.openxmlformats.org/drawingml/2006/main" prst="rect">
            <a:avLst/>
          </a:prstGeom>
          <a:solidFill xmlns:a="http://schemas.openxmlformats.org/drawingml/2006/main">
            <a:srgbClr val="FFFFFF"/>
          </a:solidFill>
          <a:ln xmlns:a="http://schemas.openxmlformats.org/drawingml/2006/main" w="12700">
            <a:solidFill>
              <a:srgbClr val="E1E8EF"/>
            </a:solidFill>
            <a:prstDash val="solid"/>
          </a:ln>
          <a:effectLst xmlns:a="http://schemas.openxmlformats.org/drawingml/2006/main">
            <a:outerShdw blurRad="101600" dist="38100" dir="8100000" algn="bl" rotWithShape="0">
              <a:srgbClr val="000000">
                <a:alpha val="10000"/>
              </a:srgbClr>
            </a:outerShdw>
          </a:effectLst>
        </p:spPr>
        <p:txBody>
          <a:bodyPr xmlns:a="http://schemas.openxmlformats.org/drawingml/2006/main"/>
          <a:lstStyle xmlns:a="http://schemas.openxmlformats.org/drawingml/2006/main"/>
          <a:p xmlns:a="http://schemas.openxmlformats.org/drawingml/2006/main">
            <a:endParaRPr/>
          </a:p>
        </p:txBody>
      </p:sp>
      <p:sp>
        <p:nvSpPr>
          <p:cNvPr id="9" name="Shape 7">
            <a:extLst xmlns:a="http://schemas.openxmlformats.org/drawingml/2006/main">
              <a:ext uri="{FF2B5EF4-FFF2-40B4-BE49-F238E27FC236}">
                <a16:creationId xmlns:a16="http://schemas.microsoft.com/office/drawing/2014/main" id="{C9A34953-58C7-478E-9736-94E8E8AC9D55}"/>
              </a:ext>
            </a:extLst>
          </p:cNvPr>
          <p:cNvSpPr>
            <a:spLocks xmlns:a="http://schemas.openxmlformats.org/drawingml/2006/main" noGrp="1"/>
          </p:cNvSpPr>
          <p:nvPr/>
        </p:nvSpPr>
        <p:spPr>
          <a:xfrm xmlns:a="http://schemas.openxmlformats.org/drawingml/2006/main">
            <a:off x="274320" y="1298448"/>
            <a:ext cx="4160520" cy="38404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10" name="Text 8">
            <a:extLst xmlns:a="http://schemas.openxmlformats.org/drawingml/2006/main">
              <a:ext uri="{FF2B5EF4-FFF2-40B4-BE49-F238E27FC236}">
                <a16:creationId xmlns:a16="http://schemas.microsoft.com/office/drawing/2014/main" id="{0138816D-F851-4B14-B5E7-C78921973D27}"/>
              </a:ext>
            </a:extLst>
          </p:cNvPr>
          <p:cNvSpPr>
            <a:spLocks xmlns:a="http://schemas.openxmlformats.org/drawingml/2006/main" noGrp="1"/>
          </p:cNvSpPr>
          <p:nvPr/>
        </p:nvSpPr>
        <p:spPr>
          <a:xfrm xmlns:a="http://schemas.openxmlformats.org/drawingml/2006/main">
            <a:off x="274320" y="1298448"/>
            <a:ext cx="4160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rPr>
              <a:t>MODEL COMPARISON</a:t>
            </a:r>
            <a:endParaRPr sz="1000"/>
          </a:p>
        </p:txBody>
      </p:sp>
      <p:sp>
        <p:nvSpPr>
          <p:cNvPr id="11" name="Shape 9">
            <a:extLst xmlns:a="http://schemas.openxmlformats.org/drawingml/2006/main">
              <a:ext uri="{FF2B5EF4-FFF2-40B4-BE49-F238E27FC236}">
                <a16:creationId xmlns:a16="http://schemas.microsoft.com/office/drawing/2014/main" id="{A48F928C-F102-49B4-A59E-1D4EE3D1DC18}"/>
              </a:ext>
            </a:extLst>
          </p:cNvPr>
          <p:cNvSpPr>
            <a:spLocks xmlns:a="http://schemas.openxmlformats.org/drawingml/2006/main" noGrp="1"/>
          </p:cNvSpPr>
          <p:nvPr/>
        </p:nvSpPr>
        <p:spPr>
          <a:xfrm xmlns:a="http://schemas.openxmlformats.org/drawingml/2006/main">
            <a:off x="438912" y="1810512"/>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2" name="Text 10">
            <a:extLst xmlns:a="http://schemas.openxmlformats.org/drawingml/2006/main">
              <a:ext uri="{FF2B5EF4-FFF2-40B4-BE49-F238E27FC236}">
                <a16:creationId xmlns:a16="http://schemas.microsoft.com/office/drawing/2014/main" id="{BD60D940-2AB4-4323-ACDD-A19A5EA667C8}"/>
              </a:ext>
            </a:extLst>
          </p:cNvPr>
          <p:cNvSpPr>
            <a:spLocks xmlns:a="http://schemas.openxmlformats.org/drawingml/2006/main" noGrp="1"/>
          </p:cNvSpPr>
          <p:nvPr/>
        </p:nvSpPr>
        <p:spPr>
          <a:xfrm xmlns:a="http://schemas.openxmlformats.org/drawingml/2006/main">
            <a:off x="438912" y="1810512"/>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3" name="Text 11">
            <a:extLst xmlns:a="http://schemas.openxmlformats.org/drawingml/2006/main">
              <a:ext uri="{FF2B5EF4-FFF2-40B4-BE49-F238E27FC236}">
                <a16:creationId xmlns:a16="http://schemas.microsoft.com/office/drawing/2014/main" id="{433F46A5-1D2D-44A3-B1A4-F5935365DDDC}"/>
              </a:ext>
            </a:extLst>
          </p:cNvPr>
          <p:cNvSpPr>
            <a:spLocks xmlns:a="http://schemas.openxmlformats.org/drawingml/2006/main" noGrp="1"/>
          </p:cNvSpPr>
          <p:nvPr/>
        </p:nvSpPr>
        <p:spPr>
          <a:xfrm xmlns:a="http://schemas.openxmlformats.org/drawingml/2006/main">
            <a:off x="713232" y="1801368"/>
            <a:ext cx="36118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800"/>
              <a:t>Historical </a:t>
            </a:r>
            <a:r>
              <a:rPr sz="800" b="1"/>
              <a:t>recurrence</a:t>
            </a:r>
            <a:r>
              <a:rPr sz="800"/>
              <a:t> benchmark </a:t>
            </a:r>
            <a:r>
              <a:rPr sz="850">
                <a:solidFill>
                  <a:srgbClr val="1A2638"/>
                </a:solidFill>
              </a:rPr>
              <a:t> -&gt; </a:t>
            </a:r>
            <a:r>
              <a:rPr sz="800" b="1"/>
              <a:t>Nine-feature</a:t>
            </a:r>
            <a:r>
              <a:rPr sz="800"/>
              <a:t> Model</a:t>
            </a:r>
          </a:p>
        </p:txBody>
      </p:sp>
      <p:sp>
        <p:nvSpPr>
          <p:cNvPr id="14" name="Shape 12">
            <a:extLst xmlns:a="http://schemas.openxmlformats.org/drawingml/2006/main">
              <a:ext uri="{FF2B5EF4-FFF2-40B4-BE49-F238E27FC236}">
                <a16:creationId xmlns:a16="http://schemas.microsoft.com/office/drawing/2014/main" id="{9A77203C-C6FB-43FE-9635-189E862BC538}"/>
              </a:ext>
            </a:extLst>
          </p:cNvPr>
          <p:cNvSpPr>
            <a:spLocks xmlns:a="http://schemas.openxmlformats.org/drawingml/2006/main" noGrp="1"/>
          </p:cNvSpPr>
          <p:nvPr/>
        </p:nvSpPr>
        <p:spPr>
          <a:xfrm xmlns:a="http://schemas.openxmlformats.org/drawingml/2006/main">
            <a:off x="438912" y="2212848"/>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5" name="Text 13">
            <a:extLst xmlns:a="http://schemas.openxmlformats.org/drawingml/2006/main">
              <a:ext uri="{FF2B5EF4-FFF2-40B4-BE49-F238E27FC236}">
                <a16:creationId xmlns:a16="http://schemas.microsoft.com/office/drawing/2014/main" id="{C4054035-0280-46D0-8271-E333012C74D8}"/>
              </a:ext>
            </a:extLst>
          </p:cNvPr>
          <p:cNvSpPr>
            <a:spLocks xmlns:a="http://schemas.openxmlformats.org/drawingml/2006/main" noGrp="1"/>
          </p:cNvSpPr>
          <p:nvPr/>
        </p:nvSpPr>
        <p:spPr>
          <a:xfrm xmlns:a="http://schemas.openxmlformats.org/drawingml/2006/main">
            <a:off x="438912" y="2212848"/>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6" name="Text 14">
            <a:extLst xmlns:a="http://schemas.openxmlformats.org/drawingml/2006/main">
              <a:ext uri="{FF2B5EF4-FFF2-40B4-BE49-F238E27FC236}">
                <a16:creationId xmlns:a16="http://schemas.microsoft.com/office/drawing/2014/main" id="{3A866D65-32E1-4D14-85BC-277D343C0267}"/>
              </a:ext>
            </a:extLst>
          </p:cNvPr>
          <p:cNvSpPr>
            <a:spLocks xmlns:a="http://schemas.openxmlformats.org/drawingml/2006/main" noGrp="1"/>
          </p:cNvSpPr>
          <p:nvPr/>
        </p:nvSpPr>
        <p:spPr>
          <a:xfrm xmlns:a="http://schemas.openxmlformats.org/drawingml/2006/main">
            <a:off x="713232" y="2176272"/>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Historical recurrence baseline</a:t>
            </a:r>
          </a:p>
          <a:p xmlns:a="http://schemas.openxmlformats.org/drawingml/2006/main">
            <a:r>
              <a:rPr sz="700" i="1">
                <a:solidFill>
                  <a:schemeClr val="tx1">
                    <a:lumMod val="50000"/>
                    <a:lumOff val="50000"/>
                  </a:schemeClr>
                </a:solidFill>
              </a:rPr>
              <a:t>a simple reference based only on previous burned-year counts</a:t>
            </a:r>
          </a:p>
        </p:txBody>
      </p:sp>
      <p:sp>
        <p:nvSpPr>
          <p:cNvPr id="17" name="Shape 15">
            <a:extLst xmlns:a="http://schemas.openxmlformats.org/drawingml/2006/main">
              <a:ext uri="{FF2B5EF4-FFF2-40B4-BE49-F238E27FC236}">
                <a16:creationId xmlns:a16="http://schemas.microsoft.com/office/drawing/2014/main" id="{340346DD-06C1-46D3-B84B-71D11B0BD4C8}"/>
              </a:ext>
            </a:extLst>
          </p:cNvPr>
          <p:cNvSpPr>
            <a:spLocks xmlns:a="http://schemas.openxmlformats.org/drawingml/2006/main" noGrp="1"/>
          </p:cNvSpPr>
          <p:nvPr/>
        </p:nvSpPr>
        <p:spPr>
          <a:xfrm xmlns:a="http://schemas.openxmlformats.org/drawingml/2006/main">
            <a:off x="438912" y="2615184"/>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8" name="Text 16">
            <a:extLst xmlns:a="http://schemas.openxmlformats.org/drawingml/2006/main">
              <a:ext uri="{FF2B5EF4-FFF2-40B4-BE49-F238E27FC236}">
                <a16:creationId xmlns:a16="http://schemas.microsoft.com/office/drawing/2014/main" id="{54CE7231-C7DF-4668-B5A1-98622531C369}"/>
              </a:ext>
            </a:extLst>
          </p:cNvPr>
          <p:cNvSpPr>
            <a:spLocks xmlns:a="http://schemas.openxmlformats.org/drawingml/2006/main" noGrp="1"/>
          </p:cNvSpPr>
          <p:nvPr/>
        </p:nvSpPr>
        <p:spPr>
          <a:xfrm xmlns:a="http://schemas.openxmlformats.org/drawingml/2006/main">
            <a:off x="438912" y="2615184"/>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9" name="Text 17">
            <a:extLst xmlns:a="http://schemas.openxmlformats.org/drawingml/2006/main">
              <a:ext uri="{FF2B5EF4-FFF2-40B4-BE49-F238E27FC236}">
                <a16:creationId xmlns:a16="http://schemas.microsoft.com/office/drawing/2014/main" id="{62EF2D98-2C4B-4478-B6DE-59400CA06235}"/>
              </a:ext>
            </a:extLst>
          </p:cNvPr>
          <p:cNvSpPr>
            <a:spLocks xmlns:a="http://schemas.openxmlformats.org/drawingml/2006/main" noGrp="1"/>
          </p:cNvSpPr>
          <p:nvPr/>
        </p:nvSpPr>
        <p:spPr>
          <a:xfrm xmlns:a="http://schemas.openxmlformats.org/drawingml/2006/main">
            <a:off x="713232" y="2578608"/>
            <a:ext cx="36118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850">
                <a:solidFill>
                  <a:srgbClr val="1A2638"/>
                </a:solidFill>
              </a:rPr>
              <a:t>Nine-feature two-stage regression model:</a:t>
            </a:r>
          </a:p>
          <a:p xmlns:a="http://schemas.openxmlformats.org/drawingml/2006/main">
            <a:pPr marL="171450" indent="-171450">
              <a:buFont typeface="Arial"/>
              <a:buChar char="•"/>
            </a:pPr>
            <a:r>
              <a:rPr sz="700" b="1" i="1">
                <a:solidFill>
                  <a:schemeClr val="tx1">
                    <a:lumMod val="50000"/>
                    <a:lumOff val="50000"/>
                  </a:schemeClr>
                </a:solidFill>
              </a:rPr>
              <a:t>HistGradientBoostingClassifier</a:t>
            </a:r>
            <a:r>
              <a:rPr sz="700" i="1">
                <a:solidFill>
                  <a:schemeClr val="tx1">
                    <a:lumMod val="50000"/>
                    <a:lumOff val="50000"/>
                  </a:schemeClr>
                </a:solidFill>
              </a:rPr>
              <a:t> for occurrence</a:t>
            </a:r>
          </a:p>
          <a:p xmlns:a="http://schemas.openxmlformats.org/drawingml/2006/main">
            <a:pPr marL="171450" indent="-171450">
              <a:buFont typeface="Arial"/>
              <a:buChar char="•"/>
            </a:pPr>
            <a:r>
              <a:rPr sz="700" b="1" i="1">
                <a:solidFill>
                  <a:schemeClr val="tx1">
                    <a:lumMod val="50000"/>
                    <a:lumOff val="50000"/>
                  </a:schemeClr>
                </a:solidFill>
              </a:rPr>
              <a:t>HistGradientBoostingRegressor</a:t>
            </a:r>
            <a:r>
              <a:rPr sz="700" i="1">
                <a:solidFill>
                  <a:schemeClr val="tx1">
                    <a:lumMod val="50000"/>
                    <a:lumOff val="50000"/>
                  </a:schemeClr>
                </a:solidFill>
              </a:rPr>
              <a:t> for positive burned share</a:t>
            </a:r>
          </a:p>
          <a:p xmlns:a="http://schemas.openxmlformats.org/drawingml/2006/main">
            <a:r>
              <a:rPr sz="700" i="1">
                <a:solidFill>
                  <a:schemeClr val="tx1">
                    <a:lumMod val="50000"/>
                    <a:lumOff val="50000"/>
                  </a:schemeClr>
                </a:solidFill>
              </a:rPr>
              <a:t>the accepted model using fire history, land cover, terrain, and climate predictors</a:t>
            </a:r>
            <a:endParaRPr sz="800"/>
          </a:p>
          <a:p xmlns:a="http://schemas.openxmlformats.org/drawingml/2006/main">
            <a:pPr marL="0" indent="0">
              <a:buNone/>
            </a:pPr>
            <a:endParaRPr sz="850" b="1"/>
          </a:p>
        </p:txBody>
      </p:sp>
      <p:sp>
        <p:nvSpPr>
          <p:cNvPr id="20" name="Shape 18">
            <a:extLst xmlns:a="http://schemas.openxmlformats.org/drawingml/2006/main">
              <a:ext uri="{FF2B5EF4-FFF2-40B4-BE49-F238E27FC236}">
                <a16:creationId xmlns:a16="http://schemas.microsoft.com/office/drawing/2014/main" id="{ACCE5F55-0293-4ED9-B7A2-2A8422E5B9D4}"/>
              </a:ext>
            </a:extLst>
          </p:cNvPr>
          <p:cNvSpPr>
            <a:spLocks xmlns:a="http://schemas.openxmlformats.org/drawingml/2006/main" noGrp="1"/>
          </p:cNvSpPr>
          <p:nvPr/>
        </p:nvSpPr>
        <p:spPr>
          <a:xfrm xmlns:a="http://schemas.openxmlformats.org/drawingml/2006/main">
            <a:off x="438912" y="3017520"/>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1" name="Text 19">
            <a:extLst xmlns:a="http://schemas.openxmlformats.org/drawingml/2006/main">
              <a:ext uri="{FF2B5EF4-FFF2-40B4-BE49-F238E27FC236}">
                <a16:creationId xmlns:a16="http://schemas.microsoft.com/office/drawing/2014/main" id="{021FABFD-07BB-4CB1-9DF3-6AB4C7F7418A}"/>
              </a:ext>
            </a:extLst>
          </p:cNvPr>
          <p:cNvSpPr>
            <a:spLocks xmlns:a="http://schemas.openxmlformats.org/drawingml/2006/main" noGrp="1"/>
          </p:cNvSpPr>
          <p:nvPr/>
        </p:nvSpPr>
        <p:spPr>
          <a:xfrm xmlns:a="http://schemas.openxmlformats.org/drawingml/2006/main">
            <a:off x="438912" y="3017520"/>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2" name="Text 20">
            <a:extLst xmlns:a="http://schemas.openxmlformats.org/drawingml/2006/main">
              <a:ext uri="{FF2B5EF4-FFF2-40B4-BE49-F238E27FC236}">
                <a16:creationId xmlns:a16="http://schemas.microsoft.com/office/drawing/2014/main" id="{DF395E92-F661-43E4-B279-247D4D7CBDF8}"/>
              </a:ext>
            </a:extLst>
          </p:cNvPr>
          <p:cNvSpPr>
            <a:spLocks xmlns:a="http://schemas.openxmlformats.org/drawingml/2006/main" noGrp="1"/>
          </p:cNvSpPr>
          <p:nvPr/>
        </p:nvSpPr>
        <p:spPr>
          <a:xfrm xmlns:a="http://schemas.openxmlformats.org/drawingml/2006/main">
            <a:off x="713232" y="2980944"/>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MAE: 0.0292  -&gt;  0.0209</a:t>
            </a:r>
            <a:endParaRPr sz="850"/>
          </a:p>
        </p:txBody>
      </p:sp>
      <p:sp>
        <p:nvSpPr>
          <p:cNvPr id="23" name="Shape 21">
            <a:extLst xmlns:a="http://schemas.openxmlformats.org/drawingml/2006/main">
              <a:ext uri="{FF2B5EF4-FFF2-40B4-BE49-F238E27FC236}">
                <a16:creationId xmlns:a16="http://schemas.microsoft.com/office/drawing/2014/main" id="{488D5AAF-075C-4381-8425-C89597170446}"/>
              </a:ext>
            </a:extLst>
          </p:cNvPr>
          <p:cNvSpPr>
            <a:spLocks xmlns:a="http://schemas.openxmlformats.org/drawingml/2006/main" noGrp="1"/>
          </p:cNvSpPr>
          <p:nvPr/>
        </p:nvSpPr>
        <p:spPr>
          <a:xfrm xmlns:a="http://schemas.openxmlformats.org/drawingml/2006/main">
            <a:off x="438912" y="3419856"/>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4" name="Text 22">
            <a:extLst xmlns:a="http://schemas.openxmlformats.org/drawingml/2006/main">
              <a:ext uri="{FF2B5EF4-FFF2-40B4-BE49-F238E27FC236}">
                <a16:creationId xmlns:a16="http://schemas.microsoft.com/office/drawing/2014/main" id="{3E83D27C-B8E2-4DEE-B204-D31E94B3282A}"/>
              </a:ext>
            </a:extLst>
          </p:cNvPr>
          <p:cNvSpPr>
            <a:spLocks xmlns:a="http://schemas.openxmlformats.org/drawingml/2006/main" noGrp="1"/>
          </p:cNvSpPr>
          <p:nvPr/>
        </p:nvSpPr>
        <p:spPr>
          <a:xfrm xmlns:a="http://schemas.openxmlformats.org/drawingml/2006/main">
            <a:off x="438912" y="3419856"/>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5" name="Text 23">
            <a:extLst xmlns:a="http://schemas.openxmlformats.org/drawingml/2006/main">
              <a:ext uri="{FF2B5EF4-FFF2-40B4-BE49-F238E27FC236}">
                <a16:creationId xmlns:a16="http://schemas.microsoft.com/office/drawing/2014/main" id="{38E3C507-F339-4F2F-954D-39C52FC073E3}"/>
              </a:ext>
            </a:extLst>
          </p:cNvPr>
          <p:cNvSpPr>
            <a:spLocks xmlns:a="http://schemas.openxmlformats.org/drawingml/2006/main" noGrp="1"/>
          </p:cNvSpPr>
          <p:nvPr/>
        </p:nvSpPr>
        <p:spPr>
          <a:xfrm xmlns:a="http://schemas.openxmlformats.org/drawingml/2006/main">
            <a:off x="713232" y="3383280"/>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RMSE: 0.1106  -&gt;  0.1110</a:t>
            </a:r>
            <a:endParaRPr sz="850"/>
          </a:p>
        </p:txBody>
      </p:sp>
      <p:sp>
        <p:nvSpPr>
          <p:cNvPr id="26" name="Shape 24">
            <a:extLst xmlns:a="http://schemas.openxmlformats.org/drawingml/2006/main">
              <a:ext uri="{FF2B5EF4-FFF2-40B4-BE49-F238E27FC236}">
                <a16:creationId xmlns:a16="http://schemas.microsoft.com/office/drawing/2014/main" id="{08C68075-9284-4574-87C1-08DABFEF76DE}"/>
              </a:ext>
            </a:extLst>
          </p:cNvPr>
          <p:cNvSpPr>
            <a:spLocks xmlns:a="http://schemas.openxmlformats.org/drawingml/2006/main" noGrp="1"/>
          </p:cNvSpPr>
          <p:nvPr/>
        </p:nvSpPr>
        <p:spPr>
          <a:xfrm xmlns:a="http://schemas.openxmlformats.org/drawingml/2006/main">
            <a:off x="438912" y="3822192"/>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7" name="Text 25">
            <a:extLst xmlns:a="http://schemas.openxmlformats.org/drawingml/2006/main">
              <a:ext uri="{FF2B5EF4-FFF2-40B4-BE49-F238E27FC236}">
                <a16:creationId xmlns:a16="http://schemas.microsoft.com/office/drawing/2014/main" id="{E6782FB0-9CF8-4988-961D-609E903C78A1}"/>
              </a:ext>
            </a:extLst>
          </p:cNvPr>
          <p:cNvSpPr>
            <a:spLocks xmlns:a="http://schemas.openxmlformats.org/drawingml/2006/main" noGrp="1"/>
          </p:cNvSpPr>
          <p:nvPr/>
        </p:nvSpPr>
        <p:spPr>
          <a:xfrm xmlns:a="http://schemas.openxmlformats.org/drawingml/2006/main">
            <a:off x="438912" y="3822192"/>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8" name="Text 26">
            <a:extLst xmlns:a="http://schemas.openxmlformats.org/drawingml/2006/main">
              <a:ext uri="{FF2B5EF4-FFF2-40B4-BE49-F238E27FC236}">
                <a16:creationId xmlns:a16="http://schemas.microsoft.com/office/drawing/2014/main" id="{70F27152-BCAD-46B7-826B-959E39FABFED}"/>
              </a:ext>
            </a:extLst>
          </p:cNvPr>
          <p:cNvSpPr>
            <a:spLocks xmlns:a="http://schemas.openxmlformats.org/drawingml/2006/main" noGrp="1"/>
          </p:cNvSpPr>
          <p:nvPr/>
        </p:nvSpPr>
        <p:spPr>
          <a:xfrm xmlns:a="http://schemas.openxmlformats.org/drawingml/2006/main">
            <a:off x="713232" y="3785616"/>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Capture@20%: 40.2%  -&gt;  57.2%</a:t>
            </a:r>
          </a:p>
          <a:p xmlns:a="http://schemas.openxmlformats.org/drawingml/2006/main">
            <a:r>
              <a:rPr sz="700" i="1">
                <a:solidFill>
                  <a:schemeClr val="tx1">
                    <a:lumMod val="50000"/>
                    <a:lumOff val="50000"/>
                  </a:schemeClr>
                </a:solidFill>
              </a:rPr>
              <a:t>how much observed burned share occurred within the highest-ranked 20% of cells</a:t>
            </a:r>
          </a:p>
        </p:txBody>
      </p:sp>
      <p:sp>
        <p:nvSpPr>
          <p:cNvPr id="29" name="Shape 27">
            <a:extLst xmlns:a="http://schemas.openxmlformats.org/drawingml/2006/main">
              <a:ext uri="{FF2B5EF4-FFF2-40B4-BE49-F238E27FC236}">
                <a16:creationId xmlns:a16="http://schemas.microsoft.com/office/drawing/2014/main" id="{6FE7194F-DD64-44E7-98A2-9C4D403266C2}"/>
              </a:ext>
            </a:extLst>
          </p:cNvPr>
          <p:cNvSpPr>
            <a:spLocks xmlns:a="http://schemas.openxmlformats.org/drawingml/2006/main" noGrp="1"/>
          </p:cNvSpPr>
          <p:nvPr/>
        </p:nvSpPr>
        <p:spPr>
          <a:xfrm xmlns:a="http://schemas.openxmlformats.org/drawingml/2006/main">
            <a:off x="438912" y="4224528"/>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30" name="Text 28">
            <a:extLst xmlns:a="http://schemas.openxmlformats.org/drawingml/2006/main">
              <a:ext uri="{FF2B5EF4-FFF2-40B4-BE49-F238E27FC236}">
                <a16:creationId xmlns:a16="http://schemas.microsoft.com/office/drawing/2014/main" id="{6BF79431-F44F-4E26-8B43-6D69C49965C2}"/>
              </a:ext>
            </a:extLst>
          </p:cNvPr>
          <p:cNvSpPr>
            <a:spLocks xmlns:a="http://schemas.openxmlformats.org/drawingml/2006/main" noGrp="1"/>
          </p:cNvSpPr>
          <p:nvPr/>
        </p:nvSpPr>
        <p:spPr>
          <a:xfrm xmlns:a="http://schemas.openxmlformats.org/drawingml/2006/main">
            <a:off x="438912" y="4224528"/>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31" name="Text 29">
            <a:extLst xmlns:a="http://schemas.openxmlformats.org/drawingml/2006/main">
              <a:ext uri="{FF2B5EF4-FFF2-40B4-BE49-F238E27FC236}">
                <a16:creationId xmlns:a16="http://schemas.microsoft.com/office/drawing/2014/main" id="{234F4672-94F5-40EC-848A-2B04CEEC2D52}"/>
              </a:ext>
            </a:extLst>
          </p:cNvPr>
          <p:cNvSpPr>
            <a:spLocks xmlns:a="http://schemas.openxmlformats.org/drawingml/2006/main" noGrp="1"/>
          </p:cNvSpPr>
          <p:nvPr/>
        </p:nvSpPr>
        <p:spPr>
          <a:xfrm xmlns:a="http://schemas.openxmlformats.org/drawingml/2006/main">
            <a:off x="713232" y="4165092"/>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800"/>
              <a:t>Final temporal evaluation: T=2022–2024 → observed outcomes 2023–2025</a:t>
            </a:r>
          </a:p>
        </p:txBody>
      </p:sp>
      <p:sp>
        <p:nvSpPr>
          <p:cNvPr id="32" name="Shape 30">
            <a:extLst xmlns:a="http://schemas.openxmlformats.org/drawingml/2006/main">
              <a:ext uri="{FF2B5EF4-FFF2-40B4-BE49-F238E27FC236}">
                <a16:creationId xmlns:a16="http://schemas.microsoft.com/office/drawing/2014/main" id="{8CFE47B9-6214-49BF-BAB5-E46AF5D658EC}"/>
              </a:ext>
            </a:extLst>
          </p:cNvPr>
          <p:cNvSpPr>
            <a:spLocks xmlns:a="http://schemas.openxmlformats.org/drawingml/2006/main" noGrp="1"/>
          </p:cNvSpPr>
          <p:nvPr/>
        </p:nvSpPr>
        <p:spPr>
          <a:xfrm xmlns:a="http://schemas.openxmlformats.org/drawingml/2006/main">
            <a:off x="4709160" y="1298448"/>
            <a:ext cx="4160520" cy="3291840"/>
          </a:xfrm>
          <a:prstGeom xmlns:a="http://schemas.openxmlformats.org/drawingml/2006/main" prst="rect">
            <a:avLst/>
          </a:prstGeom>
          <a:solidFill xmlns:a="http://schemas.openxmlformats.org/drawingml/2006/main">
            <a:srgbClr val="FFFFFF"/>
          </a:solidFill>
          <a:ln xmlns:a="http://schemas.openxmlformats.org/drawingml/2006/main" w="12700">
            <a:solidFill>
              <a:srgbClr val="E1E8EF"/>
            </a:solidFill>
            <a:prstDash val="solid"/>
          </a:ln>
          <a:effectLst xmlns:a="http://schemas.openxmlformats.org/drawingml/2006/main">
            <a:outerShdw blurRad="101600" dist="38100" dir="8100000" algn="bl" rotWithShape="0">
              <a:srgbClr val="000000">
                <a:alpha val="10000"/>
              </a:srgbClr>
            </a:outerShdw>
          </a:effectLst>
        </p:spPr>
      </p:sp>
      <p:sp>
        <p:nvSpPr>
          <p:cNvPr id="33" name="Shape 31">
            <a:extLst xmlns:a="http://schemas.openxmlformats.org/drawingml/2006/main">
              <a:ext uri="{FF2B5EF4-FFF2-40B4-BE49-F238E27FC236}">
                <a16:creationId xmlns:a16="http://schemas.microsoft.com/office/drawing/2014/main" id="{A8D64D74-58C5-46B8-81B3-038E3D611275}"/>
              </a:ext>
            </a:extLst>
          </p:cNvPr>
          <p:cNvSpPr>
            <a:spLocks xmlns:a="http://schemas.openxmlformats.org/drawingml/2006/main" noGrp="1"/>
          </p:cNvSpPr>
          <p:nvPr/>
        </p:nvSpPr>
        <p:spPr>
          <a:xfrm xmlns:a="http://schemas.openxmlformats.org/drawingml/2006/main">
            <a:off x="4709160" y="1298448"/>
            <a:ext cx="4160520" cy="38404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34" name="Text 32">
            <a:extLst xmlns:a="http://schemas.openxmlformats.org/drawingml/2006/main">
              <a:ext uri="{FF2B5EF4-FFF2-40B4-BE49-F238E27FC236}">
                <a16:creationId xmlns:a16="http://schemas.microsoft.com/office/drawing/2014/main" id="{94210AFE-3DED-4395-AC76-61EA6433B9A0}"/>
              </a:ext>
            </a:extLst>
          </p:cNvPr>
          <p:cNvSpPr>
            <a:spLocks xmlns:a="http://schemas.openxmlformats.org/drawingml/2006/main" noGrp="1"/>
          </p:cNvSpPr>
          <p:nvPr/>
        </p:nvSpPr>
        <p:spPr>
          <a:xfrm xmlns:a="http://schemas.openxmlformats.org/drawingml/2006/main">
            <a:off x="4709160" y="1298448"/>
            <a:ext cx="4160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rPr>
              <a:t>HOW TO READ IT</a:t>
            </a:r>
            <a:endParaRPr sz="1000"/>
          </a:p>
        </p:txBody>
      </p:sp>
      <p:sp>
        <p:nvSpPr>
          <p:cNvPr id="35" name="Text 33">
            <a:extLst xmlns:a="http://schemas.openxmlformats.org/drawingml/2006/main">
              <a:ext uri="{FF2B5EF4-FFF2-40B4-BE49-F238E27FC236}">
                <a16:creationId xmlns:a16="http://schemas.microsoft.com/office/drawing/2014/main" id="{7D1E2215-4749-4102-8766-0EF9CB908835}"/>
              </a:ext>
            </a:extLst>
          </p:cNvPr>
          <p:cNvSpPr>
            <a:spLocks xmlns:a="http://schemas.openxmlformats.org/drawingml/2006/main" noGrp="1"/>
          </p:cNvSpPr>
          <p:nvPr/>
        </p:nvSpPr>
        <p:spPr>
          <a:xfrm xmlns:a="http://schemas.openxmlformats.org/drawingml/2006/main">
            <a:off x="4873752" y="1755648"/>
            <a:ext cx="3886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5B6880"/>
                </a:solidFill>
              </a:rPr>
              <a:t>Technical</a:t>
            </a:r>
            <a:endParaRPr sz="800"/>
          </a:p>
        </p:txBody>
      </p:sp>
      <p:sp>
        <p:nvSpPr>
          <p:cNvPr id="36" name="Shape 34">
            <a:extLst xmlns:a="http://schemas.openxmlformats.org/drawingml/2006/main">
              <a:ext uri="{FF2B5EF4-FFF2-40B4-BE49-F238E27FC236}">
                <a16:creationId xmlns:a16="http://schemas.microsoft.com/office/drawing/2014/main" id="{E9765024-23F7-4BAD-82E2-D0944ECD817D}"/>
              </a:ext>
            </a:extLst>
          </p:cNvPr>
          <p:cNvSpPr>
            <a:spLocks xmlns:a="http://schemas.openxmlformats.org/drawingml/2006/main" noGrp="1"/>
          </p:cNvSpPr>
          <p:nvPr/>
        </p:nvSpPr>
        <p:spPr>
          <a:xfrm xmlns:a="http://schemas.openxmlformats.org/drawingml/2006/main">
            <a:off x="4873752" y="2093976"/>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37" name="Text 35">
            <a:extLst xmlns:a="http://schemas.openxmlformats.org/drawingml/2006/main">
              <a:ext uri="{FF2B5EF4-FFF2-40B4-BE49-F238E27FC236}">
                <a16:creationId xmlns:a16="http://schemas.microsoft.com/office/drawing/2014/main" id="{3DB21FEE-311F-4CB4-9BB7-CEE277DD9E7E}"/>
              </a:ext>
            </a:extLst>
          </p:cNvPr>
          <p:cNvSpPr>
            <a:spLocks xmlns:a="http://schemas.openxmlformats.org/drawingml/2006/main" noGrp="1"/>
          </p:cNvSpPr>
          <p:nvPr/>
        </p:nvSpPr>
        <p:spPr>
          <a:xfrm xmlns:a="http://schemas.openxmlformats.org/drawingml/2006/main">
            <a:off x="4873752" y="2093976"/>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38" name="Text 36">
            <a:extLst xmlns:a="http://schemas.openxmlformats.org/drawingml/2006/main">
              <a:ext uri="{FF2B5EF4-FFF2-40B4-BE49-F238E27FC236}">
                <a16:creationId xmlns:a16="http://schemas.microsoft.com/office/drawing/2014/main" id="{EC831CFF-D119-4E88-B1D0-71E2982079DD}"/>
              </a:ext>
            </a:extLst>
          </p:cNvPr>
          <p:cNvSpPr>
            <a:spLocks xmlns:a="http://schemas.openxmlformats.org/drawingml/2006/main" noGrp="1"/>
          </p:cNvSpPr>
          <p:nvPr/>
        </p:nvSpPr>
        <p:spPr>
          <a:xfrm xmlns:a="http://schemas.openxmlformats.org/drawingml/2006/main">
            <a:off x="5111496" y="2048256"/>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MAE is average error in burned-share units; lower is better.</a:t>
            </a:r>
            <a:endParaRPr sz="800"/>
          </a:p>
        </p:txBody>
      </p:sp>
      <p:sp>
        <p:nvSpPr>
          <p:cNvPr id="39" name="Shape 37">
            <a:extLst xmlns:a="http://schemas.openxmlformats.org/drawingml/2006/main">
              <a:ext uri="{FF2B5EF4-FFF2-40B4-BE49-F238E27FC236}">
                <a16:creationId xmlns:a16="http://schemas.microsoft.com/office/drawing/2014/main" id="{6E8C027E-8773-4500-B33B-62E87DB5F217}"/>
              </a:ext>
            </a:extLst>
          </p:cNvPr>
          <p:cNvSpPr>
            <a:spLocks xmlns:a="http://schemas.openxmlformats.org/drawingml/2006/main" noGrp="1"/>
          </p:cNvSpPr>
          <p:nvPr/>
        </p:nvSpPr>
        <p:spPr>
          <a:xfrm xmlns:a="http://schemas.openxmlformats.org/drawingml/2006/main">
            <a:off x="4873752" y="2441448"/>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40" name="Text 38">
            <a:extLst xmlns:a="http://schemas.openxmlformats.org/drawingml/2006/main">
              <a:ext uri="{FF2B5EF4-FFF2-40B4-BE49-F238E27FC236}">
                <a16:creationId xmlns:a16="http://schemas.microsoft.com/office/drawing/2014/main" id="{60AA1538-DD26-48A4-801E-5B50EDDC6EF9}"/>
              </a:ext>
            </a:extLst>
          </p:cNvPr>
          <p:cNvSpPr>
            <a:spLocks xmlns:a="http://schemas.openxmlformats.org/drawingml/2006/main" noGrp="1"/>
          </p:cNvSpPr>
          <p:nvPr/>
        </p:nvSpPr>
        <p:spPr>
          <a:xfrm xmlns:a="http://schemas.openxmlformats.org/drawingml/2006/main">
            <a:off x="4873752" y="2441448"/>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41" name="Text 39">
            <a:extLst xmlns:a="http://schemas.openxmlformats.org/drawingml/2006/main">
              <a:ext uri="{FF2B5EF4-FFF2-40B4-BE49-F238E27FC236}">
                <a16:creationId xmlns:a16="http://schemas.microsoft.com/office/drawing/2014/main" id="{AB334C3D-7F39-4FE7-B95B-21588560F91A}"/>
              </a:ext>
            </a:extLst>
          </p:cNvPr>
          <p:cNvSpPr>
            <a:spLocks xmlns:a="http://schemas.openxmlformats.org/drawingml/2006/main" noGrp="1"/>
          </p:cNvSpPr>
          <p:nvPr/>
        </p:nvSpPr>
        <p:spPr>
          <a:xfrm xmlns:a="http://schemas.openxmlformats.org/drawingml/2006/main">
            <a:off x="5111496" y="2395728"/>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RMSE gives more weight to larger errors; lower is better.</a:t>
            </a:r>
            <a:endParaRPr sz="800"/>
          </a:p>
        </p:txBody>
      </p:sp>
      <p:sp>
        <p:nvSpPr>
          <p:cNvPr id="42" name="Shape 40">
            <a:extLst xmlns:a="http://schemas.openxmlformats.org/drawingml/2006/main">
              <a:ext uri="{FF2B5EF4-FFF2-40B4-BE49-F238E27FC236}">
                <a16:creationId xmlns:a16="http://schemas.microsoft.com/office/drawing/2014/main" id="{EB1A818B-27E2-4AC9-A7A5-A37B13D81AEE}"/>
              </a:ext>
            </a:extLst>
          </p:cNvPr>
          <p:cNvSpPr>
            <a:spLocks xmlns:a="http://schemas.openxmlformats.org/drawingml/2006/main" noGrp="1"/>
          </p:cNvSpPr>
          <p:nvPr/>
        </p:nvSpPr>
        <p:spPr>
          <a:xfrm xmlns:a="http://schemas.openxmlformats.org/drawingml/2006/main">
            <a:off x="4873752" y="2788920"/>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43" name="Text 41">
            <a:extLst xmlns:a="http://schemas.openxmlformats.org/drawingml/2006/main">
              <a:ext uri="{FF2B5EF4-FFF2-40B4-BE49-F238E27FC236}">
                <a16:creationId xmlns:a16="http://schemas.microsoft.com/office/drawing/2014/main" id="{C9A0C132-E061-47E9-86DA-C56EBC4FE862}"/>
              </a:ext>
            </a:extLst>
          </p:cNvPr>
          <p:cNvSpPr>
            <a:spLocks xmlns:a="http://schemas.openxmlformats.org/drawingml/2006/main" noGrp="1"/>
          </p:cNvSpPr>
          <p:nvPr/>
        </p:nvSpPr>
        <p:spPr>
          <a:xfrm xmlns:a="http://schemas.openxmlformats.org/drawingml/2006/main">
            <a:off x="4873752" y="2788920"/>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44" name="Text 42">
            <a:extLst xmlns:a="http://schemas.openxmlformats.org/drawingml/2006/main">
              <a:ext uri="{FF2B5EF4-FFF2-40B4-BE49-F238E27FC236}">
                <a16:creationId xmlns:a16="http://schemas.microsoft.com/office/drawing/2014/main" id="{A498733C-FEFE-442D-BBCC-FBAA98860A46}"/>
              </a:ext>
            </a:extLst>
          </p:cNvPr>
          <p:cNvSpPr>
            <a:spLocks xmlns:a="http://schemas.openxmlformats.org/drawingml/2006/main" noGrp="1"/>
          </p:cNvSpPr>
          <p:nvPr/>
        </p:nvSpPr>
        <p:spPr>
          <a:xfrm xmlns:a="http://schemas.openxmlformats.org/drawingml/2006/main">
            <a:off x="5111496" y="2743200"/>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Capture@20% is the share of observed burned share found among the 20% highest-scored cells.</a:t>
            </a:r>
            <a:endParaRPr sz="800"/>
          </a:p>
        </p:txBody>
      </p:sp>
      <p:sp>
        <p:nvSpPr>
          <p:cNvPr id="45" name="Text 43">
            <a:extLst xmlns:a="http://schemas.openxmlformats.org/drawingml/2006/main">
              <a:ext uri="{FF2B5EF4-FFF2-40B4-BE49-F238E27FC236}">
                <a16:creationId xmlns:a16="http://schemas.microsoft.com/office/drawing/2014/main" id="{2261A078-89E7-4EDE-AF5A-975F083F6C40}"/>
              </a:ext>
            </a:extLst>
          </p:cNvPr>
          <p:cNvSpPr>
            <a:spLocks xmlns:a="http://schemas.openxmlformats.org/drawingml/2006/main" noGrp="1"/>
          </p:cNvSpPr>
          <p:nvPr/>
        </p:nvSpPr>
        <p:spPr>
          <a:xfrm xmlns:a="http://schemas.openxmlformats.org/drawingml/2006/main">
            <a:off x="4873752" y="3127248"/>
            <a:ext cx="3886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5B6880"/>
                </a:solidFill>
              </a:rPr>
              <a:t>Delivery Tips</a:t>
            </a:r>
            <a:endParaRPr sz="800"/>
          </a:p>
        </p:txBody>
      </p:sp>
      <p:sp>
        <p:nvSpPr>
          <p:cNvPr id="46" name="Text 44">
            <a:extLst xmlns:a="http://schemas.openxmlformats.org/drawingml/2006/main">
              <a:ext uri="{FF2B5EF4-FFF2-40B4-BE49-F238E27FC236}">
                <a16:creationId xmlns:a16="http://schemas.microsoft.com/office/drawing/2014/main" id="{878FBAF7-6DD0-4D72-8C29-5EBD1F7FB714}"/>
              </a:ext>
            </a:extLst>
          </p:cNvPr>
          <p:cNvSpPr>
            <a:spLocks xmlns:a="http://schemas.openxmlformats.org/drawingml/2006/main" noGrp="1"/>
          </p:cNvSpPr>
          <p:nvPr/>
        </p:nvSpPr>
        <p:spPr>
          <a:xfrm xmlns:a="http://schemas.openxmlformats.org/drawingml/2006/main">
            <a:off x="4873752" y="34015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It is a ranking diagnostic, not a buyer threshold.</a:t>
            </a:r>
            <a:endParaRPr sz="750"/>
          </a:p>
        </p:txBody>
      </p:sp>
      <p:sp>
        <p:nvSpPr>
          <p:cNvPr id="47" name="Text 45">
            <a:extLst xmlns:a="http://schemas.openxmlformats.org/drawingml/2006/main">
              <a:ext uri="{FF2B5EF4-FFF2-40B4-BE49-F238E27FC236}">
                <a16:creationId xmlns:a16="http://schemas.microsoft.com/office/drawing/2014/main" id="{F3852103-32CC-4EA7-912B-BBCD278D546F}"/>
              </a:ext>
            </a:extLst>
          </p:cNvPr>
          <p:cNvSpPr>
            <a:spLocks xmlns:a="http://schemas.openxmlformats.org/drawingml/2006/main" noGrp="1"/>
          </p:cNvSpPr>
          <p:nvPr/>
        </p:nvSpPr>
        <p:spPr>
          <a:xfrm xmlns:a="http://schemas.openxmlformats.org/drawingml/2006/main">
            <a:off x="4873752" y="36301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The model improves selected comparisons, but extreme fire years remain difficult.</a:t>
            </a:r>
            <a:endParaRPr sz="750"/>
          </a:p>
        </p:txBody>
      </p:sp>
      <p:sp>
        <p:nvSpPr>
          <p:cNvPr id="48" name="Text 46">
            <a:extLst xmlns:a="http://schemas.openxmlformats.org/drawingml/2006/main">
              <a:ext uri="{FF2B5EF4-FFF2-40B4-BE49-F238E27FC236}">
                <a16:creationId xmlns:a16="http://schemas.microsoft.com/office/drawing/2014/main" id="{2967BB4C-17C8-44CC-8349-2DF3F492CC1E}"/>
              </a:ext>
            </a:extLst>
          </p:cNvPr>
          <p:cNvSpPr>
            <a:spLocks xmlns:a="http://schemas.openxmlformats.org/drawingml/2006/main" noGrp="1"/>
          </p:cNvSpPr>
          <p:nvPr/>
        </p:nvSpPr>
        <p:spPr>
          <a:xfrm xmlns:a="http://schemas.openxmlformats.org/drawingml/2006/main">
            <a:off x="4873752" y="38587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The target is continuous burned share: burned land area divided by cell land area.</a:t>
            </a:r>
            <a:endParaRPr sz="750"/>
          </a:p>
        </p:txBody>
      </p:sp>
      <p:sp>
        <p:nvSpPr>
          <p:cNvPr id="49" name="Text 47">
            <a:extLst xmlns:a="http://schemas.openxmlformats.org/drawingml/2006/main">
              <a:ext uri="{FF2B5EF4-FFF2-40B4-BE49-F238E27FC236}">
                <a16:creationId xmlns:a16="http://schemas.microsoft.com/office/drawing/2014/main" id="{DF4EBCB9-CEB0-41F1-802C-53DA0FCDC1F9}"/>
              </a:ext>
            </a:extLst>
          </p:cNvPr>
          <p:cNvSpPr>
            <a:spLocks xmlns:a="http://schemas.openxmlformats.org/drawingml/2006/main" noGrp="1"/>
          </p:cNvSpPr>
          <p:nvPr/>
        </p:nvSpPr>
        <p:spPr>
          <a:xfrm xmlns:a="http://schemas.openxmlformats.org/drawingml/2006/main">
            <a:off x="4873752" y="40873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The nine-feature model uses a two-part regression for the zero-heavy target.</a:t>
            </a:r>
            <a:endParaRPr sz="750"/>
          </a:p>
        </p:txBody>
      </p:sp>
      <p:sp>
        <p:nvSpPr>
          <p:cNvPr id="50" name="Text 48">
            <a:extLst xmlns:a="http://schemas.openxmlformats.org/drawingml/2006/main">
              <a:ext uri="{FF2B5EF4-FFF2-40B4-BE49-F238E27FC236}">
                <a16:creationId xmlns:a16="http://schemas.microsoft.com/office/drawing/2014/main" id="{65D5A184-9B2C-4B10-B5DC-1A3F3D8E2894}"/>
              </a:ext>
            </a:extLst>
          </p:cNvPr>
          <p:cNvSpPr>
            <a:spLocks xmlns:a="http://schemas.openxmlformats.org/drawingml/2006/main" noGrp="1"/>
          </p:cNvSpPr>
          <p:nvPr/>
        </p:nvSpPr>
        <p:spPr>
          <a:xfrm xmlns:a="http://schemas.openxmlformats.org/drawingml/2006/main">
            <a:off x="4873752" y="43159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No final-evaluation result is used to claim a property-level forecast.</a:t>
            </a:r>
            <a:endParaRPr sz="750"/>
          </a:p>
        </p:txBody>
      </p:sp>
      <p:sp>
        <p:nvSpPr>
          <p:cNvPr id="51" name="Shape 49">
            <a:extLst xmlns:a="http://schemas.openxmlformats.org/drawingml/2006/main">
              <a:ext uri="{FF2B5EF4-FFF2-40B4-BE49-F238E27FC236}">
                <a16:creationId xmlns:a16="http://schemas.microsoft.com/office/drawing/2014/main" id="{60AB1022-AFE8-48AA-AF67-D4B907288A08}"/>
              </a:ext>
            </a:extLst>
          </p:cNvPr>
          <p:cNvSpPr>
            <a:spLocks xmlns:a="http://schemas.openxmlformats.org/drawingml/2006/main" noGrp="1"/>
          </p:cNvSpPr>
          <p:nvPr/>
        </p:nvSpPr>
        <p:spPr>
          <a:xfrm xmlns:a="http://schemas.openxmlformats.org/drawingml/2006/main">
            <a:off x="274320" y="4663440"/>
            <a:ext cx="8595360" cy="29260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52" name="Text 50">
            <a:extLst xmlns:a="http://schemas.openxmlformats.org/drawingml/2006/main">
              <a:ext uri="{FF2B5EF4-FFF2-40B4-BE49-F238E27FC236}">
                <a16:creationId xmlns:a16="http://schemas.microsoft.com/office/drawing/2014/main" id="{888510B6-7C6A-4727-A0E5-F48D9F362954}"/>
              </a:ext>
            </a:extLst>
          </p:cNvPr>
          <p:cNvSpPr>
            <a:spLocks xmlns:a="http://schemas.openxmlformats.org/drawingml/2006/main" noGrp="1"/>
          </p:cNvSpPr>
          <p:nvPr/>
        </p:nvSpPr>
        <p:spPr>
          <a:xfrm xmlns:a="http://schemas.openxmlformats.org/drawingml/2006/main">
            <a:off x="411480" y="4663440"/>
            <a:ext cx="83210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FFFFFF"/>
                </a:solidFill>
              </a:rPr>
              <a:t>Conclusion: useful comparative improvement with visible uncertainty.</a:t>
            </a:r>
            <a:endParaRPr sz="850"/>
          </a:p>
        </p:txBody>
      </p:sp>
      <p:sp>
        <p:nvSpPr>
          <p:cNvPr id="53" name="Shape 51">
            <a:extLst xmlns:a="http://schemas.openxmlformats.org/drawingml/2006/main">
              <a:ext uri="{FF2B5EF4-FFF2-40B4-BE49-F238E27FC236}">
                <a16:creationId xmlns:a16="http://schemas.microsoft.com/office/drawing/2014/main" id="{4EF06526-1530-434D-877D-54CADC545895}"/>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54" name="Text 52">
            <a:extLst xmlns:a="http://schemas.openxmlformats.org/drawingml/2006/main">
              <a:ext uri="{FF2B5EF4-FFF2-40B4-BE49-F238E27FC236}">
                <a16:creationId xmlns:a16="http://schemas.microsoft.com/office/drawing/2014/main" id="{AAD75AC7-5746-4AD0-892D-25E5587B3A5D}"/>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41" name="Shape 0">
            <a:extLst xmlns:a="http://schemas.openxmlformats.org/drawingml/2006/main">
              <a:ext uri="{FF2B5EF4-FFF2-40B4-BE49-F238E27FC236}">
                <a16:creationId xmlns:a16="http://schemas.microsoft.com/office/drawing/2014/main" id="{9E3B76F2-BCC7-BBF0-1273-7B2C877F93D3}"/>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3F6F9"/>
          </a:solidFill>
          <a:ln xmlns:a="http://schemas.openxmlformats.org/drawingml/2006/main" w="12700">
            <a:solidFill>
              <a:srgbClr val="F3F6F9"/>
            </a:solidFill>
            <a:prstDash val="solid"/>
          </a:ln>
        </p:spPr>
      </p:sp>
      <p:sp>
        <p:nvSpPr>
          <p:cNvPr id="42" name="Shape 1">
            <a:extLst xmlns:a="http://schemas.openxmlformats.org/drawingml/2006/main">
              <a:ext uri="{FF2B5EF4-FFF2-40B4-BE49-F238E27FC236}">
                <a16:creationId xmlns:a16="http://schemas.microsoft.com/office/drawing/2014/main" id="{4EF0D36C-C357-E332-9FBF-445832165DBE}"/>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3" name="Shape 2">
            <a:extLst xmlns:a="http://schemas.openxmlformats.org/drawingml/2006/main">
              <a:ext uri="{FF2B5EF4-FFF2-40B4-BE49-F238E27FC236}">
                <a16:creationId xmlns:a16="http://schemas.microsoft.com/office/drawing/2014/main" id="{1CFE74E3-3462-A34A-4A20-31F9DE9FBFCB}"/>
              </a:ext>
            </a:extLst>
          </p:cNvPr>
          <p:cNvSpPr>
            <a:spLocks xmlns:a="http://schemas.openxmlformats.org/drawingml/2006/main" noGrp="1"/>
          </p:cNvSpPr>
          <p:nvPr/>
        </p:nvSpPr>
        <p:spPr>
          <a:xfrm xmlns:a="http://schemas.openxmlformats.org/drawingml/2006/main">
            <a:off x="0" y="64008"/>
            <a:ext cx="9144000" cy="65836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44" name="Text 3">
            <a:extLst xmlns:a="http://schemas.openxmlformats.org/drawingml/2006/main">
              <a:ext uri="{FF2B5EF4-FFF2-40B4-BE49-F238E27FC236}">
                <a16:creationId xmlns:a16="http://schemas.microsoft.com/office/drawing/2014/main" id="{0D45B056-7786-F6DB-DB67-68872420F5BA}"/>
              </a:ext>
            </a:extLst>
          </p:cNvPr>
          <p:cNvSpPr>
            <a:spLocks xmlns:a="http://schemas.openxmlformats.org/drawingml/2006/main" noGrp="1"/>
          </p:cNvSpPr>
          <p:nvPr/>
        </p:nvSpPr>
        <p:spPr>
          <a:xfrm xmlns:a="http://schemas.openxmlformats.org/drawingml/2006/main">
            <a:off x="274320" y="64008"/>
            <a:ext cx="7315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E8A020"/>
                </a:solidFill>
              </a:rPr>
              <a:t>RECOMMENDED USE CASE</a:t>
            </a:r>
            <a:endParaRPr sz="1100"/>
          </a:p>
        </p:txBody>
      </p:sp>
      <p:sp>
        <p:nvSpPr>
          <p:cNvPr id="45" name="Text 4">
            <a:extLst xmlns:a="http://schemas.openxmlformats.org/drawingml/2006/main">
              <a:ext uri="{FF2B5EF4-FFF2-40B4-BE49-F238E27FC236}">
                <a16:creationId xmlns:a16="http://schemas.microsoft.com/office/drawing/2014/main" id="{41DC7F03-CAB9-6A42-265A-C46904C8AFD1}"/>
              </a:ext>
            </a:extLst>
          </p:cNvPr>
          <p:cNvSpPr>
            <a:spLocks xmlns:a="http://schemas.openxmlformats.org/drawingml/2006/main" noGrp="1"/>
          </p:cNvSpPr>
          <p:nvPr/>
        </p:nvSpPr>
        <p:spPr>
          <a:xfrm xmlns:a="http://schemas.openxmlformats.org/drawingml/2006/main">
            <a:off x="6858000" y="64008"/>
            <a:ext cx="20116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E1E8EF"/>
                </a:solidFill>
              </a:rPr>
              <a:t>7 / 9</a:t>
            </a:r>
            <a:endParaRPr sz="1100"/>
          </a:p>
        </p:txBody>
      </p:sp>
      <p:sp>
        <p:nvSpPr>
          <p:cNvPr id="46" name="Text 5">
            <a:extLst xmlns:a="http://schemas.openxmlformats.org/drawingml/2006/main">
              <a:ext uri="{FF2B5EF4-FFF2-40B4-BE49-F238E27FC236}">
                <a16:creationId xmlns:a16="http://schemas.microsoft.com/office/drawing/2014/main" id="{D847301C-C927-7FAC-A769-4C641A7B5D35}"/>
              </a:ext>
            </a:extLst>
          </p:cNvPr>
          <p:cNvSpPr>
            <a:spLocks xmlns:a="http://schemas.openxmlformats.org/drawingml/2006/main" noGrp="1"/>
          </p:cNvSpPr>
          <p:nvPr/>
        </p:nvSpPr>
        <p:spPr>
          <a:xfrm xmlns:a="http://schemas.openxmlformats.org/drawingml/2006/main">
            <a:off x="274320" y="804672"/>
            <a:ext cx="859536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A2638"/>
                </a:solidFill>
              </a:rPr>
              <a:t>A prospective buyer narrows a Portugal location search</a:t>
            </a:r>
            <a:endParaRPr sz="1600"/>
          </a:p>
        </p:txBody>
      </p:sp>
      <p:sp>
        <p:nvSpPr>
          <p:cNvPr id="47" name="Shape 6">
            <a:extLst xmlns:a="http://schemas.openxmlformats.org/drawingml/2006/main">
              <a:ext uri="{FF2B5EF4-FFF2-40B4-BE49-F238E27FC236}">
                <a16:creationId xmlns:a16="http://schemas.microsoft.com/office/drawing/2014/main" id="{F70699D7-5B53-2C77-0175-B3B78E7EF30C}"/>
              </a:ext>
            </a:extLst>
          </p:cNvPr>
          <p:cNvSpPr>
            <a:spLocks xmlns:a="http://schemas.openxmlformats.org/drawingml/2006/main" noGrp="1"/>
          </p:cNvSpPr>
          <p:nvPr/>
        </p:nvSpPr>
        <p:spPr>
          <a:xfrm xmlns:a="http://schemas.openxmlformats.org/drawingml/2006/main">
            <a:off x="274320"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2E6DB4"/>
            </a:solidFill>
            <a:prstDash val="solid"/>
          </a:ln>
          <a:effectLst xmlns:a="http://schemas.openxmlformats.org/drawingml/2006/main">
            <a:outerShdw blurRad="101600" dist="38100" dir="8100000" algn="bl" rotWithShape="0">
              <a:srgbClr val="000000">
                <a:alpha val="10000"/>
              </a:srgbClr>
            </a:outerShdw>
          </a:effectLst>
        </p:spPr>
      </p:sp>
      <p:sp>
        <p:nvSpPr>
          <p:cNvPr id="48" name="Shape 7">
            <a:extLst xmlns:a="http://schemas.openxmlformats.org/drawingml/2006/main">
              <a:ext uri="{FF2B5EF4-FFF2-40B4-BE49-F238E27FC236}">
                <a16:creationId xmlns:a16="http://schemas.microsoft.com/office/drawing/2014/main" id="{111BE822-2C18-0A11-F129-F8D5751595BB}"/>
              </a:ext>
            </a:extLst>
          </p:cNvPr>
          <p:cNvSpPr>
            <a:spLocks xmlns:a="http://schemas.openxmlformats.org/drawingml/2006/main" noGrp="1"/>
          </p:cNvSpPr>
          <p:nvPr/>
        </p:nvSpPr>
        <p:spPr>
          <a:xfrm xmlns:a="http://schemas.openxmlformats.org/drawingml/2006/main">
            <a:off x="274320" y="1371600"/>
            <a:ext cx="2651760" cy="384048"/>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49" name="Text 8">
            <a:extLst xmlns:a="http://schemas.openxmlformats.org/drawingml/2006/main">
              <a:ext uri="{FF2B5EF4-FFF2-40B4-BE49-F238E27FC236}">
                <a16:creationId xmlns:a16="http://schemas.microsoft.com/office/drawing/2014/main" id="{F7C43176-6DA9-3BA7-4DE8-A4C84CEC076C}"/>
              </a:ext>
            </a:extLst>
          </p:cNvPr>
          <p:cNvSpPr>
            <a:spLocks xmlns:a="http://schemas.openxmlformats.org/drawingml/2006/main" noGrp="1"/>
          </p:cNvSpPr>
          <p:nvPr/>
        </p:nvSpPr>
        <p:spPr>
          <a:xfrm xmlns:a="http://schemas.openxmlformats.org/drawingml/2006/main">
            <a:off x="274320"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START WITH</a:t>
            </a:r>
            <a:endParaRPr sz="1100"/>
          </a:p>
        </p:txBody>
      </p:sp>
      <p:sp>
        <p:nvSpPr>
          <p:cNvPr id="50" name="Text 9">
            <a:extLst xmlns:a="http://schemas.openxmlformats.org/drawingml/2006/main">
              <a:ext uri="{FF2B5EF4-FFF2-40B4-BE49-F238E27FC236}">
                <a16:creationId xmlns:a16="http://schemas.microsoft.com/office/drawing/2014/main" id="{25E0079F-7E52-BCD6-436F-A2013D60831A}"/>
              </a:ext>
            </a:extLst>
          </p:cNvPr>
          <p:cNvSpPr>
            <a:spLocks xmlns:a="http://schemas.openxmlformats.org/drawingml/2006/main" noGrp="1"/>
          </p:cNvSpPr>
          <p:nvPr/>
        </p:nvSpPr>
        <p:spPr>
          <a:xfrm xmlns:a="http://schemas.openxmlformats.org/drawingml/2006/main">
            <a:off x="365760"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2E6DB4"/>
                </a:solidFill>
              </a:rPr>
              <a:t>2026 comparative estimate</a:t>
            </a:r>
            <a:endParaRPr sz="800"/>
          </a:p>
        </p:txBody>
      </p:sp>
      <p:sp>
        <p:nvSpPr>
          <p:cNvPr id="51" name="Text 10">
            <a:extLst xmlns:a="http://schemas.openxmlformats.org/drawingml/2006/main">
              <a:ext uri="{FF2B5EF4-FFF2-40B4-BE49-F238E27FC236}">
                <a16:creationId xmlns:a16="http://schemas.microsoft.com/office/drawing/2014/main" id="{35DCCB06-55A6-7118-8D80-0423179BFA58}"/>
              </a:ext>
            </a:extLst>
          </p:cNvPr>
          <p:cNvSpPr>
            <a:spLocks xmlns:a="http://schemas.openxmlformats.org/drawingml/2006/main" noGrp="1"/>
          </p:cNvSpPr>
          <p:nvPr/>
        </p:nvSpPr>
        <p:spPr>
          <a:xfrm xmlns:a="http://schemas.openxmlformats.org/drawingml/2006/main">
            <a:off x="365760"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Compare broad 1 km areas using 2025 predictor inputs.</a:t>
            </a:r>
            <a:endParaRPr sz="850"/>
          </a:p>
        </p:txBody>
      </p:sp>
      <p:sp>
        <p:nvSpPr>
          <p:cNvPr id="52" name="Shape 11">
            <a:extLst xmlns:a="http://schemas.openxmlformats.org/drawingml/2006/main">
              <a:ext uri="{FF2B5EF4-FFF2-40B4-BE49-F238E27FC236}">
                <a16:creationId xmlns:a16="http://schemas.microsoft.com/office/drawing/2014/main" id="{48892306-CBC7-1476-476D-AF940872013E}"/>
              </a:ext>
            </a:extLst>
          </p:cNvPr>
          <p:cNvSpPr>
            <a:spLocks xmlns:a="http://schemas.openxmlformats.org/drawingml/2006/main" noGrp="1"/>
          </p:cNvSpPr>
          <p:nvPr/>
        </p:nvSpPr>
        <p:spPr>
          <a:xfrm xmlns:a="http://schemas.openxmlformats.org/drawingml/2006/main">
            <a:off x="365760" y="2578608"/>
            <a:ext cx="2468880" cy="502920"/>
          </a:xfrm>
          <a:prstGeom xmlns:a="http://schemas.openxmlformats.org/drawingml/2006/main" prst="rect">
            <a:avLst/>
          </a:prstGeom>
          <a:solidFill xmlns:a="http://schemas.openxmlformats.org/drawingml/2006/main">
            <a:srgbClr val="EBF0FD"/>
          </a:solidFill>
          <a:ln xmlns:a="http://schemas.openxmlformats.org/drawingml/2006/main" w="12700">
            <a:solidFill>
              <a:srgbClr val="EBF0FD"/>
            </a:solidFill>
            <a:prstDash val="solid"/>
          </a:ln>
        </p:spPr>
      </p:sp>
      <p:sp>
        <p:nvSpPr>
          <p:cNvPr id="53" name="Text 12">
            <a:extLst xmlns:a="http://schemas.openxmlformats.org/drawingml/2006/main">
              <a:ext uri="{FF2B5EF4-FFF2-40B4-BE49-F238E27FC236}">
                <a16:creationId xmlns:a16="http://schemas.microsoft.com/office/drawing/2014/main" id="{524E6A7B-8390-A7C3-5810-F79BE56CA145}"/>
              </a:ext>
            </a:extLst>
          </p:cNvPr>
          <p:cNvSpPr>
            <a:spLocks xmlns:a="http://schemas.openxmlformats.org/drawingml/2006/main" noGrp="1"/>
          </p:cNvSpPr>
          <p:nvPr/>
        </p:nvSpPr>
        <p:spPr>
          <a:xfrm xmlns:a="http://schemas.openxmlformats.org/drawingml/2006/main">
            <a:off x="411480"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COMPARE CONTEXT</a:t>
            </a:r>
            <a:endParaRPr sz="800"/>
          </a:p>
        </p:txBody>
      </p:sp>
      <p:sp>
        <p:nvSpPr>
          <p:cNvPr id="54" name="Text 13">
            <a:extLst xmlns:a="http://schemas.openxmlformats.org/drawingml/2006/main">
              <a:ext uri="{FF2B5EF4-FFF2-40B4-BE49-F238E27FC236}">
                <a16:creationId xmlns:a16="http://schemas.microsoft.com/office/drawing/2014/main" id="{D813BEB0-AB29-1201-6C98-83ED8F0166C5}"/>
              </a:ext>
            </a:extLst>
          </p:cNvPr>
          <p:cNvSpPr>
            <a:spLocks xmlns:a="http://schemas.openxmlformats.org/drawingml/2006/main" noGrp="1"/>
          </p:cNvSpPr>
          <p:nvPr/>
        </p:nvSpPr>
        <p:spPr>
          <a:xfrm xmlns:a="http://schemas.openxmlformats.org/drawingml/2006/main">
            <a:off x="365760"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Historical recurrence + official ICNF structural hazard</a:t>
            </a:r>
            <a:endParaRPr sz="750"/>
          </a:p>
        </p:txBody>
      </p:sp>
      <p:sp>
        <p:nvSpPr>
          <p:cNvPr id="55" name="Text 14">
            <a:extLst xmlns:a="http://schemas.openxmlformats.org/drawingml/2006/main">
              <a:ext uri="{FF2B5EF4-FFF2-40B4-BE49-F238E27FC236}">
                <a16:creationId xmlns:a16="http://schemas.microsoft.com/office/drawing/2014/main" id="{1640E6C2-2736-6C47-08A7-E76229CD60DE}"/>
              </a:ext>
            </a:extLst>
          </p:cNvPr>
          <p:cNvSpPr>
            <a:spLocks xmlns:a="http://schemas.openxmlformats.org/drawingml/2006/main" noGrp="1"/>
          </p:cNvSpPr>
          <p:nvPr/>
        </p:nvSpPr>
        <p:spPr>
          <a:xfrm xmlns:a="http://schemas.openxmlformats.org/drawingml/2006/main">
            <a:off x="365760"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Read these layers alongside the estimate before shortlisting areas.</a:t>
            </a:r>
            <a:endParaRPr sz="750"/>
          </a:p>
        </p:txBody>
      </p:sp>
      <p:sp>
        <p:nvSpPr>
          <p:cNvPr id="56" name="Text 15">
            <a:extLst xmlns:a="http://schemas.openxmlformats.org/drawingml/2006/main">
              <a:ext uri="{FF2B5EF4-FFF2-40B4-BE49-F238E27FC236}">
                <a16:creationId xmlns:a16="http://schemas.microsoft.com/office/drawing/2014/main" id="{E7998FAA-1292-DEE4-FBBA-DA72F51BBE8F}"/>
              </a:ext>
            </a:extLst>
          </p:cNvPr>
          <p:cNvSpPr>
            <a:spLocks xmlns:a="http://schemas.openxmlformats.org/drawingml/2006/main" noGrp="1"/>
          </p:cNvSpPr>
          <p:nvPr/>
        </p:nvSpPr>
        <p:spPr>
          <a:xfrm xmlns:a="http://schemas.openxmlformats.org/drawingml/2006/main">
            <a:off x="2962656" y="2560320"/>
            <a:ext cx="320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E8A020"/>
                </a:solidFill>
              </a:rPr>
              <a:t>-&gt;</a:t>
            </a:r>
            <a:endParaRPr sz="2000"/>
          </a:p>
        </p:txBody>
      </p:sp>
      <p:sp>
        <p:nvSpPr>
          <p:cNvPr id="57" name="Shape 16">
            <a:extLst xmlns:a="http://schemas.openxmlformats.org/drawingml/2006/main">
              <a:ext uri="{FF2B5EF4-FFF2-40B4-BE49-F238E27FC236}">
                <a16:creationId xmlns:a16="http://schemas.microsoft.com/office/drawing/2014/main" id="{AA16804A-52B3-003F-850D-E763525EBF82}"/>
              </a:ext>
            </a:extLst>
          </p:cNvPr>
          <p:cNvSpPr>
            <a:spLocks xmlns:a="http://schemas.openxmlformats.org/drawingml/2006/main" noGrp="1"/>
          </p:cNvSpPr>
          <p:nvPr/>
        </p:nvSpPr>
        <p:spPr>
          <a:xfrm xmlns:a="http://schemas.openxmlformats.org/drawingml/2006/main">
            <a:off x="3310128"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E67E22"/>
            </a:solidFill>
            <a:prstDash val="solid"/>
          </a:ln>
          <a:effectLst xmlns:a="http://schemas.openxmlformats.org/drawingml/2006/main">
            <a:outerShdw blurRad="101600" dist="38100" dir="8100000" algn="bl" rotWithShape="0">
              <a:srgbClr val="000000">
                <a:alpha val="10000"/>
              </a:srgbClr>
            </a:outerShdw>
          </a:effectLst>
        </p:spPr>
      </p:sp>
      <p:sp>
        <p:nvSpPr>
          <p:cNvPr id="58" name="Shape 17">
            <a:extLst xmlns:a="http://schemas.openxmlformats.org/drawingml/2006/main">
              <a:ext uri="{FF2B5EF4-FFF2-40B4-BE49-F238E27FC236}">
                <a16:creationId xmlns:a16="http://schemas.microsoft.com/office/drawing/2014/main" id="{A132002A-B816-4B27-A659-A2A2193BD4C4}"/>
              </a:ext>
            </a:extLst>
          </p:cNvPr>
          <p:cNvSpPr>
            <a:spLocks xmlns:a="http://schemas.openxmlformats.org/drawingml/2006/main" noGrp="1"/>
          </p:cNvSpPr>
          <p:nvPr/>
        </p:nvSpPr>
        <p:spPr>
          <a:xfrm xmlns:a="http://schemas.openxmlformats.org/drawingml/2006/main">
            <a:off x="3310128" y="1371600"/>
            <a:ext cx="2651760" cy="384048"/>
          </a:xfrm>
          <a:prstGeom xmlns:a="http://schemas.openxmlformats.org/drawingml/2006/main" prst="rect">
            <a:avLst/>
          </a:prstGeom>
          <a:solidFill xmlns:a="http://schemas.openxmlformats.org/drawingml/2006/main">
            <a:srgbClr val="E67E22"/>
          </a:solidFill>
          <a:ln xmlns:a="http://schemas.openxmlformats.org/drawingml/2006/main" w="12700">
            <a:solidFill>
              <a:srgbClr val="E67E22"/>
            </a:solidFill>
            <a:prstDash val="solid"/>
          </a:ln>
        </p:spPr>
      </p:sp>
      <p:sp>
        <p:nvSpPr>
          <p:cNvPr id="59" name="Text 18">
            <a:extLst xmlns:a="http://schemas.openxmlformats.org/drawingml/2006/main">
              <a:ext uri="{FF2B5EF4-FFF2-40B4-BE49-F238E27FC236}">
                <a16:creationId xmlns:a16="http://schemas.microsoft.com/office/drawing/2014/main" id="{E937C9EB-5EC4-4BED-DCC0-EEB4268C59F9}"/>
              </a:ext>
            </a:extLst>
          </p:cNvPr>
          <p:cNvSpPr>
            <a:spLocks xmlns:a="http://schemas.openxmlformats.org/drawingml/2006/main" noGrp="1"/>
          </p:cNvSpPr>
          <p:nvPr/>
        </p:nvSpPr>
        <p:spPr>
          <a:xfrm xmlns:a="http://schemas.openxmlformats.org/drawingml/2006/main">
            <a:off x="3310128"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SHORTLIST AREAS</a:t>
            </a:r>
            <a:endParaRPr sz="1100"/>
          </a:p>
        </p:txBody>
      </p:sp>
      <p:sp>
        <p:nvSpPr>
          <p:cNvPr id="60" name="Text 19">
            <a:extLst xmlns:a="http://schemas.openxmlformats.org/drawingml/2006/main">
              <a:ext uri="{FF2B5EF4-FFF2-40B4-BE49-F238E27FC236}">
                <a16:creationId xmlns:a16="http://schemas.microsoft.com/office/drawing/2014/main" id="{922D1C3D-92F4-7A52-D254-13F805D6760C}"/>
              </a:ext>
            </a:extLst>
          </p:cNvPr>
          <p:cNvSpPr>
            <a:spLocks xmlns:a="http://schemas.openxmlformats.org/drawingml/2006/main" noGrp="1"/>
          </p:cNvSpPr>
          <p:nvPr/>
        </p:nvSpPr>
        <p:spPr>
          <a:xfrm xmlns:a="http://schemas.openxmlformats.org/drawingml/2006/main">
            <a:off x="3401568"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E67E22"/>
                </a:solidFill>
              </a:rPr>
              <a:t>Focus local research</a:t>
            </a:r>
            <a:endParaRPr sz="800"/>
          </a:p>
        </p:txBody>
      </p:sp>
      <p:sp>
        <p:nvSpPr>
          <p:cNvPr id="61" name="Text 20">
            <a:extLst xmlns:a="http://schemas.openxmlformats.org/drawingml/2006/main">
              <a:ext uri="{FF2B5EF4-FFF2-40B4-BE49-F238E27FC236}">
                <a16:creationId xmlns:a16="http://schemas.microsoft.com/office/drawing/2014/main" id="{DD31154A-7340-6BA1-B58C-EB0C128FA94A}"/>
              </a:ext>
            </a:extLst>
          </p:cNvPr>
          <p:cNvSpPr>
            <a:spLocks xmlns:a="http://schemas.openxmlformats.org/drawingml/2006/main" noGrp="1"/>
          </p:cNvSpPr>
          <p:nvPr/>
        </p:nvSpPr>
        <p:spPr>
          <a:xfrm xmlns:a="http://schemas.openxmlformats.org/drawingml/2006/main">
            <a:off x="3401568"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Use the three maps to decide which broad areas deserve a closer look.</a:t>
            </a:r>
            <a:endParaRPr sz="850"/>
          </a:p>
        </p:txBody>
      </p:sp>
      <p:sp>
        <p:nvSpPr>
          <p:cNvPr id="62" name="Shape 21">
            <a:extLst xmlns:a="http://schemas.openxmlformats.org/drawingml/2006/main">
              <a:ext uri="{FF2B5EF4-FFF2-40B4-BE49-F238E27FC236}">
                <a16:creationId xmlns:a16="http://schemas.microsoft.com/office/drawing/2014/main" id="{E3A1950C-3E98-2A41-9F7B-763C1A1EFE02}"/>
              </a:ext>
            </a:extLst>
          </p:cNvPr>
          <p:cNvSpPr>
            <a:spLocks xmlns:a="http://schemas.openxmlformats.org/drawingml/2006/main" noGrp="1"/>
          </p:cNvSpPr>
          <p:nvPr/>
        </p:nvSpPr>
        <p:spPr>
          <a:xfrm xmlns:a="http://schemas.openxmlformats.org/drawingml/2006/main">
            <a:off x="3401568" y="2578608"/>
            <a:ext cx="2468880" cy="502920"/>
          </a:xfrm>
          <a:prstGeom xmlns:a="http://schemas.openxmlformats.org/drawingml/2006/main" prst="rect">
            <a:avLst/>
          </a:prstGeom>
          <a:solidFill xmlns:a="http://schemas.openxmlformats.org/drawingml/2006/main">
            <a:srgbClr val="FEF3E2"/>
          </a:solidFill>
          <a:ln xmlns:a="http://schemas.openxmlformats.org/drawingml/2006/main" w="12700">
            <a:solidFill>
              <a:srgbClr val="FEF3E2"/>
            </a:solidFill>
            <a:prstDash val="solid"/>
          </a:ln>
        </p:spPr>
      </p:sp>
      <p:sp>
        <p:nvSpPr>
          <p:cNvPr id="63" name="Text 22">
            <a:extLst xmlns:a="http://schemas.openxmlformats.org/drawingml/2006/main">
              <a:ext uri="{FF2B5EF4-FFF2-40B4-BE49-F238E27FC236}">
                <a16:creationId xmlns:a16="http://schemas.microsoft.com/office/drawing/2014/main" id="{E3161D18-B8A1-E487-12AB-44CC4A732529}"/>
              </a:ext>
            </a:extLst>
          </p:cNvPr>
          <p:cNvSpPr>
            <a:spLocks xmlns:a="http://schemas.openxmlformats.org/drawingml/2006/main" noGrp="1"/>
          </p:cNvSpPr>
          <p:nvPr/>
        </p:nvSpPr>
        <p:spPr>
          <a:xfrm xmlns:a="http://schemas.openxmlformats.org/drawingml/2006/main">
            <a:off x="3447288"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VISIT AND INVESTIGATE</a:t>
            </a:r>
            <a:endParaRPr sz="800"/>
          </a:p>
        </p:txBody>
      </p:sp>
      <p:sp>
        <p:nvSpPr>
          <p:cNvPr id="64" name="Text 23">
            <a:extLst xmlns:a="http://schemas.openxmlformats.org/drawingml/2006/main">
              <a:ext uri="{FF2B5EF4-FFF2-40B4-BE49-F238E27FC236}">
                <a16:creationId xmlns:a16="http://schemas.microsoft.com/office/drawing/2014/main" id="{5C353123-8232-42F8-D273-5CB954BA4BBD}"/>
              </a:ext>
            </a:extLst>
          </p:cNvPr>
          <p:cNvSpPr>
            <a:spLocks xmlns:a="http://schemas.openxmlformats.org/drawingml/2006/main" noGrp="1"/>
          </p:cNvSpPr>
          <p:nvPr/>
        </p:nvSpPr>
        <p:spPr>
          <a:xfrm xmlns:a="http://schemas.openxmlformats.org/drawingml/2006/main">
            <a:off x="3401568"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Deepen the research</a:t>
            </a:r>
            <a:endParaRPr sz="750"/>
          </a:p>
        </p:txBody>
      </p:sp>
      <p:sp>
        <p:nvSpPr>
          <p:cNvPr id="65" name="Text 24">
            <a:extLst xmlns:a="http://schemas.openxmlformats.org/drawingml/2006/main">
              <a:ext uri="{FF2B5EF4-FFF2-40B4-BE49-F238E27FC236}">
                <a16:creationId xmlns:a16="http://schemas.microsoft.com/office/drawing/2014/main" id="{825EE7D9-0624-FD50-1A14-73D146D6F995}"/>
              </a:ext>
            </a:extLst>
          </p:cNvPr>
          <p:cNvSpPr>
            <a:spLocks xmlns:a="http://schemas.openxmlformats.org/drawingml/2006/main" noGrp="1"/>
          </p:cNvSpPr>
          <p:nvPr/>
        </p:nvSpPr>
        <p:spPr>
          <a:xfrm xmlns:a="http://schemas.openxmlformats.org/drawingml/2006/main">
            <a:off x="3401568"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Spend time on site visits and detailed research in shortlisted areas.</a:t>
            </a:r>
            <a:endParaRPr sz="750"/>
          </a:p>
        </p:txBody>
      </p:sp>
      <p:sp>
        <p:nvSpPr>
          <p:cNvPr id="66" name="Text 25">
            <a:extLst xmlns:a="http://schemas.openxmlformats.org/drawingml/2006/main">
              <a:ext uri="{FF2B5EF4-FFF2-40B4-BE49-F238E27FC236}">
                <a16:creationId xmlns:a16="http://schemas.microsoft.com/office/drawing/2014/main" id="{2A24E586-B737-43CD-9410-9B7B599DB5E6}"/>
              </a:ext>
            </a:extLst>
          </p:cNvPr>
          <p:cNvSpPr>
            <a:spLocks xmlns:a="http://schemas.openxmlformats.org/drawingml/2006/main" noGrp="1"/>
          </p:cNvSpPr>
          <p:nvPr/>
        </p:nvSpPr>
        <p:spPr>
          <a:xfrm xmlns:a="http://schemas.openxmlformats.org/drawingml/2006/main">
            <a:off x="5998464" y="2560320"/>
            <a:ext cx="320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E8A020"/>
                </a:solidFill>
              </a:rPr>
              <a:t>-&gt;</a:t>
            </a:r>
            <a:endParaRPr sz="2000"/>
          </a:p>
        </p:txBody>
      </p:sp>
      <p:sp>
        <p:nvSpPr>
          <p:cNvPr id="67" name="Shape 26">
            <a:extLst xmlns:a="http://schemas.openxmlformats.org/drawingml/2006/main">
              <a:ext uri="{FF2B5EF4-FFF2-40B4-BE49-F238E27FC236}">
                <a16:creationId xmlns:a16="http://schemas.microsoft.com/office/drawing/2014/main" id="{E767105C-FE7D-D361-1E75-7B266D4ED118}"/>
              </a:ext>
            </a:extLst>
          </p:cNvPr>
          <p:cNvSpPr>
            <a:spLocks xmlns:a="http://schemas.openxmlformats.org/drawingml/2006/main" noGrp="1"/>
          </p:cNvSpPr>
          <p:nvPr/>
        </p:nvSpPr>
        <p:spPr>
          <a:xfrm xmlns:a="http://schemas.openxmlformats.org/drawingml/2006/main">
            <a:off x="6345936" y="1371600"/>
            <a:ext cx="251460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2A9D61"/>
            </a:solidFill>
            <a:prstDash val="solid"/>
          </a:ln>
          <a:effectLst xmlns:a="http://schemas.openxmlformats.org/drawingml/2006/main">
            <a:outerShdw blurRad="101600" dist="38100" dir="8100000" algn="bl" rotWithShape="0">
              <a:srgbClr val="000000">
                <a:alpha val="10000"/>
              </a:srgbClr>
            </a:outerShdw>
          </a:effectLst>
        </p:spPr>
      </p:sp>
      <p:sp>
        <p:nvSpPr>
          <p:cNvPr id="68" name="Shape 27">
            <a:extLst xmlns:a="http://schemas.openxmlformats.org/drawingml/2006/main">
              <a:ext uri="{FF2B5EF4-FFF2-40B4-BE49-F238E27FC236}">
                <a16:creationId xmlns:a16="http://schemas.microsoft.com/office/drawing/2014/main" id="{B5487368-1117-220F-0E2A-5055BCFA807D}"/>
              </a:ext>
            </a:extLst>
          </p:cNvPr>
          <p:cNvSpPr>
            <a:spLocks xmlns:a="http://schemas.openxmlformats.org/drawingml/2006/main" noGrp="1"/>
          </p:cNvSpPr>
          <p:nvPr/>
        </p:nvSpPr>
        <p:spPr>
          <a:xfrm xmlns:a="http://schemas.openxmlformats.org/drawingml/2006/main">
            <a:off x="6345936" y="1371600"/>
            <a:ext cx="2514600" cy="38404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69" name="Text 28">
            <a:extLst xmlns:a="http://schemas.openxmlformats.org/drawingml/2006/main">
              <a:ext uri="{FF2B5EF4-FFF2-40B4-BE49-F238E27FC236}">
                <a16:creationId xmlns:a16="http://schemas.microsoft.com/office/drawing/2014/main" id="{018CC755-0E76-B3F1-F302-F5429326FAFF}"/>
              </a:ext>
            </a:extLst>
          </p:cNvPr>
          <p:cNvSpPr>
            <a:spLocks xmlns:a="http://schemas.openxmlformats.org/drawingml/2006/main" noGrp="1"/>
          </p:cNvSpPr>
          <p:nvPr/>
        </p:nvSpPr>
        <p:spPr>
          <a:xfrm xmlns:a="http://schemas.openxmlformats.org/drawingml/2006/main">
            <a:off x="6345936"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USE CASE OUTCOME</a:t>
            </a:r>
            <a:endParaRPr sz="1100"/>
          </a:p>
        </p:txBody>
      </p:sp>
      <p:sp>
        <p:nvSpPr>
          <p:cNvPr id="70" name="Text 29">
            <a:extLst xmlns:a="http://schemas.openxmlformats.org/drawingml/2006/main">
              <a:ext uri="{FF2B5EF4-FFF2-40B4-BE49-F238E27FC236}">
                <a16:creationId xmlns:a16="http://schemas.microsoft.com/office/drawing/2014/main" id="{7D4F3FEA-36B1-CD37-33EC-8AFF9A2B185B}"/>
              </a:ext>
            </a:extLst>
          </p:cNvPr>
          <p:cNvSpPr>
            <a:spLocks xmlns:a="http://schemas.openxmlformats.org/drawingml/2006/main" noGrp="1"/>
          </p:cNvSpPr>
          <p:nvPr/>
        </p:nvSpPr>
        <p:spPr>
          <a:xfrm xmlns:a="http://schemas.openxmlformats.org/drawingml/2006/main">
            <a:off x="6437376"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2A9D61"/>
                </a:solidFill>
              </a:rPr>
              <a:t>A smaller search area</a:t>
            </a:r>
            <a:endParaRPr sz="800"/>
          </a:p>
        </p:txBody>
      </p:sp>
      <p:sp>
        <p:nvSpPr>
          <p:cNvPr id="71" name="Text 30">
            <a:extLst xmlns:a="http://schemas.openxmlformats.org/drawingml/2006/main">
              <a:ext uri="{FF2B5EF4-FFF2-40B4-BE49-F238E27FC236}">
                <a16:creationId xmlns:a16="http://schemas.microsoft.com/office/drawing/2014/main" id="{AEF56BD3-A919-2AB3-B917-DDF115F5DA1D}"/>
              </a:ext>
            </a:extLst>
          </p:cNvPr>
          <p:cNvSpPr>
            <a:spLocks xmlns:a="http://schemas.openxmlformats.org/drawingml/2006/main" noGrp="1"/>
          </p:cNvSpPr>
          <p:nvPr/>
        </p:nvSpPr>
        <p:spPr>
          <a:xfrm xmlns:a="http://schemas.openxmlformats.org/drawingml/2006/main">
            <a:off x="6437376" y="2048256"/>
            <a:ext cx="2341179"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The QGIS layers help organise a national search.</a:t>
            </a:r>
            <a:endParaRPr sz="850"/>
          </a:p>
        </p:txBody>
      </p:sp>
      <p:sp>
        <p:nvSpPr>
          <p:cNvPr id="72" name="Shape 31">
            <a:extLst xmlns:a="http://schemas.openxmlformats.org/drawingml/2006/main">
              <a:ext uri="{FF2B5EF4-FFF2-40B4-BE49-F238E27FC236}">
                <a16:creationId xmlns:a16="http://schemas.microsoft.com/office/drawing/2014/main" id="{B21EFAC5-18BF-7EC7-FCA7-6D5743FCEF9F}"/>
              </a:ext>
            </a:extLst>
          </p:cNvPr>
          <p:cNvSpPr>
            <a:spLocks xmlns:a="http://schemas.openxmlformats.org/drawingml/2006/main" noGrp="1"/>
          </p:cNvSpPr>
          <p:nvPr/>
        </p:nvSpPr>
        <p:spPr>
          <a:xfrm xmlns:a="http://schemas.openxmlformats.org/drawingml/2006/main">
            <a:off x="6437376" y="2578608"/>
            <a:ext cx="2341179" cy="502920"/>
          </a:xfrm>
          <a:prstGeom xmlns:a="http://schemas.openxmlformats.org/drawingml/2006/main" prst="rect">
            <a:avLst/>
          </a:prstGeom>
          <a:solidFill xmlns:a="http://schemas.openxmlformats.org/drawingml/2006/main">
            <a:srgbClr val="E6F5EE"/>
          </a:solidFill>
          <a:ln xmlns:a="http://schemas.openxmlformats.org/drawingml/2006/main" w="12700">
            <a:solidFill>
              <a:srgbClr val="E6F5EE"/>
            </a:solidFill>
            <a:prstDash val="solid"/>
          </a:ln>
        </p:spPr>
      </p:sp>
      <p:sp>
        <p:nvSpPr>
          <p:cNvPr id="73" name="Text 32">
            <a:extLst xmlns:a="http://schemas.openxmlformats.org/drawingml/2006/main">
              <a:ext uri="{FF2B5EF4-FFF2-40B4-BE49-F238E27FC236}">
                <a16:creationId xmlns:a16="http://schemas.microsoft.com/office/drawing/2014/main" id="{B56BD828-01DF-272F-8543-67D8E7206C89}"/>
              </a:ext>
            </a:extLst>
          </p:cNvPr>
          <p:cNvSpPr>
            <a:spLocks xmlns:a="http://schemas.openxmlformats.org/drawingml/2006/main" noGrp="1"/>
          </p:cNvSpPr>
          <p:nvPr/>
        </p:nvSpPr>
        <p:spPr>
          <a:xfrm xmlns:a="http://schemas.openxmlformats.org/drawingml/2006/main">
            <a:off x="6483096"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LOCAL EVIDENCE</a:t>
            </a:r>
            <a:endParaRPr sz="800"/>
          </a:p>
        </p:txBody>
      </p:sp>
      <p:sp>
        <p:nvSpPr>
          <p:cNvPr id="74" name="Text 33">
            <a:extLst xmlns:a="http://schemas.openxmlformats.org/drawingml/2006/main">
              <a:ext uri="{FF2B5EF4-FFF2-40B4-BE49-F238E27FC236}">
                <a16:creationId xmlns:a16="http://schemas.microsoft.com/office/drawing/2014/main" id="{7C7E5895-F34D-DA1E-E30A-C36D5D6775D9}"/>
              </a:ext>
            </a:extLst>
          </p:cNvPr>
          <p:cNvSpPr>
            <a:spLocks xmlns:a="http://schemas.openxmlformats.org/drawingml/2006/main" noGrp="1"/>
          </p:cNvSpPr>
          <p:nvPr/>
        </p:nvSpPr>
        <p:spPr>
          <a:xfrm xmlns:a="http://schemas.openxmlformats.org/drawingml/2006/main">
            <a:off x="6437376"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Verify before deciding</a:t>
            </a:r>
            <a:endParaRPr sz="750"/>
          </a:p>
        </p:txBody>
      </p:sp>
      <p:sp>
        <p:nvSpPr>
          <p:cNvPr id="75" name="Text 34">
            <a:extLst xmlns:a="http://schemas.openxmlformats.org/drawingml/2006/main">
              <a:ext uri="{FF2B5EF4-FFF2-40B4-BE49-F238E27FC236}">
                <a16:creationId xmlns:a16="http://schemas.microsoft.com/office/drawing/2014/main" id="{91730462-287D-DD99-AC73-8CDB97A5A7BD}"/>
              </a:ext>
            </a:extLst>
          </p:cNvPr>
          <p:cNvSpPr>
            <a:spLocks xmlns:a="http://schemas.openxmlformats.org/drawingml/2006/main" noGrp="1"/>
          </p:cNvSpPr>
          <p:nvPr/>
        </p:nvSpPr>
        <p:spPr>
          <a:xfrm xmlns:a="http://schemas.openxmlformats.org/drawingml/2006/main">
            <a:off x="6437376"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Check planning, access, insurance, terrain and property-specific evidence.</a:t>
            </a:r>
            <a:endParaRPr sz="750"/>
          </a:p>
        </p:txBody>
      </p:sp>
      <p:sp>
        <p:nvSpPr>
          <p:cNvPr id="76" name="Shape 35">
            <a:extLst xmlns:a="http://schemas.openxmlformats.org/drawingml/2006/main">
              <a:ext uri="{FF2B5EF4-FFF2-40B4-BE49-F238E27FC236}">
                <a16:creationId xmlns:a16="http://schemas.microsoft.com/office/drawing/2014/main" id="{EE052AFC-8FB4-ECF7-88CC-4487AE42F56C}"/>
              </a:ext>
            </a:extLst>
          </p:cNvPr>
          <p:cNvSpPr>
            <a:spLocks xmlns:a="http://schemas.openxmlformats.org/drawingml/2006/main" noGrp="1"/>
          </p:cNvSpPr>
          <p:nvPr/>
        </p:nvSpPr>
        <p:spPr>
          <a:xfrm xmlns:a="http://schemas.openxmlformats.org/drawingml/2006/main">
            <a:off x="274320" y="4315968"/>
            <a:ext cx="8595360" cy="457200"/>
          </a:xfrm>
          <a:prstGeom xmlns:a="http://schemas.openxmlformats.org/drawingml/2006/main" prst="rect">
            <a:avLst/>
          </a:prstGeom>
          <a:solidFill xmlns:a="http://schemas.openxmlformats.org/drawingml/2006/main">
            <a:srgbClr val="0D1F2D"/>
          </a:solidFill>
          <a:ln xmlns:a="http://schemas.openxmlformats.org/drawingml/2006/main" w="12700">
            <a:solidFill>
              <a:srgbClr val="0D1F2D"/>
            </a:solidFill>
            <a:prstDash val="solid"/>
          </a:ln>
        </p:spPr>
      </p:sp>
      <p:sp>
        <p:nvSpPr>
          <p:cNvPr id="77" name="Text 36">
            <a:extLst xmlns:a="http://schemas.openxmlformats.org/drawingml/2006/main">
              <a:ext uri="{FF2B5EF4-FFF2-40B4-BE49-F238E27FC236}">
                <a16:creationId xmlns:a16="http://schemas.microsoft.com/office/drawing/2014/main" id="{C306DBE1-591D-91A0-2800-8563622FC938}"/>
              </a:ext>
            </a:extLst>
          </p:cNvPr>
          <p:cNvSpPr>
            <a:spLocks xmlns:a="http://schemas.openxmlformats.org/drawingml/2006/main" noGrp="1"/>
          </p:cNvSpPr>
          <p:nvPr/>
        </p:nvSpPr>
        <p:spPr>
          <a:xfrm xmlns:a="http://schemas.openxmlformats.org/drawingml/2006/main">
            <a:off x="411480" y="4315968"/>
            <a:ext cx="8321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E8A020"/>
                </a:solidFill>
              </a:rPr>
              <a:t>The output helps organise the search; local evidence supports the final choice.</a:t>
            </a:r>
            <a:endParaRPr sz="850"/>
          </a:p>
        </p:txBody>
      </p:sp>
      <p:sp>
        <p:nvSpPr>
          <p:cNvPr id="78" name="Shape 37">
            <a:extLst xmlns:a="http://schemas.openxmlformats.org/drawingml/2006/main">
              <a:ext uri="{FF2B5EF4-FFF2-40B4-BE49-F238E27FC236}">
                <a16:creationId xmlns:a16="http://schemas.microsoft.com/office/drawing/2014/main" id="{453F1B67-702E-243E-FB47-4CA2B5119EA1}"/>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79" name="Text 38">
            <a:extLst xmlns:a="http://schemas.openxmlformats.org/drawingml/2006/main">
              <a:ext uri="{FF2B5EF4-FFF2-40B4-BE49-F238E27FC236}">
                <a16:creationId xmlns:a16="http://schemas.microsoft.com/office/drawing/2014/main" id="{A5F23304-A068-58EC-920B-B28883DF7C8D}"/>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433246D-B8F5-43EE-AF32-B05C98498242}"/>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3F6F9"/>
          </a:solidFill>
          <a:ln xmlns:a="http://schemas.openxmlformats.org/drawingml/2006/main" w="12700">
            <a:solidFill>
              <a:srgbClr val="F3F6F9"/>
            </a:solidFill>
            <a:prstDash val="solid"/>
          </a:ln>
        </p:spPr>
      </p:sp>
      <p:sp>
        <p:nvSpPr>
          <p:cNvPr id="3" name="Shape 1">
            <a:extLst xmlns:a="http://schemas.openxmlformats.org/drawingml/2006/main">
              <a:ext uri="{FF2B5EF4-FFF2-40B4-BE49-F238E27FC236}">
                <a16:creationId xmlns:a16="http://schemas.microsoft.com/office/drawing/2014/main" id="{B9907FB8-8328-4B2E-B5E1-84E6FBE1233F}"/>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 name="Shape 2">
            <a:extLst xmlns:a="http://schemas.openxmlformats.org/drawingml/2006/main">
              <a:ext uri="{FF2B5EF4-FFF2-40B4-BE49-F238E27FC236}">
                <a16:creationId xmlns:a16="http://schemas.microsoft.com/office/drawing/2014/main" id="{F3F02133-847A-404E-9F4B-6A7DE78DB92B}"/>
              </a:ext>
            </a:extLst>
          </p:cNvPr>
          <p:cNvSpPr>
            <a:spLocks xmlns:a="http://schemas.openxmlformats.org/drawingml/2006/main" noGrp="1"/>
          </p:cNvSpPr>
          <p:nvPr/>
        </p:nvSpPr>
        <p:spPr>
          <a:xfrm xmlns:a="http://schemas.openxmlformats.org/drawingml/2006/main">
            <a:off x="0" y="64008"/>
            <a:ext cx="9144000" cy="65836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5" name="Text 3">
            <a:extLst xmlns:a="http://schemas.openxmlformats.org/drawingml/2006/main">
              <a:ext uri="{FF2B5EF4-FFF2-40B4-BE49-F238E27FC236}">
                <a16:creationId xmlns:a16="http://schemas.microsoft.com/office/drawing/2014/main" id="{59F12DB4-3B5B-4A67-979D-6151E1B67D1F}"/>
              </a:ext>
            </a:extLst>
          </p:cNvPr>
          <p:cNvSpPr>
            <a:spLocks xmlns:a="http://schemas.openxmlformats.org/drawingml/2006/main" noGrp="1"/>
          </p:cNvSpPr>
          <p:nvPr/>
        </p:nvSpPr>
        <p:spPr>
          <a:xfrm xmlns:a="http://schemas.openxmlformats.org/drawingml/2006/main">
            <a:off x="274320" y="64008"/>
            <a:ext cx="7315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E8A020"/>
                </a:solidFill>
              </a:rPr>
              <a:t>RECOMMENDATIONS 2 + 3</a:t>
            </a:r>
            <a:endParaRPr sz="1100"/>
          </a:p>
        </p:txBody>
      </p:sp>
      <p:sp>
        <p:nvSpPr>
          <p:cNvPr id="6" name="Text 4">
            <a:extLst xmlns:a="http://schemas.openxmlformats.org/drawingml/2006/main">
              <a:ext uri="{FF2B5EF4-FFF2-40B4-BE49-F238E27FC236}">
                <a16:creationId xmlns:a16="http://schemas.microsoft.com/office/drawing/2014/main" id="{157AA592-FB08-4D64-B87E-9FC8E806087F}"/>
              </a:ext>
            </a:extLst>
          </p:cNvPr>
          <p:cNvSpPr>
            <a:spLocks xmlns:a="http://schemas.openxmlformats.org/drawingml/2006/main" noGrp="1"/>
          </p:cNvSpPr>
          <p:nvPr/>
        </p:nvSpPr>
        <p:spPr>
          <a:xfrm xmlns:a="http://schemas.openxmlformats.org/drawingml/2006/main">
            <a:off x="6858000" y="64008"/>
            <a:ext cx="20116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E1E8EF"/>
                </a:solidFill>
              </a:rPr>
              <a:t>8 / 9</a:t>
            </a:r>
            <a:endParaRPr sz="1100"/>
          </a:p>
        </p:txBody>
      </p:sp>
      <p:sp>
        <p:nvSpPr>
          <p:cNvPr id="7" name="Text 5">
            <a:extLst xmlns:a="http://schemas.openxmlformats.org/drawingml/2006/main">
              <a:ext uri="{FF2B5EF4-FFF2-40B4-BE49-F238E27FC236}">
                <a16:creationId xmlns:a16="http://schemas.microsoft.com/office/drawing/2014/main" id="{9FAC5376-DFD7-4DF7-A857-0C2FD5CBD7A4}"/>
              </a:ext>
            </a:extLst>
          </p:cNvPr>
          <p:cNvSpPr>
            <a:spLocks xmlns:a="http://schemas.openxmlformats.org/drawingml/2006/main" noGrp="1"/>
          </p:cNvSpPr>
          <p:nvPr/>
        </p:nvSpPr>
        <p:spPr>
          <a:xfrm xmlns:a="http://schemas.openxmlformats.org/drawingml/2006/main">
            <a:off x="274320" y="804672"/>
            <a:ext cx="8595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A2638"/>
                </a:solidFill>
              </a:rPr>
              <a:t>Compare the evidence layers, then verify locally</a:t>
            </a:r>
            <a:endParaRPr sz="1600"/>
          </a:p>
        </p:txBody>
      </p:sp>
      <p:sp>
        <p:nvSpPr>
          <p:cNvPr id="8" name="Shape 6">
            <a:extLst xmlns:a="http://schemas.openxmlformats.org/drawingml/2006/main">
              <a:ext uri="{FF2B5EF4-FFF2-40B4-BE49-F238E27FC236}">
                <a16:creationId xmlns:a16="http://schemas.microsoft.com/office/drawing/2014/main" id="{5A356FE9-CB03-42D1-9C21-8542E6BF0EFC}"/>
              </a:ext>
            </a:extLst>
          </p:cNvPr>
          <p:cNvSpPr>
            <a:spLocks xmlns:a="http://schemas.openxmlformats.org/drawingml/2006/main" noGrp="1"/>
          </p:cNvSpPr>
          <p:nvPr/>
        </p:nvSpPr>
        <p:spPr>
          <a:xfrm xmlns:a="http://schemas.openxmlformats.org/drawingml/2006/main">
            <a:off x="274320" y="1298448"/>
            <a:ext cx="4160520" cy="3291840"/>
          </a:xfrm>
          <a:prstGeom xmlns:a="http://schemas.openxmlformats.org/drawingml/2006/main" prst="rect">
            <a:avLst/>
          </a:prstGeom>
          <a:solidFill xmlns:a="http://schemas.openxmlformats.org/drawingml/2006/main">
            <a:srgbClr val="FFFFFF"/>
          </a:solidFill>
          <a:ln xmlns:a="http://schemas.openxmlformats.org/drawingml/2006/main" w="12700">
            <a:solidFill>
              <a:srgbClr val="E1E8EF"/>
            </a:solidFill>
            <a:prstDash val="solid"/>
          </a:ln>
          <a:effectLst xmlns:a="http://schemas.openxmlformats.org/drawingml/2006/main">
            <a:outerShdw blurRad="101600" dist="38100" dir="8100000" algn="bl" rotWithShape="0">
              <a:srgbClr val="000000">
                <a:alpha val="10000"/>
              </a:srgbClr>
            </a:outerShdw>
          </a:effectLst>
        </p:spPr>
      </p:sp>
      <p:sp>
        <p:nvSpPr>
          <p:cNvPr id="9" name="Shape 7">
            <a:extLst xmlns:a="http://schemas.openxmlformats.org/drawingml/2006/main">
              <a:ext uri="{FF2B5EF4-FFF2-40B4-BE49-F238E27FC236}">
                <a16:creationId xmlns:a16="http://schemas.microsoft.com/office/drawing/2014/main" id="{C9A34953-58C7-478E-9736-94E8E8AC9D55}"/>
              </a:ext>
            </a:extLst>
          </p:cNvPr>
          <p:cNvSpPr>
            <a:spLocks xmlns:a="http://schemas.openxmlformats.org/drawingml/2006/main" noGrp="1"/>
          </p:cNvSpPr>
          <p:nvPr/>
        </p:nvSpPr>
        <p:spPr>
          <a:xfrm xmlns:a="http://schemas.openxmlformats.org/drawingml/2006/main">
            <a:off x="274320" y="1298448"/>
            <a:ext cx="4160520" cy="38404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10" name="Text 8">
            <a:extLst xmlns:a="http://schemas.openxmlformats.org/drawingml/2006/main">
              <a:ext uri="{FF2B5EF4-FFF2-40B4-BE49-F238E27FC236}">
                <a16:creationId xmlns:a16="http://schemas.microsoft.com/office/drawing/2014/main" id="{0138816D-F851-4B14-B5E7-C78921973D27}"/>
              </a:ext>
            </a:extLst>
          </p:cNvPr>
          <p:cNvSpPr>
            <a:spLocks xmlns:a="http://schemas.openxmlformats.org/drawingml/2006/main" noGrp="1"/>
          </p:cNvSpPr>
          <p:nvPr/>
        </p:nvSpPr>
        <p:spPr>
          <a:xfrm xmlns:a="http://schemas.openxmlformats.org/drawingml/2006/main">
            <a:off x="274320" y="1298448"/>
            <a:ext cx="4160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rPr>
              <a:t>RECOMMENDATION 2 — COMPARE FIRST</a:t>
            </a:r>
            <a:endParaRPr sz="1000"/>
          </a:p>
        </p:txBody>
      </p:sp>
      <p:sp>
        <p:nvSpPr>
          <p:cNvPr id="11" name="Shape 9">
            <a:extLst xmlns:a="http://schemas.openxmlformats.org/drawingml/2006/main">
              <a:ext uri="{FF2B5EF4-FFF2-40B4-BE49-F238E27FC236}">
                <a16:creationId xmlns:a16="http://schemas.microsoft.com/office/drawing/2014/main" id="{A48F928C-F102-49B4-A59E-1D4EE3D1DC18}"/>
              </a:ext>
            </a:extLst>
          </p:cNvPr>
          <p:cNvSpPr>
            <a:spLocks xmlns:a="http://schemas.openxmlformats.org/drawingml/2006/main" noGrp="1"/>
          </p:cNvSpPr>
          <p:nvPr/>
        </p:nvSpPr>
        <p:spPr>
          <a:xfrm xmlns:a="http://schemas.openxmlformats.org/drawingml/2006/main">
            <a:off x="438912" y="1810512"/>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2" name="Text 10">
            <a:extLst xmlns:a="http://schemas.openxmlformats.org/drawingml/2006/main">
              <a:ext uri="{FF2B5EF4-FFF2-40B4-BE49-F238E27FC236}">
                <a16:creationId xmlns:a16="http://schemas.microsoft.com/office/drawing/2014/main" id="{BD60D940-2AB4-4323-ACDD-A19A5EA667C8}"/>
              </a:ext>
            </a:extLst>
          </p:cNvPr>
          <p:cNvSpPr>
            <a:spLocks xmlns:a="http://schemas.openxmlformats.org/drawingml/2006/main" noGrp="1"/>
          </p:cNvSpPr>
          <p:nvPr/>
        </p:nvSpPr>
        <p:spPr>
          <a:xfrm xmlns:a="http://schemas.openxmlformats.org/drawingml/2006/main">
            <a:off x="438912" y="1810512"/>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3" name="Text 11">
            <a:extLst xmlns:a="http://schemas.openxmlformats.org/drawingml/2006/main">
              <a:ext uri="{FF2B5EF4-FFF2-40B4-BE49-F238E27FC236}">
                <a16:creationId xmlns:a16="http://schemas.microsoft.com/office/drawing/2014/main" id="{433F46A5-1D2D-44A3-B1A4-F5935365DDDC}"/>
              </a:ext>
            </a:extLst>
          </p:cNvPr>
          <p:cNvSpPr>
            <a:spLocks xmlns:a="http://schemas.openxmlformats.org/drawingml/2006/main" noGrp="1"/>
          </p:cNvSpPr>
          <p:nvPr/>
        </p:nvSpPr>
        <p:spPr>
          <a:xfrm xmlns:a="http://schemas.openxmlformats.org/drawingml/2006/main">
            <a:off x="713232" y="1773936"/>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Use the 2026 comparative estimate to narrow broad areas.</a:t>
            </a:r>
            <a:endParaRPr sz="850"/>
          </a:p>
        </p:txBody>
      </p:sp>
      <p:sp>
        <p:nvSpPr>
          <p:cNvPr id="14" name="Shape 12">
            <a:extLst xmlns:a="http://schemas.openxmlformats.org/drawingml/2006/main">
              <a:ext uri="{FF2B5EF4-FFF2-40B4-BE49-F238E27FC236}">
                <a16:creationId xmlns:a16="http://schemas.microsoft.com/office/drawing/2014/main" id="{9A77203C-C6FB-43FE-9635-189E862BC538}"/>
              </a:ext>
            </a:extLst>
          </p:cNvPr>
          <p:cNvSpPr>
            <a:spLocks xmlns:a="http://schemas.openxmlformats.org/drawingml/2006/main" noGrp="1"/>
          </p:cNvSpPr>
          <p:nvPr/>
        </p:nvSpPr>
        <p:spPr>
          <a:xfrm xmlns:a="http://schemas.openxmlformats.org/drawingml/2006/main">
            <a:off x="438912" y="2212848"/>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5" name="Text 13">
            <a:extLst xmlns:a="http://schemas.openxmlformats.org/drawingml/2006/main">
              <a:ext uri="{FF2B5EF4-FFF2-40B4-BE49-F238E27FC236}">
                <a16:creationId xmlns:a16="http://schemas.microsoft.com/office/drawing/2014/main" id="{C4054035-0280-46D0-8271-E333012C74D8}"/>
              </a:ext>
            </a:extLst>
          </p:cNvPr>
          <p:cNvSpPr>
            <a:spLocks xmlns:a="http://schemas.openxmlformats.org/drawingml/2006/main" noGrp="1"/>
          </p:cNvSpPr>
          <p:nvPr/>
        </p:nvSpPr>
        <p:spPr>
          <a:xfrm xmlns:a="http://schemas.openxmlformats.org/drawingml/2006/main">
            <a:off x="438912" y="2212848"/>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6" name="Text 14">
            <a:extLst xmlns:a="http://schemas.openxmlformats.org/drawingml/2006/main">
              <a:ext uri="{FF2B5EF4-FFF2-40B4-BE49-F238E27FC236}">
                <a16:creationId xmlns:a16="http://schemas.microsoft.com/office/drawing/2014/main" id="{3A866D65-32E1-4D14-85BC-277D343C0267}"/>
              </a:ext>
            </a:extLst>
          </p:cNvPr>
          <p:cNvSpPr>
            <a:spLocks xmlns:a="http://schemas.openxmlformats.org/drawingml/2006/main" noGrp="1"/>
          </p:cNvSpPr>
          <p:nvPr/>
        </p:nvSpPr>
        <p:spPr>
          <a:xfrm xmlns:a="http://schemas.openxmlformats.org/drawingml/2006/main">
            <a:off x="713232" y="2176272"/>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Check 2016–2025 observed recurrence in the 2 km context.</a:t>
            </a:r>
            <a:endParaRPr sz="850"/>
          </a:p>
        </p:txBody>
      </p:sp>
      <p:sp>
        <p:nvSpPr>
          <p:cNvPr id="17" name="Shape 15">
            <a:extLst xmlns:a="http://schemas.openxmlformats.org/drawingml/2006/main">
              <a:ext uri="{FF2B5EF4-FFF2-40B4-BE49-F238E27FC236}">
                <a16:creationId xmlns:a16="http://schemas.microsoft.com/office/drawing/2014/main" id="{340346DD-06C1-46D3-B84B-71D11B0BD4C8}"/>
              </a:ext>
            </a:extLst>
          </p:cNvPr>
          <p:cNvSpPr>
            <a:spLocks xmlns:a="http://schemas.openxmlformats.org/drawingml/2006/main" noGrp="1"/>
          </p:cNvSpPr>
          <p:nvPr/>
        </p:nvSpPr>
        <p:spPr>
          <a:xfrm xmlns:a="http://schemas.openxmlformats.org/drawingml/2006/main">
            <a:off x="438912" y="2615184"/>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8" name="Text 16">
            <a:extLst xmlns:a="http://schemas.openxmlformats.org/drawingml/2006/main">
              <a:ext uri="{FF2B5EF4-FFF2-40B4-BE49-F238E27FC236}">
                <a16:creationId xmlns:a16="http://schemas.microsoft.com/office/drawing/2014/main" id="{54CE7231-C7DF-4668-B5A1-98622531C369}"/>
              </a:ext>
            </a:extLst>
          </p:cNvPr>
          <p:cNvSpPr>
            <a:spLocks xmlns:a="http://schemas.openxmlformats.org/drawingml/2006/main" noGrp="1"/>
          </p:cNvSpPr>
          <p:nvPr/>
        </p:nvSpPr>
        <p:spPr>
          <a:xfrm xmlns:a="http://schemas.openxmlformats.org/drawingml/2006/main">
            <a:off x="438912" y="2615184"/>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9" name="Text 17">
            <a:extLst xmlns:a="http://schemas.openxmlformats.org/drawingml/2006/main">
              <a:ext uri="{FF2B5EF4-FFF2-40B4-BE49-F238E27FC236}">
                <a16:creationId xmlns:a16="http://schemas.microsoft.com/office/drawing/2014/main" id="{62EF2D98-2C4B-4478-B6DE-59400CA06235}"/>
              </a:ext>
            </a:extLst>
          </p:cNvPr>
          <p:cNvSpPr>
            <a:spLocks xmlns:a="http://schemas.openxmlformats.org/drawingml/2006/main" noGrp="1"/>
          </p:cNvSpPr>
          <p:nvPr/>
        </p:nvSpPr>
        <p:spPr>
          <a:xfrm xmlns:a="http://schemas.openxmlformats.org/drawingml/2006/main">
            <a:off x="713232" y="2578608"/>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Compare the official ICNF structural-hazard class.</a:t>
            </a:r>
            <a:endParaRPr sz="850"/>
          </a:p>
        </p:txBody>
      </p:sp>
      <p:sp>
        <p:nvSpPr>
          <p:cNvPr id="20" name="Shape 18">
            <a:extLst xmlns:a="http://schemas.openxmlformats.org/drawingml/2006/main">
              <a:ext uri="{FF2B5EF4-FFF2-40B4-BE49-F238E27FC236}">
                <a16:creationId xmlns:a16="http://schemas.microsoft.com/office/drawing/2014/main" id="{ACCE5F55-0293-4ED9-B7A2-2A8422E5B9D4}"/>
              </a:ext>
            </a:extLst>
          </p:cNvPr>
          <p:cNvSpPr>
            <a:spLocks xmlns:a="http://schemas.openxmlformats.org/drawingml/2006/main" noGrp="1"/>
          </p:cNvSpPr>
          <p:nvPr/>
        </p:nvSpPr>
        <p:spPr>
          <a:xfrm xmlns:a="http://schemas.openxmlformats.org/drawingml/2006/main">
            <a:off x="438912" y="3017520"/>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1" name="Text 19">
            <a:extLst xmlns:a="http://schemas.openxmlformats.org/drawingml/2006/main">
              <a:ext uri="{FF2B5EF4-FFF2-40B4-BE49-F238E27FC236}">
                <a16:creationId xmlns:a16="http://schemas.microsoft.com/office/drawing/2014/main" id="{021FABFD-07BB-4CB1-9DF3-6AB4C7F7418A}"/>
              </a:ext>
            </a:extLst>
          </p:cNvPr>
          <p:cNvSpPr>
            <a:spLocks xmlns:a="http://schemas.openxmlformats.org/drawingml/2006/main" noGrp="1"/>
          </p:cNvSpPr>
          <p:nvPr/>
        </p:nvSpPr>
        <p:spPr>
          <a:xfrm xmlns:a="http://schemas.openxmlformats.org/drawingml/2006/main">
            <a:off x="438912" y="3017520"/>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2" name="Text 20">
            <a:extLst xmlns:a="http://schemas.openxmlformats.org/drawingml/2006/main">
              <a:ext uri="{FF2B5EF4-FFF2-40B4-BE49-F238E27FC236}">
                <a16:creationId xmlns:a16="http://schemas.microsoft.com/office/drawing/2014/main" id="{DF395E92-F661-43E4-B279-247D4D7CBDF8}"/>
              </a:ext>
            </a:extLst>
          </p:cNvPr>
          <p:cNvSpPr>
            <a:spLocks xmlns:a="http://schemas.openxmlformats.org/drawingml/2006/main" noGrp="1"/>
          </p:cNvSpPr>
          <p:nvPr/>
        </p:nvSpPr>
        <p:spPr>
          <a:xfrm xmlns:a="http://schemas.openxmlformats.org/drawingml/2006/main">
            <a:off x="713232" y="2980944"/>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Read the three layers together before shortlisting areas.</a:t>
            </a:r>
            <a:endParaRPr sz="850"/>
          </a:p>
        </p:txBody>
      </p:sp>
      <p:sp>
        <p:nvSpPr>
          <p:cNvPr id="23" name="Shape 21">
            <a:extLst xmlns:a="http://schemas.openxmlformats.org/drawingml/2006/main">
              <a:ext uri="{FF2B5EF4-FFF2-40B4-BE49-F238E27FC236}">
                <a16:creationId xmlns:a16="http://schemas.microsoft.com/office/drawing/2014/main" id="{488D5AAF-075C-4381-8425-C89597170446}"/>
              </a:ext>
            </a:extLst>
          </p:cNvPr>
          <p:cNvSpPr>
            <a:spLocks xmlns:a="http://schemas.openxmlformats.org/drawingml/2006/main" noGrp="1"/>
          </p:cNvSpPr>
          <p:nvPr/>
        </p:nvSpPr>
        <p:spPr>
          <a:xfrm xmlns:a="http://schemas.openxmlformats.org/drawingml/2006/main">
            <a:off x="438912" y="3419856"/>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4" name="Text 22">
            <a:extLst xmlns:a="http://schemas.openxmlformats.org/drawingml/2006/main">
              <a:ext uri="{FF2B5EF4-FFF2-40B4-BE49-F238E27FC236}">
                <a16:creationId xmlns:a16="http://schemas.microsoft.com/office/drawing/2014/main" id="{3E83D27C-B8E2-4DEE-B204-D31E94B3282A}"/>
              </a:ext>
            </a:extLst>
          </p:cNvPr>
          <p:cNvSpPr>
            <a:spLocks xmlns:a="http://schemas.openxmlformats.org/drawingml/2006/main" noGrp="1"/>
          </p:cNvSpPr>
          <p:nvPr/>
        </p:nvSpPr>
        <p:spPr>
          <a:xfrm xmlns:a="http://schemas.openxmlformats.org/drawingml/2006/main">
            <a:off x="438912" y="3419856"/>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5" name="Text 23">
            <a:extLst xmlns:a="http://schemas.openxmlformats.org/drawingml/2006/main">
              <a:ext uri="{FF2B5EF4-FFF2-40B4-BE49-F238E27FC236}">
                <a16:creationId xmlns:a16="http://schemas.microsoft.com/office/drawing/2014/main" id="{38E3C507-F339-4F2F-954D-39C52FC073E3}"/>
              </a:ext>
            </a:extLst>
          </p:cNvPr>
          <p:cNvSpPr>
            <a:spLocks xmlns:a="http://schemas.openxmlformats.org/drawingml/2006/main" noGrp="1"/>
          </p:cNvSpPr>
          <p:nvPr/>
        </p:nvSpPr>
        <p:spPr>
          <a:xfrm xmlns:a="http://schemas.openxmlformats.org/drawingml/2006/main">
            <a:off x="713232" y="3383280"/>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Do not merge the layers into one score.</a:t>
            </a:r>
            <a:endParaRPr sz="850"/>
          </a:p>
        </p:txBody>
      </p:sp>
      <p:sp>
        <p:nvSpPr>
          <p:cNvPr id="26" name="Shape 24">
            <a:extLst xmlns:a="http://schemas.openxmlformats.org/drawingml/2006/main">
              <a:ext uri="{FF2B5EF4-FFF2-40B4-BE49-F238E27FC236}">
                <a16:creationId xmlns:a16="http://schemas.microsoft.com/office/drawing/2014/main" id="{08C68075-9284-4574-87C1-08DABFEF76DE}"/>
              </a:ext>
            </a:extLst>
          </p:cNvPr>
          <p:cNvSpPr>
            <a:spLocks xmlns:a="http://schemas.openxmlformats.org/drawingml/2006/main" noGrp="1"/>
          </p:cNvSpPr>
          <p:nvPr/>
        </p:nvSpPr>
        <p:spPr>
          <a:xfrm xmlns:a="http://schemas.openxmlformats.org/drawingml/2006/main">
            <a:off x="438912" y="3822192"/>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7" name="Text 25">
            <a:extLst xmlns:a="http://schemas.openxmlformats.org/drawingml/2006/main">
              <a:ext uri="{FF2B5EF4-FFF2-40B4-BE49-F238E27FC236}">
                <a16:creationId xmlns:a16="http://schemas.microsoft.com/office/drawing/2014/main" id="{E6782FB0-9CF8-4988-961D-609E903C78A1}"/>
              </a:ext>
            </a:extLst>
          </p:cNvPr>
          <p:cNvSpPr>
            <a:spLocks xmlns:a="http://schemas.openxmlformats.org/drawingml/2006/main" noGrp="1"/>
          </p:cNvSpPr>
          <p:nvPr/>
        </p:nvSpPr>
        <p:spPr>
          <a:xfrm xmlns:a="http://schemas.openxmlformats.org/drawingml/2006/main">
            <a:off x="438912" y="3822192"/>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8" name="Text 26">
            <a:extLst xmlns:a="http://schemas.openxmlformats.org/drawingml/2006/main">
              <a:ext uri="{FF2B5EF4-FFF2-40B4-BE49-F238E27FC236}">
                <a16:creationId xmlns:a16="http://schemas.microsoft.com/office/drawing/2014/main" id="{70F27152-BCAD-46B7-826B-959E39FABFED}"/>
              </a:ext>
            </a:extLst>
          </p:cNvPr>
          <p:cNvSpPr>
            <a:spLocks xmlns:a="http://schemas.openxmlformats.org/drawingml/2006/main" noGrp="1"/>
          </p:cNvSpPr>
          <p:nvPr/>
        </p:nvSpPr>
        <p:spPr>
          <a:xfrm xmlns:a="http://schemas.openxmlformats.org/drawingml/2006/main">
            <a:off x="713232" y="3785616"/>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They answer different questions and provide complementary context.</a:t>
            </a:r>
            <a:endParaRPr sz="850"/>
          </a:p>
        </p:txBody>
      </p:sp>
      <p:sp>
        <p:nvSpPr>
          <p:cNvPr id="29" name="Shape 27">
            <a:extLst xmlns:a="http://schemas.openxmlformats.org/drawingml/2006/main">
              <a:ext uri="{FF2B5EF4-FFF2-40B4-BE49-F238E27FC236}">
                <a16:creationId xmlns:a16="http://schemas.microsoft.com/office/drawing/2014/main" id="{6FE7194F-DD64-44E7-98A2-9C4D403266C2}"/>
              </a:ext>
            </a:extLst>
          </p:cNvPr>
          <p:cNvSpPr>
            <a:spLocks xmlns:a="http://schemas.openxmlformats.org/drawingml/2006/main" noGrp="1"/>
          </p:cNvSpPr>
          <p:nvPr/>
        </p:nvSpPr>
        <p:spPr>
          <a:xfrm xmlns:a="http://schemas.openxmlformats.org/drawingml/2006/main">
            <a:off x="438912" y="4224528"/>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30" name="Text 28">
            <a:extLst xmlns:a="http://schemas.openxmlformats.org/drawingml/2006/main">
              <a:ext uri="{FF2B5EF4-FFF2-40B4-BE49-F238E27FC236}">
                <a16:creationId xmlns:a16="http://schemas.microsoft.com/office/drawing/2014/main" id="{6BF79431-F44F-4E26-8B43-6D69C49965C2}"/>
              </a:ext>
            </a:extLst>
          </p:cNvPr>
          <p:cNvSpPr>
            <a:spLocks xmlns:a="http://schemas.openxmlformats.org/drawingml/2006/main" noGrp="1"/>
          </p:cNvSpPr>
          <p:nvPr/>
        </p:nvSpPr>
        <p:spPr>
          <a:xfrm xmlns:a="http://schemas.openxmlformats.org/drawingml/2006/main">
            <a:off x="438912" y="4224528"/>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31" name="Text 29">
            <a:extLst xmlns:a="http://schemas.openxmlformats.org/drawingml/2006/main">
              <a:ext uri="{FF2B5EF4-FFF2-40B4-BE49-F238E27FC236}">
                <a16:creationId xmlns:a16="http://schemas.microsoft.com/office/drawing/2014/main" id="{234F4672-94F5-40EC-848A-2B04CEEC2D52}"/>
              </a:ext>
            </a:extLst>
          </p:cNvPr>
          <p:cNvSpPr>
            <a:spLocks xmlns:a="http://schemas.openxmlformats.org/drawingml/2006/main" noGrp="1"/>
          </p:cNvSpPr>
          <p:nvPr/>
        </p:nvSpPr>
        <p:spPr>
          <a:xfrm xmlns:a="http://schemas.openxmlformats.org/drawingml/2006/main">
            <a:off x="713232" y="4187952"/>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Shortlist only after comparing them.</a:t>
            </a:r>
            <a:endParaRPr sz="850"/>
          </a:p>
        </p:txBody>
      </p:sp>
      <p:sp>
        <p:nvSpPr>
          <p:cNvPr id="32" name="Shape 30">
            <a:extLst xmlns:a="http://schemas.openxmlformats.org/drawingml/2006/main">
              <a:ext uri="{FF2B5EF4-FFF2-40B4-BE49-F238E27FC236}">
                <a16:creationId xmlns:a16="http://schemas.microsoft.com/office/drawing/2014/main" id="{8CFE47B9-6214-49BF-BAB5-E46AF5D658EC}"/>
              </a:ext>
            </a:extLst>
          </p:cNvPr>
          <p:cNvSpPr>
            <a:spLocks xmlns:a="http://schemas.openxmlformats.org/drawingml/2006/main" noGrp="1"/>
          </p:cNvSpPr>
          <p:nvPr/>
        </p:nvSpPr>
        <p:spPr>
          <a:xfrm xmlns:a="http://schemas.openxmlformats.org/drawingml/2006/main">
            <a:off x="4709160" y="1298448"/>
            <a:ext cx="4160520" cy="3291840"/>
          </a:xfrm>
          <a:prstGeom xmlns:a="http://schemas.openxmlformats.org/drawingml/2006/main" prst="rect">
            <a:avLst/>
          </a:prstGeom>
          <a:solidFill xmlns:a="http://schemas.openxmlformats.org/drawingml/2006/main">
            <a:srgbClr val="FFFFFF"/>
          </a:solidFill>
          <a:ln xmlns:a="http://schemas.openxmlformats.org/drawingml/2006/main" w="12700">
            <a:solidFill>
              <a:srgbClr val="E1E8EF"/>
            </a:solidFill>
            <a:prstDash val="solid"/>
          </a:ln>
          <a:effectLst xmlns:a="http://schemas.openxmlformats.org/drawingml/2006/main">
            <a:outerShdw blurRad="101600" dist="38100" dir="8100000" algn="bl" rotWithShape="0">
              <a:srgbClr val="000000">
                <a:alpha val="10000"/>
              </a:srgbClr>
            </a:outerShdw>
          </a:effectLst>
        </p:spPr>
      </p:sp>
      <p:sp>
        <p:nvSpPr>
          <p:cNvPr id="33" name="Shape 31">
            <a:extLst xmlns:a="http://schemas.openxmlformats.org/drawingml/2006/main">
              <a:ext uri="{FF2B5EF4-FFF2-40B4-BE49-F238E27FC236}">
                <a16:creationId xmlns:a16="http://schemas.microsoft.com/office/drawing/2014/main" id="{A8D64D74-58C5-46B8-81B3-038E3D611275}"/>
              </a:ext>
            </a:extLst>
          </p:cNvPr>
          <p:cNvSpPr>
            <a:spLocks xmlns:a="http://schemas.openxmlformats.org/drawingml/2006/main" noGrp="1"/>
          </p:cNvSpPr>
          <p:nvPr/>
        </p:nvSpPr>
        <p:spPr>
          <a:xfrm xmlns:a="http://schemas.openxmlformats.org/drawingml/2006/main">
            <a:off x="4709160" y="1298448"/>
            <a:ext cx="4160520" cy="38404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34" name="Text 32">
            <a:extLst xmlns:a="http://schemas.openxmlformats.org/drawingml/2006/main">
              <a:ext uri="{FF2B5EF4-FFF2-40B4-BE49-F238E27FC236}">
                <a16:creationId xmlns:a16="http://schemas.microsoft.com/office/drawing/2014/main" id="{94210AFE-3DED-4395-AC76-61EA6433B9A0}"/>
              </a:ext>
            </a:extLst>
          </p:cNvPr>
          <p:cNvSpPr>
            <a:spLocks xmlns:a="http://schemas.openxmlformats.org/drawingml/2006/main" noGrp="1"/>
          </p:cNvSpPr>
          <p:nvPr/>
        </p:nvSpPr>
        <p:spPr>
          <a:xfrm xmlns:a="http://schemas.openxmlformats.org/drawingml/2006/main">
            <a:off x="4709160" y="1298448"/>
            <a:ext cx="4160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rPr>
              <a:t>RECOMMENDATION 3 — VERIFY LOCALLY</a:t>
            </a:r>
            <a:endParaRPr sz="1000"/>
          </a:p>
        </p:txBody>
      </p:sp>
      <p:sp>
        <p:nvSpPr>
          <p:cNvPr id="35" name="Text 33">
            <a:extLst xmlns:a="http://schemas.openxmlformats.org/drawingml/2006/main">
              <a:ext uri="{FF2B5EF4-FFF2-40B4-BE49-F238E27FC236}">
                <a16:creationId xmlns:a16="http://schemas.microsoft.com/office/drawing/2014/main" id="{7D1E2215-4749-4102-8766-0EF9CB908835}"/>
              </a:ext>
            </a:extLst>
          </p:cNvPr>
          <p:cNvSpPr>
            <a:spLocks xmlns:a="http://schemas.openxmlformats.org/drawingml/2006/main" noGrp="1"/>
          </p:cNvSpPr>
          <p:nvPr/>
        </p:nvSpPr>
        <p:spPr>
          <a:xfrm xmlns:a="http://schemas.openxmlformats.org/drawingml/2006/main">
            <a:off x="4873752" y="1755648"/>
            <a:ext cx="3886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5B6880"/>
                </a:solidFill>
              </a:rPr>
              <a:t>Local evidence</a:t>
            </a:r>
            <a:endParaRPr sz="800"/>
          </a:p>
        </p:txBody>
      </p:sp>
      <p:sp>
        <p:nvSpPr>
          <p:cNvPr id="36" name="Shape 34">
            <a:extLst xmlns:a="http://schemas.openxmlformats.org/drawingml/2006/main">
              <a:ext uri="{FF2B5EF4-FFF2-40B4-BE49-F238E27FC236}">
                <a16:creationId xmlns:a16="http://schemas.microsoft.com/office/drawing/2014/main" id="{E9765024-23F7-4BAD-82E2-D0944ECD817D}"/>
              </a:ext>
            </a:extLst>
          </p:cNvPr>
          <p:cNvSpPr>
            <a:spLocks xmlns:a="http://schemas.openxmlformats.org/drawingml/2006/main" noGrp="1"/>
          </p:cNvSpPr>
          <p:nvPr/>
        </p:nvSpPr>
        <p:spPr>
          <a:xfrm xmlns:a="http://schemas.openxmlformats.org/drawingml/2006/main">
            <a:off x="4873752" y="2093976"/>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37" name="Text 35">
            <a:extLst xmlns:a="http://schemas.openxmlformats.org/drawingml/2006/main">
              <a:ext uri="{FF2B5EF4-FFF2-40B4-BE49-F238E27FC236}">
                <a16:creationId xmlns:a16="http://schemas.microsoft.com/office/drawing/2014/main" id="{3DB21FEE-311F-4CB4-9BB7-CEE277DD9E7E}"/>
              </a:ext>
            </a:extLst>
          </p:cNvPr>
          <p:cNvSpPr>
            <a:spLocks xmlns:a="http://schemas.openxmlformats.org/drawingml/2006/main" noGrp="1"/>
          </p:cNvSpPr>
          <p:nvPr/>
        </p:nvSpPr>
        <p:spPr>
          <a:xfrm xmlns:a="http://schemas.openxmlformats.org/drawingml/2006/main">
            <a:off x="4873752" y="2093976"/>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38" name="Text 36">
            <a:extLst xmlns:a="http://schemas.openxmlformats.org/drawingml/2006/main">
              <a:ext uri="{FF2B5EF4-FFF2-40B4-BE49-F238E27FC236}">
                <a16:creationId xmlns:a16="http://schemas.microsoft.com/office/drawing/2014/main" id="{EC831CFF-D119-4E88-B1D0-71E2982079DD}"/>
              </a:ext>
            </a:extLst>
          </p:cNvPr>
          <p:cNvSpPr>
            <a:spLocks xmlns:a="http://schemas.openxmlformats.org/drawingml/2006/main" noGrp="1"/>
          </p:cNvSpPr>
          <p:nvPr/>
        </p:nvSpPr>
        <p:spPr>
          <a:xfrm xmlns:a="http://schemas.openxmlformats.org/drawingml/2006/main">
            <a:off x="5111496" y="2048256"/>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Review planning, access, insurance, terrain and site conditions.</a:t>
            </a:r>
            <a:endParaRPr sz="800"/>
          </a:p>
        </p:txBody>
      </p:sp>
      <p:sp>
        <p:nvSpPr>
          <p:cNvPr id="39" name="Shape 37">
            <a:extLst xmlns:a="http://schemas.openxmlformats.org/drawingml/2006/main">
              <a:ext uri="{FF2B5EF4-FFF2-40B4-BE49-F238E27FC236}">
                <a16:creationId xmlns:a16="http://schemas.microsoft.com/office/drawing/2014/main" id="{6E8C027E-8773-4500-B33B-62E87DB5F217}"/>
              </a:ext>
            </a:extLst>
          </p:cNvPr>
          <p:cNvSpPr>
            <a:spLocks xmlns:a="http://schemas.openxmlformats.org/drawingml/2006/main" noGrp="1"/>
          </p:cNvSpPr>
          <p:nvPr/>
        </p:nvSpPr>
        <p:spPr>
          <a:xfrm xmlns:a="http://schemas.openxmlformats.org/drawingml/2006/main">
            <a:off x="4873752" y="2441448"/>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40" name="Text 38">
            <a:extLst xmlns:a="http://schemas.openxmlformats.org/drawingml/2006/main">
              <a:ext uri="{FF2B5EF4-FFF2-40B4-BE49-F238E27FC236}">
                <a16:creationId xmlns:a16="http://schemas.microsoft.com/office/drawing/2014/main" id="{60AA1538-DD26-48A4-801E-5B50EDDC6EF9}"/>
              </a:ext>
            </a:extLst>
          </p:cNvPr>
          <p:cNvSpPr>
            <a:spLocks xmlns:a="http://schemas.openxmlformats.org/drawingml/2006/main" noGrp="1"/>
          </p:cNvSpPr>
          <p:nvPr/>
        </p:nvSpPr>
        <p:spPr>
          <a:xfrm xmlns:a="http://schemas.openxmlformats.org/drawingml/2006/main">
            <a:off x="4873752" y="2441448"/>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41" name="Text 39">
            <a:extLst xmlns:a="http://schemas.openxmlformats.org/drawingml/2006/main">
              <a:ext uri="{FF2B5EF4-FFF2-40B4-BE49-F238E27FC236}">
                <a16:creationId xmlns:a16="http://schemas.microsoft.com/office/drawing/2014/main" id="{AB334C3D-7F39-4FE7-B95B-21588560F91A}"/>
              </a:ext>
            </a:extLst>
          </p:cNvPr>
          <p:cNvSpPr>
            <a:spLocks xmlns:a="http://schemas.openxmlformats.org/drawingml/2006/main" noGrp="1"/>
          </p:cNvSpPr>
          <p:nvPr/>
        </p:nvSpPr>
        <p:spPr>
          <a:xfrm xmlns:a="http://schemas.openxmlformats.org/drawingml/2006/main">
            <a:off x="5111496" y="2395728"/>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Use property-specific evidence before deciding.</a:t>
            </a:r>
            <a:endParaRPr sz="800"/>
          </a:p>
        </p:txBody>
      </p:sp>
      <p:sp>
        <p:nvSpPr>
          <p:cNvPr id="42" name="Shape 40">
            <a:extLst xmlns:a="http://schemas.openxmlformats.org/drawingml/2006/main">
              <a:ext uri="{FF2B5EF4-FFF2-40B4-BE49-F238E27FC236}">
                <a16:creationId xmlns:a16="http://schemas.microsoft.com/office/drawing/2014/main" id="{EB1A818B-27E2-4AC9-A7A5-A37B13D81AEE}"/>
              </a:ext>
            </a:extLst>
          </p:cNvPr>
          <p:cNvSpPr>
            <a:spLocks xmlns:a="http://schemas.openxmlformats.org/drawingml/2006/main" noGrp="1"/>
          </p:cNvSpPr>
          <p:nvPr/>
        </p:nvSpPr>
        <p:spPr>
          <a:xfrm xmlns:a="http://schemas.openxmlformats.org/drawingml/2006/main">
            <a:off x="4873752" y="2788920"/>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43" name="Text 41">
            <a:extLst xmlns:a="http://schemas.openxmlformats.org/drawingml/2006/main">
              <a:ext uri="{FF2B5EF4-FFF2-40B4-BE49-F238E27FC236}">
                <a16:creationId xmlns:a16="http://schemas.microsoft.com/office/drawing/2014/main" id="{C9A0C132-E061-47E9-86DA-C56EBC4FE862}"/>
              </a:ext>
            </a:extLst>
          </p:cNvPr>
          <p:cNvSpPr>
            <a:spLocks xmlns:a="http://schemas.openxmlformats.org/drawingml/2006/main" noGrp="1"/>
          </p:cNvSpPr>
          <p:nvPr/>
        </p:nvSpPr>
        <p:spPr>
          <a:xfrm xmlns:a="http://schemas.openxmlformats.org/drawingml/2006/main">
            <a:off x="4873752" y="2788920"/>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44" name="Text 42">
            <a:extLst xmlns:a="http://schemas.openxmlformats.org/drawingml/2006/main">
              <a:ext uri="{FF2B5EF4-FFF2-40B4-BE49-F238E27FC236}">
                <a16:creationId xmlns:a16="http://schemas.microsoft.com/office/drawing/2014/main" id="{A498733C-FEFE-442D-BBCC-FBAA98860A46}"/>
              </a:ext>
            </a:extLst>
          </p:cNvPr>
          <p:cNvSpPr>
            <a:spLocks xmlns:a="http://schemas.openxmlformats.org/drawingml/2006/main" noGrp="1"/>
          </p:cNvSpPr>
          <p:nvPr/>
        </p:nvSpPr>
        <p:spPr>
          <a:xfrm xmlns:a="http://schemas.openxmlformats.org/drawingml/2006/main">
            <a:off x="5111496" y="2743200"/>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The model directs research effort; it does not replace local investigation.</a:t>
            </a:r>
            <a:endParaRPr sz="800"/>
          </a:p>
        </p:txBody>
      </p:sp>
      <p:sp>
        <p:nvSpPr>
          <p:cNvPr id="45" name="Text 43">
            <a:extLst xmlns:a="http://schemas.openxmlformats.org/drawingml/2006/main">
              <a:ext uri="{FF2B5EF4-FFF2-40B4-BE49-F238E27FC236}">
                <a16:creationId xmlns:a16="http://schemas.microsoft.com/office/drawing/2014/main" id="{2261A078-89E7-4EDE-AF5A-975F083F6C40}"/>
              </a:ext>
            </a:extLst>
          </p:cNvPr>
          <p:cNvSpPr>
            <a:spLocks xmlns:a="http://schemas.openxmlformats.org/drawingml/2006/main" noGrp="1"/>
          </p:cNvSpPr>
          <p:nvPr/>
        </p:nvSpPr>
        <p:spPr>
          <a:xfrm xmlns:a="http://schemas.openxmlformats.org/drawingml/2006/main">
            <a:off x="4873752" y="3127248"/>
            <a:ext cx="3886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00"/>
          </a:p>
        </p:txBody>
      </p:sp>
      <p:sp>
        <p:nvSpPr>
          <p:cNvPr id="46" name="Text 44">
            <a:extLst xmlns:a="http://schemas.openxmlformats.org/drawingml/2006/main">
              <a:ext uri="{FF2B5EF4-FFF2-40B4-BE49-F238E27FC236}">
                <a16:creationId xmlns:a16="http://schemas.microsoft.com/office/drawing/2014/main" id="{878FBAF7-6DD0-4D72-8C29-5EBD1F7FB714}"/>
              </a:ext>
            </a:extLst>
          </p:cNvPr>
          <p:cNvSpPr>
            <a:spLocks xmlns:a="http://schemas.openxmlformats.org/drawingml/2006/main" noGrp="1"/>
          </p:cNvSpPr>
          <p:nvPr/>
        </p:nvSpPr>
        <p:spPr>
          <a:xfrm xmlns:a="http://schemas.openxmlformats.org/drawingml/2006/main">
            <a:off x="4873752" y="34015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KEY MESSAGE</a:t>
            </a:r>
            <a:endParaRPr sz="750"/>
          </a:p>
        </p:txBody>
      </p:sp>
      <p:sp>
        <p:nvSpPr>
          <p:cNvPr id="47" name="Text 45">
            <a:extLst xmlns:a="http://schemas.openxmlformats.org/drawingml/2006/main">
              <a:ext uri="{FF2B5EF4-FFF2-40B4-BE49-F238E27FC236}">
                <a16:creationId xmlns:a16="http://schemas.microsoft.com/office/drawing/2014/main" id="{F3852103-32CC-4EA7-912B-BBCD278D546F}"/>
              </a:ext>
            </a:extLst>
          </p:cNvPr>
          <p:cNvSpPr>
            <a:spLocks xmlns:a="http://schemas.openxmlformats.org/drawingml/2006/main" noGrp="1"/>
          </p:cNvSpPr>
          <p:nvPr/>
        </p:nvSpPr>
        <p:spPr>
          <a:xfrm xmlns:a="http://schemas.openxmlformats.org/drawingml/2006/main">
            <a:off x="4873752" y="36301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Compare layers.</a:t>
            </a:r>
            <a:endParaRPr sz="750"/>
          </a:p>
        </p:txBody>
      </p:sp>
      <p:sp>
        <p:nvSpPr>
          <p:cNvPr id="48" name="Text 46">
            <a:extLst xmlns:a="http://schemas.openxmlformats.org/drawingml/2006/main">
              <a:ext uri="{FF2B5EF4-FFF2-40B4-BE49-F238E27FC236}">
                <a16:creationId xmlns:a16="http://schemas.microsoft.com/office/drawing/2014/main" id="{2967BB4C-17C8-44CC-8349-2DF3F492CC1E}"/>
              </a:ext>
            </a:extLst>
          </p:cNvPr>
          <p:cNvSpPr>
            <a:spLocks xmlns:a="http://schemas.openxmlformats.org/drawingml/2006/main" noGrp="1"/>
          </p:cNvSpPr>
          <p:nvPr/>
        </p:nvSpPr>
        <p:spPr>
          <a:xfrm xmlns:a="http://schemas.openxmlformats.org/drawingml/2006/main">
            <a:off x="4873752" y="38587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Shortlist areas.</a:t>
            </a:r>
            <a:endParaRPr sz="750"/>
          </a:p>
        </p:txBody>
      </p:sp>
      <p:sp>
        <p:nvSpPr>
          <p:cNvPr id="49" name="Text 47">
            <a:extLst xmlns:a="http://schemas.openxmlformats.org/drawingml/2006/main">
              <a:ext uri="{FF2B5EF4-FFF2-40B4-BE49-F238E27FC236}">
                <a16:creationId xmlns:a16="http://schemas.microsoft.com/office/drawing/2014/main" id="{DF4EBCB9-CEB0-41F1-802C-53DA0FCDC1F9}"/>
              </a:ext>
            </a:extLst>
          </p:cNvPr>
          <p:cNvSpPr>
            <a:spLocks xmlns:a="http://schemas.openxmlformats.org/drawingml/2006/main" noGrp="1"/>
          </p:cNvSpPr>
          <p:nvPr/>
        </p:nvSpPr>
        <p:spPr>
          <a:xfrm xmlns:a="http://schemas.openxmlformats.org/drawingml/2006/main">
            <a:off x="4873752" y="40873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Verify locally.</a:t>
            </a:r>
            <a:endParaRPr sz="750"/>
          </a:p>
        </p:txBody>
      </p:sp>
      <p:sp>
        <p:nvSpPr>
          <p:cNvPr id="50" name="Text 48">
            <a:extLst xmlns:a="http://schemas.openxmlformats.org/drawingml/2006/main">
              <a:ext uri="{FF2B5EF4-FFF2-40B4-BE49-F238E27FC236}">
                <a16:creationId xmlns:a16="http://schemas.microsoft.com/office/drawing/2014/main" id="{65D5A184-9B2C-4B10-B5DC-1A3F3D8E2894}"/>
              </a:ext>
            </a:extLst>
          </p:cNvPr>
          <p:cNvSpPr>
            <a:spLocks xmlns:a="http://schemas.openxmlformats.org/drawingml/2006/main" noGrp="1"/>
          </p:cNvSpPr>
          <p:nvPr/>
        </p:nvSpPr>
        <p:spPr>
          <a:xfrm xmlns:a="http://schemas.openxmlformats.org/drawingml/2006/main">
            <a:off x="4873752" y="43159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Use evidence before deciding.</a:t>
            </a:r>
            <a:endParaRPr sz="750"/>
          </a:p>
        </p:txBody>
      </p:sp>
      <p:sp>
        <p:nvSpPr>
          <p:cNvPr id="51" name="Shape 49">
            <a:extLst xmlns:a="http://schemas.openxmlformats.org/drawingml/2006/main">
              <a:ext uri="{FF2B5EF4-FFF2-40B4-BE49-F238E27FC236}">
                <a16:creationId xmlns:a16="http://schemas.microsoft.com/office/drawing/2014/main" id="{60AB1022-AFE8-48AA-AF67-D4B907288A08}"/>
              </a:ext>
            </a:extLst>
          </p:cNvPr>
          <p:cNvSpPr>
            <a:spLocks xmlns:a="http://schemas.openxmlformats.org/drawingml/2006/main" noGrp="1"/>
          </p:cNvSpPr>
          <p:nvPr/>
        </p:nvSpPr>
        <p:spPr>
          <a:xfrm xmlns:a="http://schemas.openxmlformats.org/drawingml/2006/main">
            <a:off x="274320" y="4663440"/>
            <a:ext cx="8595360" cy="29260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52" name="Text 50">
            <a:extLst xmlns:a="http://schemas.openxmlformats.org/drawingml/2006/main">
              <a:ext uri="{FF2B5EF4-FFF2-40B4-BE49-F238E27FC236}">
                <a16:creationId xmlns:a16="http://schemas.microsoft.com/office/drawing/2014/main" id="{888510B6-7C6A-4727-A0E5-F48D9F362954}"/>
              </a:ext>
            </a:extLst>
          </p:cNvPr>
          <p:cNvSpPr>
            <a:spLocks xmlns:a="http://schemas.openxmlformats.org/drawingml/2006/main" noGrp="1"/>
          </p:cNvSpPr>
          <p:nvPr/>
        </p:nvSpPr>
        <p:spPr>
          <a:xfrm xmlns:a="http://schemas.openxmlformats.org/drawingml/2006/main">
            <a:off x="411480" y="4663440"/>
            <a:ext cx="83210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FFFFFF"/>
                </a:solidFill>
              </a:rPr>
              <a:t>Use the model to direct research effort, not to replace local investigation.</a:t>
            </a:r>
            <a:endParaRPr sz="850"/>
          </a:p>
        </p:txBody>
      </p:sp>
      <p:sp>
        <p:nvSpPr>
          <p:cNvPr id="53" name="Shape 51">
            <a:extLst xmlns:a="http://schemas.openxmlformats.org/drawingml/2006/main">
              <a:ext uri="{FF2B5EF4-FFF2-40B4-BE49-F238E27FC236}">
                <a16:creationId xmlns:a16="http://schemas.microsoft.com/office/drawing/2014/main" id="{4EF06526-1530-434D-877D-54CADC545895}"/>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54" name="Text 52">
            <a:extLst xmlns:a="http://schemas.openxmlformats.org/drawingml/2006/main">
              <a:ext uri="{FF2B5EF4-FFF2-40B4-BE49-F238E27FC236}">
                <a16:creationId xmlns:a16="http://schemas.microsoft.com/office/drawing/2014/main" id="{AAD75AC7-5746-4AD0-892D-25E5587B3A5D}"/>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sp>
        <p:nvSpPr>
          <p:cNvPr id="55" name="hide-delivery-tips">
            <a:extLst xmlns:a="http://schemas.openxmlformats.org/drawingml/2006/main">
              <a:ext uri="{FF2B5EF4-FFF2-40B4-BE49-F238E27FC236}">
                <a16:creationId xmlns:a16="http://schemas.microsoft.com/office/drawing/2014/main" id="{EB287470-0350-4395-9139-4FFB77AD54F0}"/>
              </a:ext>
            </a:extLst>
          </p:cNvPr>
          <p:cNvSpPr>
            <a:spLocks xmlns:a="http://schemas.openxmlformats.org/drawingml/2006/main" noGrp="1"/>
          </p:cNvSpPr>
          <p:nvPr/>
        </p:nvSpPr>
        <p:spPr>
          <a:xfrm xmlns:a="http://schemas.openxmlformats.org/drawingml/2006/main">
            <a:off x="4733925" y="3133725"/>
            <a:ext cx="1333500" cy="2095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Tree>
    <p:extLst>
      <p:ext uri="{BB962C8B-B14F-4D97-AF65-F5344CB8AC3E}">
        <p14:creationId xmlns:p14="http://schemas.microsoft.com/office/powerpoint/2010/main" val="179178166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A86A1C8-DB06-4DCE-9DAF-693B7C77942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3F6F9"/>
          </a:solidFill>
          <a:ln xmlns:a="http://schemas.openxmlformats.org/drawingml/2006/main" w="12700">
            <a:solidFill>
              <a:srgbClr val="F3F6F9"/>
            </a:solidFill>
            <a:prstDash val="solid"/>
          </a:ln>
        </p:spPr>
      </p:sp>
      <p:sp>
        <p:nvSpPr>
          <p:cNvPr id="3" name="Shape 1">
            <a:extLst xmlns:a="http://schemas.openxmlformats.org/drawingml/2006/main">
              <a:ext uri="{FF2B5EF4-FFF2-40B4-BE49-F238E27FC236}">
                <a16:creationId xmlns:a16="http://schemas.microsoft.com/office/drawing/2014/main" id="{D197F66D-6C57-4707-8514-4D78C9DEF865}"/>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 name="Shape 2">
            <a:extLst xmlns:a="http://schemas.openxmlformats.org/drawingml/2006/main">
              <a:ext uri="{FF2B5EF4-FFF2-40B4-BE49-F238E27FC236}">
                <a16:creationId xmlns:a16="http://schemas.microsoft.com/office/drawing/2014/main" id="{BCC99481-8AFC-45E5-8E41-5D92798EEDD0}"/>
              </a:ext>
            </a:extLst>
          </p:cNvPr>
          <p:cNvSpPr>
            <a:spLocks xmlns:a="http://schemas.openxmlformats.org/drawingml/2006/main" noGrp="1"/>
          </p:cNvSpPr>
          <p:nvPr/>
        </p:nvSpPr>
        <p:spPr>
          <a:xfrm xmlns:a="http://schemas.openxmlformats.org/drawingml/2006/main">
            <a:off x="0" y="64008"/>
            <a:ext cx="9144000" cy="65836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5" name="Text 3">
            <a:extLst xmlns:a="http://schemas.openxmlformats.org/drawingml/2006/main">
              <a:ext uri="{FF2B5EF4-FFF2-40B4-BE49-F238E27FC236}">
                <a16:creationId xmlns:a16="http://schemas.microsoft.com/office/drawing/2014/main" id="{6BEB6717-FD6D-4B81-81A9-77D30FCEDB7F}"/>
              </a:ext>
            </a:extLst>
          </p:cNvPr>
          <p:cNvSpPr>
            <a:spLocks xmlns:a="http://schemas.openxmlformats.org/drawingml/2006/main" noGrp="1"/>
          </p:cNvSpPr>
          <p:nvPr/>
        </p:nvSpPr>
        <p:spPr>
          <a:xfrm xmlns:a="http://schemas.openxmlformats.org/drawingml/2006/main">
            <a:off x="274320" y="64008"/>
            <a:ext cx="7315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E8A020"/>
                </a:solidFill>
              </a:rPr>
              <a:t>CONCLUSION AND NEXT STEP</a:t>
            </a:r>
            <a:endParaRPr sz="1100"/>
          </a:p>
        </p:txBody>
      </p:sp>
      <p:sp>
        <p:nvSpPr>
          <p:cNvPr id="6" name="Text 4">
            <a:extLst xmlns:a="http://schemas.openxmlformats.org/drawingml/2006/main">
              <a:ext uri="{FF2B5EF4-FFF2-40B4-BE49-F238E27FC236}">
                <a16:creationId xmlns:a16="http://schemas.microsoft.com/office/drawing/2014/main" id="{6C101844-9940-49BE-8B17-716FB787513D}"/>
              </a:ext>
            </a:extLst>
          </p:cNvPr>
          <p:cNvSpPr>
            <a:spLocks xmlns:a="http://schemas.openxmlformats.org/drawingml/2006/main" noGrp="1"/>
          </p:cNvSpPr>
          <p:nvPr/>
        </p:nvSpPr>
        <p:spPr>
          <a:xfrm xmlns:a="http://schemas.openxmlformats.org/drawingml/2006/main">
            <a:off x="6858000" y="64008"/>
            <a:ext cx="20116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E1E8EF"/>
                </a:solidFill>
              </a:rPr>
              <a:t>9 / 9</a:t>
            </a:r>
            <a:endParaRPr sz="1100"/>
          </a:p>
        </p:txBody>
      </p:sp>
      <p:sp>
        <p:nvSpPr>
          <p:cNvPr id="7" name="Text 5">
            <a:extLst xmlns:a="http://schemas.openxmlformats.org/drawingml/2006/main">
              <a:ext uri="{FF2B5EF4-FFF2-40B4-BE49-F238E27FC236}">
                <a16:creationId xmlns:a16="http://schemas.microsoft.com/office/drawing/2014/main" id="{0121B0D7-68D2-4F3B-B4D9-855405D8279A}"/>
              </a:ext>
            </a:extLst>
          </p:cNvPr>
          <p:cNvSpPr>
            <a:spLocks xmlns:a="http://schemas.openxmlformats.org/drawingml/2006/main" noGrp="1"/>
          </p:cNvSpPr>
          <p:nvPr/>
        </p:nvSpPr>
        <p:spPr>
          <a:xfrm xmlns:a="http://schemas.openxmlformats.org/drawingml/2006/main">
            <a:off x="274320" y="804672"/>
            <a:ext cx="859536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A2638"/>
                </a:solidFill>
              </a:rPr>
              <a:t>The project narrows the search area and keeps evidence traceable</a:t>
            </a:r>
            <a:endParaRPr sz="1600"/>
          </a:p>
        </p:txBody>
      </p:sp>
      <p:sp>
        <p:nvSpPr>
          <p:cNvPr id="8" name="Shape 6">
            <a:extLst xmlns:a="http://schemas.openxmlformats.org/drawingml/2006/main">
              <a:ext uri="{FF2B5EF4-FFF2-40B4-BE49-F238E27FC236}">
                <a16:creationId xmlns:a16="http://schemas.microsoft.com/office/drawing/2014/main" id="{6015B360-BBBA-4DE0-9795-57F031507AC6}"/>
              </a:ext>
            </a:extLst>
          </p:cNvPr>
          <p:cNvSpPr>
            <a:spLocks xmlns:a="http://schemas.openxmlformats.org/drawingml/2006/main" noGrp="1"/>
          </p:cNvSpPr>
          <p:nvPr/>
        </p:nvSpPr>
        <p:spPr>
          <a:xfrm xmlns:a="http://schemas.openxmlformats.org/drawingml/2006/main">
            <a:off x="274320"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2E6DB4"/>
            </a:solidFill>
            <a:prstDash val="solid"/>
          </a:ln>
          <a:effectLst xmlns:a="http://schemas.openxmlformats.org/drawingml/2006/main">
            <a:outerShdw blurRad="101600" dist="38100" dir="8100000" algn="bl" rotWithShape="0">
              <a:srgbClr val="000000">
                <a:alpha val="10000"/>
              </a:srgbClr>
            </a:outerShdw>
          </a:effectLst>
        </p:spPr>
      </p:sp>
      <p:sp>
        <p:nvSpPr>
          <p:cNvPr id="9" name="Shape 7">
            <a:extLst xmlns:a="http://schemas.openxmlformats.org/drawingml/2006/main">
              <a:ext uri="{FF2B5EF4-FFF2-40B4-BE49-F238E27FC236}">
                <a16:creationId xmlns:a16="http://schemas.microsoft.com/office/drawing/2014/main" id="{5C07B9EA-88EE-49EE-B7D4-7BDB797C5482}"/>
              </a:ext>
            </a:extLst>
          </p:cNvPr>
          <p:cNvSpPr>
            <a:spLocks xmlns:a="http://schemas.openxmlformats.org/drawingml/2006/main" noGrp="1"/>
          </p:cNvSpPr>
          <p:nvPr/>
        </p:nvSpPr>
        <p:spPr>
          <a:xfrm xmlns:a="http://schemas.openxmlformats.org/drawingml/2006/main">
            <a:off x="274320" y="1371600"/>
            <a:ext cx="2651760" cy="384048"/>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10" name="Text 8">
            <a:extLst xmlns:a="http://schemas.openxmlformats.org/drawingml/2006/main">
              <a:ext uri="{FF2B5EF4-FFF2-40B4-BE49-F238E27FC236}">
                <a16:creationId xmlns:a16="http://schemas.microsoft.com/office/drawing/2014/main" id="{D9484D15-B5B7-461A-BAA9-47327A4B2126}"/>
              </a:ext>
            </a:extLst>
          </p:cNvPr>
          <p:cNvSpPr>
            <a:spLocks xmlns:a="http://schemas.openxmlformats.org/drawingml/2006/main" noGrp="1"/>
          </p:cNvSpPr>
          <p:nvPr/>
        </p:nvSpPr>
        <p:spPr>
          <a:xfrm xmlns:a="http://schemas.openxmlformats.org/drawingml/2006/main">
            <a:off x="274320"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DELIVERED</a:t>
            </a:r>
            <a:endParaRPr sz="1100"/>
          </a:p>
        </p:txBody>
      </p:sp>
      <p:sp>
        <p:nvSpPr>
          <p:cNvPr id="11" name="Text 9">
            <a:extLst xmlns:a="http://schemas.openxmlformats.org/drawingml/2006/main">
              <a:ext uri="{FF2B5EF4-FFF2-40B4-BE49-F238E27FC236}">
                <a16:creationId xmlns:a16="http://schemas.microsoft.com/office/drawing/2014/main" id="{67C6A5B0-CECC-4ACC-9832-24A59DDB136C}"/>
              </a:ext>
            </a:extLst>
          </p:cNvPr>
          <p:cNvSpPr>
            <a:spLocks xmlns:a="http://schemas.openxmlformats.org/drawingml/2006/main" noGrp="1"/>
          </p:cNvSpPr>
          <p:nvPr/>
        </p:nvSpPr>
        <p:spPr>
          <a:xfrm xmlns:a="http://schemas.openxmlformats.org/drawingml/2006/main">
            <a:off x="365760"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2E6DB4"/>
                </a:solidFill>
              </a:rPr>
              <a:t>Reproducible national workflow</a:t>
            </a:r>
            <a:endParaRPr sz="800"/>
          </a:p>
        </p:txBody>
      </p:sp>
      <p:sp>
        <p:nvSpPr>
          <p:cNvPr id="12" name="Text 10">
            <a:extLst xmlns:a="http://schemas.openxmlformats.org/drawingml/2006/main">
              <a:ext uri="{FF2B5EF4-FFF2-40B4-BE49-F238E27FC236}">
                <a16:creationId xmlns:a16="http://schemas.microsoft.com/office/drawing/2014/main" id="{22DC359E-9E6E-4E9F-BF48-BEF9690E6A70}"/>
              </a:ext>
            </a:extLst>
          </p:cNvPr>
          <p:cNvSpPr>
            <a:spLocks xmlns:a="http://schemas.openxmlformats.org/drawingml/2006/main" noGrp="1"/>
          </p:cNvSpPr>
          <p:nvPr/>
        </p:nvSpPr>
        <p:spPr>
          <a:xfrm xmlns:a="http://schemas.openxmlformats.org/drawingml/2006/main">
            <a:off x="365760"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One 1 km grid, validated sources, a nine-feature model and QGIS layers.</a:t>
            </a:r>
            <a:endParaRPr sz="850"/>
          </a:p>
        </p:txBody>
      </p:sp>
      <p:sp>
        <p:nvSpPr>
          <p:cNvPr id="13" name="Shape 11">
            <a:extLst xmlns:a="http://schemas.openxmlformats.org/drawingml/2006/main">
              <a:ext uri="{FF2B5EF4-FFF2-40B4-BE49-F238E27FC236}">
                <a16:creationId xmlns:a16="http://schemas.microsoft.com/office/drawing/2014/main" id="{1CD4E307-F1DC-41BD-A2A0-EF4229C67E73}"/>
              </a:ext>
            </a:extLst>
          </p:cNvPr>
          <p:cNvSpPr>
            <a:spLocks xmlns:a="http://schemas.openxmlformats.org/drawingml/2006/main" noGrp="1"/>
          </p:cNvSpPr>
          <p:nvPr/>
        </p:nvSpPr>
        <p:spPr>
          <a:xfrm xmlns:a="http://schemas.openxmlformats.org/drawingml/2006/main">
            <a:off x="365760" y="2578608"/>
            <a:ext cx="2468880" cy="502920"/>
          </a:xfrm>
          <a:prstGeom xmlns:a="http://schemas.openxmlformats.org/drawingml/2006/main" prst="rect">
            <a:avLst/>
          </a:prstGeom>
          <a:solidFill xmlns:a="http://schemas.openxmlformats.org/drawingml/2006/main">
            <a:srgbClr val="EBF0FD"/>
          </a:solidFill>
          <a:ln xmlns:a="http://schemas.openxmlformats.org/drawingml/2006/main" w="12700">
            <a:solidFill>
              <a:srgbClr val="EBF0FD"/>
            </a:solidFill>
            <a:prstDash val="solid"/>
          </a:ln>
        </p:spPr>
      </p:sp>
      <p:sp>
        <p:nvSpPr>
          <p:cNvPr id="14" name="Text 12">
            <a:extLst xmlns:a="http://schemas.openxmlformats.org/drawingml/2006/main">
              <a:ext uri="{FF2B5EF4-FFF2-40B4-BE49-F238E27FC236}">
                <a16:creationId xmlns:a16="http://schemas.microsoft.com/office/drawing/2014/main" id="{C2C8DE72-7721-45D6-B469-D1F7820E4A35}"/>
              </a:ext>
            </a:extLst>
          </p:cNvPr>
          <p:cNvSpPr>
            <a:spLocks xmlns:a="http://schemas.openxmlformats.org/drawingml/2006/main" noGrp="1"/>
          </p:cNvSpPr>
          <p:nvPr/>
        </p:nvSpPr>
        <p:spPr>
          <a:xfrm xmlns:a="http://schemas.openxmlformats.org/drawingml/2006/main">
            <a:off x="411480"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HISTORICAL + GIS CONTEXT</a:t>
            </a:r>
            <a:endParaRPr sz="800"/>
          </a:p>
        </p:txBody>
      </p:sp>
      <p:sp>
        <p:nvSpPr>
          <p:cNvPr id="15" name="Text 13">
            <a:extLst xmlns:a="http://schemas.openxmlformats.org/drawingml/2006/main">
              <a:ext uri="{FF2B5EF4-FFF2-40B4-BE49-F238E27FC236}">
                <a16:creationId xmlns:a16="http://schemas.microsoft.com/office/drawing/2014/main" id="{A0536C49-BFED-466A-8A4F-1AF9F8838334}"/>
              </a:ext>
            </a:extLst>
          </p:cNvPr>
          <p:cNvSpPr>
            <a:spLocks xmlns:a="http://schemas.openxmlformats.org/drawingml/2006/main" noGrp="1"/>
          </p:cNvSpPr>
          <p:nvPr/>
        </p:nvSpPr>
        <p:spPr>
          <a:xfrm xmlns:a="http://schemas.openxmlformats.org/drawingml/2006/main">
            <a:off x="365760"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Observed 2016–2025 recurrence + official ICNF structural-hazard reference.</a:t>
            </a:r>
            <a:endParaRPr sz="750"/>
          </a:p>
        </p:txBody>
      </p:sp>
      <p:sp>
        <p:nvSpPr>
          <p:cNvPr id="16" name="Text 14">
            <a:extLst xmlns:a="http://schemas.openxmlformats.org/drawingml/2006/main">
              <a:ext uri="{FF2B5EF4-FFF2-40B4-BE49-F238E27FC236}">
                <a16:creationId xmlns:a16="http://schemas.microsoft.com/office/drawing/2014/main" id="{061C0752-DC49-4F35-AFC7-AB88C79FAF0D}"/>
              </a:ext>
            </a:extLst>
          </p:cNvPr>
          <p:cNvSpPr>
            <a:spLocks xmlns:a="http://schemas.openxmlformats.org/drawingml/2006/main" noGrp="1"/>
          </p:cNvSpPr>
          <p:nvPr/>
        </p:nvSpPr>
        <p:spPr>
          <a:xfrm xmlns:a="http://schemas.openxmlformats.org/drawingml/2006/main">
            <a:off x="365760"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Together they provide context for broad-area comparison.</a:t>
            </a:r>
            <a:endParaRPr sz="750"/>
          </a:p>
        </p:txBody>
      </p:sp>
      <p:sp>
        <p:nvSpPr>
          <p:cNvPr id="17" name="Text 15">
            <a:extLst xmlns:a="http://schemas.openxmlformats.org/drawingml/2006/main">
              <a:ext uri="{FF2B5EF4-FFF2-40B4-BE49-F238E27FC236}">
                <a16:creationId xmlns:a16="http://schemas.microsoft.com/office/drawing/2014/main" id="{E4724BAC-EE83-433E-87E5-BC0E996BDFFC}"/>
              </a:ext>
            </a:extLst>
          </p:cNvPr>
          <p:cNvSpPr>
            <a:spLocks xmlns:a="http://schemas.openxmlformats.org/drawingml/2006/main" noGrp="1"/>
          </p:cNvSpPr>
          <p:nvPr/>
        </p:nvSpPr>
        <p:spPr>
          <a:xfrm xmlns:a="http://schemas.openxmlformats.org/drawingml/2006/main">
            <a:off x="2962656" y="2560320"/>
            <a:ext cx="320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E8A020"/>
                </a:solidFill>
              </a:rPr>
              <a:t>-&gt;</a:t>
            </a:r>
            <a:endParaRPr sz="2000"/>
          </a:p>
        </p:txBody>
      </p:sp>
      <p:sp>
        <p:nvSpPr>
          <p:cNvPr id="18" name="Shape 16">
            <a:extLst xmlns:a="http://schemas.openxmlformats.org/drawingml/2006/main">
              <a:ext uri="{FF2B5EF4-FFF2-40B4-BE49-F238E27FC236}">
                <a16:creationId xmlns:a16="http://schemas.microsoft.com/office/drawing/2014/main" id="{88BDC9BD-5FAD-4BBE-B51A-B021702F2F4D}"/>
              </a:ext>
            </a:extLst>
          </p:cNvPr>
          <p:cNvSpPr>
            <a:spLocks xmlns:a="http://schemas.openxmlformats.org/drawingml/2006/main" noGrp="1"/>
          </p:cNvSpPr>
          <p:nvPr/>
        </p:nvSpPr>
        <p:spPr>
          <a:xfrm xmlns:a="http://schemas.openxmlformats.org/drawingml/2006/main">
            <a:off x="3310128"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E67E22"/>
            </a:solidFill>
            <a:prstDash val="solid"/>
          </a:ln>
          <a:effectLst xmlns:a="http://schemas.openxmlformats.org/drawingml/2006/main">
            <a:outerShdw blurRad="101600" dist="38100" dir="8100000" algn="bl" rotWithShape="0">
              <a:srgbClr val="000000">
                <a:alpha val="10000"/>
              </a:srgbClr>
            </a:outerShdw>
          </a:effectLst>
        </p:spPr>
      </p:sp>
      <p:sp>
        <p:nvSpPr>
          <p:cNvPr id="19" name="Shape 17">
            <a:extLst xmlns:a="http://schemas.openxmlformats.org/drawingml/2006/main">
              <a:ext uri="{FF2B5EF4-FFF2-40B4-BE49-F238E27FC236}">
                <a16:creationId xmlns:a16="http://schemas.microsoft.com/office/drawing/2014/main" id="{8FE4F804-F3B6-4684-BFCD-653595482E22}"/>
              </a:ext>
            </a:extLst>
          </p:cNvPr>
          <p:cNvSpPr>
            <a:spLocks xmlns:a="http://schemas.openxmlformats.org/drawingml/2006/main" noGrp="1"/>
          </p:cNvSpPr>
          <p:nvPr/>
        </p:nvSpPr>
        <p:spPr>
          <a:xfrm xmlns:a="http://schemas.openxmlformats.org/drawingml/2006/main">
            <a:off x="3310128" y="1371600"/>
            <a:ext cx="2651760" cy="384048"/>
          </a:xfrm>
          <a:prstGeom xmlns:a="http://schemas.openxmlformats.org/drawingml/2006/main" prst="rect">
            <a:avLst/>
          </a:prstGeom>
          <a:solidFill xmlns:a="http://schemas.openxmlformats.org/drawingml/2006/main">
            <a:srgbClr val="E67E22"/>
          </a:solidFill>
          <a:ln xmlns:a="http://schemas.openxmlformats.org/drawingml/2006/main" w="12700">
            <a:solidFill>
              <a:srgbClr val="E67E22"/>
            </a:solidFill>
            <a:prstDash val="solid"/>
          </a:ln>
        </p:spPr>
      </p:sp>
      <p:sp>
        <p:nvSpPr>
          <p:cNvPr id="20" name="Text 18">
            <a:extLst xmlns:a="http://schemas.openxmlformats.org/drawingml/2006/main">
              <a:ext uri="{FF2B5EF4-FFF2-40B4-BE49-F238E27FC236}">
                <a16:creationId xmlns:a16="http://schemas.microsoft.com/office/drawing/2014/main" id="{F823FAC1-C9B5-4631-81A0-0779D0A744E5}"/>
              </a:ext>
            </a:extLst>
          </p:cNvPr>
          <p:cNvSpPr>
            <a:spLocks xmlns:a="http://schemas.openxmlformats.org/drawingml/2006/main" noGrp="1"/>
          </p:cNvSpPr>
          <p:nvPr/>
        </p:nvSpPr>
        <p:spPr>
          <a:xfrm xmlns:a="http://schemas.openxmlformats.org/drawingml/2006/main">
            <a:off x="3310128"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MODEL RESULT</a:t>
            </a:r>
            <a:endParaRPr sz="1100"/>
          </a:p>
        </p:txBody>
      </p:sp>
      <p:sp>
        <p:nvSpPr>
          <p:cNvPr id="21" name="Text 19">
            <a:extLst xmlns:a="http://schemas.openxmlformats.org/drawingml/2006/main">
              <a:ext uri="{FF2B5EF4-FFF2-40B4-BE49-F238E27FC236}">
                <a16:creationId xmlns:a16="http://schemas.microsoft.com/office/drawing/2014/main" id="{CDF192D1-D9B3-4618-B786-9A11E17D0DE9}"/>
              </a:ext>
            </a:extLst>
          </p:cNvPr>
          <p:cNvSpPr>
            <a:spLocks xmlns:a="http://schemas.openxmlformats.org/drawingml/2006/main" noGrp="1"/>
          </p:cNvSpPr>
          <p:nvPr/>
        </p:nvSpPr>
        <p:spPr>
          <a:xfrm xmlns:a="http://schemas.openxmlformats.org/drawingml/2006/main">
            <a:off x="3401568"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E67E22"/>
                </a:solidFill>
              </a:rPr>
              <a:t>Modest improvement over the baseline</a:t>
            </a:r>
            <a:endParaRPr sz="800"/>
          </a:p>
        </p:txBody>
      </p:sp>
      <p:sp>
        <p:nvSpPr>
          <p:cNvPr id="22" name="Text 20">
            <a:extLst xmlns:a="http://schemas.openxmlformats.org/drawingml/2006/main">
              <a:ext uri="{FF2B5EF4-FFF2-40B4-BE49-F238E27FC236}">
                <a16:creationId xmlns:a16="http://schemas.microsoft.com/office/drawing/2014/main" id="{35B99BF9-D34E-45F7-A42A-E1EE7420E18A}"/>
              </a:ext>
            </a:extLst>
          </p:cNvPr>
          <p:cNvSpPr>
            <a:spLocks xmlns:a="http://schemas.openxmlformats.org/drawingml/2006/main" noGrp="1"/>
          </p:cNvSpPr>
          <p:nvPr/>
        </p:nvSpPr>
        <p:spPr>
          <a:xfrm xmlns:a="http://schemas.openxmlformats.org/drawingml/2006/main">
            <a:off x="3401568"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The nine-feature model improves selected diagnostics; extreme fire outcomes remain difficult.</a:t>
            </a:r>
            <a:endParaRPr sz="850"/>
          </a:p>
        </p:txBody>
      </p:sp>
      <p:sp>
        <p:nvSpPr>
          <p:cNvPr id="23" name="Shape 21">
            <a:extLst xmlns:a="http://schemas.openxmlformats.org/drawingml/2006/main">
              <a:ext uri="{FF2B5EF4-FFF2-40B4-BE49-F238E27FC236}">
                <a16:creationId xmlns:a16="http://schemas.microsoft.com/office/drawing/2014/main" id="{6F886BEF-D149-4B22-AB28-BF3F16160D69}"/>
              </a:ext>
            </a:extLst>
          </p:cNvPr>
          <p:cNvSpPr>
            <a:spLocks xmlns:a="http://schemas.openxmlformats.org/drawingml/2006/main" noGrp="1"/>
          </p:cNvSpPr>
          <p:nvPr/>
        </p:nvSpPr>
        <p:spPr>
          <a:xfrm xmlns:a="http://schemas.openxmlformats.org/drawingml/2006/main">
            <a:off x="3401568" y="2578608"/>
            <a:ext cx="2468880" cy="502920"/>
          </a:xfrm>
          <a:prstGeom xmlns:a="http://schemas.openxmlformats.org/drawingml/2006/main" prst="rect">
            <a:avLst/>
          </a:prstGeom>
          <a:solidFill xmlns:a="http://schemas.openxmlformats.org/drawingml/2006/main">
            <a:srgbClr val="FEF3E2"/>
          </a:solidFill>
          <a:ln xmlns:a="http://schemas.openxmlformats.org/drawingml/2006/main" w="12700">
            <a:solidFill>
              <a:srgbClr val="FEF3E2"/>
            </a:solidFill>
            <a:prstDash val="solid"/>
          </a:ln>
        </p:spPr>
      </p:sp>
      <p:sp>
        <p:nvSpPr>
          <p:cNvPr id="24" name="Text 22">
            <a:extLst xmlns:a="http://schemas.openxmlformats.org/drawingml/2006/main">
              <a:ext uri="{FF2B5EF4-FFF2-40B4-BE49-F238E27FC236}">
                <a16:creationId xmlns:a16="http://schemas.microsoft.com/office/drawing/2014/main" id="{80A0214D-E33A-4BF0-8D70-726CFE0375AB}"/>
              </a:ext>
            </a:extLst>
          </p:cNvPr>
          <p:cNvSpPr>
            <a:spLocks xmlns:a="http://schemas.openxmlformats.org/drawingml/2006/main" noGrp="1"/>
          </p:cNvSpPr>
          <p:nvPr/>
        </p:nvSpPr>
        <p:spPr>
          <a:xfrm xmlns:a="http://schemas.openxmlformats.org/drawingml/2006/main">
            <a:off x="3447288"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PRACTICAL USE</a:t>
            </a:r>
            <a:endParaRPr sz="800"/>
          </a:p>
        </p:txBody>
      </p:sp>
      <p:sp>
        <p:nvSpPr>
          <p:cNvPr id="25" name="Text 23">
            <a:extLst xmlns:a="http://schemas.openxmlformats.org/drawingml/2006/main">
              <a:ext uri="{FF2B5EF4-FFF2-40B4-BE49-F238E27FC236}">
                <a16:creationId xmlns:a16="http://schemas.microsoft.com/office/drawing/2014/main" id="{EDB0DD6E-990A-42DB-9875-F090FBA9738B}"/>
              </a:ext>
            </a:extLst>
          </p:cNvPr>
          <p:cNvSpPr>
            <a:spLocks xmlns:a="http://schemas.openxmlformats.org/drawingml/2006/main" noGrp="1"/>
          </p:cNvSpPr>
          <p:nvPr/>
        </p:nvSpPr>
        <p:spPr>
          <a:xfrm xmlns:a="http://schemas.openxmlformats.org/drawingml/2006/main">
            <a:off x="3401568"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Narrow broad search areas</a:t>
            </a:r>
            <a:endParaRPr sz="750"/>
          </a:p>
        </p:txBody>
      </p:sp>
      <p:sp>
        <p:nvSpPr>
          <p:cNvPr id="26" name="Text 24">
            <a:extLst xmlns:a="http://schemas.openxmlformats.org/drawingml/2006/main">
              <a:ext uri="{FF2B5EF4-FFF2-40B4-BE49-F238E27FC236}">
                <a16:creationId xmlns:a16="http://schemas.microsoft.com/office/drawing/2014/main" id="{C7AC1FC5-9639-4DA9-B51C-80DD5E469942}"/>
              </a:ext>
            </a:extLst>
          </p:cNvPr>
          <p:cNvSpPr>
            <a:spLocks xmlns:a="http://schemas.openxmlformats.org/drawingml/2006/main" noGrp="1"/>
          </p:cNvSpPr>
          <p:nvPr/>
        </p:nvSpPr>
        <p:spPr>
          <a:xfrm xmlns:a="http://schemas.openxmlformats.org/drawingml/2006/main">
            <a:off x="3401568"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Use the maps to organise local research before detailed investigation.</a:t>
            </a:r>
            <a:endParaRPr sz="750"/>
          </a:p>
        </p:txBody>
      </p:sp>
      <p:sp>
        <p:nvSpPr>
          <p:cNvPr id="27" name="Text 25">
            <a:extLst xmlns:a="http://schemas.openxmlformats.org/drawingml/2006/main">
              <a:ext uri="{FF2B5EF4-FFF2-40B4-BE49-F238E27FC236}">
                <a16:creationId xmlns:a16="http://schemas.microsoft.com/office/drawing/2014/main" id="{44357DB5-05F8-4CF5-8D21-E89F0DFA12F8}"/>
              </a:ext>
            </a:extLst>
          </p:cNvPr>
          <p:cNvSpPr>
            <a:spLocks xmlns:a="http://schemas.openxmlformats.org/drawingml/2006/main" noGrp="1"/>
          </p:cNvSpPr>
          <p:nvPr/>
        </p:nvSpPr>
        <p:spPr>
          <a:xfrm xmlns:a="http://schemas.openxmlformats.org/drawingml/2006/main">
            <a:off x="5998464" y="2560320"/>
            <a:ext cx="320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E8A020"/>
                </a:solidFill>
              </a:rPr>
              <a:t>-&gt;</a:t>
            </a:r>
            <a:endParaRPr sz="2000"/>
          </a:p>
        </p:txBody>
      </p:sp>
      <p:sp>
        <p:nvSpPr>
          <p:cNvPr id="28" name="Shape 26">
            <a:extLst xmlns:a="http://schemas.openxmlformats.org/drawingml/2006/main">
              <a:ext uri="{FF2B5EF4-FFF2-40B4-BE49-F238E27FC236}">
                <a16:creationId xmlns:a16="http://schemas.microsoft.com/office/drawing/2014/main" id="{C1EB402B-5D07-41FD-A88B-C668B30929ED}"/>
              </a:ext>
            </a:extLst>
          </p:cNvPr>
          <p:cNvSpPr>
            <a:spLocks xmlns:a="http://schemas.openxmlformats.org/drawingml/2006/main" noGrp="1"/>
          </p:cNvSpPr>
          <p:nvPr/>
        </p:nvSpPr>
        <p:spPr>
          <a:xfrm xmlns:a="http://schemas.openxmlformats.org/drawingml/2006/main">
            <a:off x="6345936" y="1371600"/>
            <a:ext cx="251460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2A9D61"/>
            </a:solidFill>
            <a:prstDash val="solid"/>
          </a:ln>
          <a:effectLst xmlns:a="http://schemas.openxmlformats.org/drawingml/2006/main">
            <a:outerShdw blurRad="101600" dist="38100" dir="8100000" algn="bl" rotWithShape="0">
              <a:srgbClr val="000000">
                <a:alpha val="10000"/>
              </a:srgbClr>
            </a:outerShdw>
          </a:effectLst>
        </p:spPr>
      </p:sp>
      <p:sp>
        <p:nvSpPr>
          <p:cNvPr id="29" name="Shape 27">
            <a:extLst xmlns:a="http://schemas.openxmlformats.org/drawingml/2006/main">
              <a:ext uri="{FF2B5EF4-FFF2-40B4-BE49-F238E27FC236}">
                <a16:creationId xmlns:a16="http://schemas.microsoft.com/office/drawing/2014/main" id="{CB31566B-19C9-48AC-A726-E822C5985068}"/>
              </a:ext>
            </a:extLst>
          </p:cNvPr>
          <p:cNvSpPr>
            <a:spLocks xmlns:a="http://schemas.openxmlformats.org/drawingml/2006/main" noGrp="1"/>
          </p:cNvSpPr>
          <p:nvPr/>
        </p:nvSpPr>
        <p:spPr>
          <a:xfrm xmlns:a="http://schemas.openxmlformats.org/drawingml/2006/main">
            <a:off x="6345936" y="1371600"/>
            <a:ext cx="2523744" cy="38404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30" name="Text 28">
            <a:extLst xmlns:a="http://schemas.openxmlformats.org/drawingml/2006/main">
              <a:ext uri="{FF2B5EF4-FFF2-40B4-BE49-F238E27FC236}">
                <a16:creationId xmlns:a16="http://schemas.microsoft.com/office/drawing/2014/main" id="{576FE3D7-10A4-4179-9328-3F34C913B9ED}"/>
              </a:ext>
            </a:extLst>
          </p:cNvPr>
          <p:cNvSpPr>
            <a:spLocks xmlns:a="http://schemas.openxmlformats.org/drawingml/2006/main" noGrp="1"/>
          </p:cNvSpPr>
          <p:nvPr/>
        </p:nvSpPr>
        <p:spPr>
          <a:xfrm xmlns:a="http://schemas.openxmlformats.org/drawingml/2006/main">
            <a:off x="6345936"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NEXT PROJECT STEP</a:t>
            </a:r>
            <a:endParaRPr sz="1100"/>
          </a:p>
        </p:txBody>
      </p:sp>
      <p:sp>
        <p:nvSpPr>
          <p:cNvPr id="31" name="Text 29">
            <a:extLst xmlns:a="http://schemas.openxmlformats.org/drawingml/2006/main">
              <a:ext uri="{FF2B5EF4-FFF2-40B4-BE49-F238E27FC236}">
                <a16:creationId xmlns:a16="http://schemas.microsoft.com/office/drawing/2014/main" id="{088C263C-A0CB-4982-A338-F3A1BB2F9F95}"/>
              </a:ext>
            </a:extLst>
          </p:cNvPr>
          <p:cNvSpPr>
            <a:spLocks xmlns:a="http://schemas.openxmlformats.org/drawingml/2006/main" noGrp="1"/>
          </p:cNvSpPr>
          <p:nvPr/>
        </p:nvSpPr>
        <p:spPr>
          <a:xfrm xmlns:a="http://schemas.openxmlformats.org/drawingml/2006/main">
            <a:off x="6437376"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2A9D61"/>
                </a:solidFill>
              </a:rPr>
              <a:t>Refresh and evaluate</a:t>
            </a:r>
            <a:endParaRPr sz="800"/>
          </a:p>
        </p:txBody>
      </p:sp>
      <p:sp>
        <p:nvSpPr>
          <p:cNvPr id="32" name="Text 30">
            <a:extLst xmlns:a="http://schemas.openxmlformats.org/drawingml/2006/main">
              <a:ext uri="{FF2B5EF4-FFF2-40B4-BE49-F238E27FC236}">
                <a16:creationId xmlns:a16="http://schemas.microsoft.com/office/drawing/2014/main" id="{3591A679-B15E-406C-86A0-00F6CAE7220A}"/>
              </a:ext>
            </a:extLst>
          </p:cNvPr>
          <p:cNvSpPr>
            <a:spLocks xmlns:a="http://schemas.openxmlformats.org/drawingml/2006/main" noGrp="1"/>
          </p:cNvSpPr>
          <p:nvPr/>
        </p:nvSpPr>
        <p:spPr>
          <a:xfrm xmlns:a="http://schemas.openxmlformats.org/drawingml/2006/main">
            <a:off x="6437376" y="2048256"/>
            <a:ext cx="2340864"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When new completed-year data and the 2026 outcome are available, rerun the fixed workflow and evaluate the 2026 estimate.</a:t>
            </a:r>
            <a:endParaRPr sz="850"/>
          </a:p>
        </p:txBody>
      </p:sp>
      <p:sp>
        <p:nvSpPr>
          <p:cNvPr id="33" name="Shape 31">
            <a:extLst xmlns:a="http://schemas.openxmlformats.org/drawingml/2006/main">
              <a:ext uri="{FF2B5EF4-FFF2-40B4-BE49-F238E27FC236}">
                <a16:creationId xmlns:a16="http://schemas.microsoft.com/office/drawing/2014/main" id="{21F582AF-C78B-4E58-9B57-6833B74F7712}"/>
              </a:ext>
            </a:extLst>
          </p:cNvPr>
          <p:cNvSpPr>
            <a:spLocks xmlns:a="http://schemas.openxmlformats.org/drawingml/2006/main" noGrp="1"/>
          </p:cNvSpPr>
          <p:nvPr/>
        </p:nvSpPr>
        <p:spPr>
          <a:xfrm xmlns:a="http://schemas.openxmlformats.org/drawingml/2006/main">
            <a:off x="6437376" y="2578608"/>
            <a:ext cx="2340864" cy="502920"/>
          </a:xfrm>
          <a:prstGeom xmlns:a="http://schemas.openxmlformats.org/drawingml/2006/main" prst="rect">
            <a:avLst/>
          </a:prstGeom>
          <a:solidFill xmlns:a="http://schemas.openxmlformats.org/drawingml/2006/main">
            <a:srgbClr val="E6F5EE"/>
          </a:solidFill>
          <a:ln xmlns:a="http://schemas.openxmlformats.org/drawingml/2006/main" w="12700">
            <a:solidFill>
              <a:srgbClr val="E6F5EE"/>
            </a:solidFill>
            <a:prstDash val="solid"/>
          </a:ln>
        </p:spPr>
      </p:sp>
      <p:sp>
        <p:nvSpPr>
          <p:cNvPr id="34" name="Text 32">
            <a:extLst xmlns:a="http://schemas.openxmlformats.org/drawingml/2006/main">
              <a:ext uri="{FF2B5EF4-FFF2-40B4-BE49-F238E27FC236}">
                <a16:creationId xmlns:a16="http://schemas.microsoft.com/office/drawing/2014/main" id="{131D7657-5536-4C80-9B52-926E19C32495}"/>
              </a:ext>
            </a:extLst>
          </p:cNvPr>
          <p:cNvSpPr>
            <a:spLocks xmlns:a="http://schemas.openxmlformats.org/drawingml/2006/main" noGrp="1"/>
          </p:cNvSpPr>
          <p:nvPr/>
        </p:nvSpPr>
        <p:spPr>
          <a:xfrm xmlns:a="http://schemas.openxmlformats.org/drawingml/2006/main">
            <a:off x="6483096"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PRACTICAL RESULT</a:t>
            </a:r>
            <a:endParaRPr sz="800"/>
          </a:p>
        </p:txBody>
      </p:sp>
      <p:sp>
        <p:nvSpPr>
          <p:cNvPr id="35" name="Text 33">
            <a:extLst xmlns:a="http://schemas.openxmlformats.org/drawingml/2006/main">
              <a:ext uri="{FF2B5EF4-FFF2-40B4-BE49-F238E27FC236}">
                <a16:creationId xmlns:a16="http://schemas.microsoft.com/office/drawing/2014/main" id="{555C2D91-F1C0-4C81-A522-273CE805D265}"/>
              </a:ext>
            </a:extLst>
          </p:cNvPr>
          <p:cNvSpPr>
            <a:spLocks xmlns:a="http://schemas.openxmlformats.org/drawingml/2006/main" noGrp="1"/>
          </p:cNvSpPr>
          <p:nvPr/>
        </p:nvSpPr>
        <p:spPr>
          <a:xfrm xmlns:a="http://schemas.openxmlformats.org/drawingml/2006/main">
            <a:off x="6437376"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A focused location search</a:t>
            </a:r>
            <a:endParaRPr sz="750"/>
          </a:p>
        </p:txBody>
      </p:sp>
      <p:sp>
        <p:nvSpPr>
          <p:cNvPr id="36" name="Text 34">
            <a:extLst xmlns:a="http://schemas.openxmlformats.org/drawingml/2006/main">
              <a:ext uri="{FF2B5EF4-FFF2-40B4-BE49-F238E27FC236}">
                <a16:creationId xmlns:a16="http://schemas.microsoft.com/office/drawing/2014/main" id="{348B69A9-A889-4CDD-892E-2DD982669C0A}"/>
              </a:ext>
            </a:extLst>
          </p:cNvPr>
          <p:cNvSpPr>
            <a:spLocks xmlns:a="http://schemas.openxmlformats.org/drawingml/2006/main" noGrp="1"/>
          </p:cNvSpPr>
          <p:nvPr/>
        </p:nvSpPr>
        <p:spPr>
          <a:xfrm xmlns:a="http://schemas.openxmlformats.org/drawingml/2006/main">
            <a:off x="6437376"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Local planning, access, insurance, terrain and property evidence complete the decision.</a:t>
            </a:r>
            <a:endParaRPr sz="750"/>
          </a:p>
        </p:txBody>
      </p:sp>
      <p:sp>
        <p:nvSpPr>
          <p:cNvPr id="37" name="Shape 35">
            <a:extLst xmlns:a="http://schemas.openxmlformats.org/drawingml/2006/main">
              <a:ext uri="{FF2B5EF4-FFF2-40B4-BE49-F238E27FC236}">
                <a16:creationId xmlns:a16="http://schemas.microsoft.com/office/drawing/2014/main" id="{1CF7DD12-EEE0-44CF-90BD-A5A6555384C9}"/>
              </a:ext>
            </a:extLst>
          </p:cNvPr>
          <p:cNvSpPr>
            <a:spLocks xmlns:a="http://schemas.openxmlformats.org/drawingml/2006/main" noGrp="1"/>
          </p:cNvSpPr>
          <p:nvPr/>
        </p:nvSpPr>
        <p:spPr>
          <a:xfrm xmlns:a="http://schemas.openxmlformats.org/drawingml/2006/main">
            <a:off x="274320" y="4315968"/>
            <a:ext cx="8595360" cy="457200"/>
          </a:xfrm>
          <a:prstGeom xmlns:a="http://schemas.openxmlformats.org/drawingml/2006/main" prst="rect">
            <a:avLst/>
          </a:prstGeom>
          <a:solidFill xmlns:a="http://schemas.openxmlformats.org/drawingml/2006/main">
            <a:srgbClr val="0D1F2D"/>
          </a:solidFill>
          <a:ln xmlns:a="http://schemas.openxmlformats.org/drawingml/2006/main" w="12700">
            <a:solidFill>
              <a:srgbClr val="0D1F2D"/>
            </a:solidFill>
            <a:prstDash val="solid"/>
          </a:ln>
        </p:spPr>
      </p:sp>
      <p:sp>
        <p:nvSpPr>
          <p:cNvPr id="38" name="Text 36">
            <a:extLst xmlns:a="http://schemas.openxmlformats.org/drawingml/2006/main">
              <a:ext uri="{FF2B5EF4-FFF2-40B4-BE49-F238E27FC236}">
                <a16:creationId xmlns:a16="http://schemas.microsoft.com/office/drawing/2014/main" id="{437652F4-0A68-4E8D-8FB1-0D1F3BBDF796}"/>
              </a:ext>
            </a:extLst>
          </p:cNvPr>
          <p:cNvSpPr>
            <a:spLocks xmlns:a="http://schemas.openxmlformats.org/drawingml/2006/main" noGrp="1"/>
          </p:cNvSpPr>
          <p:nvPr/>
        </p:nvSpPr>
        <p:spPr>
          <a:xfrm xmlns:a="http://schemas.openxmlformats.org/drawingml/2006/main">
            <a:off x="411480" y="4315968"/>
            <a:ext cx="8321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E8A020"/>
                </a:solidFill>
              </a:rPr>
              <a:t>The model makes the first stage of location research more focused.</a:t>
            </a:r>
            <a:endParaRPr sz="850"/>
          </a:p>
        </p:txBody>
      </p:sp>
      <p:sp>
        <p:nvSpPr>
          <p:cNvPr id="39" name="Shape 37">
            <a:extLst xmlns:a="http://schemas.openxmlformats.org/drawingml/2006/main">
              <a:ext uri="{FF2B5EF4-FFF2-40B4-BE49-F238E27FC236}">
                <a16:creationId xmlns:a16="http://schemas.microsoft.com/office/drawing/2014/main" id="{49A759C5-57AB-43DF-B3F0-A2B8CCABD533}"/>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40" name="Text 38">
            <a:extLst xmlns:a="http://schemas.openxmlformats.org/drawingml/2006/main">
              <a:ext uri="{FF2B5EF4-FFF2-40B4-BE49-F238E27FC236}">
                <a16:creationId xmlns:a16="http://schemas.microsoft.com/office/drawing/2014/main" id="{D0C3C7AC-0669-4B0F-BD8F-AB88AC487A35}"/>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2026-08-15T11:30:04.7590000Z</dcterms:created>
  <dcterms:modified xsi:type="dcterms:W3CDTF">2026-08-15T11:30:04.7590000Z</dcterms:modified>
</coreProperties>
</file>