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043" autoAdjust="0"/>
  </p:normalViewPr>
  <p:slideViewPr>
    <p:cSldViewPr snapToGrid="0" snapToObjects="1">
      <p:cViewPr varScale="1">
        <p:scale>
          <a:sx n="111" d="100"/>
          <a:sy n="111" d="100"/>
        </p:scale>
        <p:origin x="798" y="45"/>
      </p:cViewPr>
      <p:guideLst/>
    </p:cSldViewPr>
  </p:slideViewPr>
  <p:notesTextViewPr>
    <p:cViewPr>
      <p:scale>
        <a:sx n="1" d="1"/>
        <a:sy n="1" d="1"/>
      </p:scale>
      <p:origin x="0" y="-100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combines validated wildfire history, landscape, terrain, climate, GIS, and machine learning to compare broad areas of mainland Portugal, helping a user narrow a location search before conducting local and property-specific checks.</a:t>
            </a:r>
            <a:br>
              <a:rPr lang="en-US" dirty="0"/>
            </a:br>
            <a:endParaRPr lang="en-US" dirty="0"/>
          </a:p>
          <a:p>
            <a:r>
              <a:rPr lang="en-US" b="1" dirty="0"/>
              <a:t>Main message:</a:t>
            </a:r>
            <a:r>
              <a:rPr lang="en-US" dirty="0"/>
              <a:t> The project helps </a:t>
            </a:r>
            <a:r>
              <a:rPr lang="en-US" dirty="0" err="1"/>
              <a:t>organise</a:t>
            </a:r>
            <a:r>
              <a:rPr lang="en-US" dirty="0"/>
              <a:t> broad location research; it does not decide whether to buy a property.</a:t>
            </a:r>
          </a:p>
          <a:p>
            <a:endParaRPr lang="en-US" dirty="0"/>
          </a:p>
          <a:p>
            <a:r>
              <a:rPr lang="en-US" b="1" dirty="0"/>
              <a:t>What to say:</a:t>
            </a:r>
            <a:endParaRPr lang="en-US" dirty="0"/>
          </a:p>
          <a:p>
            <a:r>
              <a:rPr lang="en-US" dirty="0"/>
              <a:t>“People considering locations across mainland Portugal face a very broad search problem. Wildfire exposure is one factor that may matter, but it is difficult to compare areas fairly using isolated past fire events.</a:t>
            </a:r>
          </a:p>
          <a:p>
            <a:r>
              <a:rPr lang="en-US" dirty="0"/>
              <a:t>This capstone creates a reproducible GIS and machine-learning workflow for that first screening stage. It combines observed wildfire history, landscape, terrain, and climate information to compare 1 km areas across mainland Portugal.</a:t>
            </a:r>
          </a:p>
          <a:p>
            <a:r>
              <a:rPr lang="en-US" dirty="0"/>
              <a:t>The output is not a statement that an area is safe or unsafe, and it is not a buy-or-do-not-buy recommendation. Its purpose is to narrow a national search to areas that deserve more detailed local investigation.”</a:t>
            </a:r>
          </a:p>
          <a:p>
            <a:endParaRPr lang="en-US" dirty="0"/>
          </a:p>
          <a:p>
            <a:r>
              <a:rPr lang="en-US" b="1" dirty="0"/>
              <a:t>Transition:</a:t>
            </a:r>
            <a:r>
              <a:rPr lang="en-US" dirty="0"/>
              <a:t> “To make those comparisons fair, I first needed one consistent unit of analysis and clearly defined source roles.”</a:t>
            </a:r>
          </a:p>
          <a:p>
            <a:endParaRPr dirty="0"/>
          </a:p>
          <a:p>
            <a:r>
              <a:rPr dirty="0"/>
              <a:t>[Sources]</a:t>
            </a:r>
          </a:p>
          <a:p>
            <a:r>
              <a:rPr dirty="0"/>
              <a:t>Project README; docs/project_brief.md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Every record has the same geographical meaning: one 1 km mainland cell in one predictor year.</a:t>
            </a:r>
            <a:br>
              <a:rPr lang="en-US" dirty="0"/>
            </a:br>
            <a:endParaRPr lang="en-US" dirty="0"/>
          </a:p>
          <a:p>
            <a:r>
              <a:rPr lang="en-US" b="1" dirty="0"/>
              <a:t>What to say:</a:t>
            </a:r>
            <a:endParaRPr lang="en-US" dirty="0"/>
          </a:p>
          <a:p>
            <a:r>
              <a:rPr lang="en-US" dirty="0"/>
              <a:t>“Each row in the analytical dataset represents one 1 km by 1 km mainland Portugal cell in a predictor year, T. This makes it possible to compare the same geographical unit over time.</a:t>
            </a:r>
          </a:p>
          <a:p>
            <a:r>
              <a:rPr lang="en-US" dirty="0"/>
              <a:t>ICNF annual burned-area data provides two roles: historical fire recurrence and the observed next-year outcome. The outcome is continuous burned share: the proportion of the cell’s land area that burned in the following year.</a:t>
            </a:r>
          </a:p>
          <a:p>
            <a:r>
              <a:rPr lang="en-US" dirty="0"/>
              <a:t>CLC land cover and Copernicus DEM provide landscape and terrain context. ERA5-Land provides warm-season temperature, precipitation, and shallow soil-water conditions from the predictor year only.</a:t>
            </a:r>
          </a:p>
          <a:p>
            <a:r>
              <a:rPr lang="en-US" dirty="0"/>
              <a:t>The 2 km area is not a second grid. It is an outward context buffer around each 1 km cell, used to measure nearby forest/shrub, slope, and historical fire recurrence.”</a:t>
            </a:r>
            <a:br>
              <a:rPr lang="en-US" dirty="0"/>
            </a:br>
            <a:endParaRPr lang="en-US" dirty="0"/>
          </a:p>
          <a:p>
            <a:r>
              <a:rPr lang="en-US" b="1" dirty="0"/>
              <a:t>Transition:</a:t>
            </a:r>
            <a:r>
              <a:rPr lang="en-US" dirty="0"/>
              <a:t> “With that common structure, the first result is that wildfire history is not evenly distributed across the country.”</a:t>
            </a:r>
            <a:br>
              <a:rPr lang="en-US" dirty="0"/>
            </a:br>
            <a:endParaRPr lang="en-US" dirty="0"/>
          </a:p>
          <a:p>
            <a:r>
              <a:rPr dirty="0"/>
              <a:t>[Sources]</a:t>
            </a:r>
            <a:br>
              <a:rPr dirty="0"/>
            </a:br>
            <a:r>
              <a:rPr dirty="0"/>
              <a:t>docs/data_dictionary.md; reports/validation/canonical_full_scope_readiness.md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Wildfire exposure patterns vary geographically, so a national location search can be narrowed using comparative evidence.</a:t>
            </a:r>
            <a:endParaRPr dirty="0"/>
          </a:p>
          <a:p>
            <a:r>
              <a:rPr dirty="0"/>
              <a:t>These layers provide different types of evidence and should not be added together or interpreted as one score. The comparison helps identify broad areas for further investigation; it does not certify a location.</a:t>
            </a:r>
            <a:br>
              <a:rPr lang="en-US" dirty="0"/>
            </a:br>
            <a:br>
              <a:rPr lang="en-US" dirty="0"/>
            </a:br>
            <a:r>
              <a:rPr lang="en-US" b="1" dirty="0"/>
              <a:t>What to say:</a:t>
            </a:r>
            <a:endParaRPr lang="en-US" dirty="0"/>
          </a:p>
          <a:p>
            <a:r>
              <a:rPr lang="en-US" dirty="0"/>
              <a:t>“This slide shows three different views of the same national geography.</a:t>
            </a:r>
          </a:p>
          <a:p>
            <a:r>
              <a:rPr lang="en-US" dirty="0"/>
              <a:t>The first map shows observed historical recurrence: how many distinct years had burned-area evidence between 2016 and 2025 within the 2 km context around each 1 km cell.</a:t>
            </a:r>
          </a:p>
          <a:p>
            <a:r>
              <a:rPr lang="en-US" dirty="0"/>
              <a:t>The second map is the ICNF and official Portuguese government map showing where the landscape has more or less underlying potential to support severe wildfire conditions. It describes persistent landscape hazard conditions rather than what burned in one particular year.</a:t>
            </a:r>
          </a:p>
          <a:p>
            <a:r>
              <a:rPr lang="en-US" dirty="0"/>
              <a:t>The third map is the project’s 2026 comparative estimate. It uses information available through 2025 to rank 1 km cells by estimated next-year burned share.</a:t>
            </a:r>
          </a:p>
          <a:p>
            <a:r>
              <a:rPr lang="en-US" dirty="0"/>
              <a:t>These maps should not be added together into one score. They provide different evidence for comparing broad areas and deciding where additional research is worthwhile.”</a:t>
            </a:r>
          </a:p>
          <a:p>
            <a:endParaRPr lang="en-US" dirty="0"/>
          </a:p>
          <a:p>
            <a:r>
              <a:rPr lang="en-US" b="1" dirty="0"/>
              <a:t>Transition:</a:t>
            </a:r>
            <a:r>
              <a:rPr lang="en-US" dirty="0"/>
              <a:t> “Because historical recurrence and official structural hazard measure different things, the next question is why it is useful to compare them.”</a:t>
            </a:r>
            <a:endParaRPr dirty="0"/>
          </a:p>
          <a:p>
            <a:endParaRPr dirty="0"/>
          </a:p>
          <a:p>
            <a:r>
              <a:rPr dirty="0"/>
              <a:t>[Sources]</a:t>
            </a:r>
            <a:br>
              <a:rPr dirty="0"/>
            </a:br>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Observed recurrence and official structural hazard are complementary, not competing, evidence layers.</a:t>
            </a:r>
          </a:p>
          <a:p>
            <a:endParaRPr lang="en-US" dirty="0"/>
          </a:p>
          <a:p>
            <a:r>
              <a:rPr lang="en-US" b="1" dirty="0"/>
              <a:t>What to say:</a:t>
            </a:r>
            <a:endParaRPr lang="en-US" dirty="0"/>
          </a:p>
          <a:p>
            <a:r>
              <a:rPr lang="en-US" dirty="0"/>
              <a:t>“Historical recurrence answers: ‘What burned repeatedly in the observed 2016–2025 period?’ It is based on annual burned-area records.</a:t>
            </a:r>
          </a:p>
          <a:p>
            <a:r>
              <a:rPr lang="en-US" dirty="0"/>
              <a:t>Official ICNF structural hazard answers a different question: ‘What persistent landscape conditions are associated with wildfire hazard?’ Its source is an official 25 m classification, summarized here to the predominant class for each 1 km cell.</a:t>
            </a:r>
          </a:p>
          <a:p>
            <a:r>
              <a:rPr lang="en-US" dirty="0"/>
              <a:t>Where the layers agree, they provide consistent broad-area context. Where they differ, they identify areas where the historical record and structural landscape conditions tell a more nuanced story.</a:t>
            </a:r>
          </a:p>
          <a:p>
            <a:r>
              <a:rPr lang="en-US" dirty="0"/>
              <a:t>This comparison is descriptive. It is not a model-accuracy test, and neither layer is a threshold for deciding whether a particular property is acceptable.”</a:t>
            </a:r>
          </a:p>
          <a:p>
            <a:endParaRPr lang="en-US" dirty="0"/>
          </a:p>
          <a:p>
            <a:r>
              <a:rPr lang="en-US" b="1" dirty="0"/>
              <a:t>Transition:</a:t>
            </a:r>
            <a:r>
              <a:rPr lang="en-US" dirty="0"/>
              <a:t> “Historical context is useful, but I also tested whether a data-driven model could improve next-year comparative estimates.”</a:t>
            </a:r>
          </a:p>
          <a:p>
            <a:endParaRPr dirty="0"/>
          </a:p>
          <a:p>
            <a:r>
              <a:rPr dirty="0"/>
              <a:t>[Sources]</a:t>
            </a:r>
            <a:br>
              <a:rPr dirty="0"/>
            </a:br>
            <a:r>
              <a:rPr dirty="0" err="1"/>
              <a:t>qgis</a:t>
            </a:r>
            <a:r>
              <a:rPr dirty="0"/>
              <a:t>/README.md; docs/data_dictionary.md; reports/figures/historical_exposure_by_icnf_structural_hazard_crosstab.png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nine-feature two-stage regression improves average comparative error and burned-share ranking over historical recurrence alone, while extreme fire outcomes remain difficult.</a:t>
            </a:r>
          </a:p>
          <a:p>
            <a:endParaRPr lang="en-US" b="1" dirty="0"/>
          </a:p>
          <a:p>
            <a:r>
              <a:rPr lang="en-US" b="1" dirty="0"/>
              <a:t>What to say:</a:t>
            </a:r>
            <a:br>
              <a:rPr lang="en-US" dirty="0"/>
            </a:br>
            <a:r>
              <a:rPr lang="en-US" dirty="0"/>
              <a:t>“This slide compares two approaches using the held-out final period: predictor </a:t>
            </a:r>
            <a:r>
              <a:rPr lang="en-US"/>
              <a:t>years </a:t>
            </a:r>
            <a:r>
              <a:rPr lang="en-US" b="1"/>
              <a:t>2022 - 2024</a:t>
            </a:r>
            <a:r>
              <a:rPr lang="en-US"/>
              <a:t> </a:t>
            </a:r>
            <a:r>
              <a:rPr lang="en-US" dirty="0"/>
              <a:t>and observed outcomes </a:t>
            </a:r>
            <a:r>
              <a:rPr lang="en-US" b="1" dirty="0"/>
              <a:t>2023</a:t>
            </a:r>
            <a:r>
              <a:rPr lang="ru-RU" b="1" dirty="0"/>
              <a:t> - </a:t>
            </a:r>
            <a:r>
              <a:rPr lang="en-US" b="1" dirty="0"/>
              <a:t>2025</a:t>
            </a:r>
            <a:r>
              <a:rPr lang="en-US" dirty="0"/>
              <a:t>.</a:t>
            </a:r>
          </a:p>
          <a:p>
            <a:r>
              <a:rPr lang="en-US" dirty="0"/>
              <a:t>The historical-recurrence baseline is a transparent project benchmark. It groups training records by the number of previously burned years in the 2 km context and uses the training-period average next-year burned share for each group. It is an empirical project benchmark, not a library model.</a:t>
            </a:r>
          </a:p>
          <a:p>
            <a:r>
              <a:rPr lang="en-US" dirty="0"/>
              <a:t>The nine-feature Model V2 uses two </a:t>
            </a:r>
            <a:r>
              <a:rPr lang="en-US" dirty="0" err="1"/>
              <a:t>HistGradientBoosting</a:t>
            </a:r>
            <a:r>
              <a:rPr lang="en-US" dirty="0"/>
              <a:t> components. The first estimates whether burning is likely in a cell. The second estimates how much of the cell’s land area may burn when burning occurs. These two parts are combined into one continuous estimated burned share.</a:t>
            </a:r>
          </a:p>
          <a:p>
            <a:r>
              <a:rPr lang="en-US" dirty="0"/>
              <a:t>On the final test, Model V2 lowers MAE from </a:t>
            </a:r>
            <a:r>
              <a:rPr lang="en-US" b="1" dirty="0"/>
              <a:t>0.0292 to 0.0209</a:t>
            </a:r>
            <a:r>
              <a:rPr lang="en-US" dirty="0"/>
              <a:t>. RMSE is almost unchanged but slightly higher, from </a:t>
            </a:r>
            <a:r>
              <a:rPr lang="en-US" b="1" dirty="0"/>
              <a:t>0.1106 to 0.1110</a:t>
            </a:r>
            <a:r>
              <a:rPr lang="en-US" dirty="0"/>
              <a:t>, showing that larger and more extreme fire outcomes remain difficult.”</a:t>
            </a:r>
          </a:p>
          <a:p>
            <a:endParaRPr lang="en-US" dirty="0"/>
          </a:p>
          <a:p>
            <a:r>
              <a:rPr lang="en-US" b="1" dirty="0"/>
              <a:t>Capture@20% is a validation test of the ranking.</a:t>
            </a:r>
            <a:r>
              <a:rPr lang="en-US" dirty="0"/>
              <a:t> For each predictor year, the model ranks cells using information from year </a:t>
            </a:r>
            <a:r>
              <a:rPr lang="en-US" b="1" dirty="0"/>
              <a:t>T</a:t>
            </a:r>
            <a:r>
              <a:rPr lang="en-US" dirty="0"/>
              <a:t> and estimates burned share for </a:t>
            </a:r>
            <a:r>
              <a:rPr lang="en-US" b="1" dirty="0"/>
              <a:t>T+1</a:t>
            </a:r>
            <a:r>
              <a:rPr lang="en-US" dirty="0"/>
              <a:t>. For example, for </a:t>
            </a:r>
            <a:r>
              <a:rPr lang="en-US" b="1" dirty="0"/>
              <a:t>2024 -&gt; 2025</a:t>
            </a:r>
            <a:r>
              <a:rPr lang="en-US" dirty="0"/>
              <a:t>, it ranks cells using 2024 predictor data and is later checked against observed ICNF burned areas from 2025.</a:t>
            </a:r>
          </a:p>
          <a:p>
            <a:r>
              <a:rPr lang="en-US" dirty="0"/>
              <a:t>The final evaluation covers </a:t>
            </a:r>
            <a:r>
              <a:rPr lang="en-US" b="1" dirty="0"/>
              <a:t>2022 -&gt; 2023, 2023 -&gt; 2024, and 2024 -&gt; 2025</a:t>
            </a:r>
            <a:r>
              <a:rPr lang="en-US" dirty="0"/>
              <a:t>. We select the highest-scored 20% of cells and measure how much of the total observed burned-share mass occurred within those cells.</a:t>
            </a:r>
          </a:p>
          <a:p>
            <a:r>
              <a:rPr lang="en-US" dirty="0"/>
              <a:t>Across the final test, the historical baseline captured </a:t>
            </a:r>
            <a:r>
              <a:rPr lang="en-US" b="1" dirty="0"/>
              <a:t>40.2%</a:t>
            </a:r>
            <a:r>
              <a:rPr lang="en-US" dirty="0"/>
              <a:t> of observed burned-share mass in its top-ranked 20% of cells. Model V2 captured </a:t>
            </a:r>
            <a:r>
              <a:rPr lang="en-US" b="1" dirty="0"/>
              <a:t>57.2%</a:t>
            </a:r>
            <a:r>
              <a:rPr lang="en-US" dirty="0"/>
              <a:t>.</a:t>
            </a:r>
          </a:p>
          <a:p>
            <a:r>
              <a:rPr lang="en-US" dirty="0"/>
              <a:t>This does not mean that 20% of the land burned. It is a retrospective ranking diagnostic, not a buyer threshold or a property-level forecast. The same logic could later be applied to </a:t>
            </a:r>
            <a:r>
              <a:rPr lang="en-US" b="1" dirty="0"/>
              <a:t>2035 -&gt; 2036</a:t>
            </a:r>
            <a:r>
              <a:rPr lang="en-US" dirty="0"/>
              <a:t>, but only after the 2036 outcome data become available.”</a:t>
            </a:r>
          </a:p>
          <a:p>
            <a:endParaRPr lang="en-US" dirty="0"/>
          </a:p>
          <a:p>
            <a:r>
              <a:rPr lang="en-US" b="1" dirty="0"/>
              <a:t>Transition:</a:t>
            </a:r>
            <a:r>
              <a:rPr lang="en-US" dirty="0"/>
              <a:t> “The practical question is whether the model provides a useful ranking for broad-area screening.”</a:t>
            </a:r>
          </a:p>
          <a:p>
            <a:endParaRPr lang="en-US" b="1" dirty="0"/>
          </a:p>
          <a:p>
            <a:r>
              <a:rPr lang="en-US" b="1" dirty="0"/>
              <a:t>[Sources]</a:t>
            </a:r>
            <a:br>
              <a:rPr lang="en-US" dirty="0"/>
            </a:br>
            <a:r>
              <a:rPr lang="en-US" dirty="0"/>
              <a:t>reports/validation/model_final_decision.md</a:t>
            </a:r>
            <a:br>
              <a:rPr lang="en-US" dirty="0"/>
            </a:br>
            <a:r>
              <a:rPr lang="en-US" dirty="0"/>
              <a:t>reports/validation/final_temporal_test_2022_2024.md</a:t>
            </a:r>
            <a:br>
              <a:rPr lang="en-US" dirty="0"/>
            </a:br>
            <a:r>
              <a:rPr lang="en-US" dirty="0"/>
              <a:t>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output supports shortlisting broad areas, not choosing a property.</a:t>
            </a:r>
          </a:p>
          <a:p>
            <a:endParaRPr lang="en-US" dirty="0"/>
          </a:p>
          <a:p>
            <a:r>
              <a:rPr lang="en-US" b="1" dirty="0"/>
              <a:t>What to say:</a:t>
            </a:r>
            <a:endParaRPr lang="en-US" dirty="0"/>
          </a:p>
          <a:p>
            <a:r>
              <a:rPr lang="en-US" dirty="0"/>
              <a:t>“Imagine a buyer considering multiple regions across mainland Portugal.</a:t>
            </a:r>
          </a:p>
          <a:p>
            <a:r>
              <a:rPr lang="en-US" dirty="0"/>
              <a:t>They begin with the 2026 comparative estimate to compare broad 1 km areas using 2025 predictor inputs. They then look alongside it at observed historical recurrence and the official ICNF structural-hazard layer.</a:t>
            </a:r>
          </a:p>
          <a:p>
            <a:r>
              <a:rPr lang="en-US" dirty="0"/>
              <a:t>The result is not a chosen property. It is a smaller, more structured set of broad areas for further research, site visits, and local checks.”</a:t>
            </a:r>
          </a:p>
          <a:p>
            <a:endParaRPr lang="en-US" dirty="0"/>
          </a:p>
          <a:p>
            <a:r>
              <a:rPr lang="en-US" b="1" dirty="0"/>
              <a:t>Transition:</a:t>
            </a:r>
            <a:r>
              <a:rPr lang="en-US" dirty="0"/>
              <a:t> “The next slide explains the two safeguards that keep this use case responsible.”</a:t>
            </a:r>
          </a:p>
          <a:p>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Compare layers first; then replace broad evidence with local evidence.</a:t>
            </a:r>
          </a:p>
          <a:p>
            <a:endParaRPr lang="en-US" dirty="0"/>
          </a:p>
          <a:p>
            <a:r>
              <a:rPr lang="en-US" b="1" dirty="0"/>
              <a:t>What to say:</a:t>
            </a:r>
            <a:endParaRPr lang="en-US" dirty="0"/>
          </a:p>
          <a:p>
            <a:r>
              <a:rPr lang="en-US" dirty="0"/>
              <a:t>“The first recommendation is to compare the three layers separately: the 2026 comparative estimate, observed historical recurrence, and official ICNF structural hazard. They answer different questions, so they should not be merged into a single score.</a:t>
            </a:r>
          </a:p>
          <a:p>
            <a:r>
              <a:rPr lang="en-US" dirty="0"/>
              <a:t>The second recommendation is local verification. Once an area is shortlisted, the decision should use planning restrictions, access and evacuation conditions, insurance, vegetation management, terrain, infrastructure, and property-specific information.</a:t>
            </a:r>
          </a:p>
          <a:p>
            <a:r>
              <a:rPr lang="en-US" dirty="0"/>
              <a:t>The model helps direct research effort. It does not replace local investigation or certify a location.”</a:t>
            </a:r>
          </a:p>
          <a:p>
            <a:endParaRPr lang="en-US" dirty="0"/>
          </a:p>
          <a:p>
            <a:r>
              <a:rPr lang="en-US" b="1" dirty="0"/>
              <a:t>Transition:</a:t>
            </a:r>
            <a:r>
              <a:rPr lang="en-US" dirty="0"/>
              <a:t> “Finally, the value of the project is not only one 2026 map -it is a repeatable annual workflow.”</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project is successful as a reproducible comparative screening workflow with explicit limitations and an annual refresh path.</a:t>
            </a:r>
          </a:p>
          <a:p>
            <a:endParaRPr lang="en-US" dirty="0"/>
          </a:p>
          <a:p>
            <a:r>
              <a:rPr lang="en-US" b="1" dirty="0"/>
              <a:t>What to say:</a:t>
            </a:r>
            <a:endParaRPr lang="en-US" dirty="0"/>
          </a:p>
          <a:p>
            <a:r>
              <a:rPr lang="en-US" dirty="0"/>
              <a:t>“This project delivered a reproducible national workflow: validated source data, a consistent 1 km grid, GIS outputs, historical evidence layers, and a tested nine-feature machine-learning model.</a:t>
            </a:r>
          </a:p>
          <a:p>
            <a:r>
              <a:rPr lang="en-US" dirty="0"/>
              <a:t>The model provides a modest improvement over historical recurrence alone for selected comparative diagnostics. At the same time, the evaluation shows that extreme fire outcomes remain difficult, so the output must remain a cautious broad-area estimate.</a:t>
            </a:r>
          </a:p>
          <a:p>
            <a:r>
              <a:rPr lang="en-US" dirty="0"/>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a:r>
              <a:rPr lang="en-US" dirty="0"/>
              <a:t>The project therefore provides a repeatable evidence process—not a final property decision.”</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&amp; ML CAPSTONE</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a:solidFill>
                  <a:srgbClr val="FFFFFF"/>
                </a:solidFill>
              </a:rPr>
              <a:t>Wildfire Exposure</a:t>
            </a:r>
            <a:endParaRPr sz="5200"/>
          </a:p>
          <a:p>
            <a:pPr marL="0" indent="0">
              <a:buNone/>
            </a:pPr>
            <a:r>
              <a:rPr sz="5200" b="1">
                <a:solidFill>
                  <a:srgbClr val="FFFFFF"/>
                </a:solidFill>
              </a:rPr>
              <a:t>Screening</a:t>
            </a:r>
            <a:endParaRPr sz="520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sz="1300" i="1">
                <a:solidFill>
                  <a:srgbClr val="A8C4D8"/>
                </a:solidFill>
              </a:rPr>
              <a:t>A reproducible GIS and machine-learning workflow for broad-area location research.</a:t>
            </a:r>
            <a:endParaRPr sz="130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2000–2025 coverage</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a:t>
            </a:r>
            <a:r>
              <a:rPr lang="en-US" sz="1100" b="1" dirty="0">
                <a:solidFill>
                  <a:srgbClr val="E8A020"/>
                </a:solidFill>
              </a:rPr>
              <a:t>FINDING</a:t>
            </a:r>
            <a:r>
              <a:rPr sz="1100" b="1" dirty="0">
                <a:solidFill>
                  <a:srgbClr val="E8A020"/>
                </a:solidFill>
              </a:rPr>
              <a:t> 1</a:t>
            </a:r>
            <a:endParaRPr lang="en-US" sz="1100" b="1" dirty="0">
              <a:solidFill>
                <a:srgbClr val="E8A020"/>
              </a:solidFill>
            </a:endParaRPr>
          </a:p>
          <a:p>
            <a:pPr marL="0" indent="0">
              <a:buNone/>
            </a:pPr>
            <a:r>
              <a:rPr lang="en-US" sz="1000" dirty="0">
                <a:solidFill>
                  <a:schemeClr val="accent6"/>
                </a:solidFill>
              </a:rPr>
              <a:t>observed history and 2026 comparative estimate</a:t>
            </a:r>
            <a:endParaRPr sz="1000" dirty="0">
              <a:solidFill>
                <a:schemeClr val="accent6"/>
              </a:solidFill>
            </a:endParaRP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8</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9" name="Picture 8">
            <a:extLst>
              <a:ext uri="{FF2B5EF4-FFF2-40B4-BE49-F238E27FC236}">
                <a16:creationId xmlns:a16="http://schemas.microsoft.com/office/drawing/2014/main" id="{8DB38B7C-228F-B2AA-92AC-419C3B1622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2950" y="1107383"/>
            <a:ext cx="7581900" cy="3810525"/>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lang="en-US" dirty="0"/>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2</a:t>
            </a:r>
            <a:endParaRPr lang="en-US" sz="1100" b="1" dirty="0">
              <a:solidFill>
                <a:srgbClr val="E8A020"/>
              </a:solidFill>
            </a:endParaRPr>
          </a:p>
          <a:p>
            <a:pPr marL="0" indent="0">
              <a:buNone/>
            </a:pPr>
            <a:r>
              <a:rPr lang="en-US" sz="1000" dirty="0">
                <a:solidFill>
                  <a:schemeClr val="accent6"/>
                </a:solidFill>
              </a:rPr>
              <a:t>complementary context</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Counts 2016–2025 burned years in the 2 km context around each 1 km cell.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3 — MODEL</a:t>
            </a:r>
            <a:endParaRPr lang="en-US" sz="1100" b="1" dirty="0">
              <a:solidFill>
                <a:srgbClr val="E8A020"/>
              </a:solidFill>
            </a:endParaRPr>
          </a:p>
          <a:p>
            <a:pPr marL="0" indent="0">
              <a:buNone/>
            </a:pPr>
            <a:r>
              <a:rPr lang="en-US" sz="1000" dirty="0">
                <a:solidFill>
                  <a:schemeClr val="accent6"/>
                </a:solidFill>
              </a:rPr>
              <a:t>model comparison</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dirty="0"/>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801368"/>
            <a:ext cx="3611880" cy="246888"/>
          </a:xfrm>
          <a:prstGeom prst="rect">
            <a:avLst/>
          </a:prstGeom>
          <a:noFill/>
        </p:spPr>
        <p:txBody>
          <a:bodyPr wrap="square" lIns="0" tIns="0" rIns="0" bIns="0" anchor="ctr"/>
          <a:lstStyle/>
          <a:p>
            <a:r>
              <a:rPr lang="en-US" sz="800" dirty="0"/>
              <a:t>Historical </a:t>
            </a:r>
            <a:r>
              <a:rPr lang="en-US" sz="800" b="1" dirty="0"/>
              <a:t>recurrence</a:t>
            </a:r>
            <a:r>
              <a:rPr lang="en-US" sz="800" dirty="0"/>
              <a:t> benchmark </a:t>
            </a:r>
            <a:r>
              <a:rPr sz="850" dirty="0">
                <a:solidFill>
                  <a:srgbClr val="1A2638"/>
                </a:solidFill>
              </a:rPr>
              <a:t> -&gt; </a:t>
            </a:r>
            <a:r>
              <a:rPr lang="en-US" sz="800" b="1" dirty="0"/>
              <a:t>Nine-feature</a:t>
            </a:r>
            <a:r>
              <a:rPr lang="en-US" sz="800" dirty="0"/>
              <a:t> Model</a:t>
            </a:r>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dirty="0">
                <a:solidFill>
                  <a:srgbClr val="1A2638"/>
                </a:solidFill>
              </a:rPr>
              <a:t>Historical recurrence baseline</a:t>
            </a:r>
            <a:endParaRPr lang="en-US" sz="850" dirty="0">
              <a:solidFill>
                <a:srgbClr val="1A2638"/>
              </a:solidFill>
            </a:endParaRPr>
          </a:p>
          <a:p>
            <a:r>
              <a:rPr lang="en-US" sz="700" i="1" dirty="0">
                <a:solidFill>
                  <a:schemeClr val="tx1">
                    <a:lumMod val="50000"/>
                    <a:lumOff val="50000"/>
                  </a:schemeClr>
                </a:solidFill>
              </a:rPr>
              <a:t>a simple reference based only on previous burned-year counts</a:t>
            </a:r>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548640"/>
          </a:xfrm>
          <a:prstGeom prst="rect">
            <a:avLst/>
          </a:prstGeom>
          <a:noFill/>
        </p:spPr>
        <p:txBody>
          <a:bodyPr wrap="square" lIns="0" tIns="0" rIns="0" bIns="0" anchor="ctr"/>
          <a:lstStyle/>
          <a:p>
            <a:r>
              <a:rPr sz="850" dirty="0">
                <a:solidFill>
                  <a:srgbClr val="1A2638"/>
                </a:solidFill>
              </a:rPr>
              <a:t>Nine-feature </a:t>
            </a:r>
            <a:r>
              <a:rPr lang="en-US" sz="850" dirty="0">
                <a:solidFill>
                  <a:srgbClr val="1A2638"/>
                </a:solidFill>
              </a:rPr>
              <a:t>two-stage regression</a:t>
            </a:r>
            <a:r>
              <a:rPr sz="850" dirty="0">
                <a:solidFill>
                  <a:srgbClr val="1A2638"/>
                </a:solidFill>
              </a:rPr>
              <a:t> model</a:t>
            </a:r>
            <a:r>
              <a:rPr lang="en-US" sz="850" dirty="0">
                <a:solidFill>
                  <a:srgbClr val="1A2638"/>
                </a:solidFill>
              </a:rPr>
              <a:t>:</a:t>
            </a:r>
          </a:p>
          <a:p>
            <a:pPr marL="171450" indent="-171450">
              <a:buFont typeface="Arial" panose="020B0604020202020204" pitchFamily="34" charset="0"/>
              <a:buChar char="•"/>
            </a:pPr>
            <a:r>
              <a:rPr lang="en-US" sz="700" b="1" i="1" dirty="0" err="1">
                <a:solidFill>
                  <a:schemeClr val="tx1">
                    <a:lumMod val="50000"/>
                    <a:lumOff val="50000"/>
                  </a:schemeClr>
                </a:solidFill>
              </a:rPr>
              <a:t>HistGradientBoostingClassifier</a:t>
            </a:r>
            <a:r>
              <a:rPr lang="en-US" sz="700" i="1" dirty="0">
                <a:solidFill>
                  <a:schemeClr val="tx1">
                    <a:lumMod val="50000"/>
                    <a:lumOff val="50000"/>
                  </a:schemeClr>
                </a:solidFill>
              </a:rPr>
              <a:t> for occurrence</a:t>
            </a:r>
          </a:p>
          <a:p>
            <a:pPr marL="171450" indent="-171450">
              <a:buFont typeface="Arial" panose="020B0604020202020204" pitchFamily="34" charset="0"/>
              <a:buChar char="•"/>
            </a:pPr>
            <a:r>
              <a:rPr lang="en-US" sz="700" b="1" i="1" dirty="0" err="1">
                <a:solidFill>
                  <a:schemeClr val="tx1">
                    <a:lumMod val="50000"/>
                    <a:lumOff val="50000"/>
                  </a:schemeClr>
                </a:solidFill>
              </a:rPr>
              <a:t>HistGradientBoostingRegressor</a:t>
            </a:r>
            <a:r>
              <a:rPr lang="en-US" sz="700" i="1" dirty="0">
                <a:solidFill>
                  <a:schemeClr val="tx1">
                    <a:lumMod val="50000"/>
                    <a:lumOff val="50000"/>
                  </a:schemeClr>
                </a:solidFill>
              </a:rPr>
              <a:t> for positive burned share</a:t>
            </a:r>
          </a:p>
          <a:p>
            <a:r>
              <a:rPr lang="en-US" sz="700" i="1" dirty="0">
                <a:solidFill>
                  <a:schemeClr val="tx1">
                    <a:lumMod val="50000"/>
                    <a:lumOff val="50000"/>
                  </a:schemeClr>
                </a:solidFill>
              </a:rPr>
              <a:t>the accepted model using fire history, land cover, terrain, and climate predictors</a:t>
            </a:r>
            <a:endParaRPr lang="en-US" sz="800" dirty="0"/>
          </a:p>
          <a:p>
            <a:pPr marL="0" indent="0">
              <a:buNone/>
            </a:pPr>
            <a:endParaRPr sz="850" b="1" dirty="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dirty="0">
                <a:solidFill>
                  <a:srgbClr val="1A2638"/>
                </a:solidFill>
              </a:rPr>
              <a:t>MAE: 0.029</a:t>
            </a:r>
            <a:r>
              <a:rPr lang="en-US" sz="850" dirty="0">
                <a:solidFill>
                  <a:srgbClr val="1A2638"/>
                </a:solidFill>
              </a:rPr>
              <a:t>2</a:t>
            </a:r>
            <a:r>
              <a:rPr sz="850" dirty="0">
                <a:solidFill>
                  <a:srgbClr val="1A2638"/>
                </a:solidFill>
              </a:rPr>
              <a:t>  -&gt;  0.02</a:t>
            </a:r>
            <a:r>
              <a:rPr lang="en-US" sz="850" dirty="0">
                <a:solidFill>
                  <a:srgbClr val="1A2638"/>
                </a:solidFill>
              </a:rPr>
              <a:t>09</a:t>
            </a:r>
            <a:endParaRPr sz="850" dirty="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dirty="0">
                <a:solidFill>
                  <a:srgbClr val="1A2638"/>
                </a:solidFill>
              </a:rPr>
              <a:t>RMSE: 0.11</a:t>
            </a:r>
            <a:r>
              <a:rPr lang="en-US" sz="850" dirty="0">
                <a:solidFill>
                  <a:srgbClr val="1A2638"/>
                </a:solidFill>
              </a:rPr>
              <a:t>06</a:t>
            </a:r>
            <a:r>
              <a:rPr sz="850" dirty="0">
                <a:solidFill>
                  <a:srgbClr val="1A2638"/>
                </a:solidFill>
              </a:rPr>
              <a:t>  -&gt;  0.111</a:t>
            </a:r>
            <a:r>
              <a:rPr lang="en-US" sz="850" dirty="0">
                <a:solidFill>
                  <a:srgbClr val="1A2638"/>
                </a:solidFill>
              </a:rPr>
              <a:t>0</a:t>
            </a:r>
            <a:endParaRPr sz="850" dirty="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dirty="0">
                <a:solidFill>
                  <a:srgbClr val="1A2638"/>
                </a:solidFill>
              </a:rPr>
              <a:t>Capture@20%: </a:t>
            </a:r>
            <a:r>
              <a:rPr lang="en-US" sz="850" dirty="0">
                <a:solidFill>
                  <a:srgbClr val="1A2638"/>
                </a:solidFill>
              </a:rPr>
              <a:t>40.2%</a:t>
            </a:r>
            <a:r>
              <a:rPr sz="850" dirty="0">
                <a:solidFill>
                  <a:srgbClr val="1A2638"/>
                </a:solidFill>
              </a:rPr>
              <a:t>  -&gt;  </a:t>
            </a:r>
            <a:r>
              <a:rPr lang="en-US" sz="850" dirty="0">
                <a:solidFill>
                  <a:srgbClr val="1A2638"/>
                </a:solidFill>
              </a:rPr>
              <a:t>57.2%</a:t>
            </a:r>
          </a:p>
          <a:p>
            <a:r>
              <a:rPr lang="en-US" sz="700" i="1" dirty="0">
                <a:solidFill>
                  <a:schemeClr val="tx1">
                    <a:lumMod val="50000"/>
                    <a:lumOff val="50000"/>
                  </a:schemeClr>
                </a:solidFill>
              </a:rPr>
              <a:t>how much observed burned share occurred within the highest-ranked 20% of cells</a:t>
            </a:r>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65092"/>
            <a:ext cx="3611880" cy="347472"/>
          </a:xfrm>
          <a:prstGeom prst="rect">
            <a:avLst/>
          </a:prstGeom>
          <a:noFill/>
        </p:spPr>
        <p:txBody>
          <a:bodyPr wrap="square" lIns="0" tIns="0" rIns="0" bIns="0" anchor="ctr"/>
          <a:lstStyle/>
          <a:p>
            <a:r>
              <a:rPr lang="en-US" sz="800" dirty="0"/>
              <a:t>Final test: predictor years T=2022–2024; outcomes T+1=2023–2025</a:t>
            </a:r>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Capture@20% is the share of observed burned share found among the 20% highest-scored cells.</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dirty="0">
                <a:solidFill>
                  <a:srgbClr val="E8A020"/>
                </a:solidFill>
              </a:rPr>
              <a:t>It is a ranking diagnostic, not a buyer threshold.</a:t>
            </a:r>
            <a:endParaRPr sz="750" dirty="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The target is continuous burned share: burned land area divided by cell land area.</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The nine-feature model uses a two-part regression for the zero-heavy target.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final-test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8</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160</TotalTime>
  <Words>3042</Words>
  <Application>Microsoft Office PowerPoint</Application>
  <DocSecurity>0</DocSecurity>
  <PresentationFormat>On-screen Show (16:9)</PresentationFormat>
  <Paragraphs>290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Sergey Dyadechko</cp:lastModifiedBy>
  <cp:revision>21</cp:revision>
  <dcterms:created xsi:type="dcterms:W3CDTF">2026-08-08T12:40:18Z</dcterms:created>
  <dcterms:modified xsi:type="dcterms:W3CDTF">2026-08-09T12:20:47Z</dcterms:modified>
</cp:coreProperties>
</file>