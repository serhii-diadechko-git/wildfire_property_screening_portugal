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76b3055b2bc43e2" /><Relationship Type="http://schemas.openxmlformats.org/officeDocument/2006/relationships/extended-properties" Target="/docProps/app.xml" Id="R8c364d97ea754550" /><Relationship Type="http://schemas.openxmlformats.org/officeDocument/2006/relationships/officeDocument" Target="/ppt/presentation.xml" Id="R33d9f07da6ae4b1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504ab48d9f4327"/>
  </p:sldMasterIdLst>
  <p:notesMasterIdLst>
    <p:notesMasterId xmlns:r="http://schemas.openxmlformats.org/officeDocument/2006/relationships" r:id="Ra203280702324b04"/>
  </p:notesMasterIdLst>
  <p:sldIdLst>
    <p:sldId xmlns:r="http://schemas.openxmlformats.org/officeDocument/2006/relationships" id="256" r:id="R4f15e07cc80d4599"/>
    <p:sldId xmlns:r="http://schemas.openxmlformats.org/officeDocument/2006/relationships" id="257" r:id="R1b90af04c5c74be8"/>
    <p:sldId xmlns:r="http://schemas.openxmlformats.org/officeDocument/2006/relationships" id="258" r:id="Rd9a758e70cbf4645"/>
    <p:sldId xmlns:r="http://schemas.openxmlformats.org/officeDocument/2006/relationships" id="259" r:id="R35260e1bdceb4997"/>
    <p:sldId xmlns:r="http://schemas.openxmlformats.org/officeDocument/2006/relationships" id="260" r:id="R783ca725edea416d"/>
    <p:sldId xmlns:r="http://schemas.openxmlformats.org/officeDocument/2006/relationships" id="261" r:id="R9637dc88567e49c6"/>
    <p:sldId xmlns:r="http://schemas.openxmlformats.org/officeDocument/2006/relationships" id="262" r:id="R92c81a02d4d744d2"/>
    <p:sldId xmlns:r="http://schemas.openxmlformats.org/officeDocument/2006/relationships" id="263" r:id="Rab0e515618274452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dfb603153f40e9" /><Relationship Type="http://schemas.openxmlformats.org/officeDocument/2006/relationships/slideMaster" Target="/ppt/slideMasters/slideMaster1.xml" Id="R67504ab48d9f4327" /><Relationship Type="http://schemas.openxmlformats.org/officeDocument/2006/relationships/notesMaster" Target="/ppt/notesMasters/notesMaster1.xml" Id="Ra203280702324b04" /><Relationship Type="http://schemas.openxmlformats.org/officeDocument/2006/relationships/presProps" Target="/ppt/presProps.xml" Id="Rd23db5c596f94217" /><Relationship Type="http://schemas.openxmlformats.org/officeDocument/2006/relationships/viewProps" Target="/ppt/viewProps.xml" Id="R4b4414fd74b148ac" /><Relationship Type="http://schemas.openxmlformats.org/officeDocument/2006/relationships/tableStyles" Target="/ppt/tableStyles.xml" Id="Ra863a7b4b62441d1" /><Relationship Type="http://schemas.openxmlformats.org/officeDocument/2006/relationships/slide" Target="/ppt/slides/slide1.xml" Id="R4f15e07cc80d4599" /><Relationship Type="http://schemas.openxmlformats.org/officeDocument/2006/relationships/slide" Target="/ppt/slides/slide2.xml" Id="R1b90af04c5c74be8" /><Relationship Type="http://schemas.openxmlformats.org/officeDocument/2006/relationships/slide" Target="/ppt/slides/slide3.xml" Id="Rd9a758e70cbf4645" /><Relationship Type="http://schemas.openxmlformats.org/officeDocument/2006/relationships/slide" Target="/ppt/slides/slide4.xml" Id="R35260e1bdceb4997" /><Relationship Type="http://schemas.openxmlformats.org/officeDocument/2006/relationships/slide" Target="/ppt/slides/slide5.xml" Id="R783ca725edea416d" /><Relationship Type="http://schemas.openxmlformats.org/officeDocument/2006/relationships/slide" Target="/ppt/slides/slide6.xml" Id="R9637dc88567e49c6" /><Relationship Type="http://schemas.openxmlformats.org/officeDocument/2006/relationships/slide" Target="/ppt/slides/slide7.xml" Id="R92c81a02d4d744d2" /><Relationship Type="http://schemas.openxmlformats.org/officeDocument/2006/relationships/slide" Target="/ppt/slides/slide8.xml" Id="Rab0e5156182744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1377246363f437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c31fa4d33c49ef" /><Relationship Type="http://schemas.openxmlformats.org/officeDocument/2006/relationships/notesMaster" Target="/ppt/notesMasters/notesMaster1.xml" Id="Re47b1026a211493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b431abf8b44066" /><Relationship Type="http://schemas.openxmlformats.org/officeDocument/2006/relationships/notesMaster" Target="/ppt/notesMasters/notesMaster1.xml" Id="R5d9ab872c62344e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2399e847a3446f" /><Relationship Type="http://schemas.openxmlformats.org/officeDocument/2006/relationships/notesMaster" Target="/ppt/notesMasters/notesMaster1.xml" Id="R75b4fb02ac2a48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7772a15078411e" /><Relationship Type="http://schemas.openxmlformats.org/officeDocument/2006/relationships/notesMaster" Target="/ppt/notesMasters/notesMaster1.xml" Id="Rcac93b4f34264f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94351752fd4889" /><Relationship Type="http://schemas.openxmlformats.org/officeDocument/2006/relationships/notesMaster" Target="/ppt/notesMasters/notesMaster1.xml" Id="R9a2f93a3ab084b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7ca1f9df404098" /><Relationship Type="http://schemas.openxmlformats.org/officeDocument/2006/relationships/notesMaster" Target="/ppt/notesMasters/notesMaster1.xml" Id="R0c47c50b97ba489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f279d26424842e3" /><Relationship Type="http://schemas.openxmlformats.org/officeDocument/2006/relationships/notesMaster" Target="/ppt/notesMasters/notesMaster1.xml" Id="R1532ed96932947d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b19b88d7a81411d" /><Relationship Type="http://schemas.openxmlformats.org/officeDocument/2006/relationships/notesMaster" Target="/ppt/notesMasters/notesMaster1.xml" Id="R8d6843cd2d3b47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decision problem. A person may need to compare broad parts of mainland Portugal before spending time on municipal, site and property-specific checks. The project offers comparative evidence, not a property recommendation.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Project README; docs/project_brief.md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record represents one mainland Portugal 1 km × 1 km cell in predictor year T. Its target is the burned share observed in T+1—the proportion of the cell’s land area covered by burned-area polygons.</a:t>
            </a:r>
            <a:br/>
            <a:endParaRPr/>
          </a:p>
          <a:p xmlns:a="http://schemas.openxmlformats.org/drawingml/2006/main">
            <a:r>
              <a:t>ICNF supplies observed fire history and outcomes. Copernicus CLC and DEM provide land-cover and terrain context. ERA5-Land supplies T-only warm-season climate context.</a:t>
            </a:r>
            <a:br/>
            <a:endParaRPr/>
          </a:p>
          <a:p xmlns:a="http://schemas.openxmlformats.org/drawingml/2006/main">
            <a:r>
              <a:t>The 2 km area is an outward context buffer around each 1 km cell, not a second grid. ERA5-Land values come from the coarse climate grid without interpolation or downscaling.</a:t>
            </a:r>
            <a:br/>
            <a:endParaRPr/>
          </a:p>
          <a:p xmlns:a="http://schemas.openxmlformats.org/drawingml/2006/main">
            <a:r>
              <a:t>[Sources]</a:t>
            </a:r>
            <a:br/>
            <a:r>
              <a:t>docs/data_dictionary.md; reports/validation/canonical_full_scope_readiness.md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</a:t>
            </a:r>
            <a:r>
              <a:t>slode</a:t>
            </a:r>
            <a:r>
              <a:t> shows observed historical evidence, official ICNF planning of burns and 2026 prediction.</a:t>
            </a:r>
          </a:p>
          <a:p xmlns:a="http://schemas.openxmlformats.org/drawingml/2006/main">
            <a:r>
              <a:t>Each 1 km cell is </a:t>
            </a:r>
            <a:r>
              <a:t>coloured</a:t>
            </a:r>
            <a:r>
              <a:t> by the number of distinct burned years from 2016–2025 within its mainland-masked 2 km context.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The three comparison layers should be read separately:</a:t>
            </a:r>
          </a:p>
          <a:p xmlns:a="http://schemas.openxmlformats.org/drawingml/2006/main">
            <a:pPr>
              <a:buFont typeface="Arial"/>
              <a:buChar char="•"/>
            </a:pPr>
            <a:r>
              <a:rPr b="1"/>
              <a:t>Historical recurrence:</a:t>
            </a:r>
            <a:r>
              <a:t> what was observed to burn.</a:t>
            </a:r>
          </a:p>
          <a:p xmlns:a="http://schemas.openxmlformats.org/drawingml/2006/main">
            <a:pPr>
              <a:buFont typeface="Arial"/>
              <a:buChar char="•"/>
            </a:pPr>
            <a:r>
              <a:rPr b="1"/>
              <a:t>Official ICNF structural hazard:</a:t>
            </a:r>
            <a:r>
              <a:t> an independent classification of underlying landscape hazard conditions.</a:t>
            </a:r>
          </a:p>
          <a:p xmlns:a="http://schemas.openxmlformats.org/drawingml/2006/main">
            <a:pPr>
              <a:buFont typeface="Arial"/>
              <a:buChar char="•"/>
            </a:pPr>
            <a:r>
              <a:rPr b="1"/>
              <a:t>2026 estimated comparative exposure:</a:t>
            </a:r>
            <a:r>
              <a:t> the model’s target-free cell-level estimate based on predictor data.</a:t>
            </a:r>
          </a:p>
          <a:p xmlns:a="http://schemas.openxmlformats.org/drawingml/2006/main">
            <a:pPr>
              <a:buFont typeface="Arial"/>
              <a:buChar char="•"/>
            </a:pPr>
            <a:endParaRPr/>
          </a:p>
          <a:p xmlns:a="http://schemas.openxmlformats.org/drawingml/2006/main">
            <a:r>
              <a:t>These layers provide different types of evidence and should not be added together or interpreted as one score. The comparison helps identify broad areas for further investigation; it does not certify a location.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  <a:br/>
            <a:r>
              <a:t>reports/figures/historical_wildfire_exposure_screening_mainland_portugal.png; reports/validation/historical_exposure_screening_and_icnf_comparison.md; </a:t>
            </a:r>
            <a:r>
              <a:t>qgis</a:t>
            </a:r>
            <a:r>
              <a:t>/README.md; reports/validation/operational_forecast_2026_validation.md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these speaker notes for Slide 4:</a:t>
            </a:r>
          </a:p>
          <a:p xmlns:a="http://schemas.openxmlformats.org/drawingml/2006/main">
            <a:r>
              <a:t>This slide compares two different types of wildfire evidence. Historical recurrence records what actually burned during 2016–2025, counting distinct burned years within the 2 km context around each 1 km cell.</a:t>
            </a:r>
            <a:br/>
            <a:endParaRPr/>
          </a:p>
          <a:p xmlns:a="http://schemas.openxmlformats.org/drawingml/2006/main">
            <a:r>
              <a:t>The official ICNF structural-hazard layer describes relatively persistent landscape conditions associated with wildfire hazard. Its original 25 m classes were </a:t>
            </a:r>
            <a:r>
              <a:t>summarised</a:t>
            </a:r>
            <a:r>
              <a:t> to the predominant class in each 1 km cell. It is an official reference layer, not a forecast and not the project’s ML output.</a:t>
            </a:r>
            <a:br/>
            <a:endParaRPr/>
          </a:p>
          <a:p xmlns:a="http://schemas.openxmlformats.org/drawingml/2006/main">
            <a:r>
              <a:t>The story is not that one layer is correct and the other is wrong. They answer different questions and use different methods. Areas where they agree provide consistent context; areas where they differ show where further investigation may be useful.</a:t>
            </a:r>
            <a:br/>
            <a:endParaRPr/>
          </a:p>
          <a:p xmlns:a="http://schemas.openxmlformats.org/drawingml/2006/main">
            <a:r>
              <a:t>The comparison is descriptive only. It is not a model-accuracy test, a buyer threshold or a certification of any location.</a:t>
            </a:r>
            <a:br/>
            <a:endParaRPr/>
          </a:p>
          <a:p xmlns:a="http://schemas.openxmlformats.org/drawingml/2006/main">
            <a:r>
              <a:t>[Sources]</a:t>
            </a:r>
            <a:br/>
            <a:r>
              <a:t>qgis</a:t>
            </a:r>
            <a:r>
              <a:t>/README.md; docs/data_dictionary.md; reports/figures/historical_exposure_by_icnf_structural_hazard_crosstab.png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compares the transparent historical-recurrence baseline with the nine-feature two-part regression model.</a:t>
            </a:r>
          </a:p>
          <a:p xmlns:a="http://schemas.openxmlformats.org/drawingml/2006/main">
            <a:r>
              <a:t>The baseline is a project-specific benchmark, not a library model. It groups training records by the number of previously burned years in the 2 km context and calculates the average next-year burned share for each group.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The nine-feature model uses scikit-</a:t>
            </a:r>
            <a:r>
              <a:t>learn’s</a:t>
            </a:r>
            <a:r>
              <a:t> </a:t>
            </a:r>
            <a:r>
              <a:t>HistGradientBoosting</a:t>
            </a:r>
            <a:r>
              <a:t> algorithms. One component handles whether burning is expected; the other estimates how much of the cell may burn when burning occurs. Together, they produce one continuous burned-share estimate for the following year.</a:t>
            </a:r>
          </a:p>
          <a:p xmlns:a="http://schemas.openxmlformats.org/drawingml/2006/main">
            <a:r>
              <a:t>The table shows the frozen final temporal comparison. The arrows run from the historical baseline to the nine-feature model. MAE measures average burned-share error; RMSE gives more weight to larger errors.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Yes, that makes sense. Use explicit predictor and outcome years:</a:t>
            </a:r>
          </a:p>
          <a:p xmlns:a="http://schemas.openxmlformats.org/drawingml/2006/main">
            <a:r>
              <a:rPr b="1"/>
              <a:t>Capture@20% is a validation test of the ranking.</a:t>
            </a:r>
            <a:r>
              <a:t> For each predictor year, the model ranks cells using data from year </a:t>
            </a:r>
            <a:r>
              <a:rPr b="1"/>
              <a:t>T</a:t>
            </a:r>
            <a:r>
              <a:t> and estimates burned share for </a:t>
            </a:r>
            <a:r>
              <a:rPr b="1"/>
              <a:t>T+1</a:t>
            </a:r>
            <a:r>
              <a:t>. For example, for </a:t>
            </a:r>
            <a:r>
              <a:rPr b="1"/>
              <a:t>T = 2024</a:t>
            </a:r>
            <a:r>
              <a:t>, it ranks cells using 2024 predictor data and is later checked against the actual ICNF burned areas observed in </a:t>
            </a:r>
            <a:r>
              <a:rPr b="1"/>
              <a:t>2025</a:t>
            </a:r>
            <a:r>
              <a:t>.</a:t>
            </a:r>
          </a:p>
          <a:p xmlns:a="http://schemas.openxmlformats.org/drawingml/2006/main">
            <a:r>
              <a:t>The final evaluation covers the year pairs </a:t>
            </a:r>
            <a:r>
              <a:rPr b="1"/>
              <a:t>2022→2023, 2023→2024 and 2024→2025</a:t>
            </a:r>
            <a:r>
              <a:t>. For each pair, we select the highest-scored 20% of cells and measure how much of the burned share observed in </a:t>
            </a:r>
            <a:r>
              <a:rPr b="1"/>
              <a:t>T+1</a:t>
            </a:r>
            <a:r>
              <a:t> occurred in those cells.</a:t>
            </a:r>
          </a:p>
          <a:p xmlns:a="http://schemas.openxmlformats.org/drawingml/2006/main">
            <a:r>
              <a:t>Across the final test, the historical baseline captured </a:t>
            </a:r>
            <a:r>
              <a:rPr b="1"/>
              <a:t>48.2%</a:t>
            </a:r>
            <a:r>
              <a:t> of observed burned share in its top-ranked 20% of cells. The nine-feature model captured </a:t>
            </a:r>
            <a:r>
              <a:rPr b="1"/>
              <a:t>50.0%</a:t>
            </a:r>
            <a:r>
              <a:t>.</a:t>
            </a:r>
          </a:p>
          <a:p xmlns:a="http://schemas.openxmlformats.org/drawingml/2006/main">
            <a:r>
              <a:t>This does not mean that 20% of the land burned. It is only a retrospective ranking diagnostic. In a future cycle, the same logic would apply to </a:t>
            </a:r>
            <a:r>
              <a:rPr b="1"/>
              <a:t>2035→2036</a:t>
            </a:r>
            <a:r>
              <a:t>, but only after the 2036 outcome data became available.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  <a:br/>
            <a:r>
              <a:t>reports/validation/model_final_decision.md; reports/figures/model_final_test_metric_comparison.png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simple scenario: a prospective buyer is considering several broad areas in mainland Portugal. Start with the 2026 comparative estimate, which compares 1 km cells using 2025 predictor inputs. Then read historical recurrence and the official ICNF structural-hazard layer alongside it; the three layers provide separate context rather than one combined score. The result is a shorter list of broad areas to visit and investigate. Local planning, access, insurance, terrain and property-specific evidence still support the final choice.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qgis/wildfire_exposure_screening_portugal_2026.qgz; qgis/README.md; reports/validation/operational_forecast_2026_validation.md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gives the two recommendations that follow the use case. First, compare the three separate layers before shortlisting: the 2026 comparative estimate, observed recurrence and the official structural-hazard reference. Second, once broad areas are shortlisted, verify them with local and property-specific evidence. The annual update cycle belongs on the conclusion slide, so this slide stays focused on responsible use.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qgis/README.md; docs/data_dictionary.md; reports/validation/historical_exposure_screening_and_icnf_comparison.md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three points. First, the project delivers a reproducible national workflow that combines data science, machine learning and GIS. Second, historical recurrence, official structural hazard and the model each contribute different evidence; the model gives a modest improvement over the historical baseline but extreme years remain difficult. Third, the practical use is to narrow broad location-search areas before detailed local research. The next project step is an annual refresh: once new completed-year inputs and the observed 2026 outcome are available, rerun the fixed workflow and evaluate the 2026 estimate.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README.md; reports/validation/model_final_decision.md; reports/validation/operational_forecast_readiness.md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69d1a266694a7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89b0ace5954e31" /><Relationship Type="http://schemas.openxmlformats.org/officeDocument/2006/relationships/slideLayout" Target="/ppt/slideLayouts/slideLayout1.xml" Id="R3f409376bffb412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409376bffb412c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6cb5fc21da4629" /><Relationship Type="http://schemas.openxmlformats.org/officeDocument/2006/relationships/notesSlide" Target="/ppt/notesSlides/notesSlide1.xml" Id="R295657a4880e4b2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8126471264dc1" /><Relationship Type="http://schemas.openxmlformats.org/officeDocument/2006/relationships/notesSlide" Target="/ppt/notesSlides/notesSlide2.xml" Id="R9852ea3e571444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6e5ba1d9c448f8" /><Relationship Type="http://schemas.openxmlformats.org/officeDocument/2006/relationships/image" Target="/ppt/media/image.png" Id="Rabc19515f8164789" /><Relationship Type="http://schemas.openxmlformats.org/officeDocument/2006/relationships/notesSlide" Target="/ppt/notesSlides/notesSlide3.xml" Id="R3de28ddf9e7a49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4e71dfdf8946fd" /><Relationship Type="http://schemas.openxmlformats.org/officeDocument/2006/relationships/notesSlide" Target="/ppt/notesSlides/notesSlide4.xml" Id="Rfdd6226ac8b249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fb1a29477242c6" /><Relationship Type="http://schemas.openxmlformats.org/officeDocument/2006/relationships/notesSlide" Target="/ppt/notesSlides/notesSlide5.xml" Id="R93c70bc85f6849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67a97233f4f1c" /><Relationship Type="http://schemas.openxmlformats.org/officeDocument/2006/relationships/notesSlide" Target="/ppt/notesSlides/notesSlide6.xml" Id="Rc06fe3a3b64f49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2287139095493b" /><Relationship Type="http://schemas.openxmlformats.org/officeDocument/2006/relationships/notesSlide" Target="/ppt/notesSlides/notesSlide7.xml" Id="R65855ea34bea49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8d03d1f9834d44" /><Relationship Type="http://schemas.openxmlformats.org/officeDocument/2006/relationships/notesSlide" Target="/ppt/notesSlides/notesSlide8.xml" Id="R34bb09b415bb415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7271A54-A21F-461B-81FE-9352EC03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F2D"/>
          </a:solidFill>
          <a:ln xmlns:a="http://schemas.openxmlformats.org/drawingml/2006/main" w="12700">
            <a:solidFill>
              <a:srgbClr val="0D1F2D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DACC1B4-1154-4329-A73F-48B1DC58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21EBCE3-53B5-467C-8E29-72B844CA3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9017F92D-E245-4025-90D8-8EDF916C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137160"/>
            <a:ext cx="141732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50F063B7-97FC-4057-91C5-01147213D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" y="137160"/>
            <a:ext cx="14173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>
                <a:solidFill>
                  <a:srgbClr val="E1E8EF"/>
                </a:solidFill>
              </a:rPr>
              <a:t>DATA SCIENCE &amp; ML CAPSTONE</a:t>
            </a:r>
            <a:endParaRPr sz="75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0C36328-C5D1-4010-B8F0-E622D0A8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37160"/>
            <a:ext cx="141732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5A06437-0A3C-43F1-8C4D-8B11B9E4B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37160"/>
            <a:ext cx="14173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50" b="1">
                <a:solidFill>
                  <a:srgbClr val="0D1F2D"/>
                </a:solidFill>
              </a:rPr>
              <a:t>2026</a:t>
            </a:r>
            <a:endParaRPr sz="75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BC5597E-259F-4375-AD7E-442DC35D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56692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E8A020"/>
                </a:solidFill>
              </a:rPr>
              <a:t>WILDFIRE EXPOSURE SCREENING</a:t>
            </a:r>
            <a:endParaRPr sz="1000"/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04374D4-53B8-40B4-AD27-574FDD97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914400"/>
            <a:ext cx="5577840" cy="1828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5200" b="1">
                <a:solidFill>
                  <a:srgbClr val="FFFFFF"/>
                </a:solidFill>
              </a:rPr>
              <a:t>Wildfire Exposure</a:t>
            </a:r>
            <a:endParaRPr sz="5200"/>
          </a:p>
          <a:p xmlns:a="http://schemas.openxmlformats.org/drawingml/2006/main">
            <a:pPr marL="0" indent="0">
              <a:buNone/>
            </a:pPr>
            <a:r>
              <a:rPr sz="5200" b="1">
                <a:solidFill>
                  <a:srgbClr val="FFFFFF"/>
                </a:solidFill>
              </a:rPr>
              <a:t>Screening</a:t>
            </a:r>
            <a:endParaRPr sz="52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20E7387F-C7E0-45B4-95FC-3980C467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834640"/>
            <a:ext cx="5577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i="1">
                <a:solidFill>
                  <a:srgbClr val="A8C4D8"/>
                </a:solidFill>
              </a:rPr>
              <a:t>A reproducible GIS and machine-learning workflow for broad-area location research.</a:t>
            </a:r>
            <a:endParaRPr sz="130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84D7FAF1-5834-4AFE-87A0-3EB7DF4F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310128"/>
            <a:ext cx="5303520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55AB15B4-F408-4652-B072-3916646D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383280"/>
            <a:ext cx="5303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E1E8EF"/>
                </a:solidFill>
              </a:rPr>
              <a:t>Serhii Diadechko</a:t>
            </a:r>
            <a:endParaRPr sz="110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BEE0D39-8F48-47D0-AC97-A5C1383B7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777240"/>
            <a:ext cx="2834640" cy="3931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B9DF6536-1C4E-4314-9CB6-ABE7AFD6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822960"/>
            <a:ext cx="28346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 b="1">
                <a:solidFill>
                  <a:srgbClr val="E8A020"/>
                </a:solidFill>
              </a:rPr>
              <a:t>Purpose</a:t>
            </a:r>
            <a:endParaRPr sz="900"/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5B21C9E4-9D51-47F8-A634-86927AA3D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170432"/>
            <a:ext cx="2560320" cy="228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F36FA1E7-8AA0-4F97-BCC4-F9EF38BF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261872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Observed history</a:t>
            </a:r>
            <a:endParaRPr sz="10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78B0B14-0C2A-4376-A31F-8BD2A8320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92224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Landscape, terrain and climate</a:t>
            </a:r>
            <a:endParaRPr sz="105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E7E2DF4-82FF-4297-BC2B-22C484A80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322576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Comparative 2026 estimate</a:t>
            </a:r>
            <a:endParaRPr sz="10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D6F7EF9-033D-4506-9EBE-BFE18477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852928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Narrow broad search areas</a:t>
            </a:r>
            <a:endParaRPr sz="105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A8932156-3970-4237-A76D-30F8D26A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383280"/>
            <a:ext cx="25603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50" b="1">
                <a:solidFill>
                  <a:srgbClr val="E8A020"/>
                </a:solidFill>
              </a:rPr>
              <a:t>Then continue with local evidence</a:t>
            </a:r>
            <a:endParaRPr sz="10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60B28163-A49C-4C75-B149-473B2413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19472"/>
            <a:ext cx="9144000" cy="2240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B3D"/>
          </a:solidFill>
          <a:ln xmlns:a="http://schemas.openxmlformats.org/drawingml/2006/main" w="12700">
            <a:solidFill>
              <a:srgbClr val="162B3D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D759CE5D-7A30-48C4-B49F-00835A05C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919472"/>
            <a:ext cx="8595360" cy="2240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9159638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A86A1C8-DB06-4DCE-9DAF-693B7C77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9"/>
          </a:solidFill>
          <a:ln xmlns:a="http://schemas.openxmlformats.org/drawingml/2006/main"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197F66D-6C57-4707-8514-4D78C9DE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CC99481-8AFC-45E5-8E41-5D92798E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"/>
            <a:ext cx="91440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BEB6717-FD6D-4B81-81A9-77D30FCE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4008"/>
            <a:ext cx="7315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DATASET OVERVIEW</a:t>
            </a:r>
            <a:endParaRPr sz="11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C101844-9940-49BE-8B17-716FB787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008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2 / 8</a:t>
            </a:r>
            <a:endParaRPr sz="11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121B0D7-68D2-4F3B-B4D9-855405D8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804672"/>
            <a:ext cx="85953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One 1 km mainland cell per year makes the evidence comparable</a:t>
            </a:r>
            <a:endParaRPr sz="16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015B360-BBBA-4DE0-9795-57F03150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0"/>
            <a:ext cx="265176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E6DB4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C07B9EA-88EE-49EE-B7D4-7BDB797C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0"/>
            <a:ext cx="26517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9484D15-B5B7-461A-BAA9-47327A4B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OBSERVED FIRE</a:t>
            </a:r>
            <a:endParaRPr sz="11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7C6A5B0-CECC-4ACC-9832-24A59DDB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792224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ICNF annual burned areas</a:t>
            </a:r>
            <a:endParaRPr sz="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2DC359E-9E6E-4E9F-BF48-BEF9690E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4825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Historical occurrence and next-year burned-share outcomes. Fire recurrence is measured in a 2 km context buffer.</a:t>
            </a:r>
            <a:endParaRPr sz="8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CD4E307-F1DC-41BD-A2A0-EF4229C6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578608"/>
            <a:ext cx="24688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0FD"/>
          </a:solidFill>
          <a:ln xmlns:a="http://schemas.openxmlformats.org/drawingml/2006/main" w="12700">
            <a:solidFill>
              <a:srgbClr val="EBF0FD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2C8DE72-7721-45D6-B469-D1F7820E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57860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2000–2025 coverage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0536C49-BFED-466A-8A4F-1AF9F883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14553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observed history and outcome labels</a:t>
            </a:r>
            <a:endParaRPr sz="7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61C0752-DC49-4F35-AFC7-AB88C79F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75888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Burned share = burned land area / cell land area.</a:t>
            </a:r>
            <a:endParaRPr sz="7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4724BAC-EE83-433E-87E5-BC0E996B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2560320"/>
            <a:ext cx="320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8BDC9BD-5FAD-4BBE-B51A-B021702F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371600"/>
            <a:ext cx="265176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67E22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FE4F804-F3B6-4684-BFCD-65359548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371600"/>
            <a:ext cx="26517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7E22"/>
          </a:solidFill>
          <a:ln xmlns:a="http://schemas.openxmlformats.org/drawingml/2006/main" w="12700">
            <a:solidFill>
              <a:srgbClr val="E67E22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823FAC1-C9B5-4631-81A0-0779D0A7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37160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PLACE CONTEXT</a:t>
            </a:r>
            <a:endParaRPr sz="11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DF192D1-D9B3-4618-B786-9A11E17D0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792224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CLC and Copernicus DEM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5B99BF9-D34E-45F7-A42A-E1EE7420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04825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Built-up share, forest/shrub context and mean slope describe the surrounding landscape.</a:t>
            </a:r>
            <a:endParaRPr sz="8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6F886BEF-D149-4B22-AB28-BF3F1616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578608"/>
            <a:ext cx="24688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E2"/>
          </a:solidFill>
          <a:ln xmlns:a="http://schemas.openxmlformats.org/drawingml/2006/main" w="12700">
            <a:solidFill>
              <a:srgbClr val="FEF3E2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0A0214D-E33A-4BF0-8D70-726CFE03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257860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Static or governed historical layers</a:t>
            </a:r>
            <a:endParaRPr sz="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DB0DD6E-990A-42DB-9875-F090FBA9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14553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landscape and terrain predictors</a:t>
            </a:r>
            <a:endParaRPr sz="7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7AC1FC5-9639-4DA9-B51C-80DD5E46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675888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No parcel-level claim.</a:t>
            </a:r>
            <a:endParaRPr sz="7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4357DB5-05F8-4CF5-8D21-E89F0DFA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464" y="2560320"/>
            <a:ext cx="320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C1EB402B-5D07-41FD-A88B-C668B309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371600"/>
            <a:ext cx="265176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A9D61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CB31566B-19C9-48AC-A726-E822C598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371600"/>
            <a:ext cx="26517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76FE3D7-10A4-4179-9328-3F34C913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37160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CLIMATE CONTEXT</a:t>
            </a:r>
            <a:endParaRPr sz="11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088C263C-A0CB-4982-A338-F3A1BB2F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1792224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ERA5-Land JJAS</a:t>
            </a:r>
            <a:endParaRPr sz="8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591A679-B15E-406C-86A0-00F6CAE7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04825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Warm-season temperature, precipitation and shallow soil-water conditions from predictor year T only.</a:t>
            </a:r>
            <a:endParaRPr sz="85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21F582AF-C78B-4E58-9B57-6833B74F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578608"/>
            <a:ext cx="24688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5EE"/>
          </a:solidFill>
          <a:ln xmlns:a="http://schemas.openxmlformats.org/drawingml/2006/main" w="12700">
            <a:solidFill>
              <a:srgbClr val="E6F5EE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31D7657-5536-4C80-9B52-926E19C3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57860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0.1° regional climate cells</a:t>
            </a:r>
            <a:endParaRPr sz="8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55C2D91-F1C0-4C81-A522-273CE805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314553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Use: predictor-year climate context</a:t>
            </a:r>
            <a:endParaRPr sz="75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48B69A9-A889-4CDD-892E-2DD98266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3675888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No interpolation or downscaling.</a:t>
            </a:r>
            <a:endParaRPr sz="75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CF7DD12-EEE0-44CF-90BD-A5A65553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315968"/>
            <a:ext cx="85953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F2D"/>
          </a:solidFill>
          <a:ln xmlns:a="http://schemas.openxmlformats.org/drawingml/2006/main" w="12700">
            <a:solidFill>
              <a:srgbClr val="0D1F2D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437652F4-0A68-4E8D-8FB1-0D1F3BBD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4315968"/>
            <a:ext cx="8321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E8A020"/>
                </a:solidFill>
              </a:rPr>
              <a:t>89,112 mainland cells; one EPSG:3763 1 km cell × predictor year record.</a:t>
            </a:r>
            <a:endParaRPr sz="85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49A759C5-57AB-43DF-B3F0-A2B8CCAB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19472"/>
            <a:ext cx="9144000" cy="2240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B3D"/>
          </a:solidFill>
          <a:ln xmlns:a="http://schemas.openxmlformats.org/drawingml/2006/main" w="12700">
            <a:solidFill>
              <a:srgbClr val="162B3D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0C3C7AC-0669-4B0F-BD8F-AB88AC48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919472"/>
            <a:ext cx="8595360" cy="2240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926691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916D61E-8D80-4696-BE48-571111EE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9"/>
          </a:solidFill>
          <a:ln xmlns:a="http://schemas.openxmlformats.org/drawingml/2006/main"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C197073-0349-496C-B731-E02726BC0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344C750-A1AC-4D96-B5ED-2E59EAB5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"/>
            <a:ext cx="91440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BCF9260-F9BB-427A-A715-0CA619DD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4008"/>
            <a:ext cx="7315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1</a:t>
            </a:r>
            <a:endParaRPr sz="11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7C069EAE-F0EA-403F-93EC-4D5FAD01E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008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3 / 8</a:t>
            </a:r>
            <a:endParaRPr sz="11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66943B0-65A2-4E8E-A093-55763EACA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804672"/>
            <a:ext cx="8595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Historical wildfire recurrence is uneven across mainland Portugal</a:t>
            </a:r>
            <a:r>
              <a:rPr sz="1600" b="1">
                <a:solidFill>
                  <a:srgbClr val="1A2638"/>
                </a:solidFill>
              </a:rPr>
              <a:t> (left map)</a:t>
            </a:r>
            <a:endParaRPr sz="16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021BB8D3-723F-4991-A475-17320C377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298448"/>
            <a:ext cx="859536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8E8"/>
          </a:solidFill>
          <a:ln xmlns:a="http://schemas.openxmlformats.org/drawingml/2006/main" w="12700">
            <a:solidFill>
              <a:srgbClr val="C0392B"/>
            </a:solidFill>
            <a:prstDash val="solid"/>
          </a:ln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B4EBC4C6-D447-4B5F-9E95-5E50F6C0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298448"/>
            <a:ext cx="128016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392B"/>
          </a:solidFill>
          <a:ln xmlns:a="http://schemas.openxmlformats.org/drawingml/2006/main" w="12700">
            <a:solidFill>
              <a:srgbClr val="C0392B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F3F9A90-A64A-44E4-8B61-269E127D3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1298448"/>
            <a:ext cx="41148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C0392B"/>
                </a:solidFill>
              </a:rPr>
              <a:t>01</a:t>
            </a:r>
            <a:endParaRPr sz="18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ECD7901-FF1F-4AD5-BD05-D2EAF149B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353312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Reading the slides out loud</a:t>
            </a:r>
            <a:endParaRPr sz="1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9D47A8B-8774-4620-BDFB-D07CF55F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664208"/>
            <a:ext cx="7772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C0392B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Your slides show the chart. You explain what it means. Script: "This chart shows X — what's interesting is Y, because Z."</a:t>
            </a:r>
            <a:endParaRPr sz="8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AF904D4-1953-4361-98CD-B6C1318D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121408"/>
            <a:ext cx="859536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E2"/>
          </a:solidFill>
          <a:ln xmlns:a="http://schemas.openxmlformats.org/drawingml/2006/main" w="12700">
            <a:solidFill>
              <a:srgbClr val="E67E22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6F18261-0B59-40F2-909D-5E0D887A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121408"/>
            <a:ext cx="128016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7E22"/>
          </a:solidFill>
          <a:ln xmlns:a="http://schemas.openxmlformats.org/drawingml/2006/main" w="12700">
            <a:solidFill>
              <a:srgbClr val="E67E22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24C7072-A5D1-41E5-AF09-50C809B5F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121408"/>
            <a:ext cx="41148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E67E22"/>
                </a:solidFill>
              </a:rPr>
              <a:t>02</a:t>
            </a:r>
            <a:endParaRPr sz="1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A194C2BB-26D7-41F8-99E2-0E08561EB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176272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Too many charts, not enough story</a:t>
            </a:r>
            <a:endParaRPr sz="10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04F7CD5-4B32-4EC8-B1FA-B54C12F2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87168"/>
            <a:ext cx="7772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E67E22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Max 1 chart per slide. Ask: does removing this chart break the argument? If not, cut it.</a:t>
            </a:r>
            <a:endParaRPr sz="85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35666D60-5174-46D3-A3BC-CBDD5C364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944368"/>
            <a:ext cx="859536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0FD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4CEC4C53-0577-45FB-8EDC-DA224AD08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2944368"/>
            <a:ext cx="128016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59F80E8F-8BB5-41D6-83D6-61200F38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2944368"/>
            <a:ext cx="41148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2E6DB4"/>
                </a:solidFill>
              </a:rPr>
              <a:t>03</a:t>
            </a:r>
            <a:endParaRPr sz="18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6F4D743-7166-4C64-ACF2-234AB2EC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999232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Data without context</a:t>
            </a:r>
            <a:endParaRPr sz="10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D3590A5-0038-4FF2-9E08-71324661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0128"/>
            <a:ext cx="7772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E6DB4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Always say what the number means relative to something. "€1,847 average" means nothing. "€1,847 — 3x higher than online courses" means something.</a:t>
            </a:r>
            <a:endParaRPr sz="8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DF6DDFBC-DA0D-4E16-8419-87C24D8B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3767328"/>
            <a:ext cx="8595360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8F7"/>
          </a:solidFill>
          <a:ln xmlns:a="http://schemas.openxmlformats.org/drawingml/2006/main" w="12700">
            <a:solidFill>
              <a:srgbClr val="7B2D8B"/>
            </a:solidFill>
            <a:prstDash val="solid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B71F646-FDF1-472F-894C-B09E4E53D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3767328"/>
            <a:ext cx="128016" cy="7498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8B"/>
          </a:solidFill>
          <a:ln xmlns:a="http://schemas.openxmlformats.org/drawingml/2006/main" w="12700">
            <a:solidFill>
              <a:srgbClr val="7B2D8B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001E16E-E869-4684-B29F-D534238B7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3767328"/>
            <a:ext cx="41148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7B2D8B"/>
                </a:solidFill>
              </a:rPr>
              <a:t>04</a:t>
            </a:r>
            <a:endParaRPr sz="180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42521F6-A952-4571-99D0-D1B95A87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822192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Weak conclusions</a:t>
            </a:r>
            <a:endParaRPr sz="100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1DE35A4F-5401-4E71-BF6E-CE246A9E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133088"/>
            <a:ext cx="7772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7B2D8B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Ban "in conclusion, more research may be needed." Replace with: "We recommend X. The data supports this because Y."</a:t>
            </a:r>
            <a:endParaRPr sz="850"/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7800076-1163-4370-A185-DB36BF869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" y="4590288"/>
            <a:ext cx="41148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2A9D61"/>
                </a:solidFill>
              </a:rPr>
              <a:t>05</a:t>
            </a:r>
            <a:endParaRPr sz="18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7228FE94-2214-4A82-AFE2-3F267A1D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45152"/>
            <a:ext cx="41148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 b="1">
                <a:solidFill>
                  <a:srgbClr val="1A2638"/>
                </a:solidFill>
              </a:rPr>
              <a:t>Going over time</a:t>
            </a:r>
            <a:endParaRPr sz="10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BD7EEF37-68F4-4EDC-BFAF-6B828C194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956048"/>
            <a:ext cx="77724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2A9D61"/>
                </a:solidFill>
              </a:rPr>
              <a:t>Fix: </a:t>
            </a:r>
            <a:r>
              <a:rPr sz="850">
                <a:solidFill>
                  <a:srgbClr val="1A2638"/>
                </a:solidFill>
              </a:rPr>
              <a:t>Practice out loud with a timer. 8 slides x 1.5 min = 12 min. That's your target.</a:t>
            </a:r>
            <a:endParaRPr sz="85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35375F54-2542-44E4-9AE4-25E5F5E7C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19472"/>
            <a:ext cx="9144000" cy="2240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B3D"/>
          </a:solidFill>
          <a:ln xmlns:a="http://schemas.openxmlformats.org/drawingml/2006/main" w="12700">
            <a:solidFill>
              <a:srgbClr val="162B3D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311C9A05-ACCC-4E9D-9690-B5C3213D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919472"/>
            <a:ext cx="8595360" cy="2240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D9F4B17D-4C76-48E1-9681-BAFF543DC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200150"/>
            <a:ext cx="861060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69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c19515f816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6968" y="1200150"/>
            <a:ext cx="7318584" cy="3628257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253404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433246D-B8F5-43EE-AF32-B05C9849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9"/>
          </a:solidFill>
          <a:ln xmlns:a="http://schemas.openxmlformats.org/drawingml/2006/main"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9907FB8-8328-4B2E-B5E1-84E6FBE1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3F02133-847A-404E-9F4B-6A7DE78D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"/>
            <a:ext cx="91440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9F12DB4-3B5B-4A67-979D-6151E1B6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4008"/>
            <a:ext cx="7315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2</a:t>
            </a:r>
            <a:endParaRPr sz="11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57AA592-FB08-4D64-B87E-9FC8E806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008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4 / 8</a:t>
            </a:r>
            <a:endParaRPr sz="11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FAC5376-DFD7-4DF7-A857-0C2FD5CB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804672"/>
            <a:ext cx="8595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Historical recurrence and structural hazard provide complementary context</a:t>
            </a:r>
            <a:endParaRPr sz="16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A356FE9-CB03-42D1-9C21-8542E6BF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298448"/>
            <a:ext cx="416052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1E8EF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9A34953-58C7-478E-9736-94E8E8AC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298448"/>
            <a:ext cx="416052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138816D-F851-4B14-B5E7-C7892197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298448"/>
            <a:ext cx="41605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Evidence layers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48F928C-F102-49B4-A59E-1D4EE3D1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810512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D60D940-2AB4-4323-ACDD-A19A5EA6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810512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33F46A5-1D2D-44A3-B1A4-F5935365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773936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Counts 2016–2025 burned years in the 2 km context around each 1 km cell.</a:t>
            </a:r>
            <a:endParaRPr sz="8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A77203C-C6FB-43FE-9635-189E862B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212848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4054035-0280-46D0-8271-E333012C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212848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A866D65-32E1-4D14-85BC-277D343C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176272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Official structural hazard</a:t>
            </a:r>
            <a:endParaRPr sz="8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40346DD-06C1-46D3-B84B-71D11B0B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615184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4CE7231-C7DF-4668-B5A1-98622531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615184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2EF2D98-2C4B-4478-B6DE-59400CA0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578608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An official ICNF classification of underlying landscape hazard conditions, summarised from 25 m classes to the predominant 1 km class.</a:t>
            </a:r>
            <a:endParaRPr sz="8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CCE5F55-0293-4ED9-B7A2-2A8422E5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017520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21FABFD-07BB-4CB1-9DF3-6AB4C7F7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017520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F395E92-F661-43E4-B279-247D4D7C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80944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Why compare both?</a:t>
            </a:r>
            <a:endParaRPr sz="8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488D5AAF-075C-4381-8425-C8959717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419856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E83D27C-B8E2-4DEE-B204-D31E94B3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419856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8E3C507-F339-4F2F-954D-39C52FC0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383280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They use different methods and time frames, so agreement or disagreement adds context.</a:t>
            </a:r>
            <a:endParaRPr sz="8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8C68075-9284-4574-87C1-08DABFEF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822192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6782FB0-9CF8-4988-961D-609E903C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822192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0F27152-BCAD-46B7-826B-959E39FA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785616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Interpretation</a:t>
            </a:r>
            <a:endParaRPr sz="8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6FE7194F-DD64-44E7-98A2-9C4D4032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4224528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BF79431-F44F-4E26-8B43-6D69C499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4224528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34F4672-94F5-40EC-848A-2B04CEEC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187952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Structural hazard is not this project’s prediction and does not describe one particular year’s burned area.</a:t>
            </a:r>
            <a:endParaRPr sz="8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CFE47B9-6214-49BF-BAB5-E46AF5D6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4024" y="1554480"/>
            <a:ext cx="416052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1E8EF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A8D64D74-58C5-46B8-81B3-038E3D61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98448"/>
            <a:ext cx="416052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4210AFE-3DED-4395-AC76-61EA6433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98448"/>
            <a:ext cx="41605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One comparison, two sources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D1E2215-4749-4102-8766-0EF9CB90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55648"/>
            <a:ext cx="3886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Technical</a:t>
            </a:r>
            <a:endParaRPr sz="8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E9765024-23F7-4BAD-82E2-D0944ECD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093976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DB21FEE-311F-4CB4-9BB7-CEE277DD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093976"/>
            <a:ext cx="16459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C831CFF-D119-4E88-B1D0-71E29820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2048256"/>
            <a:ext cx="364845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Use the layers together to understand patterns; neither layer is a buyer threshold.</a:t>
            </a:r>
            <a:endParaRPr sz="8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E8C027E-8773-4500-B33B-62E87DB5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441448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60AA1538-DD26-48A4-801E-5B50EDDC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441448"/>
            <a:ext cx="16459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B334C3D-7F39-4FE7-B95B-21588560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2395728"/>
            <a:ext cx="364845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Maps describe evidence; they do not certify a location.</a:t>
            </a:r>
            <a:endParaRPr sz="8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EB1A818B-27E2-4AC9-A7A5-A37B13D8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788920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C9A0C132-E061-47E9-86DA-C56EBC4F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788920"/>
            <a:ext cx="16459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A498733C-FEFE-442D-BBCC-FBAA9886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2743200"/>
            <a:ext cx="364845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Both layers still require local verification.</a:t>
            </a:r>
            <a:endParaRPr sz="8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2261A078-89E7-4EDE-AF5A-975F083F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364992"/>
            <a:ext cx="3886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Delivery Tips</a:t>
            </a:r>
            <a:endParaRPr sz="80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878FBAF7-6DD0-4D72-8C29-5EBD1F7F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4015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endParaRPr sz="75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F3852103-32CC-4EA7-912B-BBCD278D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6301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Observed recurrence = what burned.</a:t>
            </a:r>
            <a:endParaRPr sz="750"/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2967BB4C-17C8-44CC-8349-2DF3F492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8587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Structural hazard = underlying landscape classification.</a:t>
            </a:r>
            <a:endParaRPr sz="750"/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DF4EBCB9-CEB0-41F1-802C-53DA0FCD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40873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Together = broader screening context.</a:t>
            </a:r>
            <a:endParaRPr sz="750"/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65D5A184-9B2C-4B10-B5DC-1A3F3D8E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43159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No model-accuracy claim is made from this comparison.</a:t>
            </a:r>
            <a:endParaRPr sz="750"/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60AB1022-AFE8-48AA-AF67-D4B90728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663440"/>
            <a:ext cx="85953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888510B6-7C6A-4727-A0E5-F48D9F36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4663440"/>
            <a:ext cx="83210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</a:rPr>
              <a:t>The official ICNF layer is a reference, not the project’s ML output.</a:t>
            </a:r>
            <a:endParaRPr sz="850"/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4EF06526-1530-434D-877D-54CADC54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19472"/>
            <a:ext cx="9144000" cy="2240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B3D"/>
          </a:solidFill>
          <a:ln xmlns:a="http://schemas.openxmlformats.org/drawingml/2006/main" w="12700">
            <a:solidFill>
              <a:srgbClr val="162B3D"/>
            </a:solidFill>
            <a:prstDash val="solid"/>
          </a:ln>
        </p:spPr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AAD75AC7-5746-4AD0-892D-25E5587B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919472"/>
            <a:ext cx="8595360" cy="2240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178166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433246D-B8F5-43EE-AF32-B05C9849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9"/>
          </a:solidFill>
          <a:ln xmlns:a="http://schemas.openxmlformats.org/drawingml/2006/main"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9907FB8-8328-4B2E-B5E1-84E6FBE1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3F02133-847A-404E-9F4B-6A7DE78D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"/>
            <a:ext cx="91440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9F12DB4-3B5B-4A67-979D-6151E1B6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4008"/>
            <a:ext cx="7315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KEY FINDING 3 — MODEL</a:t>
            </a:r>
            <a:endParaRPr sz="11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57AA592-FB08-4D64-B87E-9FC8E806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008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5 / 8</a:t>
            </a:r>
            <a:endParaRPr sz="11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FAC5376-DFD7-4DF7-A857-0C2FD5CB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804672"/>
            <a:ext cx="8595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The nine-feature model improves selected comparative diagnostics</a:t>
            </a:r>
            <a:endParaRPr sz="16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A356FE9-CB03-42D1-9C21-8542E6BF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298448"/>
            <a:ext cx="416052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1E8EF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9A34953-58C7-478E-9736-94E8E8AC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298448"/>
            <a:ext cx="416052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138816D-F851-4B14-B5E7-C7892197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298448"/>
            <a:ext cx="41605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MODEL COMPARISON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48F928C-F102-49B4-A59E-1D4EE3D1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810512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D60D940-2AB4-4323-ACDD-A19A5EA6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810512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33F46A5-1D2D-44A3-B1A4-F5935365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773936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Baseline </a:t>
            </a:r>
            <a:r>
              <a:rPr sz="850">
                <a:solidFill>
                  <a:srgbClr val="1A2638"/>
                </a:solidFill>
              </a:rPr>
              <a:t>-&gt;</a:t>
            </a:r>
            <a:r>
              <a:rPr sz="850">
                <a:solidFill>
                  <a:srgbClr val="1A2638"/>
                </a:solidFill>
              </a:rPr>
              <a:t> nine-feature model</a:t>
            </a:r>
            <a:endParaRPr sz="8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A77203C-C6FB-43FE-9635-189E862B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212848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4054035-0280-46D0-8271-E333012C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212848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A866D65-32E1-4D14-85BC-277D343C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176272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Historical recurrence baseline</a:t>
            </a:r>
            <a:r>
              <a:rPr sz="850">
                <a:solidFill>
                  <a:srgbClr val="1A2638"/>
                </a:solidFill>
              </a:rPr>
              <a:t> </a:t>
            </a:r>
            <a:r>
              <a:rPr sz="800" b="1">
                <a:solidFill>
                  <a:srgbClr val="1A2638"/>
                </a:solidFill>
              </a:rPr>
              <a:t>- </a:t>
            </a:r>
            <a:r>
              <a:rPr sz="800" b="1"/>
              <a:t>groups training records by the number of previously burned years </a:t>
            </a:r>
            <a:r>
              <a:rPr sz="800" b="1">
                <a:solidFill>
                  <a:srgbClr val="1A2638"/>
                </a:solidFill>
              </a:rPr>
              <a:t> </a:t>
            </a:r>
            <a:endParaRPr sz="800" b="1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40346DD-06C1-46D3-B84B-71D11B0B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615184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4CE7231-C7DF-4668-B5A1-98622531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615184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2EF2D98-2C4B-4478-B6DE-59400CA0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578608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Nine-feature hurdle model</a:t>
            </a:r>
            <a:r>
              <a:rPr sz="850">
                <a:solidFill>
                  <a:srgbClr val="1A2638"/>
                </a:solidFill>
              </a:rPr>
              <a:t> - </a:t>
            </a:r>
            <a:r>
              <a:rPr sz="850" b="1">
                <a:solidFill>
                  <a:srgbClr val="1A2638"/>
                </a:solidFill>
              </a:rPr>
              <a:t>HistGradientBoosting</a:t>
            </a:r>
            <a:endParaRPr sz="850" b="1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CCE5F55-0293-4ED9-B7A2-2A8422E5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017520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21FABFD-07BB-4CB1-9DF3-6AB4C7F7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017520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F395E92-F661-43E4-B279-247D4D7C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80944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MAE: 0.029  </a:t>
            </a:r>
            <a:r>
              <a:rPr sz="850">
                <a:solidFill>
                  <a:srgbClr val="1A2638"/>
                </a:solidFill>
              </a:rPr>
              <a:t>-&gt;</a:t>
            </a:r>
            <a:r>
              <a:rPr sz="850">
                <a:solidFill>
                  <a:srgbClr val="1A2638"/>
                </a:solidFill>
              </a:rPr>
              <a:t>  0.021</a:t>
            </a:r>
            <a:endParaRPr sz="8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488D5AAF-075C-4381-8425-C8959717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419856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E83D27C-B8E2-4DEE-B204-D31E94B3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419856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8E3C507-F339-4F2F-954D-39C52FC0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383280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RMSE: 0.111  </a:t>
            </a:r>
            <a:r>
              <a:rPr sz="850">
                <a:solidFill>
                  <a:srgbClr val="1A2638"/>
                </a:solidFill>
              </a:rPr>
              <a:t>-&gt;</a:t>
            </a:r>
            <a:r>
              <a:rPr sz="850">
                <a:solidFill>
                  <a:srgbClr val="1A2638"/>
                </a:solidFill>
              </a:rPr>
              <a:t>  0.111</a:t>
            </a:r>
            <a:endParaRPr sz="8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8C68075-9284-4574-87C1-08DABFEF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822192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6782FB0-9CF8-4988-961D-609E903C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822192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0F27152-BCAD-46B7-826B-959E39FA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785616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Capture@20%: 0.482  </a:t>
            </a:r>
            <a:r>
              <a:rPr sz="850">
                <a:solidFill>
                  <a:srgbClr val="1A2638"/>
                </a:solidFill>
              </a:rPr>
              <a:t>-&gt;</a:t>
            </a:r>
            <a:r>
              <a:rPr sz="850">
                <a:solidFill>
                  <a:srgbClr val="1A2638"/>
                </a:solidFill>
              </a:rPr>
              <a:t>  0.500</a:t>
            </a:r>
            <a:endParaRPr sz="8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6FE7194F-DD64-44E7-98A2-9C4D4032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4224528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BF79431-F44F-4E26-8B43-6D69C499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4224528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34F4672-94F5-40EC-848A-2B04CEEC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187952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Final temporal test: T=2022–2024; outcomes in T+1.</a:t>
            </a:r>
            <a:endParaRPr sz="8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CFE47B9-6214-49BF-BAB5-E46AF5D6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98448"/>
            <a:ext cx="416052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1E8EF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A8D64D74-58C5-46B8-81B3-038E3D61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98448"/>
            <a:ext cx="416052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4210AFE-3DED-4395-AC76-61EA6433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98448"/>
            <a:ext cx="41605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HOW TO READ IT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D1E2215-4749-4102-8766-0EF9CB90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55648"/>
            <a:ext cx="3886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Technical</a:t>
            </a:r>
            <a:endParaRPr sz="8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E9765024-23F7-4BAD-82E2-D0944ECD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093976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DB21FEE-311F-4CB4-9BB7-CEE277DD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093976"/>
            <a:ext cx="16459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C831CFF-D119-4E88-B1D0-71E29820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2048256"/>
            <a:ext cx="364845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MAE is average error in burned-share units; lower is better.</a:t>
            </a:r>
            <a:endParaRPr sz="8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E8C027E-8773-4500-B33B-62E87DB5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441448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60AA1538-DD26-48A4-801E-5B50EDDC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441448"/>
            <a:ext cx="16459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B334C3D-7F39-4FE7-B95B-21588560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2395728"/>
            <a:ext cx="364845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RMSE gives more weight to larger errors; lower is better.</a:t>
            </a:r>
            <a:endParaRPr sz="8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EB1A818B-27E2-4AC9-A7A5-A37B13D8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788920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C9A0C132-E061-47E9-86DA-C56EBC4F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788920"/>
            <a:ext cx="16459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A498733C-FEFE-442D-BBCC-FBAA9886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2743200"/>
            <a:ext cx="364845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Capture@20% is the share of observed burned share found among the 20% highest-scored cells.</a:t>
            </a:r>
            <a:endParaRPr sz="8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2261A078-89E7-4EDE-AF5A-975F083F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127248"/>
            <a:ext cx="3886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Delivery Tips</a:t>
            </a:r>
            <a:endParaRPr sz="80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878FBAF7-6DD0-4D72-8C29-5EBD1F7F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4015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It is a ranking diagnostic, not a buyer threshold.</a:t>
            </a:r>
            <a:endParaRPr sz="75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F3852103-32CC-4EA7-912B-BBCD278D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6301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The model improves selected comparisons, but extreme fire years remain difficult.</a:t>
            </a:r>
            <a:endParaRPr sz="750"/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2967BB4C-17C8-44CC-8349-2DF3F492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8587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The target is continuous burned share: burned land area divided by cell land area.</a:t>
            </a:r>
            <a:endParaRPr sz="750"/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DF4EBCB9-CEB0-41F1-802C-53DA0FCD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40873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The nine-feature model uses a two-part regression for the zero-heavy target.</a:t>
            </a:r>
            <a:endParaRPr sz="750"/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65D5A184-9B2C-4B10-B5DC-1A3F3D8E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43159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No final-test result is used to claim a property-level forecast.</a:t>
            </a:r>
            <a:endParaRPr sz="750"/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60AB1022-AFE8-48AA-AF67-D4B90728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663440"/>
            <a:ext cx="85953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888510B6-7C6A-4727-A0E5-F48D9F36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4663440"/>
            <a:ext cx="83210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</a:rPr>
              <a:t>Conclusion: useful comparative improvement with visible uncertainty.</a:t>
            </a:r>
            <a:endParaRPr sz="850"/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4EF06526-1530-434D-877D-54CADC54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19472"/>
            <a:ext cx="9144000" cy="2240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B3D"/>
          </a:solidFill>
          <a:ln xmlns:a="http://schemas.openxmlformats.org/drawingml/2006/main" w="12700">
            <a:solidFill>
              <a:srgbClr val="162B3D"/>
            </a:solidFill>
            <a:prstDash val="solid"/>
          </a:ln>
        </p:spPr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AAD75AC7-5746-4AD0-892D-25E5587B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919472"/>
            <a:ext cx="8595360" cy="2240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1781662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9E3B76F2-BCC7-BBF0-1273-7B2C877F9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9"/>
          </a:solidFill>
          <a:ln xmlns:a="http://schemas.openxmlformats.org/drawingml/2006/main" w="12700">
            <a:solidFill>
              <a:srgbClr val="F3F6F9"/>
            </a:solidFill>
            <a:prstDash val="solid"/>
          </a:ln>
        </p:spPr>
      </p:sp>
      <p:sp>
        <p:nvSpPr>
          <p:cNvPr id="42" name="Shape 1">
            <a:extLst xmlns:a="http://schemas.openxmlformats.org/drawingml/2006/main">
              <a:ext uri="{FF2B5EF4-FFF2-40B4-BE49-F238E27FC236}">
                <a16:creationId xmlns:a16="http://schemas.microsoft.com/office/drawing/2014/main" id="{4EF0D36C-C357-E332-9FBF-44583216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43" name="Shape 2">
            <a:extLst xmlns:a="http://schemas.openxmlformats.org/drawingml/2006/main">
              <a:ext uri="{FF2B5EF4-FFF2-40B4-BE49-F238E27FC236}">
                <a16:creationId xmlns:a16="http://schemas.microsoft.com/office/drawing/2014/main" id="{1CFE74E3-3462-A34A-4A20-31F9DE9F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"/>
            <a:ext cx="91440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44" name="Text 3">
            <a:extLst xmlns:a="http://schemas.openxmlformats.org/drawingml/2006/main">
              <a:ext uri="{FF2B5EF4-FFF2-40B4-BE49-F238E27FC236}">
                <a16:creationId xmlns:a16="http://schemas.microsoft.com/office/drawing/2014/main" id="{0D45B056-7786-F6DB-DB67-68872420F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4008"/>
            <a:ext cx="7315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RECOMMENDED USE CASE</a:t>
            </a:r>
            <a:endParaRPr sz="1100"/>
          </a:p>
        </p:txBody>
      </p:sp>
      <p:sp>
        <p:nvSpPr>
          <p:cNvPr id="45" name="Text 4">
            <a:extLst xmlns:a="http://schemas.openxmlformats.org/drawingml/2006/main">
              <a:ext uri="{FF2B5EF4-FFF2-40B4-BE49-F238E27FC236}">
                <a16:creationId xmlns:a16="http://schemas.microsoft.com/office/drawing/2014/main" id="{41DC7F03-CAB9-6A42-265A-C46904C8A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008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6 / 8</a:t>
            </a:r>
            <a:endParaRPr sz="1100"/>
          </a:p>
        </p:txBody>
      </p:sp>
      <p:sp>
        <p:nvSpPr>
          <p:cNvPr id="46" name="Text 5">
            <a:extLst xmlns:a="http://schemas.openxmlformats.org/drawingml/2006/main">
              <a:ext uri="{FF2B5EF4-FFF2-40B4-BE49-F238E27FC236}">
                <a16:creationId xmlns:a16="http://schemas.microsoft.com/office/drawing/2014/main" id="{D847301C-C927-7FAC-A769-4C641A7B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804672"/>
            <a:ext cx="85953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A prospective buyer narrows a Portugal location search</a:t>
            </a:r>
            <a:endParaRPr sz="1600"/>
          </a:p>
        </p:txBody>
      </p:sp>
      <p:sp>
        <p:nvSpPr>
          <p:cNvPr id="47" name="Shape 6">
            <a:extLst xmlns:a="http://schemas.openxmlformats.org/drawingml/2006/main">
              <a:ext uri="{FF2B5EF4-FFF2-40B4-BE49-F238E27FC236}">
                <a16:creationId xmlns:a16="http://schemas.microsoft.com/office/drawing/2014/main" id="{F70699D7-5B53-2C77-0175-B3B78E7E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0"/>
            <a:ext cx="265176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E6DB4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8" name="Shape 7">
            <a:extLst xmlns:a="http://schemas.openxmlformats.org/drawingml/2006/main">
              <a:ext uri="{FF2B5EF4-FFF2-40B4-BE49-F238E27FC236}">
                <a16:creationId xmlns:a16="http://schemas.microsoft.com/office/drawing/2014/main" id="{111BE822-2C18-0A11-F129-F8D57515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0"/>
            <a:ext cx="26517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49" name="Text 8">
            <a:extLst xmlns:a="http://schemas.openxmlformats.org/drawingml/2006/main">
              <a:ext uri="{FF2B5EF4-FFF2-40B4-BE49-F238E27FC236}">
                <a16:creationId xmlns:a16="http://schemas.microsoft.com/office/drawing/2014/main" id="{F7C43176-6DA9-3BA7-4DE8-A4C84CEC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START WITH</a:t>
            </a:r>
            <a:endParaRPr sz="1100"/>
          </a:p>
        </p:txBody>
      </p:sp>
      <p:sp>
        <p:nvSpPr>
          <p:cNvPr id="50" name="Text 9">
            <a:extLst xmlns:a="http://schemas.openxmlformats.org/drawingml/2006/main">
              <a:ext uri="{FF2B5EF4-FFF2-40B4-BE49-F238E27FC236}">
                <a16:creationId xmlns:a16="http://schemas.microsoft.com/office/drawing/2014/main" id="{25E0079F-7E52-BCD6-436F-A2013D60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792224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2026 comparative estimate</a:t>
            </a:r>
            <a:endParaRPr sz="800"/>
          </a:p>
        </p:txBody>
      </p:sp>
      <p:sp>
        <p:nvSpPr>
          <p:cNvPr id="51" name="Text 10">
            <a:extLst xmlns:a="http://schemas.openxmlformats.org/drawingml/2006/main">
              <a:ext uri="{FF2B5EF4-FFF2-40B4-BE49-F238E27FC236}">
                <a16:creationId xmlns:a16="http://schemas.microsoft.com/office/drawing/2014/main" id="{35DCCB06-55A6-7118-8D80-0423179B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4825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Compare broad 1 km areas using 2025 predictor inputs.</a:t>
            </a:r>
            <a:endParaRPr sz="850"/>
          </a:p>
        </p:txBody>
      </p:sp>
      <p:sp>
        <p:nvSpPr>
          <p:cNvPr id="52" name="Shape 11">
            <a:extLst xmlns:a="http://schemas.openxmlformats.org/drawingml/2006/main">
              <a:ext uri="{FF2B5EF4-FFF2-40B4-BE49-F238E27FC236}">
                <a16:creationId xmlns:a16="http://schemas.microsoft.com/office/drawing/2014/main" id="{48892306-CBC7-1476-476D-AF9408720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578608"/>
            <a:ext cx="24688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0FD"/>
          </a:solidFill>
          <a:ln xmlns:a="http://schemas.openxmlformats.org/drawingml/2006/main" w="12700">
            <a:solidFill>
              <a:srgbClr val="EBF0FD"/>
            </a:solidFill>
            <a:prstDash val="solid"/>
          </a:ln>
        </p:spPr>
      </p:sp>
      <p:sp>
        <p:nvSpPr>
          <p:cNvPr id="53" name="Text 12">
            <a:extLst xmlns:a="http://schemas.openxmlformats.org/drawingml/2006/main">
              <a:ext uri="{FF2B5EF4-FFF2-40B4-BE49-F238E27FC236}">
                <a16:creationId xmlns:a16="http://schemas.microsoft.com/office/drawing/2014/main" id="{524E6A7B-8390-A7C3-5810-F79BE56CA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57860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COMPARE CONTEXT</a:t>
            </a:r>
            <a:endParaRPr sz="800"/>
          </a:p>
        </p:txBody>
      </p:sp>
      <p:sp>
        <p:nvSpPr>
          <p:cNvPr id="54" name="Text 13">
            <a:extLst xmlns:a="http://schemas.openxmlformats.org/drawingml/2006/main">
              <a:ext uri="{FF2B5EF4-FFF2-40B4-BE49-F238E27FC236}">
                <a16:creationId xmlns:a16="http://schemas.microsoft.com/office/drawing/2014/main" id="{D813BEB0-AB29-1201-6C98-83ED8F01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14553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Historical recurrence + official ICNF structural hazard</a:t>
            </a:r>
            <a:endParaRPr sz="750"/>
          </a:p>
        </p:txBody>
      </p:sp>
      <p:sp>
        <p:nvSpPr>
          <p:cNvPr id="55" name="Text 14">
            <a:extLst xmlns:a="http://schemas.openxmlformats.org/drawingml/2006/main">
              <a:ext uri="{FF2B5EF4-FFF2-40B4-BE49-F238E27FC236}">
                <a16:creationId xmlns:a16="http://schemas.microsoft.com/office/drawing/2014/main" id="{1640E6C2-2736-6C47-08A7-E76229CD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75888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Read these layers alongside the estimate before shortlisting areas.</a:t>
            </a:r>
            <a:endParaRPr sz="750"/>
          </a:p>
        </p:txBody>
      </p:sp>
      <p:sp>
        <p:nvSpPr>
          <p:cNvPr id="56" name="Text 15">
            <a:extLst xmlns:a="http://schemas.openxmlformats.org/drawingml/2006/main">
              <a:ext uri="{FF2B5EF4-FFF2-40B4-BE49-F238E27FC236}">
                <a16:creationId xmlns:a16="http://schemas.microsoft.com/office/drawing/2014/main" id="{E7998FAA-1292-DEE4-FBBA-DA72F51B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2560320"/>
            <a:ext cx="320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57" name="Shape 16">
            <a:extLst xmlns:a="http://schemas.openxmlformats.org/drawingml/2006/main">
              <a:ext uri="{FF2B5EF4-FFF2-40B4-BE49-F238E27FC236}">
                <a16:creationId xmlns:a16="http://schemas.microsoft.com/office/drawing/2014/main" id="{AA16804A-52B3-003F-850D-E763525EB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371600"/>
            <a:ext cx="265176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67E22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8" name="Shape 17">
            <a:extLst xmlns:a="http://schemas.openxmlformats.org/drawingml/2006/main">
              <a:ext uri="{FF2B5EF4-FFF2-40B4-BE49-F238E27FC236}">
                <a16:creationId xmlns:a16="http://schemas.microsoft.com/office/drawing/2014/main" id="{A132002A-B816-4B27-A659-A2A2193B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371600"/>
            <a:ext cx="26517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7E22"/>
          </a:solidFill>
          <a:ln xmlns:a="http://schemas.openxmlformats.org/drawingml/2006/main" w="12700">
            <a:solidFill>
              <a:srgbClr val="E67E22"/>
            </a:solidFill>
            <a:prstDash val="solid"/>
          </a:ln>
        </p:spPr>
      </p:sp>
      <p:sp>
        <p:nvSpPr>
          <p:cNvPr id="59" name="Text 18">
            <a:extLst xmlns:a="http://schemas.openxmlformats.org/drawingml/2006/main">
              <a:ext uri="{FF2B5EF4-FFF2-40B4-BE49-F238E27FC236}">
                <a16:creationId xmlns:a16="http://schemas.microsoft.com/office/drawing/2014/main" id="{E937C9EB-5EC4-4BED-DCC0-EEB4268C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37160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SHORTLIST AREAS</a:t>
            </a:r>
            <a:endParaRPr sz="1100"/>
          </a:p>
        </p:txBody>
      </p:sp>
      <p:sp>
        <p:nvSpPr>
          <p:cNvPr id="60" name="Text 19">
            <a:extLst xmlns:a="http://schemas.openxmlformats.org/drawingml/2006/main">
              <a:ext uri="{FF2B5EF4-FFF2-40B4-BE49-F238E27FC236}">
                <a16:creationId xmlns:a16="http://schemas.microsoft.com/office/drawing/2014/main" id="{922D1C3D-92F4-7A52-D254-13F805D6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792224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Focus local research</a:t>
            </a:r>
            <a:endParaRPr sz="800"/>
          </a:p>
        </p:txBody>
      </p:sp>
      <p:sp>
        <p:nvSpPr>
          <p:cNvPr id="61" name="Text 20">
            <a:extLst xmlns:a="http://schemas.openxmlformats.org/drawingml/2006/main">
              <a:ext uri="{FF2B5EF4-FFF2-40B4-BE49-F238E27FC236}">
                <a16:creationId xmlns:a16="http://schemas.microsoft.com/office/drawing/2014/main" id="{DD31154A-7340-6BA1-B58C-EB0C128F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04825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Use the three maps to decide which broad areas deserve a closer look.</a:t>
            </a:r>
            <a:endParaRPr sz="850"/>
          </a:p>
        </p:txBody>
      </p:sp>
      <p:sp>
        <p:nvSpPr>
          <p:cNvPr id="62" name="Shape 21">
            <a:extLst xmlns:a="http://schemas.openxmlformats.org/drawingml/2006/main">
              <a:ext uri="{FF2B5EF4-FFF2-40B4-BE49-F238E27FC236}">
                <a16:creationId xmlns:a16="http://schemas.microsoft.com/office/drawing/2014/main" id="{E3A1950C-3E98-2A41-9F7B-763C1A1EF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578608"/>
            <a:ext cx="24688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E2"/>
          </a:solidFill>
          <a:ln xmlns:a="http://schemas.openxmlformats.org/drawingml/2006/main" w="12700">
            <a:solidFill>
              <a:srgbClr val="FEF3E2"/>
            </a:solidFill>
            <a:prstDash val="solid"/>
          </a:ln>
        </p:spPr>
      </p:sp>
      <p:sp>
        <p:nvSpPr>
          <p:cNvPr id="63" name="Text 22">
            <a:extLst xmlns:a="http://schemas.openxmlformats.org/drawingml/2006/main">
              <a:ext uri="{FF2B5EF4-FFF2-40B4-BE49-F238E27FC236}">
                <a16:creationId xmlns:a16="http://schemas.microsoft.com/office/drawing/2014/main" id="{E3161D18-B8A1-E487-12AB-44CC4A732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257860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VISIT AND INVESTIGATE</a:t>
            </a:r>
            <a:endParaRPr sz="800"/>
          </a:p>
        </p:txBody>
      </p:sp>
      <p:sp>
        <p:nvSpPr>
          <p:cNvPr id="64" name="Text 23">
            <a:extLst xmlns:a="http://schemas.openxmlformats.org/drawingml/2006/main">
              <a:ext uri="{FF2B5EF4-FFF2-40B4-BE49-F238E27FC236}">
                <a16:creationId xmlns:a16="http://schemas.microsoft.com/office/drawing/2014/main" id="{5C353123-8232-42F8-D273-5CB954BA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14553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Deepen the research</a:t>
            </a:r>
            <a:endParaRPr sz="750"/>
          </a:p>
        </p:txBody>
      </p:sp>
      <p:sp>
        <p:nvSpPr>
          <p:cNvPr id="65" name="Text 24">
            <a:extLst xmlns:a="http://schemas.openxmlformats.org/drawingml/2006/main">
              <a:ext uri="{FF2B5EF4-FFF2-40B4-BE49-F238E27FC236}">
                <a16:creationId xmlns:a16="http://schemas.microsoft.com/office/drawing/2014/main" id="{825EE7D9-0624-FD50-1A14-73D146D6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675888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Spend time on site visits and detailed research in shortlisted areas.</a:t>
            </a:r>
            <a:endParaRPr sz="750"/>
          </a:p>
        </p:txBody>
      </p:sp>
      <p:sp>
        <p:nvSpPr>
          <p:cNvPr id="66" name="Text 25">
            <a:extLst xmlns:a="http://schemas.openxmlformats.org/drawingml/2006/main">
              <a:ext uri="{FF2B5EF4-FFF2-40B4-BE49-F238E27FC236}">
                <a16:creationId xmlns:a16="http://schemas.microsoft.com/office/drawing/2014/main" id="{2A24E586-B737-43CD-9410-9B7B599D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464" y="2560320"/>
            <a:ext cx="320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67" name="Shape 26">
            <a:extLst xmlns:a="http://schemas.openxmlformats.org/drawingml/2006/main">
              <a:ext uri="{FF2B5EF4-FFF2-40B4-BE49-F238E27FC236}">
                <a16:creationId xmlns:a16="http://schemas.microsoft.com/office/drawing/2014/main" id="{E767105C-FE7D-D361-1E75-7B266D4E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371600"/>
            <a:ext cx="265176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A9D61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8" name="Shape 27">
            <a:extLst xmlns:a="http://schemas.openxmlformats.org/drawingml/2006/main">
              <a:ext uri="{FF2B5EF4-FFF2-40B4-BE49-F238E27FC236}">
                <a16:creationId xmlns:a16="http://schemas.microsoft.com/office/drawing/2014/main" id="{B5487368-1117-220F-0E2A-5055BCFA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371600"/>
            <a:ext cx="26517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69" name="Text 28">
            <a:extLst xmlns:a="http://schemas.openxmlformats.org/drawingml/2006/main">
              <a:ext uri="{FF2B5EF4-FFF2-40B4-BE49-F238E27FC236}">
                <a16:creationId xmlns:a16="http://schemas.microsoft.com/office/drawing/2014/main" id="{018CC755-0E76-B3F1-F302-F5429326F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37160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USE CASE OUTCOME</a:t>
            </a:r>
            <a:endParaRPr sz="1100"/>
          </a:p>
        </p:txBody>
      </p:sp>
      <p:sp>
        <p:nvSpPr>
          <p:cNvPr id="70" name="Text 29">
            <a:extLst xmlns:a="http://schemas.openxmlformats.org/drawingml/2006/main">
              <a:ext uri="{FF2B5EF4-FFF2-40B4-BE49-F238E27FC236}">
                <a16:creationId xmlns:a16="http://schemas.microsoft.com/office/drawing/2014/main" id="{7D4F3FEA-36B1-CD37-33EC-8AFF9A2B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1792224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A smaller search area</a:t>
            </a:r>
            <a:endParaRPr sz="800"/>
          </a:p>
        </p:txBody>
      </p:sp>
      <p:sp>
        <p:nvSpPr>
          <p:cNvPr id="71" name="Text 30">
            <a:extLst xmlns:a="http://schemas.openxmlformats.org/drawingml/2006/main">
              <a:ext uri="{FF2B5EF4-FFF2-40B4-BE49-F238E27FC236}">
                <a16:creationId xmlns:a16="http://schemas.microsoft.com/office/drawing/2014/main" id="{AEF56BD3-A919-2AB3-B917-DDF115F5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04825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 QGIS layers help organise a national search.</a:t>
            </a:r>
            <a:endParaRPr sz="850"/>
          </a:p>
        </p:txBody>
      </p:sp>
      <p:sp>
        <p:nvSpPr>
          <p:cNvPr id="72" name="Shape 31">
            <a:extLst xmlns:a="http://schemas.openxmlformats.org/drawingml/2006/main">
              <a:ext uri="{FF2B5EF4-FFF2-40B4-BE49-F238E27FC236}">
                <a16:creationId xmlns:a16="http://schemas.microsoft.com/office/drawing/2014/main" id="{B21EFAC5-18BF-7EC7-FCA7-6D5743FC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578608"/>
            <a:ext cx="24688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5EE"/>
          </a:solidFill>
          <a:ln xmlns:a="http://schemas.openxmlformats.org/drawingml/2006/main" w="12700">
            <a:solidFill>
              <a:srgbClr val="E6F5EE"/>
            </a:solidFill>
            <a:prstDash val="solid"/>
          </a:ln>
        </p:spPr>
      </p:sp>
      <p:sp>
        <p:nvSpPr>
          <p:cNvPr id="73" name="Text 32">
            <a:extLst xmlns:a="http://schemas.openxmlformats.org/drawingml/2006/main">
              <a:ext uri="{FF2B5EF4-FFF2-40B4-BE49-F238E27FC236}">
                <a16:creationId xmlns:a16="http://schemas.microsoft.com/office/drawing/2014/main" id="{B56BD828-01DF-272F-8543-67D8E7206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57860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LOCAL EVIDENCE</a:t>
            </a:r>
            <a:endParaRPr sz="800"/>
          </a:p>
        </p:txBody>
      </p:sp>
      <p:sp>
        <p:nvSpPr>
          <p:cNvPr id="74" name="Text 33">
            <a:extLst xmlns:a="http://schemas.openxmlformats.org/drawingml/2006/main">
              <a:ext uri="{FF2B5EF4-FFF2-40B4-BE49-F238E27FC236}">
                <a16:creationId xmlns:a16="http://schemas.microsoft.com/office/drawing/2014/main" id="{7C7E5895-F34D-DA1E-E30A-C36D5D67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314553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Verify before deciding</a:t>
            </a:r>
            <a:endParaRPr sz="750"/>
          </a:p>
        </p:txBody>
      </p:sp>
      <p:sp>
        <p:nvSpPr>
          <p:cNvPr id="75" name="Text 34">
            <a:extLst xmlns:a="http://schemas.openxmlformats.org/drawingml/2006/main">
              <a:ext uri="{FF2B5EF4-FFF2-40B4-BE49-F238E27FC236}">
                <a16:creationId xmlns:a16="http://schemas.microsoft.com/office/drawing/2014/main" id="{91730462-287D-DD99-AC73-8CDB97A5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3675888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Check planning, access, insurance, terrain and property-specific evidence.</a:t>
            </a:r>
            <a:endParaRPr sz="750"/>
          </a:p>
        </p:txBody>
      </p:sp>
      <p:sp>
        <p:nvSpPr>
          <p:cNvPr id="76" name="Shape 35">
            <a:extLst xmlns:a="http://schemas.openxmlformats.org/drawingml/2006/main">
              <a:ext uri="{FF2B5EF4-FFF2-40B4-BE49-F238E27FC236}">
                <a16:creationId xmlns:a16="http://schemas.microsoft.com/office/drawing/2014/main" id="{EE052AFC-8FB4-ECF7-88CC-4487AE42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315968"/>
            <a:ext cx="85953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F2D"/>
          </a:solidFill>
          <a:ln xmlns:a="http://schemas.openxmlformats.org/drawingml/2006/main" w="12700">
            <a:solidFill>
              <a:srgbClr val="0D1F2D"/>
            </a:solidFill>
            <a:prstDash val="solid"/>
          </a:ln>
        </p:spPr>
      </p:sp>
      <p:sp>
        <p:nvSpPr>
          <p:cNvPr id="77" name="Text 36">
            <a:extLst xmlns:a="http://schemas.openxmlformats.org/drawingml/2006/main">
              <a:ext uri="{FF2B5EF4-FFF2-40B4-BE49-F238E27FC236}">
                <a16:creationId xmlns:a16="http://schemas.microsoft.com/office/drawing/2014/main" id="{C306DBE1-591D-91A0-2800-8563622FC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4315968"/>
            <a:ext cx="8321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E8A020"/>
                </a:solidFill>
              </a:rPr>
              <a:t>The output helps organise the search; local evidence supports the final choice.</a:t>
            </a:r>
            <a:endParaRPr sz="850"/>
          </a:p>
        </p:txBody>
      </p:sp>
      <p:sp>
        <p:nvSpPr>
          <p:cNvPr id="78" name="Shape 37">
            <a:extLst xmlns:a="http://schemas.openxmlformats.org/drawingml/2006/main">
              <a:ext uri="{FF2B5EF4-FFF2-40B4-BE49-F238E27FC236}">
                <a16:creationId xmlns:a16="http://schemas.microsoft.com/office/drawing/2014/main" id="{453F1B67-702E-243E-FB47-4CA2B5119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19472"/>
            <a:ext cx="9144000" cy="2240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B3D"/>
          </a:solidFill>
          <a:ln xmlns:a="http://schemas.openxmlformats.org/drawingml/2006/main" w="12700">
            <a:solidFill>
              <a:srgbClr val="162B3D"/>
            </a:solidFill>
            <a:prstDash val="solid"/>
          </a:ln>
        </p:spPr>
      </p:sp>
      <p:sp>
        <p:nvSpPr>
          <p:cNvPr id="79" name="Text 38">
            <a:extLst xmlns:a="http://schemas.openxmlformats.org/drawingml/2006/main">
              <a:ext uri="{FF2B5EF4-FFF2-40B4-BE49-F238E27FC236}">
                <a16:creationId xmlns:a16="http://schemas.microsoft.com/office/drawing/2014/main" id="{A5F23304-A068-58EC-920B-B28883DF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919472"/>
            <a:ext cx="8595360" cy="2240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926691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433246D-B8F5-43EE-AF32-B05C9849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9"/>
          </a:solidFill>
          <a:ln xmlns:a="http://schemas.openxmlformats.org/drawingml/2006/main"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9907FB8-8328-4B2E-B5E1-84E6FBE12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3F02133-847A-404E-9F4B-6A7DE78D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"/>
            <a:ext cx="91440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9F12DB4-3B5B-4A67-979D-6151E1B67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4008"/>
            <a:ext cx="7315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RECOMMENDATIONS 2 + 3</a:t>
            </a:r>
            <a:endParaRPr sz="11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157AA592-FB08-4D64-B87E-9FC8E806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008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7 / 8</a:t>
            </a:r>
            <a:endParaRPr sz="11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9FAC5376-DFD7-4DF7-A857-0C2FD5CB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804672"/>
            <a:ext cx="859536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Compare the evidence layers, then verify locally</a:t>
            </a:r>
            <a:endParaRPr sz="16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A356FE9-CB03-42D1-9C21-8542E6BF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298448"/>
            <a:ext cx="416052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1E8EF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C9A34953-58C7-478E-9736-94E8E8AC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298448"/>
            <a:ext cx="416052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138816D-F851-4B14-B5E7-C7892197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298448"/>
            <a:ext cx="41605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RECOMMENDATION 2 — COMPARE FIRST</a:t>
            </a:r>
            <a:endParaRPr sz="1000"/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48F928C-F102-49B4-A59E-1D4EE3D1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810512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D60D940-2AB4-4323-ACDD-A19A5EA66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1810512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33F46A5-1D2D-44A3-B1A4-F5935365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773936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Use the 2026 comparative estimate to narrow broad areas.</a:t>
            </a:r>
            <a:endParaRPr sz="8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9A77203C-C6FB-43FE-9635-189E862B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212848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C4054035-0280-46D0-8271-E333012C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212848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3A866D65-32E1-4D14-85BC-277D343C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176272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Check 2016–2025 observed recurrence in the 2 km context.</a:t>
            </a:r>
            <a:endParaRPr sz="850"/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340346DD-06C1-46D3-B84B-71D11B0BD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615184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54CE7231-C7DF-4668-B5A1-98622531C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2615184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2EF2D98-2C4B-4478-B6DE-59400CA06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578608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Compare the official ICNF structural-hazard class.</a:t>
            </a:r>
            <a:endParaRPr sz="850"/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CCE5F55-0293-4ED9-B7A2-2A8422E5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017520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21FABFD-07BB-4CB1-9DF3-6AB4C7F7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017520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DF395E92-F661-43E4-B279-247D4D7C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980944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Read the three layers together before shortlisting areas.</a:t>
            </a:r>
            <a:endParaRPr sz="8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488D5AAF-075C-4381-8425-C89597170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419856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3E83D27C-B8E2-4DEE-B204-D31E94B3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419856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38E3C507-F339-4F2F-954D-39C52FC0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383280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Do not merge the layers into one score.</a:t>
            </a:r>
            <a:endParaRPr sz="850"/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8C68075-9284-4574-87C1-08DABFEF7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822192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E6782FB0-9CF8-4988-961D-609E903C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3822192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70F27152-BCAD-46B7-826B-959E39FAB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785616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They answer different questions and provide complementary context.</a:t>
            </a:r>
            <a:endParaRPr sz="850"/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6FE7194F-DD64-44E7-98A2-9C4D40326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4224528"/>
            <a:ext cx="201168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BF79431-F44F-4E26-8B43-6D69C499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" y="4224528"/>
            <a:ext cx="201168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</a:rPr>
              <a:t>v</a:t>
            </a:r>
            <a:endParaRPr sz="8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234F4672-94F5-40EC-848A-2B04CEEC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187952"/>
            <a:ext cx="36118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Shortlist only after comparing them.</a:t>
            </a:r>
            <a:endParaRPr sz="850"/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CFE47B9-6214-49BF-BAB5-E46AF5D6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98448"/>
            <a:ext cx="4160520" cy="3291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1E8EF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A8D64D74-58C5-46B8-81B3-038E3D61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98448"/>
            <a:ext cx="416052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94210AFE-3DED-4395-AC76-61EA6433B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1298448"/>
            <a:ext cx="41605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</a:rPr>
              <a:t>RECOMMENDATION 3 — VERIFY LOCALLY</a:t>
            </a:r>
            <a:endParaRPr sz="10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7D1E2215-4749-4102-8766-0EF9CB90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1755648"/>
            <a:ext cx="3886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>Local evidence</a:t>
            </a:r>
            <a:endParaRPr sz="800"/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E9765024-23F7-4BAD-82E2-D0944ECD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093976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DB21FEE-311F-4CB4-9BB7-CEE277DD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093976"/>
            <a:ext cx="16459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C831CFF-D119-4E88-B1D0-71E298207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2048256"/>
            <a:ext cx="364845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Review planning, access, insurance, terrain and site conditions.</a:t>
            </a:r>
            <a:endParaRPr sz="80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E8C027E-8773-4500-B33B-62E87DB5F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441448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60AA1538-DD26-48A4-801E-5B50EDDC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441448"/>
            <a:ext cx="16459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B334C3D-7F39-4FE7-B95B-21588560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2395728"/>
            <a:ext cx="364845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Use property-specific evidence before deciding.</a:t>
            </a:r>
            <a:endParaRPr sz="800"/>
          </a:p>
        </p:txBody>
      </p:sp>
      <p:sp>
        <p:nvSpPr>
          <p:cNvPr id="42" name="Shape 40">
            <a:extLst xmlns:a="http://schemas.openxmlformats.org/drawingml/2006/main">
              <a:ext uri="{FF2B5EF4-FFF2-40B4-BE49-F238E27FC236}">
                <a16:creationId xmlns:a16="http://schemas.microsoft.com/office/drawing/2014/main" id="{EB1A818B-27E2-4AC9-A7A5-A37B13D8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788920"/>
            <a:ext cx="164592" cy="16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C9A0C132-E061-47E9-86DA-C56EBC4F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2788920"/>
            <a:ext cx="16459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700" b="1">
                <a:solidFill>
                  <a:srgbClr val="FFFFFF"/>
                </a:solidFill>
              </a:rPr>
              <a:t>v</a:t>
            </a:r>
            <a:endParaRPr sz="700"/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A498733C-FEFE-442D-BBCC-FBAA9886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1496" y="2743200"/>
            <a:ext cx="3648456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1A2638"/>
                </a:solidFill>
              </a:rPr>
              <a:t>The model directs research effort; it does not replace local investigation.</a:t>
            </a:r>
            <a:endParaRPr sz="800"/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2261A078-89E7-4EDE-AF5A-975F083F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127248"/>
            <a:ext cx="38862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5B6880"/>
                </a:solidFill>
              </a:rPr>
              <a:t/>
            </a:r>
            <a:endParaRPr sz="800"/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878FBAF7-6DD0-4D72-8C29-5EBD1F7F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4015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KEY MESSAGE</a:t>
            </a:r>
            <a:endParaRPr sz="750"/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F3852103-32CC-4EA7-912B-BBCD278D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6301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Compare layers.</a:t>
            </a:r>
            <a:endParaRPr sz="750"/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2967BB4C-17C8-44CC-8349-2DF3F492C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38587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Shortlist areas.</a:t>
            </a:r>
            <a:endParaRPr sz="750"/>
          </a:p>
        </p:txBody>
      </p:sp>
      <p:sp>
        <p:nvSpPr>
          <p:cNvPr id="49" name="Text 47">
            <a:extLst xmlns:a="http://schemas.openxmlformats.org/drawingml/2006/main">
              <a:ext uri="{FF2B5EF4-FFF2-40B4-BE49-F238E27FC236}">
                <a16:creationId xmlns:a16="http://schemas.microsoft.com/office/drawing/2014/main" id="{DF4EBCB9-CEB0-41F1-802C-53DA0FCD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40873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Verify locally.</a:t>
            </a:r>
            <a:endParaRPr sz="750"/>
          </a:p>
        </p:txBody>
      </p:sp>
      <p:sp>
        <p:nvSpPr>
          <p:cNvPr id="50" name="Text 48">
            <a:extLst xmlns:a="http://schemas.openxmlformats.org/drawingml/2006/main">
              <a:ext uri="{FF2B5EF4-FFF2-40B4-BE49-F238E27FC236}">
                <a16:creationId xmlns:a16="http://schemas.microsoft.com/office/drawing/2014/main" id="{65D5A184-9B2C-4B10-B5DC-1A3F3D8E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3752" y="4315968"/>
            <a:ext cx="388620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E8A020"/>
                </a:solidFill>
              </a:rPr>
              <a:t>Use evidence before deciding.</a:t>
            </a:r>
            <a:endParaRPr sz="750"/>
          </a:p>
        </p:txBody>
      </p:sp>
      <p:sp>
        <p:nvSpPr>
          <p:cNvPr id="51" name="Shape 49">
            <a:extLst xmlns:a="http://schemas.openxmlformats.org/drawingml/2006/main">
              <a:ext uri="{FF2B5EF4-FFF2-40B4-BE49-F238E27FC236}">
                <a16:creationId xmlns:a16="http://schemas.microsoft.com/office/drawing/2014/main" id="{60AB1022-AFE8-48AA-AF67-D4B90728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663440"/>
            <a:ext cx="8595360" cy="2926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52" name="Text 50">
            <a:extLst xmlns:a="http://schemas.openxmlformats.org/drawingml/2006/main">
              <a:ext uri="{FF2B5EF4-FFF2-40B4-BE49-F238E27FC236}">
                <a16:creationId xmlns:a16="http://schemas.microsoft.com/office/drawing/2014/main" id="{888510B6-7C6A-4727-A0E5-F48D9F36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4663440"/>
            <a:ext cx="83210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</a:rPr>
              <a:t>Use the model to direct research effort, not to replace local investigation.</a:t>
            </a:r>
            <a:endParaRPr sz="850"/>
          </a:p>
        </p:txBody>
      </p:sp>
      <p:sp>
        <p:nvSpPr>
          <p:cNvPr id="53" name="Shape 51">
            <a:extLst xmlns:a="http://schemas.openxmlformats.org/drawingml/2006/main">
              <a:ext uri="{FF2B5EF4-FFF2-40B4-BE49-F238E27FC236}">
                <a16:creationId xmlns:a16="http://schemas.microsoft.com/office/drawing/2014/main" id="{4EF06526-1530-434D-877D-54CADC54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19472"/>
            <a:ext cx="9144000" cy="2240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B3D"/>
          </a:solidFill>
          <a:ln xmlns:a="http://schemas.openxmlformats.org/drawingml/2006/main" w="12700">
            <a:solidFill>
              <a:srgbClr val="162B3D"/>
            </a:solidFill>
            <a:prstDash val="solid"/>
          </a:ln>
        </p:spPr>
      </p:sp>
      <p:sp>
        <p:nvSpPr>
          <p:cNvPr id="54" name="Text 52">
            <a:extLst xmlns:a="http://schemas.openxmlformats.org/drawingml/2006/main">
              <a:ext uri="{FF2B5EF4-FFF2-40B4-BE49-F238E27FC236}">
                <a16:creationId xmlns:a16="http://schemas.microsoft.com/office/drawing/2014/main" id="{AAD75AC7-5746-4AD0-892D-25E5587B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919472"/>
            <a:ext cx="8595360" cy="2240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  <p:sp>
        <p:nvSpPr>
          <p:cNvPr id="55" name="hide-delivery-tips">
            <a:extLst xmlns:a="http://schemas.openxmlformats.org/drawingml/2006/main">
              <a:ext uri="{FF2B5EF4-FFF2-40B4-BE49-F238E27FC236}">
                <a16:creationId xmlns:a16="http://schemas.microsoft.com/office/drawing/2014/main" id="{EB287470-0350-4395-9139-4FFB77AD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3925" y="3133725"/>
            <a:ext cx="1333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9178166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A86A1C8-DB06-4DCE-9DAF-693B7C77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9"/>
          </a:solidFill>
          <a:ln xmlns:a="http://schemas.openxmlformats.org/drawingml/2006/main" w="12700">
            <a:solidFill>
              <a:srgbClr val="F3F6F9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D197F66D-6C57-4707-8514-4D78C9DEF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020"/>
          </a:solidFill>
          <a:ln xmlns:a="http://schemas.openxmlformats.org/drawingml/2006/main" w="12700">
            <a:solidFill>
              <a:srgbClr val="E8A020"/>
            </a:solidFill>
            <a:prstDash val="solid"/>
          </a:ln>
        </p:spPr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CC99481-8AFC-45E5-8E41-5D92798E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4008"/>
            <a:ext cx="914400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3A50"/>
          </a:solidFill>
          <a:ln xmlns:a="http://schemas.openxmlformats.org/drawingml/2006/main" w="12700">
            <a:solidFill>
              <a:srgbClr val="1E3A50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BEB6717-FD6D-4B81-81A9-77D30FCED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64008"/>
            <a:ext cx="73152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>
                <a:solidFill>
                  <a:srgbClr val="E8A020"/>
                </a:solidFill>
              </a:rPr>
              <a:t>CONCLUSION AND NEXT STEP</a:t>
            </a:r>
            <a:endParaRPr sz="11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6C101844-9940-49BE-8B17-716FB787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64008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1100" b="1">
                <a:solidFill>
                  <a:srgbClr val="E1E8EF"/>
                </a:solidFill>
              </a:rPr>
              <a:t>8 / 8</a:t>
            </a:r>
            <a:endParaRPr sz="110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121B0D7-68D2-4F3B-B4D9-855405D82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804672"/>
            <a:ext cx="85953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1A2638"/>
                </a:solidFill>
              </a:rPr>
              <a:t>The project narrows the search area and keeps evidence traceable</a:t>
            </a:r>
            <a:endParaRPr sz="160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6015B360-BBBA-4DE0-9795-57F03150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0"/>
            <a:ext cx="265176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E6DB4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5C07B9EA-88EE-49EE-B7D4-7BDB797C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0"/>
            <a:ext cx="26517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DB4"/>
          </a:solidFill>
          <a:ln xmlns:a="http://schemas.openxmlformats.org/drawingml/2006/main" w="12700">
            <a:solidFill>
              <a:srgbClr val="2E6DB4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D9484D15-B5B7-461A-BAA9-47327A4B2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137160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DELIVERED</a:t>
            </a:r>
            <a:endParaRPr sz="11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7C6A5B0-CECC-4ACC-9832-24A59DDB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792224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2E6DB4"/>
                </a:solidFill>
              </a:rPr>
              <a:t>Reproducible national workflow</a:t>
            </a:r>
            <a:endParaRPr sz="8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22DC359E-9E6E-4E9F-BF48-BEF9690E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4825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One 1 km grid, validated sources, a nine-feature model and QGIS layers.</a:t>
            </a:r>
            <a:endParaRPr sz="85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1CD4E307-F1DC-41BD-A2A0-EF4229C6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578608"/>
            <a:ext cx="24688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BF0FD"/>
          </a:solidFill>
          <a:ln xmlns:a="http://schemas.openxmlformats.org/drawingml/2006/main" w="12700">
            <a:solidFill>
              <a:srgbClr val="EBF0FD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2C8DE72-7721-45D6-B469-D1F7820E4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57860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HISTORICAL + GIS CONTEXT</a:t>
            </a:r>
            <a:endParaRPr sz="8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A0536C49-BFED-466A-8A4F-1AF9F8838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14553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Observed 2016–2025 recurrence + official ICNF structural-hazard reference.</a:t>
            </a:r>
            <a:endParaRPr sz="75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61C0752-DC49-4F35-AFC7-AB88C79FA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675888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Together they provide context for broad-area comparison.</a:t>
            </a:r>
            <a:endParaRPr sz="7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E4724BAC-EE83-433E-87E5-BC0E996BD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656" y="2560320"/>
            <a:ext cx="320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88BDC9BD-5FAD-4BBE-B51A-B021702F2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371600"/>
            <a:ext cx="265176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E67E22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FE4F804-F3B6-4684-BFCD-65359548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371600"/>
            <a:ext cx="26517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7E22"/>
          </a:solidFill>
          <a:ln xmlns:a="http://schemas.openxmlformats.org/drawingml/2006/main" w="12700">
            <a:solidFill>
              <a:srgbClr val="E67E22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F823FAC1-C9B5-4631-81A0-0779D0A7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0128" y="137160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MODEL RESULT</a:t>
            </a:r>
            <a:endParaRPr sz="11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CDF192D1-D9B3-4618-B786-9A11E17D0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792224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E67E22"/>
                </a:solidFill>
              </a:rPr>
              <a:t>Modest improvement over the baseline</a:t>
            </a:r>
            <a:endParaRPr sz="80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5B99BF9-D34E-45F7-A42A-E1EE7420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04825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The nine-feature model improves selected diagnostics; extreme fire outcomes remain difficult.</a:t>
            </a:r>
            <a:endParaRPr sz="850"/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6F886BEF-D149-4B22-AB28-BF3F1616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578608"/>
            <a:ext cx="24688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E2"/>
          </a:solidFill>
          <a:ln xmlns:a="http://schemas.openxmlformats.org/drawingml/2006/main" w="12700">
            <a:solidFill>
              <a:srgbClr val="FEF3E2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0A0214D-E33A-4BF0-8D70-726CFE03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7288" y="257860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PRACTICAL USE</a:t>
            </a:r>
            <a:endParaRPr sz="800"/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DB0DD6E-990A-42DB-9875-F090FBA9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14553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Narrow broad search areas</a:t>
            </a:r>
            <a:endParaRPr sz="750"/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7AC1FC5-9639-4DA9-B51C-80DD5E46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3675888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Use the maps to organise local research before detailed investigation.</a:t>
            </a:r>
            <a:endParaRPr sz="750"/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44357DB5-05F8-4CF5-8D21-E89F0DFA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8464" y="2560320"/>
            <a:ext cx="320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E8A020"/>
                </a:solidFill>
              </a:rPr>
              <a:t>→</a:t>
            </a:r>
            <a:endParaRPr sz="2000"/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C1EB402B-5D07-41FD-A88B-C668B3092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371600"/>
            <a:ext cx="2651760" cy="2834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2A9D61"/>
            </a:solidFill>
            <a:prstDash val="solid"/>
          </a:ln>
          <a:effectLst xmlns:a="http://schemas.openxmlformats.org/drawingml/2006/main"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CB31566B-19C9-48AC-A726-E822C598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371600"/>
            <a:ext cx="2651760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9D61"/>
          </a:solidFill>
          <a:ln xmlns:a="http://schemas.openxmlformats.org/drawingml/2006/main" w="12700">
            <a:solidFill>
              <a:srgbClr val="2A9D61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576FE3D7-10A4-4179-9328-3F34C913B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371600"/>
            <a:ext cx="26517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</a:rPr>
              <a:t>NEXT PROJECT STEP</a:t>
            </a:r>
            <a:endParaRPr sz="1100"/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088C263C-A0CB-4982-A338-F3A1BB2F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1792224"/>
            <a:ext cx="24688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>
                <a:solidFill>
                  <a:srgbClr val="2A9D61"/>
                </a:solidFill>
              </a:rPr>
              <a:t>Refresh and evaluate</a:t>
            </a:r>
            <a:endParaRPr sz="800"/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3591A679-B15E-406C-86A0-00F6CAE72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04825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>
                <a:solidFill>
                  <a:srgbClr val="1A2638"/>
                </a:solidFill>
              </a:rPr>
              <a:t>When new completed-year data and the 2026 outcome are available, rerun the fixed workflow and evaluate the 2026 estimate.</a:t>
            </a:r>
            <a:endParaRPr sz="850"/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21F582AF-C78B-4E58-9B57-6833B74F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578608"/>
            <a:ext cx="24688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F5EE"/>
          </a:solidFill>
          <a:ln xmlns:a="http://schemas.openxmlformats.org/drawingml/2006/main" w="12700">
            <a:solidFill>
              <a:srgbClr val="E6F5EE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31D7657-5536-4C80-9B52-926E19C32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3096" y="2578608"/>
            <a:ext cx="23774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i="1">
                <a:solidFill>
                  <a:srgbClr val="1A2638"/>
                </a:solidFill>
              </a:rPr>
              <a:t>PRACTICAL RESULT</a:t>
            </a:r>
            <a:endParaRPr sz="800"/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55C2D91-F1C0-4C81-A522-273CE805D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3145536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2A9D61"/>
                </a:solidFill>
              </a:rPr>
              <a:t>A focused location search</a:t>
            </a:r>
            <a:endParaRPr sz="750"/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48B69A9-A889-4CDD-892E-2DD98266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3675888"/>
            <a:ext cx="24688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50" b="1">
                <a:solidFill>
                  <a:srgbClr val="C0392B"/>
                </a:solidFill>
              </a:rPr>
              <a:t>Local planning, access, insurance, terrain and property evidence complete the decision.</a:t>
            </a:r>
            <a:endParaRPr sz="750"/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1CF7DD12-EEE0-44CF-90BD-A5A65553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315968"/>
            <a:ext cx="859536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1F2D"/>
          </a:solidFill>
          <a:ln xmlns:a="http://schemas.openxmlformats.org/drawingml/2006/main" w="12700">
            <a:solidFill>
              <a:srgbClr val="0D1F2D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437652F4-0A68-4E8D-8FB1-0D1F3BBDF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4315968"/>
            <a:ext cx="83210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50" b="1">
                <a:solidFill>
                  <a:srgbClr val="E8A020"/>
                </a:solidFill>
              </a:rPr>
              <a:t>The model makes the first stage of location research more focused.</a:t>
            </a:r>
            <a:endParaRPr sz="850"/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49A759C5-57AB-43DF-B3F0-A2B8CCABD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19472"/>
            <a:ext cx="9144000" cy="2240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2B3D"/>
          </a:solidFill>
          <a:ln xmlns:a="http://schemas.openxmlformats.org/drawingml/2006/main" w="12700">
            <a:solidFill>
              <a:srgbClr val="162B3D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0C3C7AC-0669-4B0F-BD8F-AB88AC48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" y="4919472"/>
            <a:ext cx="8595360" cy="2240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" b="1">
                <a:solidFill>
                  <a:srgbClr val="E8A020"/>
                </a:solidFill>
              </a:rPr>
              <a:t>Serhii Diadechko  |  Data Science &amp; Machine Learning Capstone</a:t>
            </a:r>
            <a:endParaRPr sz="800"/>
          </a:p>
        </p:txBody>
      </p:sp>
    </p:spTree>
    <p:extLst>
      <p:ext uri="{BB962C8B-B14F-4D97-AF65-F5344CB8AC3E}">
        <p14:creationId xmlns:p14="http://schemas.microsoft.com/office/powerpoint/2010/main" val="179926691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2026-08-08T12:40:18.7070000Z</dcterms:created>
  <dcterms:modified xsi:type="dcterms:W3CDTF">2026-08-08T12:40:18.7070000Z</dcterms:modified>
</coreProperties>
</file>