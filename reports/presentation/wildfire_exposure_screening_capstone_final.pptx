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a9de2c818c4762" /><Relationship Type="http://schemas.openxmlformats.org/officeDocument/2006/relationships/extended-properties" Target="/docProps/app.xml" Id="Rbd4511f301a94a52" /><Relationship Type="http://schemas.openxmlformats.org/officeDocument/2006/relationships/officeDocument" Target="/ppt/presentation.xml" Id="R63707fc295564d01" /></Relationships>
</file>

<file path=ppt/presentation.xml><?xml version="1.0" encoding="utf-8"?>
<p:presentation xmlns:p="http://schemas.openxmlformats.org/presentationml/2006/main">
  <p:sldMasterIdLst>
    <p:sldMasterId xmlns:r="http://schemas.openxmlformats.org/officeDocument/2006/relationships" id="2147483648" r:id="R6a850674f28b41bd"/>
  </p:sldMasterIdLst>
  <p:notesMasterIdLst>
    <p:notesMasterId xmlns:r="http://schemas.openxmlformats.org/officeDocument/2006/relationships" r:id="R828ffdde7a3f4a46"/>
  </p:notesMasterIdLst>
  <p:sldIdLst>
    <p:sldId xmlns:r="http://schemas.openxmlformats.org/officeDocument/2006/relationships" id="256" r:id="Rb6160a0e36e74486"/>
    <p:sldId xmlns:r="http://schemas.openxmlformats.org/officeDocument/2006/relationships" id="257" r:id="Rd7bf4c9e5eba43e8"/>
    <p:sldId xmlns:r="http://schemas.openxmlformats.org/officeDocument/2006/relationships" id="258" r:id="R641a2101a7af434f"/>
    <p:sldId xmlns:r="http://schemas.openxmlformats.org/officeDocument/2006/relationships" id="259" r:id="R9d612d399ebd4651"/>
    <p:sldId xmlns:r="http://schemas.openxmlformats.org/officeDocument/2006/relationships" id="260" r:id="R8ca9ab63b6d242c4"/>
    <p:sldId xmlns:r="http://schemas.openxmlformats.org/officeDocument/2006/relationships" id="261" r:id="Ra5af360aade74f54"/>
    <p:sldId xmlns:r="http://schemas.openxmlformats.org/officeDocument/2006/relationships" id="262" r:id="Rb7c59d1378024732"/>
    <p:sldId xmlns:r="http://schemas.openxmlformats.org/officeDocument/2006/relationships" id="263" r:id="R5350da04be4f4385"/>
    <p:sldId xmlns:r="http://schemas.openxmlformats.org/officeDocument/2006/relationships" id="264" r:id="Re4377d5b80564fa6"/>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eb789fd8f52413a" /><Relationship Type="http://schemas.openxmlformats.org/officeDocument/2006/relationships/slideMaster" Target="/ppt/slideMasters/slideMaster1.xml" Id="R6a850674f28b41bd" /><Relationship Type="http://schemas.openxmlformats.org/officeDocument/2006/relationships/notesMaster" Target="/ppt/notesMasters/notesMaster1.xml" Id="R828ffdde7a3f4a46" /><Relationship Type="http://schemas.openxmlformats.org/officeDocument/2006/relationships/presProps" Target="/ppt/presProps.xml" Id="R4aaeaad5b55e485a" /><Relationship Type="http://schemas.openxmlformats.org/officeDocument/2006/relationships/viewProps" Target="/ppt/viewProps.xml" Id="R711db8d545194b5e" /><Relationship Type="http://schemas.openxmlformats.org/officeDocument/2006/relationships/tableStyles" Target="/ppt/tableStyles.xml" Id="R626df406bf9a4829" /><Relationship Type="http://schemas.openxmlformats.org/officeDocument/2006/relationships/slide" Target="/ppt/slides/slide1.xml" Id="Rb6160a0e36e74486" /><Relationship Type="http://schemas.openxmlformats.org/officeDocument/2006/relationships/slide" Target="/ppt/slides/slide2.xml" Id="Rd7bf4c9e5eba43e8" /><Relationship Type="http://schemas.openxmlformats.org/officeDocument/2006/relationships/slide" Target="/ppt/slides/slide3.xml" Id="R641a2101a7af434f" /><Relationship Type="http://schemas.openxmlformats.org/officeDocument/2006/relationships/slide" Target="/ppt/slides/slide4.xml" Id="R9d612d399ebd4651" /><Relationship Type="http://schemas.openxmlformats.org/officeDocument/2006/relationships/slide" Target="/ppt/slides/slide5.xml" Id="R8ca9ab63b6d242c4" /><Relationship Type="http://schemas.openxmlformats.org/officeDocument/2006/relationships/slide" Target="/ppt/slides/slide6.xml" Id="Ra5af360aade74f54" /><Relationship Type="http://schemas.openxmlformats.org/officeDocument/2006/relationships/slide" Target="/ppt/slides/slide7.xml" Id="Rb7c59d1378024732" /><Relationship Type="http://schemas.openxmlformats.org/officeDocument/2006/relationships/slide" Target="/ppt/slides/slide8.xml" Id="R5350da04be4f4385" /><Relationship Type="http://schemas.openxmlformats.org/officeDocument/2006/relationships/slide" Target="/ppt/slides/slide9.xml" Id="Re4377d5b80564f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b43d7a2e1e44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ebcb65a1044fea" /><Relationship Type="http://schemas.openxmlformats.org/officeDocument/2006/relationships/notesMaster" Target="/ppt/notesMasters/notesMaster1.xml" Id="R7c6b3dbbc7d644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87267bbe12407f" /><Relationship Type="http://schemas.openxmlformats.org/officeDocument/2006/relationships/notesMaster" Target="/ppt/notesMasters/notesMaster1.xml" Id="Rb6d370a0e833404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6710581ddf4471" /><Relationship Type="http://schemas.openxmlformats.org/officeDocument/2006/relationships/notesMaster" Target="/ppt/notesMasters/notesMaster1.xml" Id="Rd00740d4c45e4c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6724cd6c8b341aa" /><Relationship Type="http://schemas.openxmlformats.org/officeDocument/2006/relationships/notesMaster" Target="/ppt/notesMasters/notesMaster1.xml" Id="R6bfaf4b8155b4c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9043a274014d08" /><Relationship Type="http://schemas.openxmlformats.org/officeDocument/2006/relationships/notesMaster" Target="/ppt/notesMasters/notesMaster1.xml" Id="R22c9ec1652ac4c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9e1439e6204eb4" /><Relationship Type="http://schemas.openxmlformats.org/officeDocument/2006/relationships/notesMaster" Target="/ppt/notesMasters/notesMaster1.xml" Id="Rf9938688437e4d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6ff995205c4d3b" /><Relationship Type="http://schemas.openxmlformats.org/officeDocument/2006/relationships/notesMaster" Target="/ppt/notesMasters/notesMaster1.xml" Id="R208edfba40534c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60a029b02c42ed" /><Relationship Type="http://schemas.openxmlformats.org/officeDocument/2006/relationships/notesMaster" Target="/ppt/notesMasters/notesMaster1.xml" Id="R2a02cca5246f424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461f3bb6a424122" /><Relationship Type="http://schemas.openxmlformats.org/officeDocument/2006/relationships/notesMaster" Target="/ppt/notesMasters/notesMaster1.xml" Id="Rfbb6324c68514f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message: This capstone uses reproducible wildfire-exposure evidence to help narrow broad location-search areas in mainland Portugal.</a:t>
            </a:r>
          </a:p>
          <a:p xmlns:a="http://schemas.openxmlformats.org/drawingml/2006/main">
            <a:endParaRPr/>
          </a:p>
          <a:p xmlns:a="http://schemas.openxmlformats.org/drawingml/2006/main">
            <a:r>
              <a:rPr b="1"/>
              <a:t>What to say:</a:t>
            </a:r>
          </a:p>
          <a:p xmlns:a="http://schemas.openxmlformats.org/drawingml/2006/main">
            <a:r>
              <a:rPr b="0"/>
              <a:t>“The project does not identify a safe property or tell someone to buy or not buy. It combines observed wildfire history, landscape, terrain, climate, machine learning and GIS to compare broad areas consistently. The practical output is a shortlist for deeper local research before a property decision.”</a:t>
            </a:r>
          </a:p>
          <a:p xmlns:a="http://schemas.openxmlformats.org/drawingml/2006/main">
            <a:endParaRPr/>
          </a:p>
          <a:p xmlns:a="http://schemas.openxmlformats.org/drawingml/2006/main">
            <a:r>
              <a:t>Transition: “Next, I will show what one consistent national record represents and how the source data are used.”</a:t>
            </a:r>
          </a:p>
          <a:p xmlns:a="http://schemas.openxmlformats.org/drawingml/2006/main">
            <a:endParaRPr/>
          </a:p>
          <a:p xmlns:a="http://schemas.openxmlformats.org/drawingml/2006/main">
            <a:r>
              <a:t>[Sources]</a:t>
            </a:r>
          </a:p>
          <a:p xmlns:a="http://schemas.openxmlformats.org/drawingml/2006/main">
            <a:r>
              <a:rPr b="0"/>
              <a:t>README.md; docs/project_brief.md; docs/data_dictionary.md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Every record has the same geographical meaning: one 1 km mainland cell in one predictor year.</a:t>
            </a:r>
            <a:endParaRPr/>
          </a:p>
          <a:p xmlns:a="http://schemas.openxmlformats.org/drawingml/2006/main">
            <a:r>
              <a:rPr b="1"/>
              <a:t/>
            </a:r>
            <a:endParaRPr/>
          </a:p>
          <a:p xmlns:a="http://schemas.openxmlformats.org/drawingml/2006/main">
            <a:r>
              <a:t>What to say:</a:t>
            </a:r>
          </a:p>
          <a:p xmlns:a="http://schemas.openxmlformats.org/drawingml/2006/main">
            <a:r>
              <a:t>“Each row in the analytical dataset represents one 1 km by 1 km mainland Portugal cell in a predictor year, T. This makes it possible to compare the same geographical unit over time.</a:t>
            </a:r>
          </a:p>
          <a:p xmlns:a="http://schemas.openxmlformats.org/drawingml/2006/main">
            <a:r>
              <a:t>ICNF annual burned-area data provides two roles: historical fire recurrence and the observed next-year outcome. The outcome is continuous burned share: the proportion of the cell’s land area that burned in the following year.</a:t>
            </a:r>
          </a:p>
          <a:p xmlns:a="http://schemas.openxmlformats.org/drawingml/2006/main">
            <a:r>
              <a:t>CLC land cover and Copernicus DEM provide landscape and terrain context. ERA5-Land provides warm-season temperature, precipitation, and shallow soil-water conditions from the predictor year only.</a:t>
            </a:r>
            <a:endParaRPr/>
          </a:p>
          <a:p xmlns:a="http://schemas.openxmlformats.org/drawingml/2006/main">
            <a:r>
              <a:rPr b="1"/>
              <a:t>The 2 km area is not a second grid. It is an outward context buffer around each 1 km cell, used to measure nearby forest/shrub, slope, and historical fire recurrence.”</a:t>
            </a:r>
            <a:endParaRPr/>
          </a:p>
          <a:p xmlns:a="http://schemas.openxmlformats.org/drawingml/2006/main">
            <a:r>
              <a:t/>
            </a:r>
          </a:p>
          <a:p xmlns:a="http://schemas.openxmlformats.org/drawingml/2006/main">
            <a:r>
              <a:t>Transition: “Next, I will show how these historical rows were separated for training, validation, final temporal evaluation, and the current 2026 estimate.”</a:t>
            </a:r>
          </a:p>
          <a:p xmlns:a="http://schemas.openxmlformats.org/drawingml/2006/main">
            <a:r>
              <a:t/>
            </a:r>
          </a:p>
          <a:p xmlns:a="http://schemas.openxmlformats.org/drawingml/2006/main">
            <a:r>
              <a:t>[Sources]</a:t>
            </a:r>
          </a:p>
          <a:p xmlns:a="http://schemas.openxmlformats.org/drawingml/2006/main">
            <a:r>
              <a:t>docs/data_dictionary.md; reports/validation/canonical_full_scope_readiness.md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 Historical data are separated in time before the current 2026 estimate is produced.</a:t>
            </a:r>
            <a:endParaRPr/>
          </a:p>
          <a:p xmlns:a="http://schemas.openxmlformats.org/drawingml/2006/main">
            <a:r>
              <a:rPr b="1"/>
              <a:t/>
            </a:r>
            <a:endParaRPr/>
          </a:p>
          <a:p xmlns:a="http://schemas.openxmlformats.org/drawingml/2006/main">
            <a:r>
              <a:t>What to say:</a:t>
            </a:r>
          </a:p>
          <a:p xmlns:a="http://schemas.openxmlformats.org/drawingml/2006/main">
            <a:r>
              <a:t>“Each analytical row is one mainland Portugal 1 km cell in predictor year T. Nine predictors describe earlier fire recurrence, land cover, terrain, and June-to-September climate. The target is the proportion of that cell’s land area that burned in T+1.</a:t>
            </a:r>
          </a:p>
          <a:p xmlns:a="http://schemas.openxmlformats.org/drawingml/2006/main">
            <a:r>
              <a:t>Candidate models were fitted on T=2010–2019 and selected using validation years T=2020–2021. After the specification was frozen, it was evaluated once on T=2022–2024; those results were not used to tune the model.</a:t>
            </a:r>
          </a:p>
          <a:p xmlns:a="http://schemas.openxmlformats.org/drawingml/2006/main">
            <a:r>
              <a:t>The selected specification was then refitted on all completed labelled rows through T=2024 and applied to T=2025 predictors to estimate 2026. The 2026 layer is target-free and can be evaluated only after ICNF publishes the observed 2026 burned areas.</a:t>
            </a:r>
            <a:endParaRPr/>
          </a:p>
          <a:p xmlns:a="http://schemas.openxmlformats.org/drawingml/2006/main">
            <a:r>
              <a:rPr b="1"/>
              <a:t>The temporal safeguard is simple: information from T+1 is used only as a historical target, never as a predictor.”</a:t>
            </a:r>
            <a:endParaRPr/>
          </a:p>
          <a:p xmlns:a="http://schemas.openxmlformats.org/drawingml/2006/main">
            <a:r>
              <a:t/>
            </a:r>
          </a:p>
          <a:p xmlns:a="http://schemas.openxmlformats.org/drawingml/2006/main">
            <a:r>
              <a:t>Transition: “With the temporal separation clear, the next slides present the geographical evidence and model results.”</a:t>
            </a:r>
          </a:p>
          <a:p xmlns:a="http://schemas.openxmlformats.org/drawingml/2006/main">
            <a:r>
              <a:t/>
            </a:r>
          </a:p>
          <a:p xmlns:a="http://schemas.openxmlformats.org/drawingml/2006/main">
            <a:r>
              <a:t>[Sources]</a:t>
            </a:r>
          </a:p>
          <a:p xmlns:a="http://schemas.openxmlformats.org/drawingml/2006/main">
            <a:r>
              <a:t>docs/data_dictionary.md; docs/model_learning_and_2026_estimate.md; docs/model_v2_validation_selection.md; docs/operational_forecast_cycle.md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Wildfire exposure patterns vary geographically, so a national location search can be narrowed using comparative evidence.</a:t>
            </a:r>
          </a:p>
          <a:p xmlns:a="http://schemas.openxmlformats.org/drawingml/2006/main">
            <a:r>
              <a:t>These layers provide different types of evidence and should not be added together or interpreted as one score. The comparison helps identify broad areas for further investigation; it does not certify a location.</a:t>
            </a:r>
            <a:br/>
            <a:br/>
            <a:r>
              <a:rPr b="1"/>
              <a:t>What to say:</a:t>
            </a:r>
            <a:endParaRPr/>
          </a:p>
          <a:p xmlns:a="http://schemas.openxmlformats.org/drawingml/2006/main">
            <a:r>
              <a:t>“This slide shows three different views of the same national geography.</a:t>
            </a:r>
          </a:p>
          <a:p xmlns:a="http://schemas.openxmlformats.org/drawingml/2006/main">
            <a:r>
              <a:t>The first map shows observed historical recurrence: how many distinct years had burned-area evidence between 2016 and 2025 within the 2 km context around each 1 km cell.</a:t>
            </a:r>
          </a:p>
          <a:p xmlns:a="http://schemas.openxmlformats.org/drawingml/2006/main">
            <a:r>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xmlns:a="http://schemas.openxmlformats.org/drawingml/2006/main">
            <a:r>
              <a:t>The third map is the project’s 2026 comparative estimate. It uses information available through 2025 to rank 1 km cells by estimated next-year burned share.</a:t>
            </a:r>
          </a:p>
          <a:p xmlns:a="http://schemas.openxmlformats.org/drawingml/2006/main">
            <a:r>
              <a:t>These maps should not be added together into one score. They provide different evidence for comparing broad areas and deciding where additional research is worthwhile.”</a:t>
            </a:r>
          </a:p>
          <a:p xmlns:a="http://schemas.openxmlformats.org/drawingml/2006/main">
            <a:endParaRPr/>
          </a:p>
          <a:p xmlns:a="http://schemas.openxmlformats.org/drawingml/2006/main">
            <a:r>
              <a:rPr b="1"/>
              <a:t>Transition:</a:t>
            </a:r>
            <a:r>
              <a:t> “Because historical recurrence and official structural hazard measure different things, the next question is why it is useful to compare them.”</a:t>
            </a:r>
          </a:p>
          <a:p xmlns:a="http://schemas.openxmlformats.org/drawingml/2006/main">
            <a:endParaRPr/>
          </a:p>
          <a:p xmlns:a="http://schemas.openxmlformats.org/drawingml/2006/main">
            <a:r>
              <a:t>[Sources]</a:t>
            </a:r>
            <a:br/>
            <a:r>
              <a:t>reports/figures/historical_wildfire_exposure_screening_mainland_portugal.png; reports/validation/historical_exposure_screening_and_icnf_comparison.md; qgis/README.md; reports/validation/operational_forecast_2026_validation.md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Observed recurrence and official structural hazard are complementary, not competing, evidence layers.</a:t>
            </a:r>
          </a:p>
          <a:p xmlns:a="http://schemas.openxmlformats.org/drawingml/2006/main">
            <a:endParaRPr/>
          </a:p>
          <a:p xmlns:a="http://schemas.openxmlformats.org/drawingml/2006/main">
            <a:r>
              <a:rPr b="1"/>
              <a:t>What to say:</a:t>
            </a:r>
            <a:endParaRPr/>
          </a:p>
          <a:p xmlns:a="http://schemas.openxmlformats.org/drawingml/2006/main">
            <a:r>
              <a:t>“Historical recurrence answers: ‘What burned repeatedly in the observed 2016–2025 period?’ It is based on annual burned-area records.</a:t>
            </a:r>
          </a:p>
          <a:p xmlns:a="http://schemas.openxmlformats.org/drawingml/2006/main">
            <a:r>
              <a:t>Official ICNF structural hazard answers a different question: ‘What persistent landscape conditions are associated with wildfire hazard?’ Its source is an official 25 m classification, summarized here to the predominant class for each 1 km cell.</a:t>
            </a:r>
          </a:p>
          <a:p xmlns:a="http://schemas.openxmlformats.org/drawingml/2006/main">
            <a:r>
              <a:t>Where the layers agree, they provide consistent broad-area context. Where they differ, they identify areas where the historical record and structural landscape conditions tell a more nuanced story.</a:t>
            </a:r>
          </a:p>
          <a:p xmlns:a="http://schemas.openxmlformats.org/drawingml/2006/main">
            <a:r>
              <a:t>This comparison is descriptive. It is not a model-accuracy test, and neither layer is a threshold for deciding whether a particular property is acceptable.”</a:t>
            </a:r>
          </a:p>
          <a:p xmlns:a="http://schemas.openxmlformats.org/drawingml/2006/main">
            <a:endParaRPr/>
          </a:p>
          <a:p xmlns:a="http://schemas.openxmlformats.org/drawingml/2006/main">
            <a:r>
              <a:rPr b="1"/>
              <a:t>Transition:</a:t>
            </a:r>
            <a:r>
              <a:t> “Historical context is useful, but I also tested whether a data-driven model could improve next-year comparative estimates.”</a:t>
            </a:r>
          </a:p>
          <a:p xmlns:a="http://schemas.openxmlformats.org/drawingml/2006/main">
            <a:endParaRPr/>
          </a:p>
          <a:p xmlns:a="http://schemas.openxmlformats.org/drawingml/2006/main">
            <a:r>
              <a:t>[Sources]</a:t>
            </a:r>
            <a:br/>
            <a:r>
              <a:t>qgis/README.md; docs/data_dictionary.md; reports/figures/historical_exposure_by_icnf_structural_hazard_crosstab.png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The nine-feature two-stage regression improves average comparative error and burned-share ranking over historical recurrence alone, while extreme fire outcomes remain difficult.</a:t>
            </a:r>
          </a:p>
          <a:p xmlns:a="http://schemas.openxmlformats.org/drawingml/2006/main">
            <a:endParaRPr b="1"/>
          </a:p>
          <a:p xmlns:a="http://schemas.openxmlformats.org/drawingml/2006/main">
            <a:r>
              <a:rPr b="1"/>
              <a:t>What to say:</a:t>
            </a:r>
            <a:br/>
            <a:r>
              <a:t>“This slide compares two approaches using the held-out final period: predictor years </a:t>
            </a:r>
            <a:r>
              <a:rPr b="1"/>
              <a:t>2022 - 2024</a:t>
            </a:r>
            <a:r>
              <a:t> and observed outcomes </a:t>
            </a:r>
            <a:r>
              <a:rPr b="1"/>
              <a:t>2023 - 2025</a:t>
            </a:r>
            <a:r>
              <a:t>.</a:t>
            </a:r>
          </a:p>
          <a:p xmlns:a="http://schemas.openxmlformats.org/drawingml/2006/main">
            <a:r>
              <a:t>The historical-recurrence baseline is a transparent project benchmark. It groups training records by the number of previously burned years in the 2 km context and uses the training-period average next-year burned share for each group. It is an empirical project benchmark, not a library model.</a:t>
            </a:r>
          </a:p>
          <a:p xmlns:a="http://schemas.openxmlformats.org/drawingml/2006/main">
            <a:r>
              <a:t>The nine-feature Model V2 uses two HistGradientBoosting components. The first estimates whether burning is likely in a cell. The second estimates how much of the cell’s land area may burn when burning occurs. These two parts are combined into one continuous estimated burned share.</a:t>
            </a:r>
          </a:p>
          <a:p xmlns:a="http://schemas.openxmlformats.org/drawingml/2006/main">
            <a:r>
              <a:t>On the final test, Model V2 lowers MAE from </a:t>
            </a:r>
            <a:r>
              <a:rPr b="1"/>
              <a:t>0.0292 to 0.0209</a:t>
            </a:r>
            <a:r>
              <a:t>. RMSE is almost unchanged but slightly higher, from </a:t>
            </a:r>
            <a:r>
              <a:rPr b="1"/>
              <a:t>0.1106 to 0.1110</a:t>
            </a:r>
            <a:r>
              <a:t>, showing that larger and more extreme fire outcomes remain difficult.”</a:t>
            </a:r>
          </a:p>
          <a:p xmlns:a="http://schemas.openxmlformats.org/drawingml/2006/main">
            <a:endParaRPr/>
          </a:p>
          <a:p xmlns:a="http://schemas.openxmlformats.org/drawingml/2006/main">
            <a:r>
              <a:rPr b="1"/>
              <a:t>Capture@20% is a validation test of the ranking.</a:t>
            </a:r>
            <a:r>
              <a:t> For each predictor year, the model ranks cells using information from year </a:t>
            </a:r>
            <a:r>
              <a:rPr b="1"/>
              <a:t>T</a:t>
            </a:r>
            <a:r>
              <a:t> and estimates burned share for </a:t>
            </a:r>
            <a:r>
              <a:rPr b="1"/>
              <a:t>T+1</a:t>
            </a:r>
            <a:r>
              <a:t>. For example, for </a:t>
            </a:r>
            <a:r>
              <a:rPr b="1"/>
              <a:t>2024 -&gt; 2025</a:t>
            </a:r>
            <a:r>
              <a:t>, it ranks cells using 2024 predictor data and is later checked against observed ICNF burned areas from 2025.</a:t>
            </a:r>
          </a:p>
          <a:p xmlns:a="http://schemas.openxmlformats.org/drawingml/2006/main">
            <a:r>
              <a:t>The final evaluation covers </a:t>
            </a:r>
            <a:r>
              <a:rPr b="1"/>
              <a:t>2022 -&gt; 2023, 2023 -&gt; 2024, and 2024 -&gt; 2025</a:t>
            </a:r>
            <a:r>
              <a:t>. We select the highest-scored 20% of cells and measure how much of the total observed burned-share mass occurred within those cells.</a:t>
            </a:r>
          </a:p>
          <a:p xmlns:a="http://schemas.openxmlformats.org/drawingml/2006/main">
            <a:r>
              <a:t>Across the final test, the historical baseline captured </a:t>
            </a:r>
            <a:r>
              <a:rPr b="1"/>
              <a:t>40.2%</a:t>
            </a:r>
            <a:r>
              <a:t> of observed burned-share mass in its top-ranked 20% of cells. Model V2 captured </a:t>
            </a:r>
            <a:r>
              <a:rPr b="1"/>
              <a:t>57.2%</a:t>
            </a:r>
            <a:r>
              <a:t>.</a:t>
            </a:r>
          </a:p>
          <a:p xmlns:a="http://schemas.openxmlformats.org/drawingml/2006/main">
            <a:r>
              <a:t>This does not mean that 20% of the land burned. It is a retrospective ranking diagnostic, not a buyer threshold or a property-level forecast. The same logic could later be applied to </a:t>
            </a:r>
            <a:r>
              <a:rPr b="1"/>
              <a:t>2035 -&gt; 2036</a:t>
            </a:r>
            <a:r>
              <a:t>, but only after the 2036 outcome data become available.”</a:t>
            </a:r>
          </a:p>
          <a:p xmlns:a="http://schemas.openxmlformats.org/drawingml/2006/main">
            <a:endParaRPr/>
          </a:p>
          <a:p xmlns:a="http://schemas.openxmlformats.org/drawingml/2006/main">
            <a:r>
              <a:rPr b="1"/>
              <a:t>Transition:</a:t>
            </a:r>
            <a:r>
              <a:t> “The practical question is whether the model provides a useful ranking for broad-area screening.”</a:t>
            </a:r>
          </a:p>
          <a:p xmlns:a="http://schemas.openxmlformats.org/drawingml/2006/main">
            <a:endParaRPr b="1"/>
          </a:p>
          <a:p xmlns:a="http://schemas.openxmlformats.org/drawingml/2006/main">
            <a:r>
              <a:rPr b="1"/>
              <a:t>[Sources]</a:t>
            </a:r>
            <a:br/>
            <a:r>
              <a:t>reports/validation/model_final_decision.md</a:t>
            </a:r>
            <a:br/>
            <a:r>
              <a:t>reports/validation/final_temporal_test_2022_2024.md</a:t>
            </a:r>
            <a:br/>
            <a:r>
              <a:t>reports/figures/model_final_test_metric_comparison.png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The output supports shortlisting broad areas, not choosing a property.</a:t>
            </a:r>
          </a:p>
          <a:p xmlns:a="http://schemas.openxmlformats.org/drawingml/2006/main">
            <a:endParaRPr/>
          </a:p>
          <a:p xmlns:a="http://schemas.openxmlformats.org/drawingml/2006/main">
            <a:r>
              <a:rPr b="1"/>
              <a:t>What to say:</a:t>
            </a:r>
            <a:endParaRPr/>
          </a:p>
          <a:p xmlns:a="http://schemas.openxmlformats.org/drawingml/2006/main">
            <a:r>
              <a:t>“Imagine a buyer considering multiple regions across mainland Portugal.</a:t>
            </a:r>
          </a:p>
          <a:p xmlns:a="http://schemas.openxmlformats.org/drawingml/2006/main">
            <a:r>
              <a:t>They begin with the 2026 comparative estimate to compare broad 1 km areas using 2025 predictor inputs. They then look alongside it at observed historical recurrence and the official ICNF structural-hazard layer.</a:t>
            </a:r>
          </a:p>
          <a:p xmlns:a="http://schemas.openxmlformats.org/drawingml/2006/main">
            <a:r>
              <a:t>The result is not a chosen property. It is a smaller, more structured set of broad areas for further research, site visits, and local checks.”</a:t>
            </a:r>
          </a:p>
          <a:p xmlns:a="http://schemas.openxmlformats.org/drawingml/2006/main">
            <a:endParaRPr/>
          </a:p>
          <a:p xmlns:a="http://schemas.openxmlformats.org/drawingml/2006/main">
            <a:r>
              <a:rPr b="1"/>
              <a:t>Transition:</a:t>
            </a:r>
            <a:r>
              <a:t> “The next slide explains the two safeguards that keep this use case responsible.”</a:t>
            </a:r>
          </a:p>
          <a:p xmlns:a="http://schemas.openxmlformats.org/drawingml/2006/main">
            <a:endParaRPr/>
          </a:p>
          <a:p xmlns:a="http://schemas.openxmlformats.org/drawingml/2006/main">
            <a:r>
              <a:t>[Sources]</a:t>
            </a:r>
          </a:p>
          <a:p xmlns:a="http://schemas.openxmlformats.org/drawingml/2006/main">
            <a:r>
              <a:t>qgis/wildfire_exposure_screening_portugal_2026.qgz; qgis/README.md; reports/validation/operational_forecast_2026_validation.md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Compare layers first; then replace broad evidence with local evidence.</a:t>
            </a:r>
          </a:p>
          <a:p xmlns:a="http://schemas.openxmlformats.org/drawingml/2006/main">
            <a:endParaRPr/>
          </a:p>
          <a:p xmlns:a="http://schemas.openxmlformats.org/drawingml/2006/main">
            <a:r>
              <a:rPr b="1"/>
              <a:t>What to say:</a:t>
            </a:r>
            <a:endParaRPr/>
          </a:p>
          <a:p xmlns:a="http://schemas.openxmlformats.org/drawingml/2006/main">
            <a:r>
              <a:t>“The first recommendation is to compare the three layers separately: the 2026 comparative estimate, observed historical recurrence, and official ICNF structural hazard. They answer different questions, so they should not be merged into a single score.</a:t>
            </a:r>
          </a:p>
          <a:p xmlns:a="http://schemas.openxmlformats.org/drawingml/2006/main">
            <a:r>
              <a:t>The second recommendation is local verification. Once an area is shortlisted, the decision should use planning restrictions, access and evacuation conditions, insurance, vegetation management, terrain, infrastructure, and property-specific information.</a:t>
            </a:r>
          </a:p>
          <a:p xmlns:a="http://schemas.openxmlformats.org/drawingml/2006/main">
            <a:r>
              <a:t>The model helps direct research effort. It does not replace local investigation or certify a location.”</a:t>
            </a:r>
          </a:p>
          <a:p xmlns:a="http://schemas.openxmlformats.org/drawingml/2006/main">
            <a:endParaRPr/>
          </a:p>
          <a:p xmlns:a="http://schemas.openxmlformats.org/drawingml/2006/main">
            <a:r>
              <a:rPr b="1"/>
              <a:t>Transition:</a:t>
            </a:r>
            <a:r>
              <a:t> “Finally, the value of the project is not only one 2026 map -it is a repeatable annual workflow.”</a:t>
            </a:r>
          </a:p>
          <a:p xmlns:a="http://schemas.openxmlformats.org/drawingml/2006/main">
            <a:endParaRPr/>
          </a:p>
          <a:p xmlns:a="http://schemas.openxmlformats.org/drawingml/2006/main">
            <a:r>
              <a:t>[Sources]</a:t>
            </a:r>
          </a:p>
          <a:p xmlns:a="http://schemas.openxmlformats.org/drawingml/2006/main">
            <a:r>
              <a:t>qgis/README.md; docs/data_dictionary.md;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Main message:</a:t>
            </a:r>
            <a:r>
              <a:t> The project is successful as a reproducible comparative screening workflow with explicit limitations and an annual refresh path.</a:t>
            </a:r>
          </a:p>
          <a:p xmlns:a="http://schemas.openxmlformats.org/drawingml/2006/main">
            <a:endParaRPr/>
          </a:p>
          <a:p xmlns:a="http://schemas.openxmlformats.org/drawingml/2006/main">
            <a:r>
              <a:rPr b="1"/>
              <a:t>What to say:</a:t>
            </a:r>
            <a:endParaRPr/>
          </a:p>
          <a:p xmlns:a="http://schemas.openxmlformats.org/drawingml/2006/main">
            <a:r>
              <a:t>“This project delivered a reproducible national workflow: validated source data, a consistent 1 km grid, GIS outputs, historical evidence layers, and a tested nine-feature machine-learning model.</a:t>
            </a:r>
          </a:p>
          <a:p xmlns:a="http://schemas.openxmlformats.org/drawingml/2006/main">
            <a:r>
              <a:t>The model provides a modest improvement over historical recurrence alone for selected comparative diagnostics. At the same time, the evaluation shows that extreme fire outcomes remain difficult, so the output must remain a cautious broad-area estimate.</a:t>
            </a:r>
          </a:p>
          <a:p xmlns:a="http://schemas.openxmlformats.org/drawingml/2006/main">
            <a:r>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xmlns:a="http://schemas.openxmlformats.org/drawingml/2006/main">
            <a:r>
              <a:t>The project therefore provides a repeatable evidence process—not a final property decision.”</a:t>
            </a:r>
          </a:p>
          <a:p xmlns:a="http://schemas.openxmlformats.org/drawingml/2006/main">
            <a:endParaRPr/>
          </a:p>
          <a:p xmlns:a="http://schemas.openxmlformats.org/drawingml/2006/main">
            <a:r>
              <a:t>[Sources]</a:t>
            </a:r>
          </a:p>
          <a:p xmlns:a="http://schemas.openxmlformats.org/drawingml/2006/main">
            <a:r>
              <a:t>README.md; reports/validation/model_final_decision.md; reports/validation/operational_forecast_readiness.md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eeae23133d469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2a8e624dc54ee0" /><Relationship Type="http://schemas.openxmlformats.org/officeDocument/2006/relationships/slideLayout" Target="/ppt/slideLayouts/slideLayout1.xml" Id="R9368d52527814e5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68d52527814e51"/>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57368ef7036431c" /><Relationship Type="http://schemas.openxmlformats.org/officeDocument/2006/relationships/notesSlide" Target="/ppt/notesSlides/notesSlide1.xml" Id="R1f3f408f827d48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5994b094b14e45" /><Relationship Type="http://schemas.openxmlformats.org/officeDocument/2006/relationships/notesSlide" Target="/ppt/notesSlides/notesSlide2.xml" Id="Rc19232dc46014f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81b8ba0a65842be" /><Relationship Type="http://schemas.openxmlformats.org/officeDocument/2006/relationships/notesSlide" Target="/ppt/notesSlides/notesSlide3.xml" Id="R8f3190ff675f4f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59f7534892c414e" /><Relationship Type="http://schemas.openxmlformats.org/officeDocument/2006/relationships/image" Target="/ppt/media/image.png" Id="R260cfa5ea9ca4002" /><Relationship Type="http://schemas.openxmlformats.org/officeDocument/2006/relationships/notesSlide" Target="/ppt/notesSlides/notesSlide4.xml" Id="Rcef631a6a73f48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a390b8265b64971" /><Relationship Type="http://schemas.openxmlformats.org/officeDocument/2006/relationships/notesSlide" Target="/ppt/notesSlides/notesSlide5.xml" Id="R2bf5bdaec17b41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ba7682c53b4f23" /><Relationship Type="http://schemas.openxmlformats.org/officeDocument/2006/relationships/notesSlide" Target="/ppt/notesSlides/notesSlide6.xml" Id="Rc39d4dd7941f40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79c7d8cf71b46e8" /><Relationship Type="http://schemas.openxmlformats.org/officeDocument/2006/relationships/notesSlide" Target="/ppt/notesSlides/notesSlide7.xml" Id="R9ad89320b4bb42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c39bb90ad9e4a5e" /><Relationship Type="http://schemas.openxmlformats.org/officeDocument/2006/relationships/notesSlide" Target="/ppt/notesSlides/notesSlide8.xml" Id="R189cda68547245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c4f46278b04e15" /><Relationship Type="http://schemas.openxmlformats.org/officeDocument/2006/relationships/notesSlide" Target="/ppt/notesSlides/notesSlide9.xml" Id="Re21e9be81ecd4fa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7271A54-A21F-461B-81FE-9352EC032EC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 name="Shape 1">
            <a:extLst xmlns:a="http://schemas.openxmlformats.org/drawingml/2006/main">
              <a:ext uri="{FF2B5EF4-FFF2-40B4-BE49-F238E27FC236}">
                <a16:creationId xmlns:a16="http://schemas.microsoft.com/office/drawing/2014/main" id="{DDACC1B4-1154-4329-A73F-48B1DC582792}"/>
              </a:ext>
            </a:extLst>
          </p:cNvPr>
          <p:cNvSpPr>
            <a:spLocks xmlns:a="http://schemas.openxmlformats.org/drawingml/2006/main" noGrp="1"/>
          </p:cNvSpPr>
          <p:nvPr/>
        </p:nvSpPr>
        <p:spPr>
          <a:xfrm xmlns:a="http://schemas.openxmlformats.org/drawingml/2006/main">
            <a:off x="0" y="0"/>
            <a:ext cx="228600" cy="514350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321EBCE3-53B5-467C-8E29-72B844CA383B}"/>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5" name="Shape 3">
            <a:extLst xmlns:a="http://schemas.openxmlformats.org/drawingml/2006/main">
              <a:ext uri="{FF2B5EF4-FFF2-40B4-BE49-F238E27FC236}">
                <a16:creationId xmlns:a16="http://schemas.microsoft.com/office/drawing/2014/main" id="{9017F92D-E245-4025-90D8-8EDF916CA9EF}"/>
              </a:ext>
            </a:extLst>
          </p:cNvPr>
          <p:cNvSpPr>
            <a:spLocks xmlns:a="http://schemas.openxmlformats.org/drawingml/2006/main" noGrp="1"/>
          </p:cNvSpPr>
          <p:nvPr/>
        </p:nvSpPr>
        <p:spPr>
          <a:xfrm xmlns:a="http://schemas.openxmlformats.org/drawingml/2006/main">
            <a:off x="320040" y="137160"/>
            <a:ext cx="1417320" cy="29260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6" name="Text 4">
            <a:extLst xmlns:a="http://schemas.openxmlformats.org/drawingml/2006/main">
              <a:ext uri="{FF2B5EF4-FFF2-40B4-BE49-F238E27FC236}">
                <a16:creationId xmlns:a16="http://schemas.microsoft.com/office/drawing/2014/main" id="{50F063B7-97FC-4057-91C5-01147213D4BB}"/>
              </a:ext>
            </a:extLst>
          </p:cNvPr>
          <p:cNvSpPr>
            <a:spLocks xmlns:a="http://schemas.openxmlformats.org/drawingml/2006/main" noGrp="1"/>
          </p:cNvSpPr>
          <p:nvPr/>
        </p:nvSpPr>
        <p:spPr>
          <a:xfrm xmlns:a="http://schemas.openxmlformats.org/drawingml/2006/main">
            <a:off x="320040" y="137160"/>
            <a:ext cx="14173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a:solidFill>
                  <a:srgbClr val="E1E8EF"/>
                </a:solidFill>
              </a:rPr>
              <a:t>DATA SCIENCE · ML · GIS</a:t>
            </a:r>
            <a:endParaRPr sz="750"/>
          </a:p>
        </p:txBody>
      </p:sp>
      <p:sp>
        <p:nvSpPr>
          <p:cNvPr id="7" name="Shape 5">
            <a:extLst xmlns:a="http://schemas.openxmlformats.org/drawingml/2006/main">
              <a:ext uri="{FF2B5EF4-FFF2-40B4-BE49-F238E27FC236}">
                <a16:creationId xmlns:a16="http://schemas.microsoft.com/office/drawing/2014/main" id="{70C36328-C5D1-4010-B8F0-E622D0A879DF}"/>
              </a:ext>
            </a:extLst>
          </p:cNvPr>
          <p:cNvSpPr>
            <a:spLocks xmlns:a="http://schemas.openxmlformats.org/drawingml/2006/main" noGrp="1"/>
          </p:cNvSpPr>
          <p:nvPr/>
        </p:nvSpPr>
        <p:spPr>
          <a:xfrm xmlns:a="http://schemas.openxmlformats.org/drawingml/2006/main">
            <a:off x="7498080" y="137160"/>
            <a:ext cx="1417320" cy="2926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8" name="Text 6">
            <a:extLst xmlns:a="http://schemas.openxmlformats.org/drawingml/2006/main">
              <a:ext uri="{FF2B5EF4-FFF2-40B4-BE49-F238E27FC236}">
                <a16:creationId xmlns:a16="http://schemas.microsoft.com/office/drawing/2014/main" id="{65A06437-0A3C-43F1-8C4D-8B11B9E4BD63}"/>
              </a:ext>
            </a:extLst>
          </p:cNvPr>
          <p:cNvSpPr>
            <a:spLocks xmlns:a="http://schemas.openxmlformats.org/drawingml/2006/main" noGrp="1"/>
          </p:cNvSpPr>
          <p:nvPr/>
        </p:nvSpPr>
        <p:spPr>
          <a:xfrm xmlns:a="http://schemas.openxmlformats.org/drawingml/2006/main">
            <a:off x="7498080" y="137160"/>
            <a:ext cx="14173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b="1">
                <a:solidFill>
                  <a:srgbClr val="0D1F2D"/>
                </a:solidFill>
              </a:rPr>
              <a:t>2026</a:t>
            </a:r>
            <a:endParaRPr sz="750"/>
          </a:p>
        </p:txBody>
      </p:sp>
      <p:sp>
        <p:nvSpPr>
          <p:cNvPr id="9" name="Text 7">
            <a:extLst xmlns:a="http://schemas.openxmlformats.org/drawingml/2006/main">
              <a:ext uri="{FF2B5EF4-FFF2-40B4-BE49-F238E27FC236}">
                <a16:creationId xmlns:a16="http://schemas.microsoft.com/office/drawing/2014/main" id="{9BC5597E-259F-4375-AD7E-442DC35DA9BA}"/>
              </a:ext>
            </a:extLst>
          </p:cNvPr>
          <p:cNvSpPr>
            <a:spLocks xmlns:a="http://schemas.openxmlformats.org/drawingml/2006/main" noGrp="1"/>
          </p:cNvSpPr>
          <p:nvPr/>
        </p:nvSpPr>
        <p:spPr>
          <a:xfrm xmlns:a="http://schemas.openxmlformats.org/drawingml/2006/main">
            <a:off x="365760" y="566928"/>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E8A020"/>
                </a:solidFill>
              </a:rPr>
              <a:t>WILDFIRE EXPOSURE SCREENING</a:t>
            </a:r>
            <a:endParaRPr sz="1000"/>
          </a:p>
        </p:txBody>
      </p:sp>
      <p:sp>
        <p:nvSpPr>
          <p:cNvPr id="10" name="Text 8">
            <a:extLst xmlns:a="http://schemas.openxmlformats.org/drawingml/2006/main">
              <a:ext uri="{FF2B5EF4-FFF2-40B4-BE49-F238E27FC236}">
                <a16:creationId xmlns:a16="http://schemas.microsoft.com/office/drawing/2014/main" id="{104374D4-53B8-40B4-AD27-574FDD973E4D}"/>
              </a:ext>
            </a:extLst>
          </p:cNvPr>
          <p:cNvSpPr>
            <a:spLocks xmlns:a="http://schemas.openxmlformats.org/drawingml/2006/main" noGrp="1"/>
          </p:cNvSpPr>
          <p:nvPr/>
        </p:nvSpPr>
        <p:spPr>
          <a:xfrm xmlns:a="http://schemas.openxmlformats.org/drawingml/2006/main">
            <a:off x="365760" y="914400"/>
            <a:ext cx="557784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5200" b="1">
                <a:solidFill>
                  <a:srgbClr val="FFFFFF"/>
                </a:solidFill>
              </a:rPr>
              <a:t>Wildfire Exposure</a:t>
            </a:r>
            <a:endParaRPr sz="5200"/>
          </a:p>
          <a:p xmlns:a="http://schemas.openxmlformats.org/drawingml/2006/main">
            <a:pPr marL="0" indent="0">
              <a:buNone/>
            </a:pPr>
            <a:r>
              <a:rPr sz="5200" b="1">
                <a:solidFill>
                  <a:srgbClr val="FFFFFF"/>
                </a:solidFill>
              </a:rPr>
              <a:t>Location Screening</a:t>
            </a:r>
            <a:endParaRPr sz="5200"/>
          </a:p>
        </p:txBody>
      </p:sp>
      <p:sp>
        <p:nvSpPr>
          <p:cNvPr id="11" name="Text 9">
            <a:extLst xmlns:a="http://schemas.openxmlformats.org/drawingml/2006/main">
              <a:ext uri="{FF2B5EF4-FFF2-40B4-BE49-F238E27FC236}">
                <a16:creationId xmlns:a16="http://schemas.microsoft.com/office/drawing/2014/main" id="{20E7387F-C7E0-45B4-95FC-3980C4673C6B}"/>
              </a:ext>
            </a:extLst>
          </p:cNvPr>
          <p:cNvSpPr>
            <a:spLocks xmlns:a="http://schemas.openxmlformats.org/drawingml/2006/main" noGrp="1"/>
          </p:cNvSpPr>
          <p:nvPr/>
        </p:nvSpPr>
        <p:spPr>
          <a:xfrm xmlns:a="http://schemas.openxmlformats.org/drawingml/2006/main">
            <a:off x="365760" y="2834640"/>
            <a:ext cx="55778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A8C4D8"/>
                </a:solidFill>
              </a:rPr>
              <a:t>A reproducible GIS and machine-learning workflow for broad-area location research.</a:t>
            </a:r>
            <a:endParaRPr sz="1300"/>
          </a:p>
        </p:txBody>
      </p:sp>
      <p:sp>
        <p:nvSpPr>
          <p:cNvPr id="12" name="Shape 10">
            <a:extLst xmlns:a="http://schemas.openxmlformats.org/drawingml/2006/main">
              <a:ext uri="{FF2B5EF4-FFF2-40B4-BE49-F238E27FC236}">
                <a16:creationId xmlns:a16="http://schemas.microsoft.com/office/drawing/2014/main" id="{84D7FAF1-5834-4AFE-87A0-3EB7DF4F1C96}"/>
              </a:ext>
            </a:extLst>
          </p:cNvPr>
          <p:cNvSpPr>
            <a:spLocks xmlns:a="http://schemas.openxmlformats.org/drawingml/2006/main" noGrp="1"/>
          </p:cNvSpPr>
          <p:nvPr/>
        </p:nvSpPr>
        <p:spPr>
          <a:xfrm xmlns:a="http://schemas.openxmlformats.org/drawingml/2006/main">
            <a:off x="365760" y="3310128"/>
            <a:ext cx="5303520" cy="2286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13" name="Text 11">
            <a:extLst xmlns:a="http://schemas.openxmlformats.org/drawingml/2006/main">
              <a:ext uri="{FF2B5EF4-FFF2-40B4-BE49-F238E27FC236}">
                <a16:creationId xmlns:a16="http://schemas.microsoft.com/office/drawing/2014/main" id="{55AB15B4-F408-4652-B072-3916646D6B7A}"/>
              </a:ext>
            </a:extLst>
          </p:cNvPr>
          <p:cNvSpPr>
            <a:spLocks xmlns:a="http://schemas.openxmlformats.org/drawingml/2006/main" noGrp="1"/>
          </p:cNvSpPr>
          <p:nvPr/>
        </p:nvSpPr>
        <p:spPr>
          <a:xfrm xmlns:a="http://schemas.openxmlformats.org/drawingml/2006/main">
            <a:off x="365760" y="3383280"/>
            <a:ext cx="53035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E1E8EF"/>
                </a:solidFill>
              </a:rPr>
              <a:t>Serhii Diadechko</a:t>
            </a:r>
            <a:endParaRPr sz="1100"/>
          </a:p>
        </p:txBody>
      </p:sp>
      <p:sp>
        <p:nvSpPr>
          <p:cNvPr id="14" name="Shape 12">
            <a:extLst xmlns:a="http://schemas.openxmlformats.org/drawingml/2006/main">
              <a:ext uri="{FF2B5EF4-FFF2-40B4-BE49-F238E27FC236}">
                <a16:creationId xmlns:a16="http://schemas.microsoft.com/office/drawing/2014/main" id="{9BEE0D39-8F48-47D0-AC97-A5C1383B7E0E}"/>
              </a:ext>
            </a:extLst>
          </p:cNvPr>
          <p:cNvSpPr>
            <a:spLocks xmlns:a="http://schemas.openxmlformats.org/drawingml/2006/main" noGrp="1"/>
          </p:cNvSpPr>
          <p:nvPr/>
        </p:nvSpPr>
        <p:spPr>
          <a:xfrm xmlns:a="http://schemas.openxmlformats.org/drawingml/2006/main">
            <a:off x="6080760" y="777240"/>
            <a:ext cx="2834640" cy="3931920"/>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5" name="Text 13">
            <a:extLst xmlns:a="http://schemas.openxmlformats.org/drawingml/2006/main">
              <a:ext uri="{FF2B5EF4-FFF2-40B4-BE49-F238E27FC236}">
                <a16:creationId xmlns:a16="http://schemas.microsoft.com/office/drawing/2014/main" id="{B9DF6536-1C4E-4314-9CB6-ABE7AFD6C0A3}"/>
              </a:ext>
            </a:extLst>
          </p:cNvPr>
          <p:cNvSpPr>
            <a:spLocks xmlns:a="http://schemas.openxmlformats.org/drawingml/2006/main" noGrp="1"/>
          </p:cNvSpPr>
          <p:nvPr/>
        </p:nvSpPr>
        <p:spPr>
          <a:xfrm xmlns:a="http://schemas.openxmlformats.org/drawingml/2006/main">
            <a:off x="6080760" y="822960"/>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E8A020"/>
                </a:solidFill>
              </a:rPr>
              <a:t>Purpose</a:t>
            </a:r>
            <a:endParaRPr sz="900"/>
          </a:p>
        </p:txBody>
      </p:sp>
      <p:sp>
        <p:nvSpPr>
          <p:cNvPr id="16" name="Shape 14">
            <a:extLst xmlns:a="http://schemas.openxmlformats.org/drawingml/2006/main">
              <a:ext uri="{FF2B5EF4-FFF2-40B4-BE49-F238E27FC236}">
                <a16:creationId xmlns:a16="http://schemas.microsoft.com/office/drawing/2014/main" id="{5B21C9E4-9D51-47F8-A634-86927AA3DBCF}"/>
              </a:ext>
            </a:extLst>
          </p:cNvPr>
          <p:cNvSpPr>
            <a:spLocks xmlns:a="http://schemas.openxmlformats.org/drawingml/2006/main" noGrp="1"/>
          </p:cNvSpPr>
          <p:nvPr/>
        </p:nvSpPr>
        <p:spPr>
          <a:xfrm xmlns:a="http://schemas.openxmlformats.org/drawingml/2006/main">
            <a:off x="6217920" y="1170432"/>
            <a:ext cx="2560320" cy="22860"/>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17" name="Text 15">
            <a:extLst xmlns:a="http://schemas.openxmlformats.org/drawingml/2006/main">
              <a:ext uri="{FF2B5EF4-FFF2-40B4-BE49-F238E27FC236}">
                <a16:creationId xmlns:a16="http://schemas.microsoft.com/office/drawing/2014/main" id="{F36FA1E7-8AA0-4F97-BCC4-F9EF38BF02CA}"/>
              </a:ext>
            </a:extLst>
          </p:cNvPr>
          <p:cNvSpPr>
            <a:spLocks xmlns:a="http://schemas.openxmlformats.org/drawingml/2006/main" noGrp="1"/>
          </p:cNvSpPr>
          <p:nvPr/>
        </p:nvSpPr>
        <p:spPr>
          <a:xfrm xmlns:a="http://schemas.openxmlformats.org/drawingml/2006/main">
            <a:off x="6217920" y="1261872"/>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Observed history</a:t>
            </a:r>
            <a:endParaRPr sz="1050"/>
          </a:p>
        </p:txBody>
      </p:sp>
      <p:sp>
        <p:nvSpPr>
          <p:cNvPr id="18" name="Text 16">
            <a:extLst xmlns:a="http://schemas.openxmlformats.org/drawingml/2006/main">
              <a:ext uri="{FF2B5EF4-FFF2-40B4-BE49-F238E27FC236}">
                <a16:creationId xmlns:a16="http://schemas.microsoft.com/office/drawing/2014/main" id="{E78B0B14-0C2A-4376-A31F-8BD2A8320B1B}"/>
              </a:ext>
            </a:extLst>
          </p:cNvPr>
          <p:cNvSpPr>
            <a:spLocks xmlns:a="http://schemas.openxmlformats.org/drawingml/2006/main" noGrp="1"/>
          </p:cNvSpPr>
          <p:nvPr/>
        </p:nvSpPr>
        <p:spPr>
          <a:xfrm xmlns:a="http://schemas.openxmlformats.org/drawingml/2006/main">
            <a:off x="6217920" y="1792224"/>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Landscape, terrain and climate</a:t>
            </a:r>
            <a:endParaRPr sz="1050"/>
          </a:p>
        </p:txBody>
      </p:sp>
      <p:sp>
        <p:nvSpPr>
          <p:cNvPr id="19" name="Text 17">
            <a:extLst xmlns:a="http://schemas.openxmlformats.org/drawingml/2006/main">
              <a:ext uri="{FF2B5EF4-FFF2-40B4-BE49-F238E27FC236}">
                <a16:creationId xmlns:a16="http://schemas.microsoft.com/office/drawing/2014/main" id="{AE7E2DF4-82FF-4297-BC2B-22C484A80CC8}"/>
              </a:ext>
            </a:extLst>
          </p:cNvPr>
          <p:cNvSpPr>
            <a:spLocks xmlns:a="http://schemas.openxmlformats.org/drawingml/2006/main" noGrp="1"/>
          </p:cNvSpPr>
          <p:nvPr/>
        </p:nvSpPr>
        <p:spPr>
          <a:xfrm xmlns:a="http://schemas.openxmlformats.org/drawingml/2006/main">
            <a:off x="6217920" y="2322576"/>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Comparative 2026 estimate</a:t>
            </a:r>
            <a:endParaRPr sz="1050"/>
          </a:p>
        </p:txBody>
      </p:sp>
      <p:sp>
        <p:nvSpPr>
          <p:cNvPr id="20" name="Text 18">
            <a:extLst xmlns:a="http://schemas.openxmlformats.org/drawingml/2006/main">
              <a:ext uri="{FF2B5EF4-FFF2-40B4-BE49-F238E27FC236}">
                <a16:creationId xmlns:a16="http://schemas.microsoft.com/office/drawing/2014/main" id="{DD6F7EF9-033D-4506-9EBE-BFE18477DBE8}"/>
              </a:ext>
            </a:extLst>
          </p:cNvPr>
          <p:cNvSpPr>
            <a:spLocks xmlns:a="http://schemas.openxmlformats.org/drawingml/2006/main" noGrp="1"/>
          </p:cNvSpPr>
          <p:nvPr/>
        </p:nvSpPr>
        <p:spPr>
          <a:xfrm xmlns:a="http://schemas.openxmlformats.org/drawingml/2006/main">
            <a:off x="6217920" y="2852928"/>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Narrow broad search areas</a:t>
            </a:r>
            <a:endParaRPr sz="1050"/>
          </a:p>
        </p:txBody>
      </p:sp>
      <p:sp>
        <p:nvSpPr>
          <p:cNvPr id="21" name="Text 19">
            <a:extLst xmlns:a="http://schemas.openxmlformats.org/drawingml/2006/main">
              <a:ext uri="{FF2B5EF4-FFF2-40B4-BE49-F238E27FC236}">
                <a16:creationId xmlns:a16="http://schemas.microsoft.com/office/drawing/2014/main" id="{A8932156-3970-4237-A76D-30F8D26A7793}"/>
              </a:ext>
            </a:extLst>
          </p:cNvPr>
          <p:cNvSpPr>
            <a:spLocks xmlns:a="http://schemas.openxmlformats.org/drawingml/2006/main" noGrp="1"/>
          </p:cNvSpPr>
          <p:nvPr/>
        </p:nvSpPr>
        <p:spPr>
          <a:xfrm xmlns:a="http://schemas.openxmlformats.org/drawingml/2006/main">
            <a:off x="6217920" y="3383280"/>
            <a:ext cx="2560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8A020"/>
                </a:solidFill>
              </a:rPr>
              <a:t>Then continue with local evidence</a:t>
            </a:r>
            <a:endParaRPr sz="1050"/>
          </a:p>
        </p:txBody>
      </p:sp>
      <p:sp>
        <p:nvSpPr>
          <p:cNvPr id="22" name="Shape 20">
            <a:extLst xmlns:a="http://schemas.openxmlformats.org/drawingml/2006/main">
              <a:ext uri="{FF2B5EF4-FFF2-40B4-BE49-F238E27FC236}">
                <a16:creationId xmlns:a16="http://schemas.microsoft.com/office/drawing/2014/main" id="{60B28163-A49C-4C75-B149-473B24134259}"/>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23" name="Text 21">
            <a:extLst xmlns:a="http://schemas.openxmlformats.org/drawingml/2006/main">
              <a:ext uri="{FF2B5EF4-FFF2-40B4-BE49-F238E27FC236}">
                <a16:creationId xmlns:a16="http://schemas.microsoft.com/office/drawing/2014/main" id="{D759CE5D-7A30-48C4-B49F-00835A05CFBA}"/>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DATASET OVERVIEW</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2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One 1 km mainland cell per year makes the evidence comparable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OBSERVED FIRE</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ICNF annual burned areas</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2000–2025 coverage</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observed history and outcome labels</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Burned share = burned land area / cell land area.</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PLACE CONTEXT</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CLC and Copernicus DEM</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Built-up share, forest/shrub context and mean slope describe the surrounding landscape.</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Static or governed historical layers</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landscape and terrain predictors</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No parcel-level claim.</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CLIMATE CONTEXT</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ERA5-Land JJAS</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Warm-season temperature, precipitation and shallow soil-water conditions from predictor year T only.</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468880"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0.1° regional climate cells</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Use: predictor-year climate context</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No interpolation or downscaling.</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89,112 mainland cells; one EPSG:3763 1 km cell × predictor year record.</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MODEL DEVELOPMENT FLOW</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3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How historical data becomes the 2026 estimate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COLLECT + PREPARE</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Validated source inputs</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CAOP grid; ICNF burned areas; CLC; DEM; ERA5-Land.</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One 1 km cell × predictor year</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Nine predictors from year T</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Observed target from year T+1 only</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TRAIN</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Fit historical relationships</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Training T=2010–2019; observed outcomes 2011–2020.</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Baseline + candidate models</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Learn from training years only</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Validation and final years stay outside fitting</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SELECT + CHECK</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Use later years in sequence</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Validation T=2020–2021 selects the model; final evaluation T=2022–2024 checks it once.</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468880"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Freeze before final evaluation</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Outcomes 2021–2022, then 2023–2025</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 Refit the selected specification</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REFIT + ESTIMATE 2026 | Refit on labelled T=2010–2024; apply T=2025 predictors. 2026 outcome pending.</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916D61E-8D80-4696-BE48-571111EE6D65}"/>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7C197073-0349-496C-B731-E02726BC0FD2}"/>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5344C750-A1AC-4D96-B5ED-2E59EAB552A3}"/>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4BCF9260-F9BB-427A-A715-0CA619DDD669}"/>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1</a:t>
            </a:r>
          </a:p>
          <a:p xmlns:a="http://schemas.openxmlformats.org/drawingml/2006/main">
            <a:pPr marL="0" indent="0">
              <a:buNone/>
            </a:pPr>
            <a:r>
              <a:rPr sz="1000">
                <a:solidFill>
                  <a:schemeClr val="accent6"/>
                </a:solidFill>
              </a:rPr>
              <a:t>observed history and 2026 comparative estimate</a:t>
            </a:r>
          </a:p>
        </p:txBody>
      </p:sp>
      <p:sp>
        <p:nvSpPr>
          <p:cNvPr id="6" name="Text 4">
            <a:extLst xmlns:a="http://schemas.openxmlformats.org/drawingml/2006/main">
              <a:ext uri="{FF2B5EF4-FFF2-40B4-BE49-F238E27FC236}">
                <a16:creationId xmlns:a16="http://schemas.microsoft.com/office/drawing/2014/main" id="{7C069EAE-F0EA-403F-93EC-4D5FAD01EDA4}"/>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4 / 9</a:t>
            </a:r>
            <a:endParaRPr sz="1100"/>
          </a:p>
        </p:txBody>
      </p:sp>
      <p:sp>
        <p:nvSpPr>
          <p:cNvPr id="7" name="Text 5">
            <a:extLst xmlns:a="http://schemas.openxmlformats.org/drawingml/2006/main">
              <a:ext uri="{FF2B5EF4-FFF2-40B4-BE49-F238E27FC236}">
                <a16:creationId xmlns:a16="http://schemas.microsoft.com/office/drawing/2014/main" id="{166943B0-65A2-4E8E-A093-55763EACAA06}"/>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Historical wildfire recurrence is uneven across mainland Portugal (left map)</a:t>
            </a:r>
            <a:endParaRPr sz="1600"/>
          </a:p>
        </p:txBody>
      </p:sp>
      <p:sp>
        <p:nvSpPr>
          <p:cNvPr id="33" name="Shape 31">
            <a:extLst xmlns:a="http://schemas.openxmlformats.org/drawingml/2006/main">
              <a:ext uri="{FF2B5EF4-FFF2-40B4-BE49-F238E27FC236}">
                <a16:creationId xmlns:a16="http://schemas.microsoft.com/office/drawing/2014/main" id="{35375F54-2542-44E4-9AE4-25E5F5E7CCD6}"/>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34" name="Text 32">
            <a:extLst xmlns:a="http://schemas.openxmlformats.org/drawingml/2006/main">
              <a:ext uri="{FF2B5EF4-FFF2-40B4-BE49-F238E27FC236}">
                <a16:creationId xmlns:a16="http://schemas.microsoft.com/office/drawing/2014/main" id="{311C9A05-ACCC-4E9D-9690-B5C3213DD01B}"/>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pic>
        <p:nvPicPr>
          <p:cNvPr id="44" name="Picture 8"/>
          <p:cNvPicPr>
            <a:picLocks xmlns:a="http://schemas.openxmlformats.org/drawingml/2006/main" noChangeAspect="1"/>
          </p:cNvPicPr>
          <p:nvPr/>
        </p:nvPicPr>
        <p:blipFill>
          <a:blip xmlns:r="http://schemas.openxmlformats.org/officeDocument/2006/relationships" xmlns:a="http://schemas.openxmlformats.org/drawingml/2006/main" r:embed="R260cfa5ea9ca4002"/>
          <a:stretch xmlns:a="http://schemas.openxmlformats.org/drawingml/2006/main">
            <a:fillRect l="0" t="0" r="0" b="0"/>
          </a:stretch>
        </p:blipFill>
        <p:spPr>
          <a:xfrm xmlns:a="http://schemas.openxmlformats.org/drawingml/2006/main">
            <a:off x="742950" y="1107383"/>
            <a:ext cx="7581900" cy="3810525"/>
          </a:xfrm>
          <a:prstGeom xmlns:a="http://schemas.openxmlformats.org/drawingml/2006/main" prst="rect">
            <a:avLst/>
          </a:prstGeom>
        </p:spPr>
      </p:pic>
    </p:spTree>
    <p:extLst>
      <p:ext uri="{BB962C8B-B14F-4D97-AF65-F5344CB8AC3E}">
        <p14:creationId xmlns:p14="http://schemas.microsoft.com/office/powerpoint/2010/main" val="6125340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2</a:t>
            </a:r>
          </a:p>
          <a:p xmlns:a="http://schemas.openxmlformats.org/drawingml/2006/main">
            <a:pPr marL="0" indent="0">
              <a:buNone/>
            </a:pPr>
            <a:r>
              <a:rPr sz="1000">
                <a:solidFill>
                  <a:schemeClr val="accent6"/>
                </a:solidFill>
              </a:rPr>
              <a:t>complementary context</a:t>
            </a:r>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5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Historical recurrence and structural hazard provide complementary context</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Evidence layers</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77393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Counts 2016–2025 burned years in the 2 km context around each 1 km cell.</a:t>
            </a:r>
            <a:endParaRPr sz="850"/>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Official structural hazard</a:t>
            </a:r>
            <a:endParaRPr sz="850"/>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Why compare both?</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They use different methods and time frames, so agreement or disagreement adds context.</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Interpretation</a:t>
            </a:r>
            <a:endParaRPr sz="850"/>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8795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64024" y="1554480"/>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txBody>
          <a:bodyPr xmlns:a="http://schemas.openxmlformats.org/drawingml/2006/main"/>
          <a:lstStyle xmlns:a="http://schemas.openxmlformats.org/drawingml/2006/main"/>
          <a:p xmlns:a="http://schemas.openxmlformats.org/drawingml/2006/main">
            <a:endParaRPr/>
          </a:p>
        </p:txBody>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64024" y="1280160"/>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One comparison, two sources</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Technical</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Use the layers together to understand patterns; neither layer is a buyer threshold.</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Maps describe evidence; they do not certify a location.</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Both layers still require local verification.</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364992"/>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Delivery Tips</a:t>
            </a: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Observed recurrence = what burned.</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Structural hazard = underlying landscape classification.</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Together = broader screening context.</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No model-accuracy claim is made from this comparison.</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The official ICNF layer is a reference, not the project’s ML output.</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KEY FINDING 3 — MODEL</a:t>
            </a:r>
          </a:p>
          <a:p xmlns:a="http://schemas.openxmlformats.org/drawingml/2006/main">
            <a:pPr marL="0" indent="0">
              <a:buNone/>
            </a:pPr>
            <a:r>
              <a:rPr sz="1000">
                <a:solidFill>
                  <a:schemeClr val="accent6"/>
                </a:solidFill>
              </a:rPr>
              <a:t>model comparison</a:t>
            </a:r>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6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The nine-feature model improves selected comparative diagnostics</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txBody>
          <a:bodyPr xmlns:a="http://schemas.openxmlformats.org/drawingml/2006/main"/>
          <a:lstStyle xmlns:a="http://schemas.openxmlformats.org/drawingml/2006/main"/>
          <a:p xmlns:a="http://schemas.openxmlformats.org/drawingml/2006/main">
            <a:endParaRPr/>
          </a:p>
        </p:txBody>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MODEL COMPARISON</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801368"/>
            <a:ext cx="36118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Historical recurrence baseline</a:t>
            </a:r>
          </a:p>
          <a:p xmlns:a="http://schemas.openxmlformats.org/drawingml/2006/main">
            <a:r>
              <a:rPr sz="700" i="1">
                <a:solidFill>
                  <a:schemeClr val="tx1">
                    <a:lumMod val="50000"/>
                    <a:lumOff val="50000"/>
                  </a:schemeClr>
                </a:solidFill>
              </a:rPr>
              <a:t>a simple reference based only on previous burned-year counts</a:t>
            </a:r>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50">
                <a:solidFill>
                  <a:srgbClr val="1A2638"/>
                </a:solidFill>
              </a:rPr>
              <a:t>Nine-feature two-stage regression model:</a:t>
            </a:r>
          </a:p>
          <a:p xmlns:a="http://schemas.openxmlformats.org/drawingml/2006/main">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xmlns:a="http://schemas.openxmlformats.org/drawingml/2006/main">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xmlns:a="http://schemas.openxmlformats.org/drawingml/2006/main">
            <a:r>
              <a:rPr sz="700" i="1">
                <a:solidFill>
                  <a:schemeClr val="tx1">
                    <a:lumMod val="50000"/>
                    <a:lumOff val="50000"/>
                  </a:schemeClr>
                </a:solidFill>
              </a:rPr>
              <a:t>the accepted model using fire history, land cover, terrain, and climate predictors</a:t>
            </a:r>
            <a:endParaRPr sz="800"/>
          </a:p>
          <a:p xmlns:a="http://schemas.openxmlformats.org/drawingml/2006/main">
            <a:pPr marL="0" indent="0">
              <a:buNone/>
            </a:pPr>
            <a:endParaRPr sz="850" b="1"/>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MAE: 0.0292  -&gt;  0.0209</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RMSE: 0.1106  -&gt;  0.1110</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Capture@20%: 40.2%  -&gt;  57.2%</a:t>
            </a:r>
          </a:p>
          <a:p xmlns:a="http://schemas.openxmlformats.org/drawingml/2006/main">
            <a:r>
              <a:rPr sz="700" i="1">
                <a:solidFill>
                  <a:schemeClr val="tx1">
                    <a:lumMod val="50000"/>
                    <a:lumOff val="50000"/>
                  </a:schemeClr>
                </a:solidFill>
              </a:rPr>
              <a:t>how much observed burned share occurred within the highest-ranked 20% of cells</a:t>
            </a:r>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6509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800"/>
              <a:t>Final test: predictor years T=2022–2024; outcomes T+1=2023–2025</a:t>
            </a:r>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0916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HOW TO READ IT</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Technical</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MAE is average error in burned-share units; lower is better.</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RMSE gives more weight to larger errors; lower is better.</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Capture@20% is the share of observed burned share found among the 20% highest-scored cells.</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1272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Delivery Tips</a:t>
            </a: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It is a ranking diagnostic, not a buyer threshold.</a:t>
            </a: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model improves selected comparisons, but extreme fire years remain difficult.</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target is continuous burned share: burned land area divided by cell land area.</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The nine-feature model uses a two-part regression for the zero-heavy target.</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No final-test result is used to claim a property-level forecast.</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Conclusion: useful comparative improvement with visible uncertainty.</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1" name="Shape 0">
            <a:extLst xmlns:a="http://schemas.openxmlformats.org/drawingml/2006/main">
              <a:ext uri="{FF2B5EF4-FFF2-40B4-BE49-F238E27FC236}">
                <a16:creationId xmlns:a16="http://schemas.microsoft.com/office/drawing/2014/main" id="{9E3B76F2-BCC7-BBF0-1273-7B2C877F93D3}"/>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42" name="Shape 1">
            <a:extLst xmlns:a="http://schemas.openxmlformats.org/drawingml/2006/main">
              <a:ext uri="{FF2B5EF4-FFF2-40B4-BE49-F238E27FC236}">
                <a16:creationId xmlns:a16="http://schemas.microsoft.com/office/drawing/2014/main" id="{4EF0D36C-C357-E332-9FBF-445832165DBE}"/>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3" name="Shape 2">
            <a:extLst xmlns:a="http://schemas.openxmlformats.org/drawingml/2006/main">
              <a:ext uri="{FF2B5EF4-FFF2-40B4-BE49-F238E27FC236}">
                <a16:creationId xmlns:a16="http://schemas.microsoft.com/office/drawing/2014/main" id="{1CFE74E3-3462-A34A-4A20-31F9DE9FBFC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44" name="Text 3">
            <a:extLst xmlns:a="http://schemas.openxmlformats.org/drawingml/2006/main">
              <a:ext uri="{FF2B5EF4-FFF2-40B4-BE49-F238E27FC236}">
                <a16:creationId xmlns:a16="http://schemas.microsoft.com/office/drawing/2014/main" id="{0D45B056-7786-F6DB-DB67-68872420F5BA}"/>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RECOMMENDED USE CASE</a:t>
            </a:r>
            <a:endParaRPr sz="1100"/>
          </a:p>
        </p:txBody>
      </p:sp>
      <p:sp>
        <p:nvSpPr>
          <p:cNvPr id="45" name="Text 4">
            <a:extLst xmlns:a="http://schemas.openxmlformats.org/drawingml/2006/main">
              <a:ext uri="{FF2B5EF4-FFF2-40B4-BE49-F238E27FC236}">
                <a16:creationId xmlns:a16="http://schemas.microsoft.com/office/drawing/2014/main" id="{41DC7F03-CAB9-6A42-265A-C46904C8AFD1}"/>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7 / 9</a:t>
            </a:r>
            <a:endParaRPr sz="1100"/>
          </a:p>
        </p:txBody>
      </p:sp>
      <p:sp>
        <p:nvSpPr>
          <p:cNvPr id="46" name="Text 5">
            <a:extLst xmlns:a="http://schemas.openxmlformats.org/drawingml/2006/main">
              <a:ext uri="{FF2B5EF4-FFF2-40B4-BE49-F238E27FC236}">
                <a16:creationId xmlns:a16="http://schemas.microsoft.com/office/drawing/2014/main" id="{D847301C-C927-7FAC-A769-4C641A7B5D35}"/>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A prospective buyer narrows a Portugal location search</a:t>
            </a:r>
            <a:endParaRPr sz="1600"/>
          </a:p>
        </p:txBody>
      </p:sp>
      <p:sp>
        <p:nvSpPr>
          <p:cNvPr id="47" name="Shape 6">
            <a:extLst xmlns:a="http://schemas.openxmlformats.org/drawingml/2006/main">
              <a:ext uri="{FF2B5EF4-FFF2-40B4-BE49-F238E27FC236}">
                <a16:creationId xmlns:a16="http://schemas.microsoft.com/office/drawing/2014/main" id="{F70699D7-5B53-2C77-0175-B3B78E7EF30C}"/>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48" name="Shape 7">
            <a:extLst xmlns:a="http://schemas.openxmlformats.org/drawingml/2006/main">
              <a:ext uri="{FF2B5EF4-FFF2-40B4-BE49-F238E27FC236}">
                <a16:creationId xmlns:a16="http://schemas.microsoft.com/office/drawing/2014/main" id="{111BE822-2C18-0A11-F129-F8D5751595BB}"/>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9" name="Text 8">
            <a:extLst xmlns:a="http://schemas.openxmlformats.org/drawingml/2006/main">
              <a:ext uri="{FF2B5EF4-FFF2-40B4-BE49-F238E27FC236}">
                <a16:creationId xmlns:a16="http://schemas.microsoft.com/office/drawing/2014/main" id="{F7C43176-6DA9-3BA7-4DE8-A4C84CEC076C}"/>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START WITH</a:t>
            </a:r>
            <a:endParaRPr sz="1100"/>
          </a:p>
        </p:txBody>
      </p:sp>
      <p:sp>
        <p:nvSpPr>
          <p:cNvPr id="50" name="Text 9">
            <a:extLst xmlns:a="http://schemas.openxmlformats.org/drawingml/2006/main">
              <a:ext uri="{FF2B5EF4-FFF2-40B4-BE49-F238E27FC236}">
                <a16:creationId xmlns:a16="http://schemas.microsoft.com/office/drawing/2014/main" id="{25E0079F-7E52-BCD6-436F-A2013D60831A}"/>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2026 comparative estimate</a:t>
            </a:r>
            <a:endParaRPr sz="800"/>
          </a:p>
        </p:txBody>
      </p:sp>
      <p:sp>
        <p:nvSpPr>
          <p:cNvPr id="51" name="Text 10">
            <a:extLst xmlns:a="http://schemas.openxmlformats.org/drawingml/2006/main">
              <a:ext uri="{FF2B5EF4-FFF2-40B4-BE49-F238E27FC236}">
                <a16:creationId xmlns:a16="http://schemas.microsoft.com/office/drawing/2014/main" id="{35DCCB06-55A6-7118-8D80-0423179BFA58}"/>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Compare broad 1 km areas using 2025 predictor inputs.</a:t>
            </a:r>
            <a:endParaRPr sz="850"/>
          </a:p>
        </p:txBody>
      </p:sp>
      <p:sp>
        <p:nvSpPr>
          <p:cNvPr id="52" name="Shape 11">
            <a:extLst xmlns:a="http://schemas.openxmlformats.org/drawingml/2006/main">
              <a:ext uri="{FF2B5EF4-FFF2-40B4-BE49-F238E27FC236}">
                <a16:creationId xmlns:a16="http://schemas.microsoft.com/office/drawing/2014/main" id="{48892306-CBC7-1476-476D-AF940872013E}"/>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53" name="Text 12">
            <a:extLst xmlns:a="http://schemas.openxmlformats.org/drawingml/2006/main">
              <a:ext uri="{FF2B5EF4-FFF2-40B4-BE49-F238E27FC236}">
                <a16:creationId xmlns:a16="http://schemas.microsoft.com/office/drawing/2014/main" id="{524E6A7B-8390-A7C3-5810-F79BE56CA14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COMPARE CONTEXT</a:t>
            </a:r>
            <a:endParaRPr sz="800"/>
          </a:p>
        </p:txBody>
      </p:sp>
      <p:sp>
        <p:nvSpPr>
          <p:cNvPr id="54" name="Text 13">
            <a:extLst xmlns:a="http://schemas.openxmlformats.org/drawingml/2006/main">
              <a:ext uri="{FF2B5EF4-FFF2-40B4-BE49-F238E27FC236}">
                <a16:creationId xmlns:a16="http://schemas.microsoft.com/office/drawing/2014/main" id="{D813BEB0-AB29-1201-6C98-83ED8F0166C5}"/>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Historical recurrence + official ICNF structural hazard</a:t>
            </a:r>
            <a:endParaRPr sz="750"/>
          </a:p>
        </p:txBody>
      </p:sp>
      <p:sp>
        <p:nvSpPr>
          <p:cNvPr id="55" name="Text 14">
            <a:extLst xmlns:a="http://schemas.openxmlformats.org/drawingml/2006/main">
              <a:ext uri="{FF2B5EF4-FFF2-40B4-BE49-F238E27FC236}">
                <a16:creationId xmlns:a16="http://schemas.microsoft.com/office/drawing/2014/main" id="{1640E6C2-2736-6C47-08A7-E76229CD60DE}"/>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Read these layers alongside the estimate before shortlisting areas.</a:t>
            </a:r>
            <a:endParaRPr sz="750"/>
          </a:p>
        </p:txBody>
      </p:sp>
      <p:sp>
        <p:nvSpPr>
          <p:cNvPr id="56" name="Text 15">
            <a:extLst xmlns:a="http://schemas.openxmlformats.org/drawingml/2006/main">
              <a:ext uri="{FF2B5EF4-FFF2-40B4-BE49-F238E27FC236}">
                <a16:creationId xmlns:a16="http://schemas.microsoft.com/office/drawing/2014/main" id="{E7998FAA-1292-DEE4-FBBA-DA72F51BBE8F}"/>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57" name="Shape 16">
            <a:extLst xmlns:a="http://schemas.openxmlformats.org/drawingml/2006/main">
              <a:ext uri="{FF2B5EF4-FFF2-40B4-BE49-F238E27FC236}">
                <a16:creationId xmlns:a16="http://schemas.microsoft.com/office/drawing/2014/main" id="{AA16804A-52B3-003F-850D-E763525EBF82}"/>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58" name="Shape 17">
            <a:extLst xmlns:a="http://schemas.openxmlformats.org/drawingml/2006/main">
              <a:ext uri="{FF2B5EF4-FFF2-40B4-BE49-F238E27FC236}">
                <a16:creationId xmlns:a16="http://schemas.microsoft.com/office/drawing/2014/main" id="{A132002A-B816-4B27-A659-A2A2193BD4C4}"/>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59" name="Text 18">
            <a:extLst xmlns:a="http://schemas.openxmlformats.org/drawingml/2006/main">
              <a:ext uri="{FF2B5EF4-FFF2-40B4-BE49-F238E27FC236}">
                <a16:creationId xmlns:a16="http://schemas.microsoft.com/office/drawing/2014/main" id="{E937C9EB-5EC4-4BED-DCC0-EEB4268C59F9}"/>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SHORTLIST AREAS</a:t>
            </a:r>
            <a:endParaRPr sz="1100"/>
          </a:p>
        </p:txBody>
      </p:sp>
      <p:sp>
        <p:nvSpPr>
          <p:cNvPr id="60" name="Text 19">
            <a:extLst xmlns:a="http://schemas.openxmlformats.org/drawingml/2006/main">
              <a:ext uri="{FF2B5EF4-FFF2-40B4-BE49-F238E27FC236}">
                <a16:creationId xmlns:a16="http://schemas.microsoft.com/office/drawing/2014/main" id="{922D1C3D-92F4-7A52-D254-13F805D6760C}"/>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Focus local research</a:t>
            </a:r>
            <a:endParaRPr sz="800"/>
          </a:p>
        </p:txBody>
      </p:sp>
      <p:sp>
        <p:nvSpPr>
          <p:cNvPr id="61" name="Text 20">
            <a:extLst xmlns:a="http://schemas.openxmlformats.org/drawingml/2006/main">
              <a:ext uri="{FF2B5EF4-FFF2-40B4-BE49-F238E27FC236}">
                <a16:creationId xmlns:a16="http://schemas.microsoft.com/office/drawing/2014/main" id="{DD31154A-7340-6BA1-B58C-EB0C128FA94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Use the three maps to decide which broad areas deserve a closer look.</a:t>
            </a:r>
            <a:endParaRPr sz="850"/>
          </a:p>
        </p:txBody>
      </p:sp>
      <p:sp>
        <p:nvSpPr>
          <p:cNvPr id="62" name="Shape 21">
            <a:extLst xmlns:a="http://schemas.openxmlformats.org/drawingml/2006/main">
              <a:ext uri="{FF2B5EF4-FFF2-40B4-BE49-F238E27FC236}">
                <a16:creationId xmlns:a16="http://schemas.microsoft.com/office/drawing/2014/main" id="{E3A1950C-3E98-2A41-9F7B-763C1A1EFE02}"/>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63" name="Text 22">
            <a:extLst xmlns:a="http://schemas.openxmlformats.org/drawingml/2006/main">
              <a:ext uri="{FF2B5EF4-FFF2-40B4-BE49-F238E27FC236}">
                <a16:creationId xmlns:a16="http://schemas.microsoft.com/office/drawing/2014/main" id="{E3161D18-B8A1-E487-12AB-44CC4A732529}"/>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VISIT AND INVESTIGATE</a:t>
            </a:r>
            <a:endParaRPr sz="800"/>
          </a:p>
        </p:txBody>
      </p:sp>
      <p:sp>
        <p:nvSpPr>
          <p:cNvPr id="64" name="Text 23">
            <a:extLst xmlns:a="http://schemas.openxmlformats.org/drawingml/2006/main">
              <a:ext uri="{FF2B5EF4-FFF2-40B4-BE49-F238E27FC236}">
                <a16:creationId xmlns:a16="http://schemas.microsoft.com/office/drawing/2014/main" id="{5C353123-8232-42F8-D273-5CB954BA4BBD}"/>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Deepen the research</a:t>
            </a:r>
            <a:endParaRPr sz="750"/>
          </a:p>
        </p:txBody>
      </p:sp>
      <p:sp>
        <p:nvSpPr>
          <p:cNvPr id="65" name="Text 24">
            <a:extLst xmlns:a="http://schemas.openxmlformats.org/drawingml/2006/main">
              <a:ext uri="{FF2B5EF4-FFF2-40B4-BE49-F238E27FC236}">
                <a16:creationId xmlns:a16="http://schemas.microsoft.com/office/drawing/2014/main" id="{825EE7D9-0624-FD50-1A14-73D146D6F995}"/>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Spend time on site visits and detailed research in shortlisted areas.</a:t>
            </a:r>
            <a:endParaRPr sz="750"/>
          </a:p>
        </p:txBody>
      </p:sp>
      <p:sp>
        <p:nvSpPr>
          <p:cNvPr id="66" name="Text 25">
            <a:extLst xmlns:a="http://schemas.openxmlformats.org/drawingml/2006/main">
              <a:ext uri="{FF2B5EF4-FFF2-40B4-BE49-F238E27FC236}">
                <a16:creationId xmlns:a16="http://schemas.microsoft.com/office/drawing/2014/main" id="{2A24E586-B737-43CD-9410-9B7B599DB5E6}"/>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67" name="Shape 26">
            <a:extLst xmlns:a="http://schemas.openxmlformats.org/drawingml/2006/main">
              <a:ext uri="{FF2B5EF4-FFF2-40B4-BE49-F238E27FC236}">
                <a16:creationId xmlns:a16="http://schemas.microsoft.com/office/drawing/2014/main" id="{E767105C-FE7D-D361-1E75-7B266D4ED118}"/>
              </a:ext>
            </a:extLst>
          </p:cNvPr>
          <p:cNvSpPr>
            <a:spLocks xmlns:a="http://schemas.openxmlformats.org/drawingml/2006/main" noGrp="1"/>
          </p:cNvSpPr>
          <p:nvPr/>
        </p:nvSpPr>
        <p:spPr>
          <a:xfrm xmlns:a="http://schemas.openxmlformats.org/drawingml/2006/main">
            <a:off x="6345936" y="1371600"/>
            <a:ext cx="251460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68" name="Shape 27">
            <a:extLst xmlns:a="http://schemas.openxmlformats.org/drawingml/2006/main">
              <a:ext uri="{FF2B5EF4-FFF2-40B4-BE49-F238E27FC236}">
                <a16:creationId xmlns:a16="http://schemas.microsoft.com/office/drawing/2014/main" id="{B5487368-1117-220F-0E2A-5055BCFA807D}"/>
              </a:ext>
            </a:extLst>
          </p:cNvPr>
          <p:cNvSpPr>
            <a:spLocks xmlns:a="http://schemas.openxmlformats.org/drawingml/2006/main" noGrp="1"/>
          </p:cNvSpPr>
          <p:nvPr/>
        </p:nvSpPr>
        <p:spPr>
          <a:xfrm xmlns:a="http://schemas.openxmlformats.org/drawingml/2006/main">
            <a:off x="6345936" y="1371600"/>
            <a:ext cx="2514600"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69" name="Text 28">
            <a:extLst xmlns:a="http://schemas.openxmlformats.org/drawingml/2006/main">
              <a:ext uri="{FF2B5EF4-FFF2-40B4-BE49-F238E27FC236}">
                <a16:creationId xmlns:a16="http://schemas.microsoft.com/office/drawing/2014/main" id="{018CC755-0E76-B3F1-F302-F5429326FAFF}"/>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USE CASE OUTCOME</a:t>
            </a:r>
            <a:endParaRPr sz="1100"/>
          </a:p>
        </p:txBody>
      </p:sp>
      <p:sp>
        <p:nvSpPr>
          <p:cNvPr id="70" name="Text 29">
            <a:extLst xmlns:a="http://schemas.openxmlformats.org/drawingml/2006/main">
              <a:ext uri="{FF2B5EF4-FFF2-40B4-BE49-F238E27FC236}">
                <a16:creationId xmlns:a16="http://schemas.microsoft.com/office/drawing/2014/main" id="{7D4F3FEA-36B1-CD37-33EC-8AFF9A2B185B}"/>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A smaller search area</a:t>
            </a:r>
            <a:endParaRPr sz="800"/>
          </a:p>
        </p:txBody>
      </p:sp>
      <p:sp>
        <p:nvSpPr>
          <p:cNvPr id="71" name="Text 30">
            <a:extLst xmlns:a="http://schemas.openxmlformats.org/drawingml/2006/main">
              <a:ext uri="{FF2B5EF4-FFF2-40B4-BE49-F238E27FC236}">
                <a16:creationId xmlns:a16="http://schemas.microsoft.com/office/drawing/2014/main" id="{AEF56BD3-A919-2AB3-B917-DDF115F5DA1D}"/>
              </a:ext>
            </a:extLst>
          </p:cNvPr>
          <p:cNvSpPr>
            <a:spLocks xmlns:a="http://schemas.openxmlformats.org/drawingml/2006/main" noGrp="1"/>
          </p:cNvSpPr>
          <p:nvPr/>
        </p:nvSpPr>
        <p:spPr>
          <a:xfrm xmlns:a="http://schemas.openxmlformats.org/drawingml/2006/main">
            <a:off x="6437376" y="2048256"/>
            <a:ext cx="2341179"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The QGIS layers help organise a national search.</a:t>
            </a:r>
            <a:endParaRPr sz="850"/>
          </a:p>
        </p:txBody>
      </p:sp>
      <p:sp>
        <p:nvSpPr>
          <p:cNvPr id="72" name="Shape 31">
            <a:extLst xmlns:a="http://schemas.openxmlformats.org/drawingml/2006/main">
              <a:ext uri="{FF2B5EF4-FFF2-40B4-BE49-F238E27FC236}">
                <a16:creationId xmlns:a16="http://schemas.microsoft.com/office/drawing/2014/main" id="{B21EFAC5-18BF-7EC7-FCA7-6D5743FCEF9F}"/>
              </a:ext>
            </a:extLst>
          </p:cNvPr>
          <p:cNvSpPr>
            <a:spLocks xmlns:a="http://schemas.openxmlformats.org/drawingml/2006/main" noGrp="1"/>
          </p:cNvSpPr>
          <p:nvPr/>
        </p:nvSpPr>
        <p:spPr>
          <a:xfrm xmlns:a="http://schemas.openxmlformats.org/drawingml/2006/main">
            <a:off x="6437376" y="2578608"/>
            <a:ext cx="2341179"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73" name="Text 32">
            <a:extLst xmlns:a="http://schemas.openxmlformats.org/drawingml/2006/main">
              <a:ext uri="{FF2B5EF4-FFF2-40B4-BE49-F238E27FC236}">
                <a16:creationId xmlns:a16="http://schemas.microsoft.com/office/drawing/2014/main" id="{B56BD828-01DF-272F-8543-67D8E7206C89}"/>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LOCAL EVIDENCE</a:t>
            </a:r>
            <a:endParaRPr sz="800"/>
          </a:p>
        </p:txBody>
      </p:sp>
      <p:sp>
        <p:nvSpPr>
          <p:cNvPr id="74" name="Text 33">
            <a:extLst xmlns:a="http://schemas.openxmlformats.org/drawingml/2006/main">
              <a:ext uri="{FF2B5EF4-FFF2-40B4-BE49-F238E27FC236}">
                <a16:creationId xmlns:a16="http://schemas.microsoft.com/office/drawing/2014/main" id="{7C7E5895-F34D-DA1E-E30A-C36D5D6775D9}"/>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Verify before deciding</a:t>
            </a:r>
            <a:endParaRPr sz="750"/>
          </a:p>
        </p:txBody>
      </p:sp>
      <p:sp>
        <p:nvSpPr>
          <p:cNvPr id="75" name="Text 34">
            <a:extLst xmlns:a="http://schemas.openxmlformats.org/drawingml/2006/main">
              <a:ext uri="{FF2B5EF4-FFF2-40B4-BE49-F238E27FC236}">
                <a16:creationId xmlns:a16="http://schemas.microsoft.com/office/drawing/2014/main" id="{91730462-287D-DD99-AC73-8CDB97A5A7BD}"/>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Check planning, access, insurance, terrain and property-specific evidence.</a:t>
            </a:r>
            <a:endParaRPr sz="750"/>
          </a:p>
        </p:txBody>
      </p:sp>
      <p:sp>
        <p:nvSpPr>
          <p:cNvPr id="76" name="Shape 35">
            <a:extLst xmlns:a="http://schemas.openxmlformats.org/drawingml/2006/main">
              <a:ext uri="{FF2B5EF4-FFF2-40B4-BE49-F238E27FC236}">
                <a16:creationId xmlns:a16="http://schemas.microsoft.com/office/drawing/2014/main" id="{EE052AFC-8FB4-ECF7-88CC-4487AE42F56C}"/>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77" name="Text 36">
            <a:extLst xmlns:a="http://schemas.openxmlformats.org/drawingml/2006/main">
              <a:ext uri="{FF2B5EF4-FFF2-40B4-BE49-F238E27FC236}">
                <a16:creationId xmlns:a16="http://schemas.microsoft.com/office/drawing/2014/main" id="{C306DBE1-591D-91A0-2800-8563622FC938}"/>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The output helps organise the search; local evidence supports the final choice.</a:t>
            </a:r>
            <a:endParaRPr sz="850"/>
          </a:p>
        </p:txBody>
      </p:sp>
      <p:sp>
        <p:nvSpPr>
          <p:cNvPr id="78" name="Shape 37">
            <a:extLst xmlns:a="http://schemas.openxmlformats.org/drawingml/2006/main">
              <a:ext uri="{FF2B5EF4-FFF2-40B4-BE49-F238E27FC236}">
                <a16:creationId xmlns:a16="http://schemas.microsoft.com/office/drawing/2014/main" id="{453F1B67-702E-243E-FB47-4CA2B5119EA1}"/>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79" name="Text 38">
            <a:extLst xmlns:a="http://schemas.openxmlformats.org/drawingml/2006/main">
              <a:ext uri="{FF2B5EF4-FFF2-40B4-BE49-F238E27FC236}">
                <a16:creationId xmlns:a16="http://schemas.microsoft.com/office/drawing/2014/main" id="{A5F23304-A068-58EC-920B-B28883DF7C8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33246D-B8F5-43EE-AF32-B05C98498242}"/>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B9907FB8-8328-4B2E-B5E1-84E6FBE1233F}"/>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F3F02133-847A-404E-9F4B-6A7DE78DB92B}"/>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59F12DB4-3B5B-4A67-979D-6151E1B67D1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RECOMMENDATIONS 2 + 3</a:t>
            </a:r>
            <a:endParaRPr sz="1100"/>
          </a:p>
        </p:txBody>
      </p:sp>
      <p:sp>
        <p:nvSpPr>
          <p:cNvPr id="6" name="Text 4">
            <a:extLst xmlns:a="http://schemas.openxmlformats.org/drawingml/2006/main">
              <a:ext uri="{FF2B5EF4-FFF2-40B4-BE49-F238E27FC236}">
                <a16:creationId xmlns:a16="http://schemas.microsoft.com/office/drawing/2014/main" id="{157AA592-FB08-4D64-B87E-9FC8E806087F}"/>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8 / 9</a:t>
            </a:r>
            <a:endParaRPr sz="1100"/>
          </a:p>
        </p:txBody>
      </p:sp>
      <p:sp>
        <p:nvSpPr>
          <p:cNvPr id="7" name="Text 5">
            <a:extLst xmlns:a="http://schemas.openxmlformats.org/drawingml/2006/main">
              <a:ext uri="{FF2B5EF4-FFF2-40B4-BE49-F238E27FC236}">
                <a16:creationId xmlns:a16="http://schemas.microsoft.com/office/drawing/2014/main" id="{9FAC5376-DFD7-4DF7-A857-0C2FD5CBD7A4}"/>
              </a:ext>
            </a:extLst>
          </p:cNvPr>
          <p:cNvSpPr>
            <a:spLocks xmlns:a="http://schemas.openxmlformats.org/drawingml/2006/main" noGrp="1"/>
          </p:cNvSpPr>
          <p:nvPr/>
        </p:nvSpPr>
        <p:spPr>
          <a:xfrm xmlns:a="http://schemas.openxmlformats.org/drawingml/2006/main">
            <a:off x="274320" y="804672"/>
            <a:ext cx="8595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Compare the evidence layers, then verify locally</a:t>
            </a:r>
            <a:endParaRPr sz="1600"/>
          </a:p>
        </p:txBody>
      </p:sp>
      <p:sp>
        <p:nvSpPr>
          <p:cNvPr id="8" name="Shape 6">
            <a:extLst xmlns:a="http://schemas.openxmlformats.org/drawingml/2006/main">
              <a:ext uri="{FF2B5EF4-FFF2-40B4-BE49-F238E27FC236}">
                <a16:creationId xmlns:a16="http://schemas.microsoft.com/office/drawing/2014/main" id="{5A356FE9-CB03-42D1-9C21-8542E6BF0EFC}"/>
              </a:ext>
            </a:extLst>
          </p:cNvPr>
          <p:cNvSpPr>
            <a:spLocks xmlns:a="http://schemas.openxmlformats.org/drawingml/2006/main" noGrp="1"/>
          </p:cNvSpPr>
          <p:nvPr/>
        </p:nvSpPr>
        <p:spPr>
          <a:xfrm xmlns:a="http://schemas.openxmlformats.org/drawingml/2006/main">
            <a:off x="27432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C9A34953-58C7-478E-9736-94E8E8AC9D55}"/>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10" name="Text 8">
            <a:extLst xmlns:a="http://schemas.openxmlformats.org/drawingml/2006/main">
              <a:ext uri="{FF2B5EF4-FFF2-40B4-BE49-F238E27FC236}">
                <a16:creationId xmlns:a16="http://schemas.microsoft.com/office/drawing/2014/main" id="{0138816D-F851-4B14-B5E7-C78921973D27}"/>
              </a:ext>
            </a:extLst>
          </p:cNvPr>
          <p:cNvSpPr>
            <a:spLocks xmlns:a="http://schemas.openxmlformats.org/drawingml/2006/main" noGrp="1"/>
          </p:cNvSpPr>
          <p:nvPr/>
        </p:nvSpPr>
        <p:spPr>
          <a:xfrm xmlns:a="http://schemas.openxmlformats.org/drawingml/2006/main">
            <a:off x="27432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RECOMMENDATION 2 — COMPARE FIRST</a:t>
            </a:r>
            <a:endParaRPr sz="1000"/>
          </a:p>
        </p:txBody>
      </p:sp>
      <p:sp>
        <p:nvSpPr>
          <p:cNvPr id="11" name="Shape 9">
            <a:extLst xmlns:a="http://schemas.openxmlformats.org/drawingml/2006/main">
              <a:ext uri="{FF2B5EF4-FFF2-40B4-BE49-F238E27FC236}">
                <a16:creationId xmlns:a16="http://schemas.microsoft.com/office/drawing/2014/main" id="{A48F928C-F102-49B4-A59E-1D4EE3D1DC1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2" name="Text 10">
            <a:extLst xmlns:a="http://schemas.openxmlformats.org/drawingml/2006/main">
              <a:ext uri="{FF2B5EF4-FFF2-40B4-BE49-F238E27FC236}">
                <a16:creationId xmlns:a16="http://schemas.microsoft.com/office/drawing/2014/main" id="{BD60D940-2AB4-4323-ACDD-A19A5EA667C8}"/>
              </a:ext>
            </a:extLst>
          </p:cNvPr>
          <p:cNvSpPr>
            <a:spLocks xmlns:a="http://schemas.openxmlformats.org/drawingml/2006/main" noGrp="1"/>
          </p:cNvSpPr>
          <p:nvPr/>
        </p:nvSpPr>
        <p:spPr>
          <a:xfrm xmlns:a="http://schemas.openxmlformats.org/drawingml/2006/main">
            <a:off x="438912" y="181051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3" name="Text 11">
            <a:extLst xmlns:a="http://schemas.openxmlformats.org/drawingml/2006/main">
              <a:ext uri="{FF2B5EF4-FFF2-40B4-BE49-F238E27FC236}">
                <a16:creationId xmlns:a16="http://schemas.microsoft.com/office/drawing/2014/main" id="{433F46A5-1D2D-44A3-B1A4-F5935365DDDC}"/>
              </a:ext>
            </a:extLst>
          </p:cNvPr>
          <p:cNvSpPr>
            <a:spLocks xmlns:a="http://schemas.openxmlformats.org/drawingml/2006/main" noGrp="1"/>
          </p:cNvSpPr>
          <p:nvPr/>
        </p:nvSpPr>
        <p:spPr>
          <a:xfrm xmlns:a="http://schemas.openxmlformats.org/drawingml/2006/main">
            <a:off x="713232" y="177393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Use the 2026 comparative estimate to narrow broad areas.</a:t>
            </a:r>
            <a:endParaRPr sz="850"/>
          </a:p>
        </p:txBody>
      </p:sp>
      <p:sp>
        <p:nvSpPr>
          <p:cNvPr id="14" name="Shape 12">
            <a:extLst xmlns:a="http://schemas.openxmlformats.org/drawingml/2006/main">
              <a:ext uri="{FF2B5EF4-FFF2-40B4-BE49-F238E27FC236}">
                <a16:creationId xmlns:a16="http://schemas.microsoft.com/office/drawing/2014/main" id="{9A77203C-C6FB-43FE-9635-189E862BC53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5" name="Text 13">
            <a:extLst xmlns:a="http://schemas.openxmlformats.org/drawingml/2006/main">
              <a:ext uri="{FF2B5EF4-FFF2-40B4-BE49-F238E27FC236}">
                <a16:creationId xmlns:a16="http://schemas.microsoft.com/office/drawing/2014/main" id="{C4054035-0280-46D0-8271-E333012C74D8}"/>
              </a:ext>
            </a:extLst>
          </p:cNvPr>
          <p:cNvSpPr>
            <a:spLocks xmlns:a="http://schemas.openxmlformats.org/drawingml/2006/main" noGrp="1"/>
          </p:cNvSpPr>
          <p:nvPr/>
        </p:nvSpPr>
        <p:spPr>
          <a:xfrm xmlns:a="http://schemas.openxmlformats.org/drawingml/2006/main">
            <a:off x="438912" y="221284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6" name="Text 14">
            <a:extLst xmlns:a="http://schemas.openxmlformats.org/drawingml/2006/main">
              <a:ext uri="{FF2B5EF4-FFF2-40B4-BE49-F238E27FC236}">
                <a16:creationId xmlns:a16="http://schemas.microsoft.com/office/drawing/2014/main" id="{3A866D65-32E1-4D14-85BC-277D343C0267}"/>
              </a:ext>
            </a:extLst>
          </p:cNvPr>
          <p:cNvSpPr>
            <a:spLocks xmlns:a="http://schemas.openxmlformats.org/drawingml/2006/main" noGrp="1"/>
          </p:cNvSpPr>
          <p:nvPr/>
        </p:nvSpPr>
        <p:spPr>
          <a:xfrm xmlns:a="http://schemas.openxmlformats.org/drawingml/2006/main">
            <a:off x="713232" y="217627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Check 2016–2025 observed recurrence in the 2 km context.</a:t>
            </a:r>
            <a:endParaRPr sz="850"/>
          </a:p>
        </p:txBody>
      </p:sp>
      <p:sp>
        <p:nvSpPr>
          <p:cNvPr id="17" name="Shape 15">
            <a:extLst xmlns:a="http://schemas.openxmlformats.org/drawingml/2006/main">
              <a:ext uri="{FF2B5EF4-FFF2-40B4-BE49-F238E27FC236}">
                <a16:creationId xmlns:a16="http://schemas.microsoft.com/office/drawing/2014/main" id="{340346DD-06C1-46D3-B84B-71D11B0BD4C8}"/>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18" name="Text 16">
            <a:extLst xmlns:a="http://schemas.openxmlformats.org/drawingml/2006/main">
              <a:ext uri="{FF2B5EF4-FFF2-40B4-BE49-F238E27FC236}">
                <a16:creationId xmlns:a16="http://schemas.microsoft.com/office/drawing/2014/main" id="{54CE7231-C7DF-4668-B5A1-98622531C369}"/>
              </a:ext>
            </a:extLst>
          </p:cNvPr>
          <p:cNvSpPr>
            <a:spLocks xmlns:a="http://schemas.openxmlformats.org/drawingml/2006/main" noGrp="1"/>
          </p:cNvSpPr>
          <p:nvPr/>
        </p:nvSpPr>
        <p:spPr>
          <a:xfrm xmlns:a="http://schemas.openxmlformats.org/drawingml/2006/main">
            <a:off x="438912" y="2615184"/>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19" name="Text 17">
            <a:extLst xmlns:a="http://schemas.openxmlformats.org/drawingml/2006/main">
              <a:ext uri="{FF2B5EF4-FFF2-40B4-BE49-F238E27FC236}">
                <a16:creationId xmlns:a16="http://schemas.microsoft.com/office/drawing/2014/main" id="{62EF2D98-2C4B-4478-B6DE-59400CA06235}"/>
              </a:ext>
            </a:extLst>
          </p:cNvPr>
          <p:cNvSpPr>
            <a:spLocks xmlns:a="http://schemas.openxmlformats.org/drawingml/2006/main" noGrp="1"/>
          </p:cNvSpPr>
          <p:nvPr/>
        </p:nvSpPr>
        <p:spPr>
          <a:xfrm xmlns:a="http://schemas.openxmlformats.org/drawingml/2006/main">
            <a:off x="713232" y="2578608"/>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Compare the official ICNF structural-hazard class.</a:t>
            </a:r>
            <a:endParaRPr sz="850"/>
          </a:p>
        </p:txBody>
      </p:sp>
      <p:sp>
        <p:nvSpPr>
          <p:cNvPr id="20" name="Shape 18">
            <a:extLst xmlns:a="http://schemas.openxmlformats.org/drawingml/2006/main">
              <a:ext uri="{FF2B5EF4-FFF2-40B4-BE49-F238E27FC236}">
                <a16:creationId xmlns:a16="http://schemas.microsoft.com/office/drawing/2014/main" id="{ACCE5F55-0293-4ED9-B7A2-2A8422E5B9D4}"/>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1" name="Text 19">
            <a:extLst xmlns:a="http://schemas.openxmlformats.org/drawingml/2006/main">
              <a:ext uri="{FF2B5EF4-FFF2-40B4-BE49-F238E27FC236}">
                <a16:creationId xmlns:a16="http://schemas.microsoft.com/office/drawing/2014/main" id="{021FABFD-07BB-4CB1-9DF3-6AB4C7F7418A}"/>
              </a:ext>
            </a:extLst>
          </p:cNvPr>
          <p:cNvSpPr>
            <a:spLocks xmlns:a="http://schemas.openxmlformats.org/drawingml/2006/main" noGrp="1"/>
          </p:cNvSpPr>
          <p:nvPr/>
        </p:nvSpPr>
        <p:spPr>
          <a:xfrm xmlns:a="http://schemas.openxmlformats.org/drawingml/2006/main">
            <a:off x="438912" y="3017520"/>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2" name="Text 20">
            <a:extLst xmlns:a="http://schemas.openxmlformats.org/drawingml/2006/main">
              <a:ext uri="{FF2B5EF4-FFF2-40B4-BE49-F238E27FC236}">
                <a16:creationId xmlns:a16="http://schemas.microsoft.com/office/drawing/2014/main" id="{DF395E92-F661-43E4-B279-247D4D7CBDF8}"/>
              </a:ext>
            </a:extLst>
          </p:cNvPr>
          <p:cNvSpPr>
            <a:spLocks xmlns:a="http://schemas.openxmlformats.org/drawingml/2006/main" noGrp="1"/>
          </p:cNvSpPr>
          <p:nvPr/>
        </p:nvSpPr>
        <p:spPr>
          <a:xfrm xmlns:a="http://schemas.openxmlformats.org/drawingml/2006/main">
            <a:off x="713232" y="2980944"/>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Read the three layers together before shortlisting areas.</a:t>
            </a:r>
            <a:endParaRPr sz="850"/>
          </a:p>
        </p:txBody>
      </p:sp>
      <p:sp>
        <p:nvSpPr>
          <p:cNvPr id="23" name="Shape 21">
            <a:extLst xmlns:a="http://schemas.openxmlformats.org/drawingml/2006/main">
              <a:ext uri="{FF2B5EF4-FFF2-40B4-BE49-F238E27FC236}">
                <a16:creationId xmlns:a16="http://schemas.microsoft.com/office/drawing/2014/main" id="{488D5AAF-075C-4381-8425-C89597170446}"/>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4" name="Text 22">
            <a:extLst xmlns:a="http://schemas.openxmlformats.org/drawingml/2006/main">
              <a:ext uri="{FF2B5EF4-FFF2-40B4-BE49-F238E27FC236}">
                <a16:creationId xmlns:a16="http://schemas.microsoft.com/office/drawing/2014/main" id="{3E83D27C-B8E2-4DEE-B204-D31E94B3282A}"/>
              </a:ext>
            </a:extLst>
          </p:cNvPr>
          <p:cNvSpPr>
            <a:spLocks xmlns:a="http://schemas.openxmlformats.org/drawingml/2006/main" noGrp="1"/>
          </p:cNvSpPr>
          <p:nvPr/>
        </p:nvSpPr>
        <p:spPr>
          <a:xfrm xmlns:a="http://schemas.openxmlformats.org/drawingml/2006/main">
            <a:off x="438912" y="3419856"/>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5" name="Text 23">
            <a:extLst xmlns:a="http://schemas.openxmlformats.org/drawingml/2006/main">
              <a:ext uri="{FF2B5EF4-FFF2-40B4-BE49-F238E27FC236}">
                <a16:creationId xmlns:a16="http://schemas.microsoft.com/office/drawing/2014/main" id="{38E3C507-F339-4F2F-954D-39C52FC073E3}"/>
              </a:ext>
            </a:extLst>
          </p:cNvPr>
          <p:cNvSpPr>
            <a:spLocks xmlns:a="http://schemas.openxmlformats.org/drawingml/2006/main" noGrp="1"/>
          </p:cNvSpPr>
          <p:nvPr/>
        </p:nvSpPr>
        <p:spPr>
          <a:xfrm xmlns:a="http://schemas.openxmlformats.org/drawingml/2006/main">
            <a:off x="713232" y="3383280"/>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Do not merge the layers into one score.</a:t>
            </a:r>
            <a:endParaRPr sz="850"/>
          </a:p>
        </p:txBody>
      </p:sp>
      <p:sp>
        <p:nvSpPr>
          <p:cNvPr id="26" name="Shape 24">
            <a:extLst xmlns:a="http://schemas.openxmlformats.org/drawingml/2006/main">
              <a:ext uri="{FF2B5EF4-FFF2-40B4-BE49-F238E27FC236}">
                <a16:creationId xmlns:a16="http://schemas.microsoft.com/office/drawing/2014/main" id="{08C68075-9284-4574-87C1-08DABFEF76DE}"/>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27" name="Text 25">
            <a:extLst xmlns:a="http://schemas.openxmlformats.org/drawingml/2006/main">
              <a:ext uri="{FF2B5EF4-FFF2-40B4-BE49-F238E27FC236}">
                <a16:creationId xmlns:a16="http://schemas.microsoft.com/office/drawing/2014/main" id="{E6782FB0-9CF8-4988-961D-609E903C78A1}"/>
              </a:ext>
            </a:extLst>
          </p:cNvPr>
          <p:cNvSpPr>
            <a:spLocks xmlns:a="http://schemas.openxmlformats.org/drawingml/2006/main" noGrp="1"/>
          </p:cNvSpPr>
          <p:nvPr/>
        </p:nvSpPr>
        <p:spPr>
          <a:xfrm xmlns:a="http://schemas.openxmlformats.org/drawingml/2006/main">
            <a:off x="438912" y="3822192"/>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28" name="Text 26">
            <a:extLst xmlns:a="http://schemas.openxmlformats.org/drawingml/2006/main">
              <a:ext uri="{FF2B5EF4-FFF2-40B4-BE49-F238E27FC236}">
                <a16:creationId xmlns:a16="http://schemas.microsoft.com/office/drawing/2014/main" id="{70F27152-BCAD-46B7-826B-959E39FABFED}"/>
              </a:ext>
            </a:extLst>
          </p:cNvPr>
          <p:cNvSpPr>
            <a:spLocks xmlns:a="http://schemas.openxmlformats.org/drawingml/2006/main" noGrp="1"/>
          </p:cNvSpPr>
          <p:nvPr/>
        </p:nvSpPr>
        <p:spPr>
          <a:xfrm xmlns:a="http://schemas.openxmlformats.org/drawingml/2006/main">
            <a:off x="713232" y="3785616"/>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They answer different questions and provide complementary context.</a:t>
            </a:r>
            <a:endParaRPr sz="850"/>
          </a:p>
        </p:txBody>
      </p:sp>
      <p:sp>
        <p:nvSpPr>
          <p:cNvPr id="29" name="Shape 27">
            <a:extLst xmlns:a="http://schemas.openxmlformats.org/drawingml/2006/main">
              <a:ext uri="{FF2B5EF4-FFF2-40B4-BE49-F238E27FC236}">
                <a16:creationId xmlns:a16="http://schemas.microsoft.com/office/drawing/2014/main" id="{6FE7194F-DD64-44E7-98A2-9C4D403266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6BF79431-F44F-4E26-8B43-6D69C49965C2}"/>
              </a:ext>
            </a:extLst>
          </p:cNvPr>
          <p:cNvSpPr>
            <a:spLocks xmlns:a="http://schemas.openxmlformats.org/drawingml/2006/main" noGrp="1"/>
          </p:cNvSpPr>
          <p:nvPr/>
        </p:nvSpPr>
        <p:spPr>
          <a:xfrm xmlns:a="http://schemas.openxmlformats.org/drawingml/2006/main">
            <a:off x="438912" y="4224528"/>
            <a:ext cx="2011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rPr>
              <a:t>v</a:t>
            </a:r>
            <a:endParaRPr sz="800"/>
          </a:p>
        </p:txBody>
      </p:sp>
      <p:sp>
        <p:nvSpPr>
          <p:cNvPr id="31" name="Text 29">
            <a:extLst xmlns:a="http://schemas.openxmlformats.org/drawingml/2006/main">
              <a:ext uri="{FF2B5EF4-FFF2-40B4-BE49-F238E27FC236}">
                <a16:creationId xmlns:a16="http://schemas.microsoft.com/office/drawing/2014/main" id="{234F4672-94F5-40EC-848A-2B04CEEC2D52}"/>
              </a:ext>
            </a:extLst>
          </p:cNvPr>
          <p:cNvSpPr>
            <a:spLocks xmlns:a="http://schemas.openxmlformats.org/drawingml/2006/main" noGrp="1"/>
          </p:cNvSpPr>
          <p:nvPr/>
        </p:nvSpPr>
        <p:spPr>
          <a:xfrm xmlns:a="http://schemas.openxmlformats.org/drawingml/2006/main">
            <a:off x="713232" y="4187952"/>
            <a:ext cx="3611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1A2638"/>
                </a:solidFill>
              </a:rPr>
              <a:t>Shortlist only after comparing them.</a:t>
            </a:r>
            <a:endParaRPr sz="850"/>
          </a:p>
        </p:txBody>
      </p:sp>
      <p:sp>
        <p:nvSpPr>
          <p:cNvPr id="32" name="Shape 30">
            <a:extLst xmlns:a="http://schemas.openxmlformats.org/drawingml/2006/main">
              <a:ext uri="{FF2B5EF4-FFF2-40B4-BE49-F238E27FC236}">
                <a16:creationId xmlns:a16="http://schemas.microsoft.com/office/drawing/2014/main" id="{8CFE47B9-6214-49BF-BAB5-E46AF5D658EC}"/>
              </a:ext>
            </a:extLst>
          </p:cNvPr>
          <p:cNvSpPr>
            <a:spLocks xmlns:a="http://schemas.openxmlformats.org/drawingml/2006/main" noGrp="1"/>
          </p:cNvSpPr>
          <p:nvPr/>
        </p:nvSpPr>
        <p:spPr>
          <a:xfrm xmlns:a="http://schemas.openxmlformats.org/drawingml/2006/main">
            <a:off x="4709160" y="1298448"/>
            <a:ext cx="4160520" cy="3291840"/>
          </a:xfrm>
          <a:prstGeom xmlns:a="http://schemas.openxmlformats.org/drawingml/2006/main" prst="rect">
            <a:avLst/>
          </a:prstGeom>
          <a:solidFill xmlns:a="http://schemas.openxmlformats.org/drawingml/2006/main">
            <a:srgbClr val="FFFFFF"/>
          </a:solidFill>
          <a:ln xmlns:a="http://schemas.openxmlformats.org/drawingml/2006/main" w="12700">
            <a:solidFill>
              <a:srgbClr val="E1E8EF"/>
            </a:solidFill>
            <a:prstDash val="solid"/>
          </a:ln>
          <a:effectLst xmlns:a="http://schemas.openxmlformats.org/drawingml/2006/main">
            <a:outerShdw blurRad="101600" dist="38100" dir="8100000" algn="bl" rotWithShape="0">
              <a:srgbClr val="000000">
                <a:alpha val="10000"/>
              </a:srgbClr>
            </a:outerShdw>
          </a:effectLst>
        </p:spPr>
      </p:sp>
      <p:sp>
        <p:nvSpPr>
          <p:cNvPr id="33" name="Shape 31">
            <a:extLst xmlns:a="http://schemas.openxmlformats.org/drawingml/2006/main">
              <a:ext uri="{FF2B5EF4-FFF2-40B4-BE49-F238E27FC236}">
                <a16:creationId xmlns:a16="http://schemas.microsoft.com/office/drawing/2014/main" id="{A8D64D74-58C5-46B8-81B3-038E3D611275}"/>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34" name="Text 32">
            <a:extLst xmlns:a="http://schemas.openxmlformats.org/drawingml/2006/main">
              <a:ext uri="{FF2B5EF4-FFF2-40B4-BE49-F238E27FC236}">
                <a16:creationId xmlns:a16="http://schemas.microsoft.com/office/drawing/2014/main" id="{94210AFE-3DED-4395-AC76-61EA6433B9A0}"/>
              </a:ext>
            </a:extLst>
          </p:cNvPr>
          <p:cNvSpPr>
            <a:spLocks xmlns:a="http://schemas.openxmlformats.org/drawingml/2006/main" noGrp="1"/>
          </p:cNvSpPr>
          <p:nvPr/>
        </p:nvSpPr>
        <p:spPr>
          <a:xfrm xmlns:a="http://schemas.openxmlformats.org/drawingml/2006/main">
            <a:off x="4709160" y="1298448"/>
            <a:ext cx="4160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rPr>
              <a:t>RECOMMENDATION 3 — VERIFY LOCALLY</a:t>
            </a:r>
            <a:endParaRPr sz="1000"/>
          </a:p>
        </p:txBody>
      </p:sp>
      <p:sp>
        <p:nvSpPr>
          <p:cNvPr id="35" name="Text 33">
            <a:extLst xmlns:a="http://schemas.openxmlformats.org/drawingml/2006/main">
              <a:ext uri="{FF2B5EF4-FFF2-40B4-BE49-F238E27FC236}">
                <a16:creationId xmlns:a16="http://schemas.microsoft.com/office/drawing/2014/main" id="{7D1E2215-4749-4102-8766-0EF9CB908835}"/>
              </a:ext>
            </a:extLst>
          </p:cNvPr>
          <p:cNvSpPr>
            <a:spLocks xmlns:a="http://schemas.openxmlformats.org/drawingml/2006/main" noGrp="1"/>
          </p:cNvSpPr>
          <p:nvPr/>
        </p:nvSpPr>
        <p:spPr>
          <a:xfrm xmlns:a="http://schemas.openxmlformats.org/drawingml/2006/main">
            <a:off x="4873752" y="17556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5B6880"/>
                </a:solidFill>
              </a:rPr>
              <a:t>Local evidence</a:t>
            </a:r>
            <a:endParaRPr sz="800"/>
          </a:p>
        </p:txBody>
      </p:sp>
      <p:sp>
        <p:nvSpPr>
          <p:cNvPr id="36" name="Shape 34">
            <a:extLst xmlns:a="http://schemas.openxmlformats.org/drawingml/2006/main">
              <a:ext uri="{FF2B5EF4-FFF2-40B4-BE49-F238E27FC236}">
                <a16:creationId xmlns:a16="http://schemas.microsoft.com/office/drawing/2014/main" id="{E9765024-23F7-4BAD-82E2-D0944ECD817D}"/>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37" name="Text 35">
            <a:extLst xmlns:a="http://schemas.openxmlformats.org/drawingml/2006/main">
              <a:ext uri="{FF2B5EF4-FFF2-40B4-BE49-F238E27FC236}">
                <a16:creationId xmlns:a16="http://schemas.microsoft.com/office/drawing/2014/main" id="{3DB21FEE-311F-4CB4-9BB7-CEE277DD9E7E}"/>
              </a:ext>
            </a:extLst>
          </p:cNvPr>
          <p:cNvSpPr>
            <a:spLocks xmlns:a="http://schemas.openxmlformats.org/drawingml/2006/main" noGrp="1"/>
          </p:cNvSpPr>
          <p:nvPr/>
        </p:nvSpPr>
        <p:spPr>
          <a:xfrm xmlns:a="http://schemas.openxmlformats.org/drawingml/2006/main">
            <a:off x="4873752" y="2093976"/>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38" name="Text 36">
            <a:extLst xmlns:a="http://schemas.openxmlformats.org/drawingml/2006/main">
              <a:ext uri="{FF2B5EF4-FFF2-40B4-BE49-F238E27FC236}">
                <a16:creationId xmlns:a16="http://schemas.microsoft.com/office/drawing/2014/main" id="{EC831CFF-D119-4E88-B1D0-71E2982079DD}"/>
              </a:ext>
            </a:extLst>
          </p:cNvPr>
          <p:cNvSpPr>
            <a:spLocks xmlns:a="http://schemas.openxmlformats.org/drawingml/2006/main" noGrp="1"/>
          </p:cNvSpPr>
          <p:nvPr/>
        </p:nvSpPr>
        <p:spPr>
          <a:xfrm xmlns:a="http://schemas.openxmlformats.org/drawingml/2006/main">
            <a:off x="5111496" y="2048256"/>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Review planning, access, insurance, terrain and site conditions.</a:t>
            </a:r>
            <a:endParaRPr sz="800"/>
          </a:p>
        </p:txBody>
      </p:sp>
      <p:sp>
        <p:nvSpPr>
          <p:cNvPr id="39" name="Shape 37">
            <a:extLst xmlns:a="http://schemas.openxmlformats.org/drawingml/2006/main">
              <a:ext uri="{FF2B5EF4-FFF2-40B4-BE49-F238E27FC236}">
                <a16:creationId xmlns:a16="http://schemas.microsoft.com/office/drawing/2014/main" id="{6E8C027E-8773-4500-B33B-62E87DB5F217}"/>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0" name="Text 38">
            <a:extLst xmlns:a="http://schemas.openxmlformats.org/drawingml/2006/main">
              <a:ext uri="{FF2B5EF4-FFF2-40B4-BE49-F238E27FC236}">
                <a16:creationId xmlns:a16="http://schemas.microsoft.com/office/drawing/2014/main" id="{60AA1538-DD26-48A4-801E-5B50EDDC6EF9}"/>
              </a:ext>
            </a:extLst>
          </p:cNvPr>
          <p:cNvSpPr>
            <a:spLocks xmlns:a="http://schemas.openxmlformats.org/drawingml/2006/main" noGrp="1"/>
          </p:cNvSpPr>
          <p:nvPr/>
        </p:nvSpPr>
        <p:spPr>
          <a:xfrm xmlns:a="http://schemas.openxmlformats.org/drawingml/2006/main">
            <a:off x="4873752" y="2441448"/>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1" name="Text 39">
            <a:extLst xmlns:a="http://schemas.openxmlformats.org/drawingml/2006/main">
              <a:ext uri="{FF2B5EF4-FFF2-40B4-BE49-F238E27FC236}">
                <a16:creationId xmlns:a16="http://schemas.microsoft.com/office/drawing/2014/main" id="{AB334C3D-7F39-4FE7-B95B-21588560F91A}"/>
              </a:ext>
            </a:extLst>
          </p:cNvPr>
          <p:cNvSpPr>
            <a:spLocks xmlns:a="http://schemas.openxmlformats.org/drawingml/2006/main" noGrp="1"/>
          </p:cNvSpPr>
          <p:nvPr/>
        </p:nvSpPr>
        <p:spPr>
          <a:xfrm xmlns:a="http://schemas.openxmlformats.org/drawingml/2006/main">
            <a:off x="5111496" y="2395728"/>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Use property-specific evidence before deciding.</a:t>
            </a:r>
            <a:endParaRPr sz="800"/>
          </a:p>
        </p:txBody>
      </p:sp>
      <p:sp>
        <p:nvSpPr>
          <p:cNvPr id="42" name="Shape 40">
            <a:extLst xmlns:a="http://schemas.openxmlformats.org/drawingml/2006/main">
              <a:ext uri="{FF2B5EF4-FFF2-40B4-BE49-F238E27FC236}">
                <a16:creationId xmlns:a16="http://schemas.microsoft.com/office/drawing/2014/main" id="{EB1A818B-27E2-4AC9-A7A5-A37B13D81AEE}"/>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43" name="Text 41">
            <a:extLst xmlns:a="http://schemas.openxmlformats.org/drawingml/2006/main">
              <a:ext uri="{FF2B5EF4-FFF2-40B4-BE49-F238E27FC236}">
                <a16:creationId xmlns:a16="http://schemas.microsoft.com/office/drawing/2014/main" id="{C9A0C132-E061-47E9-86DA-C56EBC4FE862}"/>
              </a:ext>
            </a:extLst>
          </p:cNvPr>
          <p:cNvSpPr>
            <a:spLocks xmlns:a="http://schemas.openxmlformats.org/drawingml/2006/main" noGrp="1"/>
          </p:cNvSpPr>
          <p:nvPr/>
        </p:nvSpPr>
        <p:spPr>
          <a:xfrm xmlns:a="http://schemas.openxmlformats.org/drawingml/2006/main">
            <a:off x="4873752" y="2788920"/>
            <a:ext cx="16459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00" b="1">
                <a:solidFill>
                  <a:srgbClr val="FFFFFF"/>
                </a:solidFill>
              </a:rPr>
              <a:t>v</a:t>
            </a:r>
            <a:endParaRPr sz="700"/>
          </a:p>
        </p:txBody>
      </p:sp>
      <p:sp>
        <p:nvSpPr>
          <p:cNvPr id="44" name="Text 42">
            <a:extLst xmlns:a="http://schemas.openxmlformats.org/drawingml/2006/main">
              <a:ext uri="{FF2B5EF4-FFF2-40B4-BE49-F238E27FC236}">
                <a16:creationId xmlns:a16="http://schemas.microsoft.com/office/drawing/2014/main" id="{A498733C-FEFE-442D-BBCC-FBAA98860A46}"/>
              </a:ext>
            </a:extLst>
          </p:cNvPr>
          <p:cNvSpPr>
            <a:spLocks xmlns:a="http://schemas.openxmlformats.org/drawingml/2006/main" noGrp="1"/>
          </p:cNvSpPr>
          <p:nvPr/>
        </p:nvSpPr>
        <p:spPr>
          <a:xfrm xmlns:a="http://schemas.openxmlformats.org/drawingml/2006/main">
            <a:off x="5111496" y="2743200"/>
            <a:ext cx="364845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1A2638"/>
                </a:solidFill>
              </a:rPr>
              <a:t>The model directs research effort; it does not replace local investigation.</a:t>
            </a:r>
            <a:endParaRPr sz="800"/>
          </a:p>
        </p:txBody>
      </p:sp>
      <p:sp>
        <p:nvSpPr>
          <p:cNvPr id="45" name="Text 43">
            <a:extLst xmlns:a="http://schemas.openxmlformats.org/drawingml/2006/main">
              <a:ext uri="{FF2B5EF4-FFF2-40B4-BE49-F238E27FC236}">
                <a16:creationId xmlns:a16="http://schemas.microsoft.com/office/drawing/2014/main" id="{2261A078-89E7-4EDE-AF5A-975F083F6C40}"/>
              </a:ext>
            </a:extLst>
          </p:cNvPr>
          <p:cNvSpPr>
            <a:spLocks xmlns:a="http://schemas.openxmlformats.org/drawingml/2006/main" noGrp="1"/>
          </p:cNvSpPr>
          <p:nvPr/>
        </p:nvSpPr>
        <p:spPr>
          <a:xfrm xmlns:a="http://schemas.openxmlformats.org/drawingml/2006/main">
            <a:off x="4873752" y="3127248"/>
            <a:ext cx="3886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00"/>
          </a:p>
        </p:txBody>
      </p:sp>
      <p:sp>
        <p:nvSpPr>
          <p:cNvPr id="46" name="Text 44">
            <a:extLst xmlns:a="http://schemas.openxmlformats.org/drawingml/2006/main">
              <a:ext uri="{FF2B5EF4-FFF2-40B4-BE49-F238E27FC236}">
                <a16:creationId xmlns:a16="http://schemas.microsoft.com/office/drawing/2014/main" id="{878FBAF7-6DD0-4D72-8C29-5EBD1F7FB714}"/>
              </a:ext>
            </a:extLst>
          </p:cNvPr>
          <p:cNvSpPr>
            <a:spLocks xmlns:a="http://schemas.openxmlformats.org/drawingml/2006/main" noGrp="1"/>
          </p:cNvSpPr>
          <p:nvPr/>
        </p:nvSpPr>
        <p:spPr>
          <a:xfrm xmlns:a="http://schemas.openxmlformats.org/drawingml/2006/main">
            <a:off x="4873752" y="34015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KEY MESSAGE</a:t>
            </a:r>
            <a:endParaRPr sz="750"/>
          </a:p>
        </p:txBody>
      </p:sp>
      <p:sp>
        <p:nvSpPr>
          <p:cNvPr id="47" name="Text 45">
            <a:extLst xmlns:a="http://schemas.openxmlformats.org/drawingml/2006/main">
              <a:ext uri="{FF2B5EF4-FFF2-40B4-BE49-F238E27FC236}">
                <a16:creationId xmlns:a16="http://schemas.microsoft.com/office/drawing/2014/main" id="{F3852103-32CC-4EA7-912B-BBCD278D546F}"/>
              </a:ext>
            </a:extLst>
          </p:cNvPr>
          <p:cNvSpPr>
            <a:spLocks xmlns:a="http://schemas.openxmlformats.org/drawingml/2006/main" noGrp="1"/>
          </p:cNvSpPr>
          <p:nvPr/>
        </p:nvSpPr>
        <p:spPr>
          <a:xfrm xmlns:a="http://schemas.openxmlformats.org/drawingml/2006/main">
            <a:off x="4873752" y="36301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Compare layers.</a:t>
            </a:r>
            <a:endParaRPr sz="750"/>
          </a:p>
        </p:txBody>
      </p:sp>
      <p:sp>
        <p:nvSpPr>
          <p:cNvPr id="48" name="Text 46">
            <a:extLst xmlns:a="http://schemas.openxmlformats.org/drawingml/2006/main">
              <a:ext uri="{FF2B5EF4-FFF2-40B4-BE49-F238E27FC236}">
                <a16:creationId xmlns:a16="http://schemas.microsoft.com/office/drawing/2014/main" id="{2967BB4C-17C8-44CC-8349-2DF3F492CC1E}"/>
              </a:ext>
            </a:extLst>
          </p:cNvPr>
          <p:cNvSpPr>
            <a:spLocks xmlns:a="http://schemas.openxmlformats.org/drawingml/2006/main" noGrp="1"/>
          </p:cNvSpPr>
          <p:nvPr/>
        </p:nvSpPr>
        <p:spPr>
          <a:xfrm xmlns:a="http://schemas.openxmlformats.org/drawingml/2006/main">
            <a:off x="4873752" y="38587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Shortlist areas.</a:t>
            </a:r>
            <a:endParaRPr sz="750"/>
          </a:p>
        </p:txBody>
      </p:sp>
      <p:sp>
        <p:nvSpPr>
          <p:cNvPr id="49" name="Text 47">
            <a:extLst xmlns:a="http://schemas.openxmlformats.org/drawingml/2006/main">
              <a:ext uri="{FF2B5EF4-FFF2-40B4-BE49-F238E27FC236}">
                <a16:creationId xmlns:a16="http://schemas.microsoft.com/office/drawing/2014/main" id="{DF4EBCB9-CEB0-41F1-802C-53DA0FCDC1F9}"/>
              </a:ext>
            </a:extLst>
          </p:cNvPr>
          <p:cNvSpPr>
            <a:spLocks xmlns:a="http://schemas.openxmlformats.org/drawingml/2006/main" noGrp="1"/>
          </p:cNvSpPr>
          <p:nvPr/>
        </p:nvSpPr>
        <p:spPr>
          <a:xfrm xmlns:a="http://schemas.openxmlformats.org/drawingml/2006/main">
            <a:off x="4873752" y="40873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Verify locally.</a:t>
            </a:r>
            <a:endParaRPr sz="750"/>
          </a:p>
        </p:txBody>
      </p:sp>
      <p:sp>
        <p:nvSpPr>
          <p:cNvPr id="50" name="Text 48">
            <a:extLst xmlns:a="http://schemas.openxmlformats.org/drawingml/2006/main">
              <a:ext uri="{FF2B5EF4-FFF2-40B4-BE49-F238E27FC236}">
                <a16:creationId xmlns:a16="http://schemas.microsoft.com/office/drawing/2014/main" id="{65D5A184-9B2C-4B10-B5DC-1A3F3D8E2894}"/>
              </a:ext>
            </a:extLst>
          </p:cNvPr>
          <p:cNvSpPr>
            <a:spLocks xmlns:a="http://schemas.openxmlformats.org/drawingml/2006/main" noGrp="1"/>
          </p:cNvSpPr>
          <p:nvPr/>
        </p:nvSpPr>
        <p:spPr>
          <a:xfrm xmlns:a="http://schemas.openxmlformats.org/drawingml/2006/main">
            <a:off x="4873752" y="4315968"/>
            <a:ext cx="3886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b="1">
                <a:solidFill>
                  <a:srgbClr val="E8A020"/>
                </a:solidFill>
              </a:rPr>
              <a:t>Use evidence before deciding.</a:t>
            </a:r>
            <a:endParaRPr sz="750"/>
          </a:p>
        </p:txBody>
      </p:sp>
      <p:sp>
        <p:nvSpPr>
          <p:cNvPr id="51" name="Shape 49">
            <a:extLst xmlns:a="http://schemas.openxmlformats.org/drawingml/2006/main">
              <a:ext uri="{FF2B5EF4-FFF2-40B4-BE49-F238E27FC236}">
                <a16:creationId xmlns:a16="http://schemas.microsoft.com/office/drawing/2014/main" id="{60AB1022-AFE8-48AA-AF67-D4B907288A08}"/>
              </a:ext>
            </a:extLst>
          </p:cNvPr>
          <p:cNvSpPr>
            <a:spLocks xmlns:a="http://schemas.openxmlformats.org/drawingml/2006/main" noGrp="1"/>
          </p:cNvSpPr>
          <p:nvPr/>
        </p:nvSpPr>
        <p:spPr>
          <a:xfrm xmlns:a="http://schemas.openxmlformats.org/drawingml/2006/main">
            <a:off x="274320" y="4663440"/>
            <a:ext cx="8595360" cy="29260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52" name="Text 50">
            <a:extLst xmlns:a="http://schemas.openxmlformats.org/drawingml/2006/main">
              <a:ext uri="{FF2B5EF4-FFF2-40B4-BE49-F238E27FC236}">
                <a16:creationId xmlns:a16="http://schemas.microsoft.com/office/drawing/2014/main" id="{888510B6-7C6A-4727-A0E5-F48D9F362954}"/>
              </a:ext>
            </a:extLst>
          </p:cNvPr>
          <p:cNvSpPr>
            <a:spLocks xmlns:a="http://schemas.openxmlformats.org/drawingml/2006/main" noGrp="1"/>
          </p:cNvSpPr>
          <p:nvPr/>
        </p:nvSpPr>
        <p:spPr>
          <a:xfrm xmlns:a="http://schemas.openxmlformats.org/drawingml/2006/main">
            <a:off x="411480" y="4663440"/>
            <a:ext cx="8321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FFFFF"/>
                </a:solidFill>
              </a:rPr>
              <a:t>Use the model to direct research effort, not to replace local investigation.</a:t>
            </a:r>
            <a:endParaRPr sz="850"/>
          </a:p>
        </p:txBody>
      </p:sp>
      <p:sp>
        <p:nvSpPr>
          <p:cNvPr id="53" name="Shape 51">
            <a:extLst xmlns:a="http://schemas.openxmlformats.org/drawingml/2006/main">
              <a:ext uri="{FF2B5EF4-FFF2-40B4-BE49-F238E27FC236}">
                <a16:creationId xmlns:a16="http://schemas.microsoft.com/office/drawing/2014/main" id="{4EF06526-1530-434D-877D-54CADC545895}"/>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54" name="Text 52">
            <a:extLst xmlns:a="http://schemas.openxmlformats.org/drawingml/2006/main">
              <a:ext uri="{FF2B5EF4-FFF2-40B4-BE49-F238E27FC236}">
                <a16:creationId xmlns:a16="http://schemas.microsoft.com/office/drawing/2014/main" id="{AAD75AC7-5746-4AD0-892D-25E5587B3A5D}"/>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
        <p:nvSpPr>
          <p:cNvPr id="55" name="hide-delivery-tips">
            <a:extLst xmlns:a="http://schemas.openxmlformats.org/drawingml/2006/main">
              <a:ext uri="{FF2B5EF4-FFF2-40B4-BE49-F238E27FC236}">
                <a16:creationId xmlns:a16="http://schemas.microsoft.com/office/drawing/2014/main" id="{EB287470-0350-4395-9139-4FFB77AD54F0}"/>
              </a:ext>
            </a:extLst>
          </p:cNvPr>
          <p:cNvSpPr>
            <a:spLocks xmlns:a="http://schemas.openxmlformats.org/drawingml/2006/main" noGrp="1"/>
          </p:cNvSpPr>
          <p:nvPr/>
        </p:nvSpPr>
        <p:spPr>
          <a:xfrm xmlns:a="http://schemas.openxmlformats.org/drawingml/2006/main">
            <a:off x="4733925" y="3133725"/>
            <a:ext cx="1333500" cy="209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Tree>
    <p:extLst>
      <p:ext uri="{BB962C8B-B14F-4D97-AF65-F5344CB8AC3E}">
        <p14:creationId xmlns:p14="http://schemas.microsoft.com/office/powerpoint/2010/main" val="179178166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A86A1C8-DB06-4DCE-9DAF-693B7C77942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3F6F9"/>
          </a:solidFill>
          <a:ln xmlns:a="http://schemas.openxmlformats.org/drawingml/2006/main" w="12700">
            <a:solidFill>
              <a:srgbClr val="F3F6F9"/>
            </a:solidFill>
            <a:prstDash val="solid"/>
          </a:ln>
        </p:spPr>
      </p:sp>
      <p:sp>
        <p:nvSpPr>
          <p:cNvPr id="3" name="Shape 1">
            <a:extLst xmlns:a="http://schemas.openxmlformats.org/drawingml/2006/main">
              <a:ext uri="{FF2B5EF4-FFF2-40B4-BE49-F238E27FC236}">
                <a16:creationId xmlns:a16="http://schemas.microsoft.com/office/drawing/2014/main" id="{D197F66D-6C57-4707-8514-4D78C9DEF865}"/>
              </a:ext>
            </a:extLst>
          </p:cNvPr>
          <p:cNvSpPr>
            <a:spLocks xmlns:a="http://schemas.openxmlformats.org/drawingml/2006/main" noGrp="1"/>
          </p:cNvSpPr>
          <p:nvPr/>
        </p:nvSpPr>
        <p:spPr>
          <a:xfrm xmlns:a="http://schemas.openxmlformats.org/drawingml/2006/main">
            <a:off x="0" y="0"/>
            <a:ext cx="9144000" cy="64008"/>
          </a:xfrm>
          <a:prstGeom xmlns:a="http://schemas.openxmlformats.org/drawingml/2006/main" prst="rect">
            <a:avLst/>
          </a:prstGeom>
          <a:solidFill xmlns:a="http://schemas.openxmlformats.org/drawingml/2006/main">
            <a:srgbClr val="E8A020"/>
          </a:solidFill>
          <a:ln xmlns:a="http://schemas.openxmlformats.org/drawingml/2006/main" w="12700">
            <a:solidFill>
              <a:srgbClr val="E8A020"/>
            </a:solidFill>
            <a:prstDash val="solid"/>
          </a:ln>
        </p:spPr>
      </p:sp>
      <p:sp>
        <p:nvSpPr>
          <p:cNvPr id="4" name="Shape 2">
            <a:extLst xmlns:a="http://schemas.openxmlformats.org/drawingml/2006/main">
              <a:ext uri="{FF2B5EF4-FFF2-40B4-BE49-F238E27FC236}">
                <a16:creationId xmlns:a16="http://schemas.microsoft.com/office/drawing/2014/main" id="{BCC99481-8AFC-45E5-8E41-5D92798EEDD0}"/>
              </a:ext>
            </a:extLst>
          </p:cNvPr>
          <p:cNvSpPr>
            <a:spLocks xmlns:a="http://schemas.openxmlformats.org/drawingml/2006/main" noGrp="1"/>
          </p:cNvSpPr>
          <p:nvPr/>
        </p:nvSpPr>
        <p:spPr>
          <a:xfrm xmlns:a="http://schemas.openxmlformats.org/drawingml/2006/main">
            <a:off x="0" y="64008"/>
            <a:ext cx="9144000" cy="658368"/>
          </a:xfrm>
          <a:prstGeom xmlns:a="http://schemas.openxmlformats.org/drawingml/2006/main" prst="rect">
            <a:avLst/>
          </a:prstGeom>
          <a:solidFill xmlns:a="http://schemas.openxmlformats.org/drawingml/2006/main">
            <a:srgbClr val="1E3A50"/>
          </a:solidFill>
          <a:ln xmlns:a="http://schemas.openxmlformats.org/drawingml/2006/main" w="12700">
            <a:solidFill>
              <a:srgbClr val="1E3A50"/>
            </a:solidFill>
            <a:prstDash val="solid"/>
          </a:ln>
        </p:spPr>
      </p:sp>
      <p:sp>
        <p:nvSpPr>
          <p:cNvPr id="5" name="Text 3">
            <a:extLst xmlns:a="http://schemas.openxmlformats.org/drawingml/2006/main">
              <a:ext uri="{FF2B5EF4-FFF2-40B4-BE49-F238E27FC236}">
                <a16:creationId xmlns:a16="http://schemas.microsoft.com/office/drawing/2014/main" id="{6BEB6717-FD6D-4B81-81A9-77D30FCEDB7F}"/>
              </a:ext>
            </a:extLst>
          </p:cNvPr>
          <p:cNvSpPr>
            <a:spLocks xmlns:a="http://schemas.openxmlformats.org/drawingml/2006/main" noGrp="1"/>
          </p:cNvSpPr>
          <p:nvPr/>
        </p:nvSpPr>
        <p:spPr>
          <a:xfrm xmlns:a="http://schemas.openxmlformats.org/drawingml/2006/main">
            <a:off x="274320" y="64008"/>
            <a:ext cx="7315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8A020"/>
                </a:solidFill>
              </a:rPr>
              <a:t>CONCLUSION AND NEXT STEP</a:t>
            </a:r>
            <a:endParaRPr sz="1100"/>
          </a:p>
        </p:txBody>
      </p:sp>
      <p:sp>
        <p:nvSpPr>
          <p:cNvPr id="6" name="Text 4">
            <a:extLst xmlns:a="http://schemas.openxmlformats.org/drawingml/2006/main">
              <a:ext uri="{FF2B5EF4-FFF2-40B4-BE49-F238E27FC236}">
                <a16:creationId xmlns:a16="http://schemas.microsoft.com/office/drawing/2014/main" id="{6C101844-9940-49BE-8B17-716FB787513D}"/>
              </a:ext>
            </a:extLst>
          </p:cNvPr>
          <p:cNvSpPr>
            <a:spLocks xmlns:a="http://schemas.openxmlformats.org/drawingml/2006/main" noGrp="1"/>
          </p:cNvSpPr>
          <p:nvPr/>
        </p:nvSpPr>
        <p:spPr>
          <a:xfrm xmlns:a="http://schemas.openxmlformats.org/drawingml/2006/main">
            <a:off x="6858000" y="64008"/>
            <a:ext cx="20116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E1E8EF"/>
                </a:solidFill>
              </a:rPr>
              <a:t>9 / 9</a:t>
            </a:r>
            <a:endParaRPr sz="1100"/>
          </a:p>
        </p:txBody>
      </p:sp>
      <p:sp>
        <p:nvSpPr>
          <p:cNvPr id="7" name="Text 5">
            <a:extLst xmlns:a="http://schemas.openxmlformats.org/drawingml/2006/main">
              <a:ext uri="{FF2B5EF4-FFF2-40B4-BE49-F238E27FC236}">
                <a16:creationId xmlns:a16="http://schemas.microsoft.com/office/drawing/2014/main" id="{0121B0D7-68D2-4F3B-B4D9-855405D8279A}"/>
              </a:ext>
            </a:extLst>
          </p:cNvPr>
          <p:cNvSpPr>
            <a:spLocks xmlns:a="http://schemas.openxmlformats.org/drawingml/2006/main" noGrp="1"/>
          </p:cNvSpPr>
          <p:nvPr/>
        </p:nvSpPr>
        <p:spPr>
          <a:xfrm xmlns:a="http://schemas.openxmlformats.org/drawingml/2006/main">
            <a:off x="274320" y="804672"/>
            <a:ext cx="8595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A2638"/>
                </a:solidFill>
              </a:rPr>
              <a:t>The project narrows the search area and keeps evidence traceable</a:t>
            </a:r>
            <a:endParaRPr sz="1600"/>
          </a:p>
        </p:txBody>
      </p:sp>
      <p:sp>
        <p:nvSpPr>
          <p:cNvPr id="8" name="Shape 6">
            <a:extLst xmlns:a="http://schemas.openxmlformats.org/drawingml/2006/main">
              <a:ext uri="{FF2B5EF4-FFF2-40B4-BE49-F238E27FC236}">
                <a16:creationId xmlns:a16="http://schemas.microsoft.com/office/drawing/2014/main" id="{6015B360-BBBA-4DE0-9795-57F031507AC6}"/>
              </a:ext>
            </a:extLst>
          </p:cNvPr>
          <p:cNvSpPr>
            <a:spLocks xmlns:a="http://schemas.openxmlformats.org/drawingml/2006/main" noGrp="1"/>
          </p:cNvSpPr>
          <p:nvPr/>
        </p:nvSpPr>
        <p:spPr>
          <a:xfrm xmlns:a="http://schemas.openxmlformats.org/drawingml/2006/main">
            <a:off x="274320"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E6DB4"/>
            </a:solidFill>
            <a:prstDash val="solid"/>
          </a:ln>
          <a:effectLst xmlns:a="http://schemas.openxmlformats.org/drawingml/2006/main">
            <a:outerShdw blurRad="101600" dist="38100" dir="8100000" algn="bl" rotWithShape="0">
              <a:srgbClr val="000000">
                <a:alpha val="10000"/>
              </a:srgbClr>
            </a:outerShdw>
          </a:effectLst>
        </p:spPr>
      </p:sp>
      <p:sp>
        <p:nvSpPr>
          <p:cNvPr id="9" name="Shape 7">
            <a:extLst xmlns:a="http://schemas.openxmlformats.org/drawingml/2006/main">
              <a:ext uri="{FF2B5EF4-FFF2-40B4-BE49-F238E27FC236}">
                <a16:creationId xmlns:a16="http://schemas.microsoft.com/office/drawing/2014/main" id="{5C07B9EA-88EE-49EE-B7D4-7BDB797C5482}"/>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solidFill xmlns:a="http://schemas.openxmlformats.org/drawingml/2006/main">
            <a:srgbClr val="2E6DB4"/>
          </a:solidFill>
          <a:ln xmlns:a="http://schemas.openxmlformats.org/drawingml/2006/main" w="12700">
            <a:solidFill>
              <a:srgbClr val="2E6DB4"/>
            </a:solidFill>
            <a:prstDash val="solid"/>
          </a:ln>
        </p:spPr>
      </p:sp>
      <p:sp>
        <p:nvSpPr>
          <p:cNvPr id="10" name="Text 8">
            <a:extLst xmlns:a="http://schemas.openxmlformats.org/drawingml/2006/main">
              <a:ext uri="{FF2B5EF4-FFF2-40B4-BE49-F238E27FC236}">
                <a16:creationId xmlns:a16="http://schemas.microsoft.com/office/drawing/2014/main" id="{D9484D15-B5B7-461A-BAA9-47327A4B2126}"/>
              </a:ext>
            </a:extLst>
          </p:cNvPr>
          <p:cNvSpPr>
            <a:spLocks xmlns:a="http://schemas.openxmlformats.org/drawingml/2006/main" noGrp="1"/>
          </p:cNvSpPr>
          <p:nvPr/>
        </p:nvSpPr>
        <p:spPr>
          <a:xfrm xmlns:a="http://schemas.openxmlformats.org/drawingml/2006/main">
            <a:off x="274320"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DELIVERED</a:t>
            </a:r>
            <a:endParaRPr sz="1100"/>
          </a:p>
        </p:txBody>
      </p:sp>
      <p:sp>
        <p:nvSpPr>
          <p:cNvPr id="11" name="Text 9">
            <a:extLst xmlns:a="http://schemas.openxmlformats.org/drawingml/2006/main">
              <a:ext uri="{FF2B5EF4-FFF2-40B4-BE49-F238E27FC236}">
                <a16:creationId xmlns:a16="http://schemas.microsoft.com/office/drawing/2014/main" id="{67C6A5B0-CECC-4ACC-9832-24A59DDB136C}"/>
              </a:ext>
            </a:extLst>
          </p:cNvPr>
          <p:cNvSpPr>
            <a:spLocks xmlns:a="http://schemas.openxmlformats.org/drawingml/2006/main" noGrp="1"/>
          </p:cNvSpPr>
          <p:nvPr/>
        </p:nvSpPr>
        <p:spPr>
          <a:xfrm xmlns:a="http://schemas.openxmlformats.org/drawingml/2006/main">
            <a:off x="365760"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E6DB4"/>
                </a:solidFill>
              </a:rPr>
              <a:t>Reproducible national workflow</a:t>
            </a:r>
            <a:endParaRPr sz="800"/>
          </a:p>
        </p:txBody>
      </p:sp>
      <p:sp>
        <p:nvSpPr>
          <p:cNvPr id="12" name="Text 10">
            <a:extLst xmlns:a="http://schemas.openxmlformats.org/drawingml/2006/main">
              <a:ext uri="{FF2B5EF4-FFF2-40B4-BE49-F238E27FC236}">
                <a16:creationId xmlns:a16="http://schemas.microsoft.com/office/drawing/2014/main" id="{22DC359E-9E6E-4E9F-BF48-BEF9690E6A70}"/>
              </a:ext>
            </a:extLst>
          </p:cNvPr>
          <p:cNvSpPr>
            <a:spLocks xmlns:a="http://schemas.openxmlformats.org/drawingml/2006/main" noGrp="1"/>
          </p:cNvSpPr>
          <p:nvPr/>
        </p:nvSpPr>
        <p:spPr>
          <a:xfrm xmlns:a="http://schemas.openxmlformats.org/drawingml/2006/main">
            <a:off x="365760"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One 1 km grid, validated sources, a nine-feature model and QGIS layers.</a:t>
            </a:r>
            <a:endParaRPr sz="850"/>
          </a:p>
        </p:txBody>
      </p:sp>
      <p:sp>
        <p:nvSpPr>
          <p:cNvPr id="13" name="Shape 11">
            <a:extLst xmlns:a="http://schemas.openxmlformats.org/drawingml/2006/main">
              <a:ext uri="{FF2B5EF4-FFF2-40B4-BE49-F238E27FC236}">
                <a16:creationId xmlns:a16="http://schemas.microsoft.com/office/drawing/2014/main" id="{1CD4E307-F1DC-41BD-A2A0-EF4229C67E73}"/>
              </a:ext>
            </a:extLst>
          </p:cNvPr>
          <p:cNvSpPr>
            <a:spLocks xmlns:a="http://schemas.openxmlformats.org/drawingml/2006/main" noGrp="1"/>
          </p:cNvSpPr>
          <p:nvPr/>
        </p:nvSpPr>
        <p:spPr>
          <a:xfrm xmlns:a="http://schemas.openxmlformats.org/drawingml/2006/main">
            <a:off x="365760" y="2578608"/>
            <a:ext cx="2468880" cy="502920"/>
          </a:xfrm>
          <a:prstGeom xmlns:a="http://schemas.openxmlformats.org/drawingml/2006/main" prst="rect">
            <a:avLst/>
          </a:prstGeom>
          <a:solidFill xmlns:a="http://schemas.openxmlformats.org/drawingml/2006/main">
            <a:srgbClr val="EBF0FD"/>
          </a:solidFill>
          <a:ln xmlns:a="http://schemas.openxmlformats.org/drawingml/2006/main" w="12700">
            <a:solidFill>
              <a:srgbClr val="EBF0FD"/>
            </a:solidFill>
            <a:prstDash val="solid"/>
          </a:ln>
        </p:spPr>
      </p:sp>
      <p:sp>
        <p:nvSpPr>
          <p:cNvPr id="14" name="Text 12">
            <a:extLst xmlns:a="http://schemas.openxmlformats.org/drawingml/2006/main">
              <a:ext uri="{FF2B5EF4-FFF2-40B4-BE49-F238E27FC236}">
                <a16:creationId xmlns:a16="http://schemas.microsoft.com/office/drawing/2014/main" id="{C2C8DE72-7721-45D6-B469-D1F7820E4A35}"/>
              </a:ext>
            </a:extLst>
          </p:cNvPr>
          <p:cNvSpPr>
            <a:spLocks xmlns:a="http://schemas.openxmlformats.org/drawingml/2006/main" noGrp="1"/>
          </p:cNvSpPr>
          <p:nvPr/>
        </p:nvSpPr>
        <p:spPr>
          <a:xfrm xmlns:a="http://schemas.openxmlformats.org/drawingml/2006/main">
            <a:off x="411480"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HISTORICAL + GIS CONTEXT</a:t>
            </a:r>
            <a:endParaRPr sz="800"/>
          </a:p>
        </p:txBody>
      </p:sp>
      <p:sp>
        <p:nvSpPr>
          <p:cNvPr id="15" name="Text 13">
            <a:extLst xmlns:a="http://schemas.openxmlformats.org/drawingml/2006/main">
              <a:ext uri="{FF2B5EF4-FFF2-40B4-BE49-F238E27FC236}">
                <a16:creationId xmlns:a16="http://schemas.microsoft.com/office/drawing/2014/main" id="{A0536C49-BFED-466A-8A4F-1AF9F8838334}"/>
              </a:ext>
            </a:extLst>
          </p:cNvPr>
          <p:cNvSpPr>
            <a:spLocks xmlns:a="http://schemas.openxmlformats.org/drawingml/2006/main" noGrp="1"/>
          </p:cNvSpPr>
          <p:nvPr/>
        </p:nvSpPr>
        <p:spPr>
          <a:xfrm xmlns:a="http://schemas.openxmlformats.org/drawingml/2006/main">
            <a:off x="365760"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Observed 2016–2025 recurrence + official ICNF structural-hazard reference.</a:t>
            </a:r>
            <a:endParaRPr sz="750"/>
          </a:p>
        </p:txBody>
      </p:sp>
      <p:sp>
        <p:nvSpPr>
          <p:cNvPr id="16" name="Text 14">
            <a:extLst xmlns:a="http://schemas.openxmlformats.org/drawingml/2006/main">
              <a:ext uri="{FF2B5EF4-FFF2-40B4-BE49-F238E27FC236}">
                <a16:creationId xmlns:a16="http://schemas.microsoft.com/office/drawing/2014/main" id="{061C0752-DC49-4F35-AFC7-AB88C79FAF0D}"/>
              </a:ext>
            </a:extLst>
          </p:cNvPr>
          <p:cNvSpPr>
            <a:spLocks xmlns:a="http://schemas.openxmlformats.org/drawingml/2006/main" noGrp="1"/>
          </p:cNvSpPr>
          <p:nvPr/>
        </p:nvSpPr>
        <p:spPr>
          <a:xfrm xmlns:a="http://schemas.openxmlformats.org/drawingml/2006/main">
            <a:off x="365760"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Together they provide context for broad-area comparison.</a:t>
            </a:r>
            <a:endParaRPr sz="750"/>
          </a:p>
        </p:txBody>
      </p:sp>
      <p:sp>
        <p:nvSpPr>
          <p:cNvPr id="17" name="Text 15">
            <a:extLst xmlns:a="http://schemas.openxmlformats.org/drawingml/2006/main">
              <a:ext uri="{FF2B5EF4-FFF2-40B4-BE49-F238E27FC236}">
                <a16:creationId xmlns:a16="http://schemas.microsoft.com/office/drawing/2014/main" id="{E4724BAC-EE83-433E-87E5-BC0E996BDFFC}"/>
              </a:ext>
            </a:extLst>
          </p:cNvPr>
          <p:cNvSpPr>
            <a:spLocks xmlns:a="http://schemas.openxmlformats.org/drawingml/2006/main" noGrp="1"/>
          </p:cNvSpPr>
          <p:nvPr/>
        </p:nvSpPr>
        <p:spPr>
          <a:xfrm xmlns:a="http://schemas.openxmlformats.org/drawingml/2006/main">
            <a:off x="2962656"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18" name="Shape 16">
            <a:extLst xmlns:a="http://schemas.openxmlformats.org/drawingml/2006/main">
              <a:ext uri="{FF2B5EF4-FFF2-40B4-BE49-F238E27FC236}">
                <a16:creationId xmlns:a16="http://schemas.microsoft.com/office/drawing/2014/main" id="{88BDC9BD-5FAD-4BBE-B51A-B021702F2F4D}"/>
              </a:ext>
            </a:extLst>
          </p:cNvPr>
          <p:cNvSpPr>
            <a:spLocks xmlns:a="http://schemas.openxmlformats.org/drawingml/2006/main" noGrp="1"/>
          </p:cNvSpPr>
          <p:nvPr/>
        </p:nvSpPr>
        <p:spPr>
          <a:xfrm xmlns:a="http://schemas.openxmlformats.org/drawingml/2006/main">
            <a:off x="3310128" y="1371600"/>
            <a:ext cx="265176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E67E22"/>
            </a:solidFill>
            <a:prstDash val="solid"/>
          </a:ln>
          <a:effectLst xmlns:a="http://schemas.openxmlformats.org/drawingml/2006/main">
            <a:outerShdw blurRad="101600" dist="38100" dir="8100000" algn="bl" rotWithShape="0">
              <a:srgbClr val="000000">
                <a:alpha val="10000"/>
              </a:srgbClr>
            </a:outerShdw>
          </a:effectLst>
        </p:spPr>
      </p:sp>
      <p:sp>
        <p:nvSpPr>
          <p:cNvPr id="19" name="Shape 17">
            <a:extLst xmlns:a="http://schemas.openxmlformats.org/drawingml/2006/main">
              <a:ext uri="{FF2B5EF4-FFF2-40B4-BE49-F238E27FC236}">
                <a16:creationId xmlns:a16="http://schemas.microsoft.com/office/drawing/2014/main" id="{8FE4F804-F3B6-4684-BFCD-653595482E22}"/>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solidFill xmlns:a="http://schemas.openxmlformats.org/drawingml/2006/main">
            <a:srgbClr val="E67E22"/>
          </a:solidFill>
          <a:ln xmlns:a="http://schemas.openxmlformats.org/drawingml/2006/main" w="12700">
            <a:solidFill>
              <a:srgbClr val="E67E22"/>
            </a:solidFill>
            <a:prstDash val="solid"/>
          </a:ln>
        </p:spPr>
      </p:sp>
      <p:sp>
        <p:nvSpPr>
          <p:cNvPr id="20" name="Text 18">
            <a:extLst xmlns:a="http://schemas.openxmlformats.org/drawingml/2006/main">
              <a:ext uri="{FF2B5EF4-FFF2-40B4-BE49-F238E27FC236}">
                <a16:creationId xmlns:a16="http://schemas.microsoft.com/office/drawing/2014/main" id="{F823FAC1-C9B5-4631-81A0-0779D0A744E5}"/>
              </a:ext>
            </a:extLst>
          </p:cNvPr>
          <p:cNvSpPr>
            <a:spLocks xmlns:a="http://schemas.openxmlformats.org/drawingml/2006/main" noGrp="1"/>
          </p:cNvSpPr>
          <p:nvPr/>
        </p:nvSpPr>
        <p:spPr>
          <a:xfrm xmlns:a="http://schemas.openxmlformats.org/drawingml/2006/main">
            <a:off x="3310128"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MODEL RESULT</a:t>
            </a:r>
            <a:endParaRPr sz="1100"/>
          </a:p>
        </p:txBody>
      </p:sp>
      <p:sp>
        <p:nvSpPr>
          <p:cNvPr id="21" name="Text 19">
            <a:extLst xmlns:a="http://schemas.openxmlformats.org/drawingml/2006/main">
              <a:ext uri="{FF2B5EF4-FFF2-40B4-BE49-F238E27FC236}">
                <a16:creationId xmlns:a16="http://schemas.microsoft.com/office/drawing/2014/main" id="{CDF192D1-D9B3-4618-B786-9A11E17D0DE9}"/>
              </a:ext>
            </a:extLst>
          </p:cNvPr>
          <p:cNvSpPr>
            <a:spLocks xmlns:a="http://schemas.openxmlformats.org/drawingml/2006/main" noGrp="1"/>
          </p:cNvSpPr>
          <p:nvPr/>
        </p:nvSpPr>
        <p:spPr>
          <a:xfrm xmlns:a="http://schemas.openxmlformats.org/drawingml/2006/main">
            <a:off x="3401568"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E67E22"/>
                </a:solidFill>
              </a:rPr>
              <a:t>Modest improvement over the baseline</a:t>
            </a:r>
            <a:endParaRPr sz="800"/>
          </a:p>
        </p:txBody>
      </p:sp>
      <p:sp>
        <p:nvSpPr>
          <p:cNvPr id="22" name="Text 20">
            <a:extLst xmlns:a="http://schemas.openxmlformats.org/drawingml/2006/main">
              <a:ext uri="{FF2B5EF4-FFF2-40B4-BE49-F238E27FC236}">
                <a16:creationId xmlns:a16="http://schemas.microsoft.com/office/drawing/2014/main" id="{35B99BF9-D34E-45F7-A42A-E1EE7420E18A}"/>
              </a:ext>
            </a:extLst>
          </p:cNvPr>
          <p:cNvSpPr>
            <a:spLocks xmlns:a="http://schemas.openxmlformats.org/drawingml/2006/main" noGrp="1"/>
          </p:cNvSpPr>
          <p:nvPr/>
        </p:nvSpPr>
        <p:spPr>
          <a:xfrm xmlns:a="http://schemas.openxmlformats.org/drawingml/2006/main">
            <a:off x="3401568" y="204825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The nine-feature model improves selected diagnostics; extreme fire outcomes remain difficult.</a:t>
            </a:r>
            <a:endParaRPr sz="850"/>
          </a:p>
        </p:txBody>
      </p:sp>
      <p:sp>
        <p:nvSpPr>
          <p:cNvPr id="23" name="Shape 21">
            <a:extLst xmlns:a="http://schemas.openxmlformats.org/drawingml/2006/main">
              <a:ext uri="{FF2B5EF4-FFF2-40B4-BE49-F238E27FC236}">
                <a16:creationId xmlns:a16="http://schemas.microsoft.com/office/drawing/2014/main" id="{6F886BEF-D149-4B22-AB28-BF3F16160D69}"/>
              </a:ext>
            </a:extLst>
          </p:cNvPr>
          <p:cNvSpPr>
            <a:spLocks xmlns:a="http://schemas.openxmlformats.org/drawingml/2006/main" noGrp="1"/>
          </p:cNvSpPr>
          <p:nvPr/>
        </p:nvSpPr>
        <p:spPr>
          <a:xfrm xmlns:a="http://schemas.openxmlformats.org/drawingml/2006/main">
            <a:off x="3401568" y="2578608"/>
            <a:ext cx="2468880" cy="502920"/>
          </a:xfrm>
          <a:prstGeom xmlns:a="http://schemas.openxmlformats.org/drawingml/2006/main" prst="rect">
            <a:avLst/>
          </a:prstGeom>
          <a:solidFill xmlns:a="http://schemas.openxmlformats.org/drawingml/2006/main">
            <a:srgbClr val="FEF3E2"/>
          </a:solidFill>
          <a:ln xmlns:a="http://schemas.openxmlformats.org/drawingml/2006/main" w="12700">
            <a:solidFill>
              <a:srgbClr val="FEF3E2"/>
            </a:solidFill>
            <a:prstDash val="solid"/>
          </a:ln>
        </p:spPr>
      </p:sp>
      <p:sp>
        <p:nvSpPr>
          <p:cNvPr id="24" name="Text 22">
            <a:extLst xmlns:a="http://schemas.openxmlformats.org/drawingml/2006/main">
              <a:ext uri="{FF2B5EF4-FFF2-40B4-BE49-F238E27FC236}">
                <a16:creationId xmlns:a16="http://schemas.microsoft.com/office/drawing/2014/main" id="{80A0214D-E33A-4BF0-8D70-726CFE0375AB}"/>
              </a:ext>
            </a:extLst>
          </p:cNvPr>
          <p:cNvSpPr>
            <a:spLocks xmlns:a="http://schemas.openxmlformats.org/drawingml/2006/main" noGrp="1"/>
          </p:cNvSpPr>
          <p:nvPr/>
        </p:nvSpPr>
        <p:spPr>
          <a:xfrm xmlns:a="http://schemas.openxmlformats.org/drawingml/2006/main">
            <a:off x="3447288"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PRACTICAL USE</a:t>
            </a:r>
            <a:endParaRPr sz="800"/>
          </a:p>
        </p:txBody>
      </p:sp>
      <p:sp>
        <p:nvSpPr>
          <p:cNvPr id="25" name="Text 23">
            <a:extLst xmlns:a="http://schemas.openxmlformats.org/drawingml/2006/main">
              <a:ext uri="{FF2B5EF4-FFF2-40B4-BE49-F238E27FC236}">
                <a16:creationId xmlns:a16="http://schemas.microsoft.com/office/drawing/2014/main" id="{EDB0DD6E-990A-42DB-9875-F090FBA9738B}"/>
              </a:ext>
            </a:extLst>
          </p:cNvPr>
          <p:cNvSpPr>
            <a:spLocks xmlns:a="http://schemas.openxmlformats.org/drawingml/2006/main" noGrp="1"/>
          </p:cNvSpPr>
          <p:nvPr/>
        </p:nvSpPr>
        <p:spPr>
          <a:xfrm xmlns:a="http://schemas.openxmlformats.org/drawingml/2006/main">
            <a:off x="3401568"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Narrow broad search areas</a:t>
            </a:r>
            <a:endParaRPr sz="750"/>
          </a:p>
        </p:txBody>
      </p:sp>
      <p:sp>
        <p:nvSpPr>
          <p:cNvPr id="26" name="Text 24">
            <a:extLst xmlns:a="http://schemas.openxmlformats.org/drawingml/2006/main">
              <a:ext uri="{FF2B5EF4-FFF2-40B4-BE49-F238E27FC236}">
                <a16:creationId xmlns:a16="http://schemas.microsoft.com/office/drawing/2014/main" id="{C7AC1FC5-9639-4DA9-B51C-80DD5E469942}"/>
              </a:ext>
            </a:extLst>
          </p:cNvPr>
          <p:cNvSpPr>
            <a:spLocks xmlns:a="http://schemas.openxmlformats.org/drawingml/2006/main" noGrp="1"/>
          </p:cNvSpPr>
          <p:nvPr/>
        </p:nvSpPr>
        <p:spPr>
          <a:xfrm xmlns:a="http://schemas.openxmlformats.org/drawingml/2006/main">
            <a:off x="3401568"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Use the maps to organise local research before detailed investigation.</a:t>
            </a:r>
            <a:endParaRPr sz="750"/>
          </a:p>
        </p:txBody>
      </p:sp>
      <p:sp>
        <p:nvSpPr>
          <p:cNvPr id="27" name="Text 25">
            <a:extLst xmlns:a="http://schemas.openxmlformats.org/drawingml/2006/main">
              <a:ext uri="{FF2B5EF4-FFF2-40B4-BE49-F238E27FC236}">
                <a16:creationId xmlns:a16="http://schemas.microsoft.com/office/drawing/2014/main" id="{44357DB5-05F8-4CF5-8D21-E89F0DFA12F8}"/>
              </a:ext>
            </a:extLst>
          </p:cNvPr>
          <p:cNvSpPr>
            <a:spLocks xmlns:a="http://schemas.openxmlformats.org/drawingml/2006/main" noGrp="1"/>
          </p:cNvSpPr>
          <p:nvPr/>
        </p:nvSpPr>
        <p:spPr>
          <a:xfrm xmlns:a="http://schemas.openxmlformats.org/drawingml/2006/main">
            <a:off x="5998464" y="2560320"/>
            <a:ext cx="320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E8A020"/>
                </a:solidFill>
              </a:rPr>
              <a:t>-&gt;</a:t>
            </a:r>
            <a:endParaRPr sz="2000"/>
          </a:p>
        </p:txBody>
      </p:sp>
      <p:sp>
        <p:nvSpPr>
          <p:cNvPr id="28" name="Shape 26">
            <a:extLst xmlns:a="http://schemas.openxmlformats.org/drawingml/2006/main">
              <a:ext uri="{FF2B5EF4-FFF2-40B4-BE49-F238E27FC236}">
                <a16:creationId xmlns:a16="http://schemas.microsoft.com/office/drawing/2014/main" id="{C1EB402B-5D07-41FD-A88B-C668B30929ED}"/>
              </a:ext>
            </a:extLst>
          </p:cNvPr>
          <p:cNvSpPr>
            <a:spLocks xmlns:a="http://schemas.openxmlformats.org/drawingml/2006/main" noGrp="1"/>
          </p:cNvSpPr>
          <p:nvPr/>
        </p:nvSpPr>
        <p:spPr>
          <a:xfrm xmlns:a="http://schemas.openxmlformats.org/drawingml/2006/main">
            <a:off x="6345936" y="1371600"/>
            <a:ext cx="2514600" cy="2834640"/>
          </a:xfrm>
          <a:prstGeom xmlns:a="http://schemas.openxmlformats.org/drawingml/2006/main" prst="rect">
            <a:avLst/>
          </a:prstGeom>
          <a:solidFill xmlns:a="http://schemas.openxmlformats.org/drawingml/2006/main">
            <a:srgbClr val="FFFFFF"/>
          </a:solidFill>
          <a:ln xmlns:a="http://schemas.openxmlformats.org/drawingml/2006/main" w="12700">
            <a:solidFill>
              <a:srgbClr val="2A9D61"/>
            </a:solidFill>
            <a:prstDash val="solid"/>
          </a:ln>
          <a:effectLst xmlns:a="http://schemas.openxmlformats.org/drawingml/2006/main">
            <a:outerShdw blurRad="101600" dist="38100" dir="8100000" algn="bl" rotWithShape="0">
              <a:srgbClr val="000000">
                <a:alpha val="10000"/>
              </a:srgbClr>
            </a:outerShdw>
          </a:effectLst>
        </p:spPr>
      </p:sp>
      <p:sp>
        <p:nvSpPr>
          <p:cNvPr id="29" name="Shape 27">
            <a:extLst xmlns:a="http://schemas.openxmlformats.org/drawingml/2006/main">
              <a:ext uri="{FF2B5EF4-FFF2-40B4-BE49-F238E27FC236}">
                <a16:creationId xmlns:a16="http://schemas.microsoft.com/office/drawing/2014/main" id="{CB31566B-19C9-48AC-A726-E822C5985068}"/>
              </a:ext>
            </a:extLst>
          </p:cNvPr>
          <p:cNvSpPr>
            <a:spLocks xmlns:a="http://schemas.openxmlformats.org/drawingml/2006/main" noGrp="1"/>
          </p:cNvSpPr>
          <p:nvPr/>
        </p:nvSpPr>
        <p:spPr>
          <a:xfrm xmlns:a="http://schemas.openxmlformats.org/drawingml/2006/main">
            <a:off x="6345936" y="1371600"/>
            <a:ext cx="2523744" cy="384048"/>
          </a:xfrm>
          <a:prstGeom xmlns:a="http://schemas.openxmlformats.org/drawingml/2006/main" prst="rect">
            <a:avLst/>
          </a:prstGeom>
          <a:solidFill xmlns:a="http://schemas.openxmlformats.org/drawingml/2006/main">
            <a:srgbClr val="2A9D61"/>
          </a:solidFill>
          <a:ln xmlns:a="http://schemas.openxmlformats.org/drawingml/2006/main" w="12700">
            <a:solidFill>
              <a:srgbClr val="2A9D61"/>
            </a:solidFill>
            <a:prstDash val="solid"/>
          </a:ln>
        </p:spPr>
      </p:sp>
      <p:sp>
        <p:nvSpPr>
          <p:cNvPr id="30" name="Text 28">
            <a:extLst xmlns:a="http://schemas.openxmlformats.org/drawingml/2006/main">
              <a:ext uri="{FF2B5EF4-FFF2-40B4-BE49-F238E27FC236}">
                <a16:creationId xmlns:a16="http://schemas.microsoft.com/office/drawing/2014/main" id="{576FE3D7-10A4-4179-9328-3F34C913B9ED}"/>
              </a:ext>
            </a:extLst>
          </p:cNvPr>
          <p:cNvSpPr>
            <a:spLocks xmlns:a="http://schemas.openxmlformats.org/drawingml/2006/main" noGrp="1"/>
          </p:cNvSpPr>
          <p:nvPr/>
        </p:nvSpPr>
        <p:spPr>
          <a:xfrm xmlns:a="http://schemas.openxmlformats.org/drawingml/2006/main">
            <a:off x="6345936" y="1371600"/>
            <a:ext cx="2651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rPr>
              <a:t>NEXT PROJECT STEP</a:t>
            </a:r>
            <a:endParaRPr sz="1100"/>
          </a:p>
        </p:txBody>
      </p:sp>
      <p:sp>
        <p:nvSpPr>
          <p:cNvPr id="31" name="Text 29">
            <a:extLst xmlns:a="http://schemas.openxmlformats.org/drawingml/2006/main">
              <a:ext uri="{FF2B5EF4-FFF2-40B4-BE49-F238E27FC236}">
                <a16:creationId xmlns:a16="http://schemas.microsoft.com/office/drawing/2014/main" id="{088C263C-A0CB-4982-A338-F3A1BB2F9F95}"/>
              </a:ext>
            </a:extLst>
          </p:cNvPr>
          <p:cNvSpPr>
            <a:spLocks xmlns:a="http://schemas.openxmlformats.org/drawingml/2006/main" noGrp="1"/>
          </p:cNvSpPr>
          <p:nvPr/>
        </p:nvSpPr>
        <p:spPr>
          <a:xfrm xmlns:a="http://schemas.openxmlformats.org/drawingml/2006/main">
            <a:off x="6437376" y="1792224"/>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2A9D61"/>
                </a:solidFill>
              </a:rPr>
              <a:t>Refresh and evaluate</a:t>
            </a:r>
            <a:endParaRPr sz="800"/>
          </a:p>
        </p:txBody>
      </p:sp>
      <p:sp>
        <p:nvSpPr>
          <p:cNvPr id="32" name="Text 30">
            <a:extLst xmlns:a="http://schemas.openxmlformats.org/drawingml/2006/main">
              <a:ext uri="{FF2B5EF4-FFF2-40B4-BE49-F238E27FC236}">
                <a16:creationId xmlns:a16="http://schemas.microsoft.com/office/drawing/2014/main" id="{3591A679-B15E-406C-86A0-00F6CAE7220A}"/>
              </a:ext>
            </a:extLst>
          </p:cNvPr>
          <p:cNvSpPr>
            <a:spLocks xmlns:a="http://schemas.openxmlformats.org/drawingml/2006/main" noGrp="1"/>
          </p:cNvSpPr>
          <p:nvPr/>
        </p:nvSpPr>
        <p:spPr>
          <a:xfrm xmlns:a="http://schemas.openxmlformats.org/drawingml/2006/main">
            <a:off x="6437376" y="2048256"/>
            <a:ext cx="2340864"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xmlns:a="http://schemas.openxmlformats.org/drawingml/2006/main">
              <a:ext uri="{FF2B5EF4-FFF2-40B4-BE49-F238E27FC236}">
                <a16:creationId xmlns:a16="http://schemas.microsoft.com/office/drawing/2014/main" id="{21F582AF-C78B-4E58-9B57-6833B74F7712}"/>
              </a:ext>
            </a:extLst>
          </p:cNvPr>
          <p:cNvSpPr>
            <a:spLocks xmlns:a="http://schemas.openxmlformats.org/drawingml/2006/main" noGrp="1"/>
          </p:cNvSpPr>
          <p:nvPr/>
        </p:nvSpPr>
        <p:spPr>
          <a:xfrm xmlns:a="http://schemas.openxmlformats.org/drawingml/2006/main">
            <a:off x="6437376" y="2578608"/>
            <a:ext cx="2340864" cy="502920"/>
          </a:xfrm>
          <a:prstGeom xmlns:a="http://schemas.openxmlformats.org/drawingml/2006/main" prst="rect">
            <a:avLst/>
          </a:prstGeom>
          <a:solidFill xmlns:a="http://schemas.openxmlformats.org/drawingml/2006/main">
            <a:srgbClr val="E6F5EE"/>
          </a:solidFill>
          <a:ln xmlns:a="http://schemas.openxmlformats.org/drawingml/2006/main" w="12700">
            <a:solidFill>
              <a:srgbClr val="E6F5EE"/>
            </a:solidFill>
            <a:prstDash val="solid"/>
          </a:ln>
        </p:spPr>
      </p:sp>
      <p:sp>
        <p:nvSpPr>
          <p:cNvPr id="34" name="Text 32">
            <a:extLst xmlns:a="http://schemas.openxmlformats.org/drawingml/2006/main">
              <a:ext uri="{FF2B5EF4-FFF2-40B4-BE49-F238E27FC236}">
                <a16:creationId xmlns:a16="http://schemas.microsoft.com/office/drawing/2014/main" id="{131D7657-5536-4C80-9B52-926E19C32495}"/>
              </a:ext>
            </a:extLst>
          </p:cNvPr>
          <p:cNvSpPr>
            <a:spLocks xmlns:a="http://schemas.openxmlformats.org/drawingml/2006/main" noGrp="1"/>
          </p:cNvSpPr>
          <p:nvPr/>
        </p:nvSpPr>
        <p:spPr>
          <a:xfrm xmlns:a="http://schemas.openxmlformats.org/drawingml/2006/main">
            <a:off x="6483096" y="2578608"/>
            <a:ext cx="2377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i="1">
                <a:solidFill>
                  <a:srgbClr val="1A2638"/>
                </a:solidFill>
              </a:rPr>
              <a:t>PRACTICAL RESULT</a:t>
            </a:r>
            <a:endParaRPr sz="800"/>
          </a:p>
        </p:txBody>
      </p:sp>
      <p:sp>
        <p:nvSpPr>
          <p:cNvPr id="35" name="Text 33">
            <a:extLst xmlns:a="http://schemas.openxmlformats.org/drawingml/2006/main">
              <a:ext uri="{FF2B5EF4-FFF2-40B4-BE49-F238E27FC236}">
                <a16:creationId xmlns:a16="http://schemas.microsoft.com/office/drawing/2014/main" id="{555C2D91-F1C0-4C81-A522-273CE805D265}"/>
              </a:ext>
            </a:extLst>
          </p:cNvPr>
          <p:cNvSpPr>
            <a:spLocks xmlns:a="http://schemas.openxmlformats.org/drawingml/2006/main" noGrp="1"/>
          </p:cNvSpPr>
          <p:nvPr/>
        </p:nvSpPr>
        <p:spPr>
          <a:xfrm xmlns:a="http://schemas.openxmlformats.org/drawingml/2006/main">
            <a:off x="6437376" y="3145536"/>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2A9D61"/>
                </a:solidFill>
              </a:rPr>
              <a:t>A focused location search</a:t>
            </a:r>
            <a:endParaRPr sz="750"/>
          </a:p>
        </p:txBody>
      </p:sp>
      <p:sp>
        <p:nvSpPr>
          <p:cNvPr id="36" name="Text 34">
            <a:extLst xmlns:a="http://schemas.openxmlformats.org/drawingml/2006/main">
              <a:ext uri="{FF2B5EF4-FFF2-40B4-BE49-F238E27FC236}">
                <a16:creationId xmlns:a16="http://schemas.microsoft.com/office/drawing/2014/main" id="{348B69A9-A889-4CDD-892E-2DD982669C0A}"/>
              </a:ext>
            </a:extLst>
          </p:cNvPr>
          <p:cNvSpPr>
            <a:spLocks xmlns:a="http://schemas.openxmlformats.org/drawingml/2006/main" noGrp="1"/>
          </p:cNvSpPr>
          <p:nvPr/>
        </p:nvSpPr>
        <p:spPr>
          <a:xfrm xmlns:a="http://schemas.openxmlformats.org/drawingml/2006/main">
            <a:off x="6437376" y="3675888"/>
            <a:ext cx="24688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750" b="1">
                <a:solidFill>
                  <a:srgbClr val="C0392B"/>
                </a:solidFill>
              </a:rPr>
              <a:t>Local planning, access, insurance, terrain and property evidence complete the decision.</a:t>
            </a:r>
            <a:endParaRPr sz="750"/>
          </a:p>
        </p:txBody>
      </p:sp>
      <p:sp>
        <p:nvSpPr>
          <p:cNvPr id="37" name="Shape 35">
            <a:extLst xmlns:a="http://schemas.openxmlformats.org/drawingml/2006/main">
              <a:ext uri="{FF2B5EF4-FFF2-40B4-BE49-F238E27FC236}">
                <a16:creationId xmlns:a16="http://schemas.microsoft.com/office/drawing/2014/main" id="{1CF7DD12-EEE0-44CF-90BD-A5A6555384C9}"/>
              </a:ext>
            </a:extLst>
          </p:cNvPr>
          <p:cNvSpPr>
            <a:spLocks xmlns:a="http://schemas.openxmlformats.org/drawingml/2006/main" noGrp="1"/>
          </p:cNvSpPr>
          <p:nvPr/>
        </p:nvSpPr>
        <p:spPr>
          <a:xfrm xmlns:a="http://schemas.openxmlformats.org/drawingml/2006/main">
            <a:off x="274320" y="4315968"/>
            <a:ext cx="8595360" cy="457200"/>
          </a:xfrm>
          <a:prstGeom xmlns:a="http://schemas.openxmlformats.org/drawingml/2006/main" prst="rect">
            <a:avLst/>
          </a:prstGeom>
          <a:solidFill xmlns:a="http://schemas.openxmlformats.org/drawingml/2006/main">
            <a:srgbClr val="0D1F2D"/>
          </a:solidFill>
          <a:ln xmlns:a="http://schemas.openxmlformats.org/drawingml/2006/main" w="12700">
            <a:solidFill>
              <a:srgbClr val="0D1F2D"/>
            </a:solidFill>
            <a:prstDash val="solid"/>
          </a:ln>
        </p:spPr>
      </p:sp>
      <p:sp>
        <p:nvSpPr>
          <p:cNvPr id="38" name="Text 36">
            <a:extLst xmlns:a="http://schemas.openxmlformats.org/drawingml/2006/main">
              <a:ext uri="{FF2B5EF4-FFF2-40B4-BE49-F238E27FC236}">
                <a16:creationId xmlns:a16="http://schemas.microsoft.com/office/drawing/2014/main" id="{437652F4-0A68-4E8D-8FB1-0D1F3BBDF796}"/>
              </a:ext>
            </a:extLst>
          </p:cNvPr>
          <p:cNvSpPr>
            <a:spLocks xmlns:a="http://schemas.openxmlformats.org/drawingml/2006/main" noGrp="1"/>
          </p:cNvSpPr>
          <p:nvPr/>
        </p:nvSpPr>
        <p:spPr>
          <a:xfrm xmlns:a="http://schemas.openxmlformats.org/drawingml/2006/main">
            <a:off x="411480" y="4315968"/>
            <a:ext cx="8321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E8A020"/>
                </a:solidFill>
              </a:rPr>
              <a:t>The model makes the first stage of location research more focused.</a:t>
            </a:r>
            <a:endParaRPr sz="850"/>
          </a:p>
        </p:txBody>
      </p:sp>
      <p:sp>
        <p:nvSpPr>
          <p:cNvPr id="39" name="Shape 37">
            <a:extLst xmlns:a="http://schemas.openxmlformats.org/drawingml/2006/main">
              <a:ext uri="{FF2B5EF4-FFF2-40B4-BE49-F238E27FC236}">
                <a16:creationId xmlns:a16="http://schemas.microsoft.com/office/drawing/2014/main" id="{49A759C5-57AB-43DF-B3F0-A2B8CCABD533}"/>
              </a:ext>
            </a:extLst>
          </p:cNvPr>
          <p:cNvSpPr>
            <a:spLocks xmlns:a="http://schemas.openxmlformats.org/drawingml/2006/main" noGrp="1"/>
          </p:cNvSpPr>
          <p:nvPr/>
        </p:nvSpPr>
        <p:spPr>
          <a:xfrm xmlns:a="http://schemas.openxmlformats.org/drawingml/2006/main">
            <a:off x="0" y="4919472"/>
            <a:ext cx="9144000" cy="224028"/>
          </a:xfrm>
          <a:prstGeom xmlns:a="http://schemas.openxmlformats.org/drawingml/2006/main" prst="rect">
            <a:avLst/>
          </a:prstGeom>
          <a:solidFill xmlns:a="http://schemas.openxmlformats.org/drawingml/2006/main">
            <a:srgbClr val="162B3D"/>
          </a:solidFill>
          <a:ln xmlns:a="http://schemas.openxmlformats.org/drawingml/2006/main" w="12700">
            <a:solidFill>
              <a:srgbClr val="162B3D"/>
            </a:solidFill>
            <a:prstDash val="solid"/>
          </a:ln>
        </p:spPr>
      </p:sp>
      <p:sp>
        <p:nvSpPr>
          <p:cNvPr id="40" name="Text 38">
            <a:extLst xmlns:a="http://schemas.openxmlformats.org/drawingml/2006/main">
              <a:ext uri="{FF2B5EF4-FFF2-40B4-BE49-F238E27FC236}">
                <a16:creationId xmlns:a16="http://schemas.microsoft.com/office/drawing/2014/main" id="{D0C3C7AC-0669-4B0F-BD8F-AB88AC487A35}"/>
              </a:ext>
            </a:extLst>
          </p:cNvPr>
          <p:cNvSpPr>
            <a:spLocks xmlns:a="http://schemas.openxmlformats.org/drawingml/2006/main" noGrp="1"/>
          </p:cNvSpPr>
          <p:nvPr/>
        </p:nvSpPr>
        <p:spPr>
          <a:xfrm xmlns:a="http://schemas.openxmlformats.org/drawingml/2006/main">
            <a:off x="274320" y="4919472"/>
            <a:ext cx="8595360" cy="2240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2026-08-15T11:13:58.2410000Z</dcterms:created>
  <dcterms:modified xsi:type="dcterms:W3CDTF">2026-08-15T11:13:58.2410000Z</dcterms:modified>
</coreProperties>
</file>