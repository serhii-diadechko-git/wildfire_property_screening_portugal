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0134" autoAdjust="0"/>
  </p:normalViewPr>
  <p:slideViewPr>
    <p:cSldViewPr snapToGrid="0" snapToObjects="1">
      <p:cViewPr varScale="1">
        <p:scale>
          <a:sx n="68" d="100"/>
          <a:sy n="68" d="100"/>
        </p:scale>
        <p:origin x="2043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“This project asks a practical location-research question: how can we compare broad areas of mainland Portugal using consistent wildfire evidence, rather than relying only on isolated past events or subjective impressions?</a:t>
            </a:r>
          </a:p>
          <a:p>
            <a:endParaRPr lang="en-US" dirty="0"/>
          </a:p>
          <a:p>
            <a:r>
              <a:rPr lang="en-US" dirty="0"/>
              <a:t>I built a reproducible data-science workflow that combines GIS and machine learning. GIS provides the geographical structure: mainland Portugal is represented as consistent 1 km cells. Machine learning uses observed burned-area history together with landscape, terrain, and climate context to estimate the expected burned share for the following year.</a:t>
            </a:r>
          </a:p>
          <a:p>
            <a:endParaRPr lang="en-US" dirty="0"/>
          </a:p>
          <a:p>
            <a:r>
              <a:rPr lang="en-US" dirty="0"/>
              <a:t>The purpose is not to declare any location safe or unsafe, and it is not a property-level buying recommendation. Instead, it helps narrow a very broad search area into a smaller set of places that deserve more detailed local </a:t>
            </a:r>
            <a:r>
              <a:rPr lang="en-US"/>
              <a:t>investigation.</a:t>
            </a:r>
          </a:p>
          <a:p>
            <a:endParaRPr lang="en-US" dirty="0"/>
          </a:p>
          <a:p>
            <a:r>
              <a:rPr lang="en-US" dirty="0"/>
              <a:t>The project produces three complementary kinds of evidence: observed historical fire recurrence, landscape and official structural-hazard context, and a comparative 2026 estimate based on data available through 2025. After this broad screening step, a user should still investigate local planning rules, access, insurance, vegetation management, terrain, and the individual property itself.”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Project README; docs/project_brief.md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record represents one mainland Portugal 1 km × 1 km cell in predictor year T. Its target is the burned share observed in T+1—the proportion of the cell’s land area covered by burned-area polygons.</a:t>
            </a:r>
            <a:br/>
            <a:endParaRPr/>
          </a:p>
          <a:p>
            <a:r>
              <a:t>ICNF supplies observed fire history and outcomes. Copernicus CLC and DEM provide land-cover and terrain context. ERA5-Land supplies T-only warm-season climate context.</a:t>
            </a:r>
            <a:br/>
            <a:endParaRPr/>
          </a:p>
          <a:p>
            <a:r>
              <a:t>The 2 km area is an outward context buffer around each 1 km cell, not a second grid. ERA5-Land values come from the coarse climate grid without interpolation or downscaling.</a:t>
            </a:r>
            <a:br/>
            <a:endParaRPr/>
          </a:p>
          <a:p>
            <a:r>
              <a:t>[Sources]</a:t>
            </a:r>
            <a:br/>
            <a:r>
              <a:t>docs/data_dictionary.md; reports/validation/canonical_full_scope_readiness.md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slode shows observed historical evidence, official ICNF planning of burns and 2026 prediction.</a:t>
            </a:r>
          </a:p>
          <a:p>
            <a:r>
              <a:t>Each 1 km cell is coloured by the number of distinct burned years from 2016–2025 within its mainland-masked 2 km context.</a:t>
            </a:r>
          </a:p>
          <a:p>
            <a:endParaRPr/>
          </a:p>
          <a:p>
            <a:r>
              <a:t>The three comparison layers should be read separately:</a:t>
            </a:r>
          </a:p>
          <a:p>
            <a:pPr>
              <a:buFont typeface="Arial"/>
              <a:buChar char="•"/>
            </a:pPr>
            <a:r>
              <a:rPr b="1"/>
              <a:t>Historical recurrence:</a:t>
            </a:r>
            <a:r>
              <a:t> what was observed to burn.</a:t>
            </a:r>
          </a:p>
          <a:p>
            <a:pPr>
              <a:buFont typeface="Arial"/>
              <a:buChar char="•"/>
            </a:pPr>
            <a:r>
              <a:rPr b="1"/>
              <a:t>Official ICNF structural hazard:</a:t>
            </a:r>
            <a:r>
              <a:t> an independent classification of underlying landscape hazard conditions.</a:t>
            </a:r>
          </a:p>
          <a:p>
            <a:pPr>
              <a:buFont typeface="Arial"/>
              <a:buChar char="•"/>
            </a:pPr>
            <a:r>
              <a:rPr b="1"/>
              <a:t>2026 estimated comparative exposure:</a:t>
            </a:r>
            <a:r>
              <a:t> the model’s target-free cell-level estimate based on predictor data.</a:t>
            </a:r>
          </a:p>
          <a:p>
            <a:pPr>
              <a:buFont typeface="Arial"/>
              <a:buChar char="•"/>
            </a:pPr>
            <a:endParaRPr/>
          </a:p>
          <a:p>
            <a:r>
              <a:t>These layers provide different types of evidence and should not be added together or interpreted as one score. The comparison helps identify broad areas for further investigation; it does not certify a location.</a:t>
            </a:r>
          </a:p>
          <a:p>
            <a:endParaRPr/>
          </a:p>
          <a:p>
            <a:r>
              <a:t>[Sources]</a:t>
            </a:r>
            <a:br/>
            <a:r>
              <a:t>reports/figures/historical_wildfire_exposure_screening_mainland_portugal.png; reports/validation/historical_exposure_screening_and_icnf_comparison.md; qgis/README.md; reports/validation/operational_forecast_2026_validation.md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these speaker notes for Slide 4:</a:t>
            </a:r>
          </a:p>
          <a:p>
            <a:r>
              <a:t>This slide compares two different types of wildfire evidence. Historical recurrence records what actually burned during 2016–2025, counting distinct burned years within the 2 km context around each 1 km cell.</a:t>
            </a:r>
            <a:br/>
            <a:endParaRPr/>
          </a:p>
          <a:p>
            <a:r>
              <a:t>The official ICNF structural-hazard layer describes relatively persistent landscape conditions associated with wildfire hazard. Its original 25 m classes were summarised to the predominant class in each 1 km cell. It is an official reference layer, not a forecast and not the project’s ML output.</a:t>
            </a:r>
            <a:br/>
            <a:endParaRPr/>
          </a:p>
          <a:p>
            <a:r>
              <a:t>The story is not that one layer is correct and the other is wrong. They answer different questions and use different methods. Areas where they agree provide consistent context; areas where they differ show where further investigation may be useful.</a:t>
            </a:r>
            <a:br/>
            <a:endParaRPr/>
          </a:p>
          <a:p>
            <a:r>
              <a:t>The comparison is descriptive only. It is not a model-accuracy test, a buyer threshold or a certification of any location.</a:t>
            </a:r>
            <a:br/>
            <a:endParaRPr/>
          </a:p>
          <a:p>
            <a:r>
              <a:t>[Sources]</a:t>
            </a:r>
            <a:br/>
            <a:r>
              <a:t>qgis/README.md; docs/data_dictionary.md; reports/figures/historical_exposure_by_icnf_structural_hazard_crosstab.png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compares the transparent historical-recurrence baseline with the nine-feature two-part regression model.</a:t>
            </a:r>
          </a:p>
          <a:p>
            <a:r>
              <a:t>The baseline is a project-specific benchmark, not a library model. It groups training records by the number of previously burned years in the 2 km context and calculates the average next-year burned share for each group.</a:t>
            </a:r>
          </a:p>
          <a:p>
            <a:endParaRPr/>
          </a:p>
          <a:p>
            <a:r>
              <a:t>The nine-feature model uses scikit-learn’s HistGradientBoosting algorithms. One component handles whether burning is expected; the other estimates how much of the cell may burn when burning occurs. Together, they produce one continuous burned-share estimate for the following year.</a:t>
            </a:r>
          </a:p>
          <a:p>
            <a:r>
              <a:t>The table shows the frozen final temporal comparison. The arrows run from the historical baseline to the nine-feature model. MAE measures average burned-share error; RMSE gives more weight to larger errors.</a:t>
            </a:r>
          </a:p>
          <a:p>
            <a:endParaRPr/>
          </a:p>
          <a:p>
            <a:r>
              <a:t>Yes, that makes sense. Use explicit predictor and outcome years:</a:t>
            </a:r>
          </a:p>
          <a:p>
            <a:r>
              <a:rPr b="1"/>
              <a:t>Capture@20% is a validation test of the ranking.</a:t>
            </a:r>
            <a:r>
              <a:t> For each predictor year, the model ranks cells using data from year </a:t>
            </a:r>
            <a:r>
              <a:rPr b="1"/>
              <a:t>T</a:t>
            </a:r>
            <a:r>
              <a:t> and estimates burned share for </a:t>
            </a:r>
            <a:r>
              <a:rPr b="1"/>
              <a:t>T+1</a:t>
            </a:r>
            <a:r>
              <a:t>. For example, for </a:t>
            </a:r>
            <a:r>
              <a:rPr b="1"/>
              <a:t>T = 2024</a:t>
            </a:r>
            <a:r>
              <a:t>, it ranks cells using 2024 predictor data and is later checked against the actual ICNF burned areas observed in </a:t>
            </a:r>
            <a:r>
              <a:rPr b="1"/>
              <a:t>2025</a:t>
            </a:r>
            <a:r>
              <a:t>.</a:t>
            </a:r>
          </a:p>
          <a:p>
            <a:r>
              <a:t>The final evaluation covers the year pairs </a:t>
            </a:r>
            <a:r>
              <a:rPr b="1"/>
              <a:t>2022→2023, 2023→2024 and 2024→2025</a:t>
            </a:r>
            <a:r>
              <a:t>. For each pair, we select the highest-scored 20% of cells and measure how much of the burned share observed in </a:t>
            </a:r>
            <a:r>
              <a:rPr b="1"/>
              <a:t>T+1</a:t>
            </a:r>
            <a:r>
              <a:t> occurred in those cells.</a:t>
            </a:r>
          </a:p>
          <a:p>
            <a:r>
              <a:t>Across the final test, the historical baseline captured </a:t>
            </a:r>
            <a:r>
              <a:rPr b="1"/>
              <a:t>48.2%</a:t>
            </a:r>
            <a:r>
              <a:t> of observed burned share in its top-ranked 20% of cells. The nine-feature model captured </a:t>
            </a:r>
            <a:r>
              <a:rPr b="1"/>
              <a:t>50.0%</a:t>
            </a:r>
            <a:r>
              <a:t>.</a:t>
            </a:r>
          </a:p>
          <a:p>
            <a:r>
              <a:t>This does not mean that 20% of the land burned. It is only a retrospective ranking diagnostic. In a future cycle, the same logic would apply to </a:t>
            </a:r>
            <a:r>
              <a:rPr b="1"/>
              <a:t>2035→2036</a:t>
            </a:r>
            <a:r>
              <a:t>, but only after the 2036 outcome data became available.</a:t>
            </a:r>
          </a:p>
          <a:p>
            <a:endParaRPr/>
          </a:p>
          <a:p>
            <a:r>
              <a:t>[Sources]</a:t>
            </a:r>
            <a:br/>
            <a:r>
              <a:t>reports/validation/model_final_decision.md; reports/figures/model_final_test_metric_comparison.png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 simple scenario: a prospective buyer is considering several broad areas in mainland Portugal. Start with the 2026 comparative estimate, which compares 1 km cells using 2025 predictor inputs. Then read historical recurrence and the official ICNF structural-hazard layer alongside it; the three layers provide separate context rather than one combined score. The result is a shorter list of broad areas to visit and investigate. Local planning, access, insurance, terrain and property-specific evidence still support the final choice.</a:t>
            </a:r>
          </a:p>
          <a:p>
            <a:endParaRPr/>
          </a:p>
          <a:p>
            <a:r>
              <a:t>[Sources]</a:t>
            </a:r>
          </a:p>
          <a:p>
            <a:r>
              <a:t>qgis/wildfire_exposure_screening_portugal_2026.qgz; qgis/README.md; reports/validation/operational_forecast_2026_validation.md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gives the two recommendations that follow the use case. First, compare the three separate layers before shortlisting: the 2026 comparative estimate, observed recurrence and the official structural-hazard reference. Second, once broad areas are shortlisted, verify them with local and property-specific evidence. The annual update cycle belongs on the conclusion slide, so this slide stays focused on responsible use.</a:t>
            </a:r>
          </a:p>
          <a:p>
            <a:endParaRPr/>
          </a:p>
          <a:p>
            <a:r>
              <a:t>[Sources]</a:t>
            </a:r>
          </a:p>
          <a:p>
            <a:r>
              <a:t>qgis/README.md; docs/data_dictionary.md; reports/validation/historical_exposure_screening_and_icnf_comparison.md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with three points. First, the project delivers a reproducible national workflow that combines data science, machine learning and GIS. Second, historical recurrence, official structural hazard and the model each contribute different evidence; the model gives a modest improvement over the historical baseline but extreme years remain difficult. Third, the practical use is to narrow broad location-search areas before detailed local research. The next project step is an annual refresh: once new completed-year inputs and the observed 2026 outcome are available, rerun the fixed workflow and evaluate the 2026 estimate.</a:t>
            </a:r>
          </a:p>
          <a:p>
            <a:endParaRPr/>
          </a:p>
          <a:p>
            <a:r>
              <a:t>[Sources]</a:t>
            </a:r>
          </a:p>
          <a:p>
            <a:r>
              <a:t>README.md; reports/validation/model_final_decision.md; reports/validation/operational_forecast_readiness.md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7271A54-A21F-461B-81FE-9352EC032E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DACC1B4-1154-4329-A73F-48B1DC5827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1EBCE3-53B5-467C-8E29-72B844CA38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17F92D-E245-4025-90D8-8EDF916CA9EF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0F063B7-97FC-4057-91C5-01147213D4BB}"/>
              </a:ext>
            </a:extLst>
          </p:cNvPr>
          <p:cNvSpPr>
            <a:spLocks noGrp="1"/>
          </p:cNvSpPr>
          <p:nvPr/>
        </p:nvSpPr>
        <p:spPr>
          <a:xfrm>
            <a:off x="32004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>
                <a:solidFill>
                  <a:srgbClr val="E1E8EF"/>
                </a:solidFill>
              </a:rPr>
              <a:t>DATA SCIENCE &amp; ML CAPSTONE</a:t>
            </a:r>
            <a:endParaRPr sz="7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0C36328-C5D1-4010-B8F0-E622D0A879DF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A06437-0A3C-43F1-8C4D-8B11B9E4BD63}"/>
              </a:ext>
            </a:extLst>
          </p:cNvPr>
          <p:cNvSpPr>
            <a:spLocks noGrp="1"/>
          </p:cNvSpPr>
          <p:nvPr/>
        </p:nvSpPr>
        <p:spPr>
          <a:xfrm>
            <a:off x="7498080" y="137160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>
                <a:solidFill>
                  <a:srgbClr val="0D1F2D"/>
                </a:solidFill>
              </a:rPr>
              <a:t>2026</a:t>
            </a:r>
            <a:endParaRPr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BC5597E-259F-4375-AD7E-442DC35DA9BA}"/>
              </a:ext>
            </a:extLst>
          </p:cNvPr>
          <p:cNvSpPr>
            <a:spLocks noGrp="1"/>
          </p:cNvSpPr>
          <p:nvPr/>
        </p:nvSpPr>
        <p:spPr>
          <a:xfrm>
            <a:off x="365760" y="566928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E8A020"/>
                </a:solidFill>
              </a:rPr>
              <a:t>WILDFIRE EXPOSURE SCREENING</a:t>
            </a:r>
            <a:endParaRPr sz="10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04374D4-53B8-40B4-AD27-574FDD973E4D}"/>
              </a:ext>
            </a:extLst>
          </p:cNvPr>
          <p:cNvSpPr>
            <a:spLocks noGrp="1"/>
          </p:cNvSpPr>
          <p:nvPr/>
        </p:nvSpPr>
        <p:spPr>
          <a:xfrm>
            <a:off x="365760" y="914400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Wildfire Exposure</a:t>
            </a:r>
            <a:endParaRPr sz="5200"/>
          </a:p>
          <a:p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Screening</a:t>
            </a:r>
            <a:endParaRPr sz="5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E7387F-C7E0-45B4-95FC-3980C4673C6B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i="1">
                <a:solidFill>
                  <a:srgbClr val="A8C4D8"/>
                </a:solidFill>
              </a:rPr>
              <a:t>A reproducible GIS and machine-learning workflow for broad-area location research.</a:t>
            </a:r>
            <a:endParaRPr sz="13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4D7FAF1-5834-4AFE-87A0-3EB7DF4F1C96}"/>
              </a:ext>
            </a:extLst>
          </p:cNvPr>
          <p:cNvSpPr>
            <a:spLocks noGrp="1"/>
          </p:cNvSpPr>
          <p:nvPr/>
        </p:nvSpPr>
        <p:spPr>
          <a:xfrm>
            <a:off x="365760" y="3310128"/>
            <a:ext cx="53035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5AB15B4-F408-4652-B072-3916646D6B7A}"/>
              </a:ext>
            </a:extLst>
          </p:cNvPr>
          <p:cNvSpPr>
            <a:spLocks noGrp="1"/>
          </p:cNvSpPr>
          <p:nvPr/>
        </p:nvSpPr>
        <p:spPr>
          <a:xfrm>
            <a:off x="365760" y="338328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E1E8EF"/>
                </a:solidFill>
              </a:rPr>
              <a:t>Serhii Diadechko</a:t>
            </a:r>
            <a:endParaRPr sz="11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BEE0D39-8F48-47D0-AC97-A5C1383B7E0E}"/>
              </a:ext>
            </a:extLst>
          </p:cNvPr>
          <p:cNvSpPr>
            <a:spLocks noGrp="1"/>
          </p:cNvSpPr>
          <p:nvPr/>
        </p:nvSpPr>
        <p:spPr>
          <a:xfrm>
            <a:off x="6080760" y="777240"/>
            <a:ext cx="2834640" cy="3931920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9DF6536-1C4E-4314-9CB6-ABE7AFD6C0A3}"/>
              </a:ext>
            </a:extLst>
          </p:cNvPr>
          <p:cNvSpPr>
            <a:spLocks noGrp="1"/>
          </p:cNvSpPr>
          <p:nvPr/>
        </p:nvSpPr>
        <p:spPr>
          <a:xfrm>
            <a:off x="6080760" y="82296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00" b="1">
                <a:solidFill>
                  <a:srgbClr val="E8A020"/>
                </a:solidFill>
              </a:rPr>
              <a:t>Purpose</a:t>
            </a:r>
            <a:endParaRPr sz="90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B21C9E4-9D51-47F8-A634-86927AA3DBCF}"/>
              </a:ext>
            </a:extLst>
          </p:cNvPr>
          <p:cNvSpPr>
            <a:spLocks noGrp="1"/>
          </p:cNvSpPr>
          <p:nvPr/>
        </p:nvSpPr>
        <p:spPr>
          <a:xfrm>
            <a:off x="6217920" y="1170432"/>
            <a:ext cx="2560320" cy="22860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36FA1E7-8AA0-4F97-BCC4-F9EF38BF02CA}"/>
              </a:ext>
            </a:extLst>
          </p:cNvPr>
          <p:cNvSpPr>
            <a:spLocks noGrp="1"/>
          </p:cNvSpPr>
          <p:nvPr/>
        </p:nvSpPr>
        <p:spPr>
          <a:xfrm>
            <a:off x="6217920" y="1261872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Observed history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78B0B14-0C2A-4376-A31F-8BD2A8320B1B}"/>
              </a:ext>
            </a:extLst>
          </p:cNvPr>
          <p:cNvSpPr>
            <a:spLocks noGrp="1"/>
          </p:cNvSpPr>
          <p:nvPr/>
        </p:nvSpPr>
        <p:spPr>
          <a:xfrm>
            <a:off x="6217920" y="179222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Landscape, terrain and climate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E7E2DF4-82FF-4297-BC2B-22C484A80CC8}"/>
              </a:ext>
            </a:extLst>
          </p:cNvPr>
          <p:cNvSpPr>
            <a:spLocks noGrp="1"/>
          </p:cNvSpPr>
          <p:nvPr/>
        </p:nvSpPr>
        <p:spPr>
          <a:xfrm>
            <a:off x="6217920" y="2322576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Comparative 2026 estimate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D6F7EF9-033D-4506-9EBE-BFE18477DBE8}"/>
              </a:ext>
            </a:extLst>
          </p:cNvPr>
          <p:cNvSpPr>
            <a:spLocks noGrp="1"/>
          </p:cNvSpPr>
          <p:nvPr/>
        </p:nvSpPr>
        <p:spPr>
          <a:xfrm>
            <a:off x="6217920" y="2852928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Narrow broad search areas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8932156-3970-4237-A76D-30F8D26A7793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Then continue with local evidence</a:t>
            </a:r>
            <a:endParaRPr sz="105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0B28163-A49C-4C75-B149-473B24134259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759CE5D-7A30-48C4-B49F-00835A05CFBA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1596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DATASET OVERVIEW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2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One 1 km mainland cell per year makes the evidence comparable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OBSERVED FIRE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ICNF annual burned areas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occurrence and next-year burned-share outcomes. Fire recurrence is measured in a 2 km context buffer.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2000–2025 coverage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observed history and outcome labels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Burned share = burned land area / cell land area.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PLACE CONTEXT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CLC and Copernicus DEM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Built-up share, forest/shrub context and mean slope describe the surrounding landscape.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Static or governed historical layers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landscape and terrain predictors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parcel-level claim.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CLIMATE CONTEXT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ERA5-Land JJAS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Warm-season temperature, precipitation and shallow soil-water conditions from predictor year T only.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0.1° regional climate cells</a:t>
            </a:r>
            <a:endParaRPr sz="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predictor-year climate context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interpolation or downscaling.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89,112 mainland cells; one EPSG:3763 1 km cell × predictor year record.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16D61E-8D80-4696-BE48-571111EE6D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197073-0349-496C-B731-E02726BC0F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344C750-A1AC-4D96-B5ED-2E59EAB552A3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BCF9260-F9BB-427A-A715-0CA619DDD669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1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C069EAE-F0EA-403F-93EC-4D5FAD01EDA4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3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66943B0-65A2-4E8E-A093-55763EACAA06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wildfire recurrence is uneven across mainland Portugal (left map)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21BB8D3-723F-4991-A475-17320C3772B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8595360" cy="749808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4EBC4C6-D447-4B5F-9E95-5E50F6C0F1D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128016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F3F9A90-A64A-44E4-8B61-269E127D3AC6}"/>
              </a:ext>
            </a:extLst>
          </p:cNvPr>
          <p:cNvSpPr>
            <a:spLocks noGrp="1"/>
          </p:cNvSpPr>
          <p:nvPr/>
        </p:nvSpPr>
        <p:spPr>
          <a:xfrm>
            <a:off x="475488" y="129844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C0392B"/>
                </a:solidFill>
              </a:rPr>
              <a:t>01</a:t>
            </a:r>
            <a:endParaRPr sz="1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ECD7901-FF1F-4AD5-BD05-D2EAF149B834}"/>
              </a:ext>
            </a:extLst>
          </p:cNvPr>
          <p:cNvSpPr>
            <a:spLocks noGrp="1"/>
          </p:cNvSpPr>
          <p:nvPr/>
        </p:nvSpPr>
        <p:spPr>
          <a:xfrm>
            <a:off x="932688" y="135331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Reading the slides out loud</a:t>
            </a:r>
            <a:endParaRPr sz="10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9D47A8B-8774-4620-BDFB-D07CF55F8ABB}"/>
              </a:ext>
            </a:extLst>
          </p:cNvPr>
          <p:cNvSpPr>
            <a:spLocks noGrp="1"/>
          </p:cNvSpPr>
          <p:nvPr/>
        </p:nvSpPr>
        <p:spPr>
          <a:xfrm>
            <a:off x="932688" y="166420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C0392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Your slides show the chart. You explain what it means. Script: "This chart shows X — what's interesting is Y, because Z."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AF904D4-1953-4361-98CD-B6C1318DAD13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8595360" cy="749808"/>
          </a:xfrm>
          <a:prstGeom prst="rect">
            <a:avLst/>
          </a:prstGeom>
          <a:solidFill>
            <a:srgbClr val="FEF3E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6F18261-0B59-40F2-909D-5E0D887A7F2D}"/>
              </a:ext>
            </a:extLst>
          </p:cNvPr>
          <p:cNvSpPr>
            <a:spLocks noGrp="1"/>
          </p:cNvSpPr>
          <p:nvPr/>
        </p:nvSpPr>
        <p:spPr>
          <a:xfrm>
            <a:off x="274320" y="2121408"/>
            <a:ext cx="128016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24C7072-A5D1-41E5-AF09-50C809B5F6AC}"/>
              </a:ext>
            </a:extLst>
          </p:cNvPr>
          <p:cNvSpPr>
            <a:spLocks noGrp="1"/>
          </p:cNvSpPr>
          <p:nvPr/>
        </p:nvSpPr>
        <p:spPr>
          <a:xfrm>
            <a:off x="475488" y="212140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E67E22"/>
                </a:solidFill>
              </a:rPr>
              <a:t>02</a:t>
            </a:r>
            <a:endParaRPr sz="1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194C2BB-26D7-41F8-99E2-0E08561EB4B3}"/>
              </a:ext>
            </a:extLst>
          </p:cNvPr>
          <p:cNvSpPr>
            <a:spLocks noGrp="1"/>
          </p:cNvSpPr>
          <p:nvPr/>
        </p:nvSpPr>
        <p:spPr>
          <a:xfrm>
            <a:off x="932688" y="217627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Too many charts, not enough story</a:t>
            </a:r>
            <a:endParaRPr sz="10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04F7CD5-4B32-4EC8-B1FA-B54C12F261F5}"/>
              </a:ext>
            </a:extLst>
          </p:cNvPr>
          <p:cNvSpPr>
            <a:spLocks noGrp="1"/>
          </p:cNvSpPr>
          <p:nvPr/>
        </p:nvSpPr>
        <p:spPr>
          <a:xfrm>
            <a:off x="932688" y="248716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Max 1 chart per slide. Ask: does removing this chart break the argument? If not, cut it.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5666D60-5174-46D3-A3BC-CBDD5C36493C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8595360" cy="749808"/>
          </a:xfrm>
          <a:prstGeom prst="rect">
            <a:avLst/>
          </a:prstGeom>
          <a:solidFill>
            <a:srgbClr val="EBF0FD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CEC4C53-0577-45FB-8EDC-DA224AD08FAD}"/>
              </a:ext>
            </a:extLst>
          </p:cNvPr>
          <p:cNvSpPr>
            <a:spLocks noGrp="1"/>
          </p:cNvSpPr>
          <p:nvPr/>
        </p:nvSpPr>
        <p:spPr>
          <a:xfrm>
            <a:off x="274320" y="2944368"/>
            <a:ext cx="128016" cy="74980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9F80E8F-8BB5-41D6-83D6-61200F38318E}"/>
              </a:ext>
            </a:extLst>
          </p:cNvPr>
          <p:cNvSpPr>
            <a:spLocks noGrp="1"/>
          </p:cNvSpPr>
          <p:nvPr/>
        </p:nvSpPr>
        <p:spPr>
          <a:xfrm>
            <a:off x="475488" y="294436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E6DB4"/>
                </a:solidFill>
              </a:rPr>
              <a:t>03</a:t>
            </a:r>
            <a:endParaRPr sz="18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6F4D743-7166-4C64-ACF2-234AB2EC7C8C}"/>
              </a:ext>
            </a:extLst>
          </p:cNvPr>
          <p:cNvSpPr>
            <a:spLocks noGrp="1"/>
          </p:cNvSpPr>
          <p:nvPr/>
        </p:nvSpPr>
        <p:spPr>
          <a:xfrm>
            <a:off x="932688" y="299923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Data without context</a:t>
            </a:r>
            <a:endParaRPr sz="10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D3590A5-0038-4FF2-9E08-71324661CCA1}"/>
              </a:ext>
            </a:extLst>
          </p:cNvPr>
          <p:cNvSpPr>
            <a:spLocks noGrp="1"/>
          </p:cNvSpPr>
          <p:nvPr/>
        </p:nvSpPr>
        <p:spPr>
          <a:xfrm>
            <a:off x="932688" y="331012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Always say what the number means relative to something. "€1,847 average" means nothing. "€1,847 — 3x higher than online courses" means something.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F6DDFBC-DA0D-4E16-8419-87C24D8B083F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8595360" cy="749808"/>
          </a:xfrm>
          <a:prstGeom prst="rect">
            <a:avLst/>
          </a:prstGeom>
          <a:solidFill>
            <a:srgbClr val="F3E8F7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4B71F646-FDF1-472F-894C-B09E4E53D18F}"/>
              </a:ext>
            </a:extLst>
          </p:cNvPr>
          <p:cNvSpPr>
            <a:spLocks noGrp="1"/>
          </p:cNvSpPr>
          <p:nvPr/>
        </p:nvSpPr>
        <p:spPr>
          <a:xfrm>
            <a:off x="274320" y="3767328"/>
            <a:ext cx="128016" cy="74980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001E16E-E869-4684-B29F-D534238B7E05}"/>
              </a:ext>
            </a:extLst>
          </p:cNvPr>
          <p:cNvSpPr>
            <a:spLocks noGrp="1"/>
          </p:cNvSpPr>
          <p:nvPr/>
        </p:nvSpPr>
        <p:spPr>
          <a:xfrm>
            <a:off x="475488" y="376732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7B2D8B"/>
                </a:solidFill>
              </a:rPr>
              <a:t>04</a:t>
            </a:r>
            <a:endParaRPr sz="18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42521F6-A952-4571-99D0-D1B95A87A2CF}"/>
              </a:ext>
            </a:extLst>
          </p:cNvPr>
          <p:cNvSpPr>
            <a:spLocks noGrp="1"/>
          </p:cNvSpPr>
          <p:nvPr/>
        </p:nvSpPr>
        <p:spPr>
          <a:xfrm>
            <a:off x="932688" y="38221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Weak conclusions</a:t>
            </a:r>
            <a:endParaRPr sz="10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DE35A4F-5401-4E71-BF6E-CE246A9E00A6}"/>
              </a:ext>
            </a:extLst>
          </p:cNvPr>
          <p:cNvSpPr>
            <a:spLocks noGrp="1"/>
          </p:cNvSpPr>
          <p:nvPr/>
        </p:nvSpPr>
        <p:spPr>
          <a:xfrm>
            <a:off x="932688" y="413308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Ban "in conclusion, more research may be needed." Replace with: "We recommend X. The data supports this because Y."</a:t>
            </a:r>
            <a:endParaRPr sz="85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800076-1163-4370-A185-DB36BF86952B}"/>
              </a:ext>
            </a:extLst>
          </p:cNvPr>
          <p:cNvSpPr>
            <a:spLocks noGrp="1"/>
          </p:cNvSpPr>
          <p:nvPr/>
        </p:nvSpPr>
        <p:spPr>
          <a:xfrm>
            <a:off x="475488" y="4590288"/>
            <a:ext cx="41148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800" b="1">
                <a:solidFill>
                  <a:srgbClr val="2A9D61"/>
                </a:solidFill>
              </a:rPr>
              <a:t>05</a:t>
            </a:r>
            <a:endParaRPr sz="1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228FE94-2214-4A82-AFE2-3F267A1D4424}"/>
              </a:ext>
            </a:extLst>
          </p:cNvPr>
          <p:cNvSpPr>
            <a:spLocks noGrp="1"/>
          </p:cNvSpPr>
          <p:nvPr/>
        </p:nvSpPr>
        <p:spPr>
          <a:xfrm>
            <a:off x="932688" y="464515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Going over time</a:t>
            </a:r>
            <a:endParaRPr sz="10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BD7EEF37-68F4-4EDC-BFAF-6B828C194374}"/>
              </a:ext>
            </a:extLst>
          </p:cNvPr>
          <p:cNvSpPr>
            <a:spLocks noGrp="1"/>
          </p:cNvSpPr>
          <p:nvPr/>
        </p:nvSpPr>
        <p:spPr>
          <a:xfrm>
            <a:off x="932688" y="4956048"/>
            <a:ext cx="77724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Practice out loud with a timer. 8 slides x 1.5 min = 12 min. That's your target.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5375F54-2542-44E4-9AE4-25E5F5E7CCD6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11C9A05-ACCC-4E9D-9690-B5C3213DD01B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9F4B17D-4C76-48E1-9681-BAFF543DC330}"/>
              </a:ext>
            </a:extLst>
          </p:cNvPr>
          <p:cNvSpPr>
            <a:spLocks noGrp="1"/>
          </p:cNvSpPr>
          <p:nvPr/>
        </p:nvSpPr>
        <p:spPr>
          <a:xfrm>
            <a:off x="266700" y="1200150"/>
            <a:ext cx="8610600" cy="3695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69" name="Pictur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200150"/>
            <a:ext cx="7318584" cy="36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534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2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4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recurrence and structural hazard provide complementary context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Evidence layers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Counts 2016–2025 burned years in the 2 km context around each 1 km cell.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Official structural hazard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An official ICNF classification of underlying landscape hazard conditions, summarised from 25 m classes to the predominant 1 km class.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Why compare both?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use different methods and time frames, so agreement or disagreement adds context.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Interpretation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Structural hazard is not this project’s prediction and does not describe one particular year’s burned area.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64024" y="1554480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One comparison, two sources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the layers together to understand patterns; neither layer is a buyer threshold.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Maps describe evidence; they do not certify a location.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Both layers still require local verification.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364992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Observed recurrence = what burned.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Structural hazard = underlying landscape classification.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Together = broader screening context.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model-accuracy claim is made from this comparison.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The official ICNF layer is a reference, not the project’s ML output.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3 — MODEL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5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nine-feature model improves selected comparative diagnostics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MODEL COMPARISON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Baseline -&gt; nine-feature model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recurrence baseline </a:t>
            </a:r>
            <a:r>
              <a:rPr sz="800" b="1">
                <a:solidFill>
                  <a:srgbClr val="1A2638"/>
                </a:solidFill>
              </a:rPr>
              <a:t>- </a:t>
            </a:r>
            <a:r>
              <a:rPr sz="800" b="1"/>
              <a:t>groups training records by the number of previously burned years </a:t>
            </a:r>
            <a:r>
              <a:rPr sz="800" b="1">
                <a:solidFill>
                  <a:srgbClr val="1A2638"/>
                </a:solidFill>
              </a:rPr>
              <a:t> </a:t>
            </a:r>
            <a:endParaRPr sz="800" b="1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Nine-feature hurdle model - </a:t>
            </a:r>
            <a:r>
              <a:rPr sz="850" b="1">
                <a:solidFill>
                  <a:srgbClr val="1A2638"/>
                </a:solidFill>
              </a:rPr>
              <a:t>HistGradientBoosting</a:t>
            </a:r>
            <a:endParaRPr sz="850" b="1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MAE: 0.029  -&gt;  0.021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RMSE: 0.111  -&gt;  0.111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Capture@20%: 0.482  -&gt;  0.500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Final temporal test: T=2022–2024; outcomes in T+1.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HOW TO READ IT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MAE is average error in burned-share units; lower is better.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RMSE gives more weight to larger errors; lower is better.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Capture@20% is the share of observed burned share found among the 20% highest-scored cells.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It is a ranking diagnostic, not a buyer threshold.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model improves selected comparisons, but extreme fire years remain difficult.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target is continuous burned share: burned land area divided by cell land area.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nine-feature model uses a two-part regression for the zero-heavy target.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final-test result is used to claim a property-level forecast.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Conclusion: useful comparative improvement with visible uncertainty.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>
            <a:extLst>
              <a:ext uri="{FF2B5EF4-FFF2-40B4-BE49-F238E27FC236}">
                <a16:creationId xmlns:a16="http://schemas.microsoft.com/office/drawing/2014/main" id="{9E3B76F2-BCC7-BBF0-1273-7B2C877F93D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4EF0D36C-C357-E332-9FBF-445832165D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1CFE74E3-3462-A34A-4A20-31F9DE9FBFC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44" name="Text 3">
            <a:extLst>
              <a:ext uri="{FF2B5EF4-FFF2-40B4-BE49-F238E27FC236}">
                <a16:creationId xmlns:a16="http://schemas.microsoft.com/office/drawing/2014/main" id="{0D45B056-7786-F6DB-DB67-68872420F5BA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RECOMMENDED USE CASE</a:t>
            </a:r>
            <a:endParaRPr sz="1100"/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41DC7F03-CAB9-6A42-265A-C46904C8AFD1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6 / 8</a:t>
            </a:r>
            <a:endParaRPr sz="1100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D847301C-C927-7FAC-A769-4C641A7B5D35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A prospective buyer narrows a Portugal location search</a:t>
            </a:r>
            <a:endParaRPr sz="1600"/>
          </a:p>
        </p:txBody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F70699D7-5B53-2C77-0175-B3B78E7EF30C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111BE822-2C18-0A11-F129-F8D5751595BB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F7C43176-6DA9-3BA7-4DE8-A4C84CEC076C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START WITH</a:t>
            </a:r>
            <a:endParaRPr sz="1100"/>
          </a:p>
        </p:txBody>
      </p:sp>
      <p:sp>
        <p:nvSpPr>
          <p:cNvPr id="50" name="Text 9">
            <a:extLst>
              <a:ext uri="{FF2B5EF4-FFF2-40B4-BE49-F238E27FC236}">
                <a16:creationId xmlns:a16="http://schemas.microsoft.com/office/drawing/2014/main" id="{25E0079F-7E52-BCD6-436F-A2013D60831A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2026 comparative estimate</a:t>
            </a:r>
            <a:endParaRPr sz="800"/>
          </a:p>
        </p:txBody>
      </p:sp>
      <p:sp>
        <p:nvSpPr>
          <p:cNvPr id="51" name="Text 10">
            <a:extLst>
              <a:ext uri="{FF2B5EF4-FFF2-40B4-BE49-F238E27FC236}">
                <a16:creationId xmlns:a16="http://schemas.microsoft.com/office/drawing/2014/main" id="{35DCCB06-55A6-7118-8D80-0423179BFA58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broad 1 km areas using 2025 predictor inputs.</a:t>
            </a:r>
            <a:endParaRPr sz="850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48892306-CBC7-1476-476D-AF940872013E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53" name="Text 12">
            <a:extLst>
              <a:ext uri="{FF2B5EF4-FFF2-40B4-BE49-F238E27FC236}">
                <a16:creationId xmlns:a16="http://schemas.microsoft.com/office/drawing/2014/main" id="{524E6A7B-8390-A7C3-5810-F79BE56CA14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COMPARE CONTEXT</a:t>
            </a:r>
            <a:endParaRPr sz="800"/>
          </a:p>
        </p:txBody>
      </p:sp>
      <p:sp>
        <p:nvSpPr>
          <p:cNvPr id="54" name="Text 13">
            <a:extLst>
              <a:ext uri="{FF2B5EF4-FFF2-40B4-BE49-F238E27FC236}">
                <a16:creationId xmlns:a16="http://schemas.microsoft.com/office/drawing/2014/main" id="{D813BEB0-AB29-1201-6C98-83ED8F0166C5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Historical recurrence + official ICNF structural hazard</a:t>
            </a:r>
            <a:endParaRPr sz="750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1640E6C2-2736-6C47-08A7-E76229CD60DE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Read these layers alongside the estimate before shortlisting areas.</a:t>
            </a:r>
            <a:endParaRPr sz="750"/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E7998FAA-1292-DEE4-FBBA-DA72F51BBE8F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AA16804A-52B3-003F-850D-E763525EBF8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Shape 17">
            <a:extLst>
              <a:ext uri="{FF2B5EF4-FFF2-40B4-BE49-F238E27FC236}">
                <a16:creationId xmlns:a16="http://schemas.microsoft.com/office/drawing/2014/main" id="{A132002A-B816-4B27-A659-A2A2193BD4C4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9" name="Text 18">
            <a:extLst>
              <a:ext uri="{FF2B5EF4-FFF2-40B4-BE49-F238E27FC236}">
                <a16:creationId xmlns:a16="http://schemas.microsoft.com/office/drawing/2014/main" id="{E937C9EB-5EC4-4BED-DCC0-EEB4268C59F9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SHORTLIST AREAS</a:t>
            </a:r>
            <a:endParaRPr sz="1100"/>
          </a:p>
        </p:txBody>
      </p:sp>
      <p:sp>
        <p:nvSpPr>
          <p:cNvPr id="60" name="Text 19">
            <a:extLst>
              <a:ext uri="{FF2B5EF4-FFF2-40B4-BE49-F238E27FC236}">
                <a16:creationId xmlns:a16="http://schemas.microsoft.com/office/drawing/2014/main" id="{922D1C3D-92F4-7A52-D254-13F805D6760C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Focus local research</a:t>
            </a:r>
            <a:endParaRPr sz="800"/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DD31154A-7340-6BA1-B58C-EB0C128FA94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three maps to decide which broad areas deserve a closer look.</a:t>
            </a:r>
            <a:endParaRPr sz="850"/>
          </a:p>
        </p:txBody>
      </p:sp>
      <p:sp>
        <p:nvSpPr>
          <p:cNvPr id="62" name="Shape 21">
            <a:extLst>
              <a:ext uri="{FF2B5EF4-FFF2-40B4-BE49-F238E27FC236}">
                <a16:creationId xmlns:a16="http://schemas.microsoft.com/office/drawing/2014/main" id="{E3A1950C-3E98-2A41-9F7B-763C1A1EFE02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63" name="Text 22">
            <a:extLst>
              <a:ext uri="{FF2B5EF4-FFF2-40B4-BE49-F238E27FC236}">
                <a16:creationId xmlns:a16="http://schemas.microsoft.com/office/drawing/2014/main" id="{E3161D18-B8A1-E487-12AB-44CC4A732529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VISIT AND INVESTIGATE</a:t>
            </a:r>
            <a:endParaRPr sz="800"/>
          </a:p>
        </p:txBody>
      </p:sp>
      <p:sp>
        <p:nvSpPr>
          <p:cNvPr id="64" name="Text 23">
            <a:extLst>
              <a:ext uri="{FF2B5EF4-FFF2-40B4-BE49-F238E27FC236}">
                <a16:creationId xmlns:a16="http://schemas.microsoft.com/office/drawing/2014/main" id="{5C353123-8232-42F8-D273-5CB954BA4BBD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Deepen the research</a:t>
            </a:r>
            <a:endParaRPr sz="750"/>
          </a:p>
        </p:txBody>
      </p:sp>
      <p:sp>
        <p:nvSpPr>
          <p:cNvPr id="65" name="Text 24">
            <a:extLst>
              <a:ext uri="{FF2B5EF4-FFF2-40B4-BE49-F238E27FC236}">
                <a16:creationId xmlns:a16="http://schemas.microsoft.com/office/drawing/2014/main" id="{825EE7D9-0624-FD50-1A14-73D146D6F995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Spend time on site visits and detailed research in shortlisted areas.</a:t>
            </a:r>
            <a:endParaRPr sz="750"/>
          </a:p>
        </p:txBody>
      </p:sp>
      <p:sp>
        <p:nvSpPr>
          <p:cNvPr id="66" name="Text 25">
            <a:extLst>
              <a:ext uri="{FF2B5EF4-FFF2-40B4-BE49-F238E27FC236}">
                <a16:creationId xmlns:a16="http://schemas.microsoft.com/office/drawing/2014/main" id="{2A24E586-B737-43CD-9410-9B7B599DB5E6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E767105C-FE7D-D361-1E75-7B266D4ED11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8" name="Shape 27">
            <a:extLst>
              <a:ext uri="{FF2B5EF4-FFF2-40B4-BE49-F238E27FC236}">
                <a16:creationId xmlns:a16="http://schemas.microsoft.com/office/drawing/2014/main" id="{B5487368-1117-220F-0E2A-5055BCFA807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69" name="Text 28">
            <a:extLst>
              <a:ext uri="{FF2B5EF4-FFF2-40B4-BE49-F238E27FC236}">
                <a16:creationId xmlns:a16="http://schemas.microsoft.com/office/drawing/2014/main" id="{018CC755-0E76-B3F1-F302-F5429326FAFF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USE CASE OUTCOME</a:t>
            </a:r>
            <a:endParaRPr sz="1100"/>
          </a:p>
        </p:txBody>
      </p:sp>
      <p:sp>
        <p:nvSpPr>
          <p:cNvPr id="70" name="Text 29">
            <a:extLst>
              <a:ext uri="{FF2B5EF4-FFF2-40B4-BE49-F238E27FC236}">
                <a16:creationId xmlns:a16="http://schemas.microsoft.com/office/drawing/2014/main" id="{7D4F3FEA-36B1-CD37-33EC-8AFF9A2B185B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A smaller search area</a:t>
            </a:r>
            <a:endParaRPr sz="800"/>
          </a:p>
        </p:txBody>
      </p:sp>
      <p:sp>
        <p:nvSpPr>
          <p:cNvPr id="71" name="Text 30">
            <a:extLst>
              <a:ext uri="{FF2B5EF4-FFF2-40B4-BE49-F238E27FC236}">
                <a16:creationId xmlns:a16="http://schemas.microsoft.com/office/drawing/2014/main" id="{AEF56BD3-A919-2AB3-B917-DDF115F5DA1D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QGIS layers help organise a national search.</a:t>
            </a:r>
            <a:endParaRPr sz="850"/>
          </a:p>
        </p:txBody>
      </p:sp>
      <p:sp>
        <p:nvSpPr>
          <p:cNvPr id="72" name="Shape 31">
            <a:extLst>
              <a:ext uri="{FF2B5EF4-FFF2-40B4-BE49-F238E27FC236}">
                <a16:creationId xmlns:a16="http://schemas.microsoft.com/office/drawing/2014/main" id="{B21EFAC5-18BF-7EC7-FCA7-6D5743FCEF9F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73" name="Text 32">
            <a:extLst>
              <a:ext uri="{FF2B5EF4-FFF2-40B4-BE49-F238E27FC236}">
                <a16:creationId xmlns:a16="http://schemas.microsoft.com/office/drawing/2014/main" id="{B56BD828-01DF-272F-8543-67D8E7206C89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LOCAL EVIDENCE</a:t>
            </a:r>
            <a:endParaRPr sz="800"/>
          </a:p>
        </p:txBody>
      </p:sp>
      <p:sp>
        <p:nvSpPr>
          <p:cNvPr id="74" name="Text 33">
            <a:extLst>
              <a:ext uri="{FF2B5EF4-FFF2-40B4-BE49-F238E27FC236}">
                <a16:creationId xmlns:a16="http://schemas.microsoft.com/office/drawing/2014/main" id="{7C7E5895-F34D-DA1E-E30A-C36D5D6775D9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Verify before deciding</a:t>
            </a:r>
            <a:endParaRPr sz="750"/>
          </a:p>
        </p:txBody>
      </p:sp>
      <p:sp>
        <p:nvSpPr>
          <p:cNvPr id="75" name="Text 34">
            <a:extLst>
              <a:ext uri="{FF2B5EF4-FFF2-40B4-BE49-F238E27FC236}">
                <a16:creationId xmlns:a16="http://schemas.microsoft.com/office/drawing/2014/main" id="{91730462-287D-DD99-AC73-8CDB97A5A7BD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Check planning, access, insurance, terrain and property-specific evidence.</a:t>
            </a:r>
            <a:endParaRPr sz="750"/>
          </a:p>
        </p:txBody>
      </p:sp>
      <p:sp>
        <p:nvSpPr>
          <p:cNvPr id="76" name="Shape 35">
            <a:extLst>
              <a:ext uri="{FF2B5EF4-FFF2-40B4-BE49-F238E27FC236}">
                <a16:creationId xmlns:a16="http://schemas.microsoft.com/office/drawing/2014/main" id="{EE052AFC-8FB4-ECF7-88CC-4487AE42F56C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77" name="Text 36">
            <a:extLst>
              <a:ext uri="{FF2B5EF4-FFF2-40B4-BE49-F238E27FC236}">
                <a16:creationId xmlns:a16="http://schemas.microsoft.com/office/drawing/2014/main" id="{C306DBE1-591D-91A0-2800-8563622FC938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output helps organise the search; local evidence supports the final choice.</a:t>
            </a:r>
            <a:endParaRPr sz="85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453F1B67-702E-243E-FB47-4CA2B5119EA1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A5F23304-A068-58EC-920B-B28883DF7C8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RECOMMENDATIONS 2 + 3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7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Compare the evidence layers, then verify locally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noGrp="1"/>
          </p:cNvSpPr>
          <p:nvPr/>
        </p:nvSpPr>
        <p:spPr>
          <a:xfrm>
            <a:off x="27432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2 — COMPARE FIRST</a:t>
            </a:r>
            <a:endParaRPr sz="10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noGrp="1"/>
          </p:cNvSpPr>
          <p:nvPr/>
        </p:nvSpPr>
        <p:spPr>
          <a:xfrm>
            <a:off x="438912" y="181051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noGrp="1"/>
          </p:cNvSpPr>
          <p:nvPr/>
        </p:nvSpPr>
        <p:spPr>
          <a:xfrm>
            <a:off x="713232" y="177393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2026 comparative estimate to narrow broad areas.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noGrp="1"/>
          </p:cNvSpPr>
          <p:nvPr/>
        </p:nvSpPr>
        <p:spPr>
          <a:xfrm>
            <a:off x="438912" y="221284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noGrp="1"/>
          </p:cNvSpPr>
          <p:nvPr/>
        </p:nvSpPr>
        <p:spPr>
          <a:xfrm>
            <a:off x="713232" y="217627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Check 2016–2025 observed recurrence in the 2 km context.</a:t>
            </a:r>
            <a:endParaRPr sz="85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noGrp="1"/>
          </p:cNvSpPr>
          <p:nvPr/>
        </p:nvSpPr>
        <p:spPr>
          <a:xfrm>
            <a:off x="438912" y="261518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noGrp="1"/>
          </p:cNvSpPr>
          <p:nvPr/>
        </p:nvSpPr>
        <p:spPr>
          <a:xfrm>
            <a:off x="713232" y="2578608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the official ICNF structural-hazard class.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noGrp="1"/>
          </p:cNvSpPr>
          <p:nvPr/>
        </p:nvSpPr>
        <p:spPr>
          <a:xfrm>
            <a:off x="43891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noGrp="1"/>
          </p:cNvSpPr>
          <p:nvPr/>
        </p:nvSpPr>
        <p:spPr>
          <a:xfrm>
            <a:off x="713232" y="2980944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Read the three layers together before shortlisting areas.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noGrp="1"/>
          </p:cNvSpPr>
          <p:nvPr/>
        </p:nvSpPr>
        <p:spPr>
          <a:xfrm>
            <a:off x="438912" y="341985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noGrp="1"/>
          </p:cNvSpPr>
          <p:nvPr/>
        </p:nvSpPr>
        <p:spPr>
          <a:xfrm>
            <a:off x="713232" y="3383280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Do not merge the layers into one score.</a:t>
            </a:r>
            <a:endParaRPr sz="85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noGrp="1"/>
          </p:cNvSpPr>
          <p:nvPr/>
        </p:nvSpPr>
        <p:spPr>
          <a:xfrm>
            <a:off x="438912" y="3822192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noGrp="1"/>
          </p:cNvSpPr>
          <p:nvPr/>
        </p:nvSpPr>
        <p:spPr>
          <a:xfrm>
            <a:off x="713232" y="3785616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answer different questions and provide complementary context.</a:t>
            </a:r>
            <a:endParaRPr sz="85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noGrp="1"/>
          </p:cNvSpPr>
          <p:nvPr/>
        </p:nvSpPr>
        <p:spPr>
          <a:xfrm>
            <a:off x="438912" y="422452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noGrp="1"/>
          </p:cNvSpPr>
          <p:nvPr/>
        </p:nvSpPr>
        <p:spPr>
          <a:xfrm>
            <a:off x="713232" y="4187952"/>
            <a:ext cx="361188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Shortlist only after comparing them.</a:t>
            </a:r>
            <a:endParaRPr sz="85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noGrp="1"/>
          </p:cNvSpPr>
          <p:nvPr/>
        </p:nvSpPr>
        <p:spPr>
          <a:xfrm>
            <a:off x="4709160" y="129844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3 — VERIFY LOCALLY</a:t>
            </a:r>
            <a:endParaRPr sz="10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noGrp="1"/>
          </p:cNvSpPr>
          <p:nvPr/>
        </p:nvSpPr>
        <p:spPr>
          <a:xfrm>
            <a:off x="4873752" y="17556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Local evidence</a:t>
            </a:r>
            <a:endParaRPr sz="80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noGrp="1"/>
          </p:cNvSpPr>
          <p:nvPr/>
        </p:nvSpPr>
        <p:spPr>
          <a:xfrm>
            <a:off x="4873752" y="2093976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noGrp="1"/>
          </p:cNvSpPr>
          <p:nvPr/>
        </p:nvSpPr>
        <p:spPr>
          <a:xfrm>
            <a:off x="5111496" y="2048256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Review planning, access, insurance, terrain and site conditions.</a:t>
            </a:r>
            <a:endParaRPr sz="80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noGrp="1"/>
          </p:cNvSpPr>
          <p:nvPr/>
        </p:nvSpPr>
        <p:spPr>
          <a:xfrm>
            <a:off x="4873752" y="2441448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noGrp="1"/>
          </p:cNvSpPr>
          <p:nvPr/>
        </p:nvSpPr>
        <p:spPr>
          <a:xfrm>
            <a:off x="5111496" y="2395728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property-specific evidence before deciding.</a:t>
            </a:r>
            <a:endParaRPr sz="80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noGrp="1"/>
          </p:cNvSpPr>
          <p:nvPr/>
        </p:nvSpPr>
        <p:spPr>
          <a:xfrm>
            <a:off x="4873752" y="2788920"/>
            <a:ext cx="164592" cy="1645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noGrp="1"/>
          </p:cNvSpPr>
          <p:nvPr/>
        </p:nvSpPr>
        <p:spPr>
          <a:xfrm>
            <a:off x="5111496" y="2743200"/>
            <a:ext cx="3648456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model directs research effort; it does not replace local investigation.</a:t>
            </a:r>
            <a:endParaRPr sz="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noGrp="1"/>
          </p:cNvSpPr>
          <p:nvPr/>
        </p:nvSpPr>
        <p:spPr>
          <a:xfrm>
            <a:off x="4873752" y="3127248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 sz="80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noGrp="1"/>
          </p:cNvSpPr>
          <p:nvPr/>
        </p:nvSpPr>
        <p:spPr>
          <a:xfrm>
            <a:off x="4873752" y="34015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KEY MESSAGE</a:t>
            </a:r>
            <a:endParaRPr sz="75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noGrp="1"/>
          </p:cNvSpPr>
          <p:nvPr/>
        </p:nvSpPr>
        <p:spPr>
          <a:xfrm>
            <a:off x="4873752" y="36301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Compare layers.</a:t>
            </a:r>
            <a:endParaRPr sz="75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noGrp="1"/>
          </p:cNvSpPr>
          <p:nvPr/>
        </p:nvSpPr>
        <p:spPr>
          <a:xfrm>
            <a:off x="4873752" y="38587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Shortlist areas.</a:t>
            </a:r>
            <a:endParaRPr sz="75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noGrp="1"/>
          </p:cNvSpPr>
          <p:nvPr/>
        </p:nvSpPr>
        <p:spPr>
          <a:xfrm>
            <a:off x="4873752" y="40873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Verify locally.</a:t>
            </a:r>
            <a:endParaRPr sz="75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noGrp="1"/>
          </p:cNvSpPr>
          <p:nvPr/>
        </p:nvSpPr>
        <p:spPr>
          <a:xfrm>
            <a:off x="4873752" y="4315968"/>
            <a:ext cx="38862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Use evidence before deciding.</a:t>
            </a:r>
            <a:endParaRPr sz="75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noGrp="1"/>
          </p:cNvSpPr>
          <p:nvPr/>
        </p:nvSpPr>
        <p:spPr>
          <a:xfrm>
            <a:off x="274320" y="4663440"/>
            <a:ext cx="8595360" cy="29260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noGrp="1"/>
          </p:cNvSpPr>
          <p:nvPr/>
        </p:nvSpPr>
        <p:spPr>
          <a:xfrm>
            <a:off x="411480" y="4663440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Use the model to direct research effort, not to replace local investigation.</a:t>
            </a:r>
            <a:endParaRPr sz="85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55" name="hide-delivery-tips">
            <a:extLst>
              <a:ext uri="{FF2B5EF4-FFF2-40B4-BE49-F238E27FC236}">
                <a16:creationId xmlns:a16="http://schemas.microsoft.com/office/drawing/2014/main" id="{EB287470-0350-4395-9139-4FFB77AD54F0}"/>
              </a:ext>
            </a:extLst>
          </p:cNvPr>
          <p:cNvSpPr>
            <a:spLocks noGrp="1"/>
          </p:cNvSpPr>
          <p:nvPr/>
        </p:nvSpPr>
        <p:spPr>
          <a:xfrm>
            <a:off x="4733925" y="3133725"/>
            <a:ext cx="1333500" cy="2095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781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noGrp="1"/>
          </p:cNvSpPr>
          <p:nvPr/>
        </p:nvSpPr>
        <p:spPr>
          <a:xfrm>
            <a:off x="0" y="64008"/>
            <a:ext cx="9144000" cy="658368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noGrp="1"/>
          </p:cNvSpPr>
          <p:nvPr/>
        </p:nvSpPr>
        <p:spPr>
          <a:xfrm>
            <a:off x="274320" y="64008"/>
            <a:ext cx="731520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CONCLUSION AND NEXT STEP</a:t>
            </a:r>
            <a:endParaRPr sz="11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noGrp="1"/>
          </p:cNvSpPr>
          <p:nvPr/>
        </p:nvSpPr>
        <p:spPr>
          <a:xfrm>
            <a:off x="6858000" y="64008"/>
            <a:ext cx="2011680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8 / 8</a:t>
            </a:r>
            <a:endParaRPr sz="11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noGrp="1"/>
          </p:cNvSpPr>
          <p:nvPr/>
        </p:nvSpPr>
        <p:spPr>
          <a:xfrm>
            <a:off x="274320" y="804672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project narrows the search area and keeps evidence traceable</a:t>
            </a:r>
            <a:endParaRPr sz="16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B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solidFill>
            <a:srgbClr val="2E6DB4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noGrp="1"/>
          </p:cNvSpPr>
          <p:nvPr/>
        </p:nvSpPr>
        <p:spPr>
          <a:xfrm>
            <a:off x="274320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DELIVERED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noGrp="1"/>
          </p:cNvSpPr>
          <p:nvPr/>
        </p:nvSpPr>
        <p:spPr>
          <a:xfrm>
            <a:off x="365760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Reproducible national workflow</a:t>
            </a:r>
            <a:endParaRPr sz="8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noGrp="1"/>
          </p:cNvSpPr>
          <p:nvPr/>
        </p:nvSpPr>
        <p:spPr>
          <a:xfrm>
            <a:off x="365760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One 1 km grid, validated sources, a nine-feature model and QGIS layers.</a:t>
            </a:r>
            <a:endParaRPr sz="85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noGrp="1"/>
          </p:cNvSpPr>
          <p:nvPr/>
        </p:nvSpPr>
        <p:spPr>
          <a:xfrm>
            <a:off x="365760" y="2578608"/>
            <a:ext cx="2468880" cy="502920"/>
          </a:xfrm>
          <a:prstGeom prst="rect">
            <a:avLst/>
          </a:prstGeom>
          <a:solidFill>
            <a:srgbClr val="EBF0FD"/>
          </a:solidFill>
          <a:ln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noGrp="1"/>
          </p:cNvSpPr>
          <p:nvPr/>
        </p:nvSpPr>
        <p:spPr>
          <a:xfrm>
            <a:off x="411480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HISTORICAL + GIS CONTEXT</a:t>
            </a:r>
            <a:endParaRPr sz="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noGrp="1"/>
          </p:cNvSpPr>
          <p:nvPr/>
        </p:nvSpPr>
        <p:spPr>
          <a:xfrm>
            <a:off x="365760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Observed 2016–2025 recurrence + official ICNF structural-hazard reference.</a:t>
            </a:r>
            <a:endParaRPr sz="7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noGrp="1"/>
          </p:cNvSpPr>
          <p:nvPr/>
        </p:nvSpPr>
        <p:spPr>
          <a:xfrm>
            <a:off x="365760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Together they provide context for broad-area comparison.</a:t>
            </a:r>
            <a:endParaRPr sz="7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noGrp="1"/>
          </p:cNvSpPr>
          <p:nvPr/>
        </p:nvSpPr>
        <p:spPr>
          <a:xfrm>
            <a:off x="2962656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noGrp="1"/>
          </p:cNvSpPr>
          <p:nvPr/>
        </p:nvSpPr>
        <p:spPr>
          <a:xfrm>
            <a:off x="3310128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MODEL RESULT</a:t>
            </a:r>
            <a:endParaRPr sz="11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noGrp="1"/>
          </p:cNvSpPr>
          <p:nvPr/>
        </p:nvSpPr>
        <p:spPr>
          <a:xfrm>
            <a:off x="3401568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Modest improvement over the baseline</a:t>
            </a:r>
            <a:endParaRPr sz="8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noGrp="1"/>
          </p:cNvSpPr>
          <p:nvPr/>
        </p:nvSpPr>
        <p:spPr>
          <a:xfrm>
            <a:off x="3401568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nine-feature model improves selected diagnostics; extreme fire outcomes remain difficult.</a:t>
            </a:r>
            <a:endParaRPr sz="85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noGrp="1"/>
          </p:cNvSpPr>
          <p:nvPr/>
        </p:nvSpPr>
        <p:spPr>
          <a:xfrm>
            <a:off x="3401568" y="2578608"/>
            <a:ext cx="2468880" cy="502920"/>
          </a:xfrm>
          <a:prstGeom prst="rect">
            <a:avLst/>
          </a:prstGeom>
          <a:solidFill>
            <a:srgbClr val="FEF3E2"/>
          </a:solidFill>
          <a:ln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noGrp="1"/>
          </p:cNvSpPr>
          <p:nvPr/>
        </p:nvSpPr>
        <p:spPr>
          <a:xfrm>
            <a:off x="3447288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USE</a:t>
            </a:r>
            <a:endParaRPr sz="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noGrp="1"/>
          </p:cNvSpPr>
          <p:nvPr/>
        </p:nvSpPr>
        <p:spPr>
          <a:xfrm>
            <a:off x="3401568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Narrow broad search areas</a:t>
            </a:r>
            <a:endParaRPr sz="75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noGrp="1"/>
          </p:cNvSpPr>
          <p:nvPr/>
        </p:nvSpPr>
        <p:spPr>
          <a:xfrm>
            <a:off x="3401568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Use the maps to organise local research before detailed investigation.</a:t>
            </a:r>
            <a:endParaRPr sz="7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noGrp="1"/>
          </p:cNvSpPr>
          <p:nvPr/>
        </p:nvSpPr>
        <p:spPr>
          <a:xfrm>
            <a:off x="5998464" y="25603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solidFill>
            <a:srgbClr val="2A9D61"/>
          </a:solidFill>
          <a:ln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noGrp="1"/>
          </p:cNvSpPr>
          <p:nvPr/>
        </p:nvSpPr>
        <p:spPr>
          <a:xfrm>
            <a:off x="6345936" y="1371600"/>
            <a:ext cx="26517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NEXT PROJECT STEP</a:t>
            </a:r>
            <a:endParaRPr sz="11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noGrp="1"/>
          </p:cNvSpPr>
          <p:nvPr/>
        </p:nvSpPr>
        <p:spPr>
          <a:xfrm>
            <a:off x="6437376" y="1792224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Refresh and evaluate</a:t>
            </a:r>
            <a:endParaRPr sz="8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noGrp="1"/>
          </p:cNvSpPr>
          <p:nvPr/>
        </p:nvSpPr>
        <p:spPr>
          <a:xfrm>
            <a:off x="6437376" y="20482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When new completed-year data and the 2026 outcome are available, rerun the fixed workflow and evaluate the 2026 estimate.</a:t>
            </a:r>
            <a:endParaRPr sz="85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noGrp="1"/>
          </p:cNvSpPr>
          <p:nvPr/>
        </p:nvSpPr>
        <p:spPr>
          <a:xfrm>
            <a:off x="6437376" y="2578608"/>
            <a:ext cx="2468880" cy="502920"/>
          </a:xfrm>
          <a:prstGeom prst="rect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noGrp="1"/>
          </p:cNvSpPr>
          <p:nvPr/>
        </p:nvSpPr>
        <p:spPr>
          <a:xfrm>
            <a:off x="6483096" y="257860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RESULT</a:t>
            </a:r>
            <a:endParaRPr sz="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noGrp="1"/>
          </p:cNvSpPr>
          <p:nvPr/>
        </p:nvSpPr>
        <p:spPr>
          <a:xfrm>
            <a:off x="6437376" y="314553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A focused location search</a:t>
            </a:r>
            <a:endParaRPr sz="75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noGrp="1"/>
          </p:cNvSpPr>
          <p:nvPr/>
        </p:nvSpPr>
        <p:spPr>
          <a:xfrm>
            <a:off x="6437376" y="3675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Local planning, access, insurance, terrain and property evidence complete the decision.</a:t>
            </a:r>
            <a:endParaRPr sz="75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noGrp="1"/>
          </p:cNvSpPr>
          <p:nvPr/>
        </p:nvSpPr>
        <p:spPr>
          <a:xfrm>
            <a:off x="274320" y="4315968"/>
            <a:ext cx="8595360" cy="4572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noGrp="1"/>
          </p:cNvSpPr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model makes the first stage of location research more focused.</a:t>
            </a:r>
            <a:endParaRPr sz="85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noGrp="1"/>
          </p:cNvSpPr>
          <p:nvPr/>
        </p:nvSpPr>
        <p:spPr>
          <a:xfrm>
            <a:off x="0" y="4919472"/>
            <a:ext cx="9144000" cy="224028"/>
          </a:xfrm>
          <a:prstGeom prst="rect">
            <a:avLst/>
          </a:prstGeom>
          <a:solidFill>
            <a:srgbClr val="162B3D"/>
          </a:solidFill>
          <a:ln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noGrp="1"/>
          </p:cNvSpPr>
          <p:nvPr/>
        </p:nvSpPr>
        <p:spPr>
          <a:xfrm>
            <a:off x="274320" y="4919472"/>
            <a:ext cx="859536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2721</Words>
  <Application>Microsoft Office PowerPoint</Application>
  <DocSecurity>0</DocSecurity>
  <PresentationFormat>On-screen Show (16:9)</PresentationFormat>
  <Paragraphs>264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Sergey Dyadechko</cp:lastModifiedBy>
  <cp:revision>1</cp:revision>
  <dcterms:created xsi:type="dcterms:W3CDTF">2026-08-08T12:40:18Z</dcterms:created>
  <dcterms:modified xsi:type="dcterms:W3CDTF">2026-08-09T08:29:13Z</dcterms:modified>
</cp:coreProperties>
</file>