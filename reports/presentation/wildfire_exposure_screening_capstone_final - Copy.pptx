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70e59ba74ac4369" /><Relationship Type="http://schemas.openxmlformats.org/officeDocument/2006/relationships/extended-properties" Target="/docProps/app.xml" Id="R5c3f58e618c44e5b" /><Relationship Type="http://schemas.openxmlformats.org/officeDocument/2006/relationships/officeDocument" Target="/ppt/presentation.xml" Id="R20f68c21a93b45c1" /></Relationships>
</file>

<file path=ppt/presentation.xml><?xml version="1.0" encoding="utf-8"?>
<p:presentation xmlns:p="http://schemas.openxmlformats.org/presentationml/2006/main">
  <p:sldMasterIdLst>
    <p:sldMasterId xmlns:r="http://schemas.openxmlformats.org/officeDocument/2006/relationships" id="2147483648" r:id="R5e2cdf8e0a4e4e0a"/>
  </p:sldMasterIdLst>
  <p:notesMasterIdLst>
    <p:notesMasterId xmlns:r="http://schemas.openxmlformats.org/officeDocument/2006/relationships" r:id="Rc4c696bf1f7c43bc"/>
  </p:notesMasterIdLst>
  <p:sldIdLst>
    <p:sldId xmlns:r="http://schemas.openxmlformats.org/officeDocument/2006/relationships" id="256" r:id="R63491f988e1e4a09"/>
    <p:sldId xmlns:r="http://schemas.openxmlformats.org/officeDocument/2006/relationships" id="257" r:id="R536df6b91de24503"/>
    <p:sldId xmlns:r="http://schemas.openxmlformats.org/officeDocument/2006/relationships" id="258" r:id="Rc8ac15a79fcf4e84"/>
    <p:sldId xmlns:r="http://schemas.openxmlformats.org/officeDocument/2006/relationships" id="259" r:id="Rcbbd0376b6db407c"/>
    <p:sldId xmlns:r="http://schemas.openxmlformats.org/officeDocument/2006/relationships" id="260" r:id="R93344a6a50964ab8"/>
    <p:sldId xmlns:r="http://schemas.openxmlformats.org/officeDocument/2006/relationships" id="261" r:id="Rbaa19514501b4ee1"/>
    <p:sldId xmlns:r="http://schemas.openxmlformats.org/officeDocument/2006/relationships" id="262" r:id="R813333b08d20420a"/>
    <p:sldId xmlns:r="http://schemas.openxmlformats.org/officeDocument/2006/relationships" id="263" r:id="R7014015e21564f41"/>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bf4847f0b568412f" /><Relationship Type="http://schemas.openxmlformats.org/officeDocument/2006/relationships/slideMaster" Target="/ppt/slideMasters/slideMaster1.xml" Id="R5e2cdf8e0a4e4e0a" /><Relationship Type="http://schemas.openxmlformats.org/officeDocument/2006/relationships/notesMaster" Target="/ppt/notesMasters/notesMaster1.xml" Id="Rc4c696bf1f7c43bc" /><Relationship Type="http://schemas.openxmlformats.org/officeDocument/2006/relationships/presProps" Target="/ppt/presProps.xml" Id="R41de6dfdbd41440d" /><Relationship Type="http://schemas.openxmlformats.org/officeDocument/2006/relationships/viewProps" Target="/ppt/viewProps.xml" Id="R17f836153e5a49dc" /><Relationship Type="http://schemas.openxmlformats.org/officeDocument/2006/relationships/tableStyles" Target="/ppt/tableStyles.xml" Id="R7148fa68dbd44557" /><Relationship Type="http://schemas.openxmlformats.org/officeDocument/2006/relationships/slide" Target="/ppt/slides/slide1.xml" Id="R63491f988e1e4a09" /><Relationship Type="http://schemas.openxmlformats.org/officeDocument/2006/relationships/slide" Target="/ppt/slides/slide2.xml" Id="R536df6b91de24503" /><Relationship Type="http://schemas.openxmlformats.org/officeDocument/2006/relationships/slide" Target="/ppt/slides/slide3.xml" Id="Rc8ac15a79fcf4e84" /><Relationship Type="http://schemas.openxmlformats.org/officeDocument/2006/relationships/slide" Target="/ppt/slides/slide4.xml" Id="Rcbbd0376b6db407c" /><Relationship Type="http://schemas.openxmlformats.org/officeDocument/2006/relationships/slide" Target="/ppt/slides/slide5.xml" Id="R93344a6a50964ab8" /><Relationship Type="http://schemas.openxmlformats.org/officeDocument/2006/relationships/slide" Target="/ppt/slides/slide6.xml" Id="Rbaa19514501b4ee1" /><Relationship Type="http://schemas.openxmlformats.org/officeDocument/2006/relationships/slide" Target="/ppt/slides/slide7.xml" Id="R813333b08d20420a" /><Relationship Type="http://schemas.openxmlformats.org/officeDocument/2006/relationships/slide" Target="/ppt/slides/slide8.xml" Id="R7014015e21564f4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d94c49dee514ce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72925662c0c48c6" /><Relationship Type="http://schemas.openxmlformats.org/officeDocument/2006/relationships/notesMaster" Target="/ppt/notesMasters/notesMaster1.xml" Id="R32448078aecd4443" /></Relationships>
</file>

<file path=ppt/notesSlides/_rels/notesSlide2.xml.rels>&#65279;<?xml version="1.0" encoding="utf-8"?><Relationships xmlns="http://schemas.openxmlformats.org/package/2006/relationships"><Relationship Type="http://schemas.openxmlformats.org/officeDocument/2006/relationships/slide" Target="/ppt/slides/slide2.xml" Id="Rd88c5668901d483e" /><Relationship Type="http://schemas.openxmlformats.org/officeDocument/2006/relationships/notesMaster" Target="/ppt/notesMasters/notesMaster1.xml" Id="Rf5ef5391a2c64dbe" /></Relationships>
</file>

<file path=ppt/notesSlides/_rels/notesSlide3.xml.rels>&#65279;<?xml version="1.0" encoding="utf-8"?><Relationships xmlns="http://schemas.openxmlformats.org/package/2006/relationships"><Relationship Type="http://schemas.openxmlformats.org/officeDocument/2006/relationships/slide" Target="/ppt/slides/slide3.xml" Id="R8be4568974224df6" /><Relationship Type="http://schemas.openxmlformats.org/officeDocument/2006/relationships/notesMaster" Target="/ppt/notesMasters/notesMaster1.xml" Id="Ra08baa5168984c90" /></Relationships>
</file>

<file path=ppt/notesSlides/_rels/notesSlide4.xml.rels>&#65279;<?xml version="1.0" encoding="utf-8"?><Relationships xmlns="http://schemas.openxmlformats.org/package/2006/relationships"><Relationship Type="http://schemas.openxmlformats.org/officeDocument/2006/relationships/slide" Target="/ppt/slides/slide4.xml" Id="R428a7a7a71b2420c" /><Relationship Type="http://schemas.openxmlformats.org/officeDocument/2006/relationships/notesMaster" Target="/ppt/notesMasters/notesMaster1.xml" Id="Ra3ff4dec5aec488a" /></Relationships>
</file>

<file path=ppt/notesSlides/_rels/notesSlide5.xml.rels>&#65279;<?xml version="1.0" encoding="utf-8"?><Relationships xmlns="http://schemas.openxmlformats.org/package/2006/relationships"><Relationship Type="http://schemas.openxmlformats.org/officeDocument/2006/relationships/slide" Target="/ppt/slides/slide5.xml" Id="R3eec053885c9434c" /><Relationship Type="http://schemas.openxmlformats.org/officeDocument/2006/relationships/notesMaster" Target="/ppt/notesMasters/notesMaster1.xml" Id="R1e232831b37d4e9a" /></Relationships>
</file>

<file path=ppt/notesSlides/_rels/notesSlide6.xml.rels>&#65279;<?xml version="1.0" encoding="utf-8"?><Relationships xmlns="http://schemas.openxmlformats.org/package/2006/relationships"><Relationship Type="http://schemas.openxmlformats.org/officeDocument/2006/relationships/slide" Target="/ppt/slides/slide6.xml" Id="Rc6a9b941442d4fe0" /><Relationship Type="http://schemas.openxmlformats.org/officeDocument/2006/relationships/notesMaster" Target="/ppt/notesMasters/notesMaster1.xml" Id="R039f5966c0dd4331" /></Relationships>
</file>

<file path=ppt/notesSlides/_rels/notesSlide7.xml.rels>&#65279;<?xml version="1.0" encoding="utf-8"?><Relationships xmlns="http://schemas.openxmlformats.org/package/2006/relationships"><Relationship Type="http://schemas.openxmlformats.org/officeDocument/2006/relationships/slide" Target="/ppt/slides/slide7.xml" Id="Rabf10fafadfd44eb" /><Relationship Type="http://schemas.openxmlformats.org/officeDocument/2006/relationships/notesMaster" Target="/ppt/notesMasters/notesMaster1.xml" Id="Rbb20806636f14cc0" /></Relationships>
</file>

<file path=ppt/notesSlides/_rels/notesSlide8.xml.rels>&#65279;<?xml version="1.0" encoding="utf-8"?><Relationships xmlns="http://schemas.openxmlformats.org/package/2006/relationships"><Relationship Type="http://schemas.openxmlformats.org/officeDocument/2006/relationships/slide" Target="/ppt/slides/slide8.xml" Id="R27740db45bbc4f39" /><Relationship Type="http://schemas.openxmlformats.org/officeDocument/2006/relationships/notesMaster" Target="/ppt/notesMasters/notesMaster1.xml" Id="R41ca0ee8f439456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decision problem. A person may need to compare broad parts of mainland Portugal before spending time on municipal, site and property-specific checks. The project offers comparative evidence, not a property recommendation.</a:t>
            </a:r>
            <a:endParaRPr/>
          </a:p>
          <a:p xmlns:a="http://schemas.openxmlformats.org/drawingml/2006/main">
            <a:r>
              <a:t/>
            </a:r>
            <a:endParaRPr/>
          </a:p>
          <a:p xmlns:a="http://schemas.openxmlformats.org/drawingml/2006/main">
            <a:r>
              <a:t>[Sources]</a:t>
            </a:r>
            <a:endParaRPr/>
          </a:p>
          <a:p xmlns:a="http://schemas.openxmlformats.org/drawingml/2006/main">
            <a:r>
              <a:t>Project README; docs/project_brief.md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what one row represents: a mainland Portugal 1 km cell in a predictor year. Explain the three source roles. The 2 km buffer is a context measurement, not a second grid.</a:t>
            </a:r>
            <a:endParaRPr/>
          </a:p>
          <a:p xmlns:a="http://schemas.openxmlformats.org/drawingml/2006/main">
            <a:r>
              <a:t/>
            </a:r>
            <a:endParaRPr/>
          </a:p>
          <a:p xmlns:a="http://schemas.openxmlformats.org/drawingml/2006/main">
            <a:r>
              <a:t>[Sources]</a:t>
            </a:r>
            <a:endParaRPr/>
          </a:p>
          <a:p xmlns:a="http://schemas.openxmlformats.org/drawingml/2006/main">
            <a:r>
              <a:t>docs/data_dictionary.md; reports/validation/canonical_full_scope_readiness.md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observed historical evidence, not a prediction. The bands count distinct burned years from 2016 to 2025 in the mainland-masked 2 km context around each 1 km cell. Lower historical exposure does not mean safe.</a:t>
            </a:r>
            <a:endParaRPr/>
          </a:p>
          <a:p xmlns:a="http://schemas.openxmlformats.org/drawingml/2006/main">
            <a:r>
              <a:t/>
            </a:r>
            <a:endParaRPr/>
          </a:p>
          <a:p xmlns:a="http://schemas.openxmlformats.org/drawingml/2006/main">
            <a:r>
              <a:t>[Sources]</a:t>
            </a:r>
            <a:endParaRPr/>
          </a:p>
          <a:p xmlns:a="http://schemas.openxmlformats.org/drawingml/2006/main">
            <a:r>
              <a:t>reports/figures/historical_wildfire_exposure_screening_mainland_portugal.png; reports/validation/historical_exposure_screening_and_icnf_comparison.md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distinction carefully. Historical recurrence records how often cells burned in the 2016–2025 evidence window, using a 2 km context. Structural hazard is an official ICNF classification of persistent landscape hazard conditions, aggregated from 25 m classes to the predominant 1 km class. The comparison is descriptive context, not a model accuracy test.</a:t>
            </a:r>
            <a:endParaRPr/>
          </a:p>
          <a:p xmlns:a="http://schemas.openxmlformats.org/drawingml/2006/main">
            <a:r>
              <a:t/>
            </a:r>
            <a:endParaRPr/>
          </a:p>
          <a:p xmlns:a="http://schemas.openxmlformats.org/drawingml/2006/main">
            <a:r>
              <a:t>[Sources]</a:t>
            </a:r>
            <a:endParaRPr/>
          </a:p>
          <a:p xmlns:a="http://schemas.openxmlformats.org/drawingml/2006/main">
            <a:r>
              <a:t>qgis/README.md; docs/data_dictionary.md; reports/figures/historical_exposure_by_icnf_structural_hazard_crosstab.png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transparent historical recurrence baseline and the nine-feature hurdle model. The baseline maps prior recurrence to expected next-year burned share. The hurdle model uses a first component for whether burning occurs and a second component for positive burned share. The table reports the frozen final temporal comparison. Capture@20% asks how much observed burned share lies among the 20% highest-ranked cells; it is only a technical ranking diagnostic.</a:t>
            </a:r>
            <a:endParaRPr/>
          </a:p>
          <a:p xmlns:a="http://schemas.openxmlformats.org/drawingml/2006/main">
            <a:r>
              <a:t/>
            </a:r>
            <a:endParaRPr/>
          </a:p>
          <a:p xmlns:a="http://schemas.openxmlformats.org/drawingml/2006/main">
            <a:r>
              <a:t>[Sources]</a:t>
            </a:r>
            <a:endParaRPr/>
          </a:p>
          <a:p xmlns:a="http://schemas.openxmlformats.org/drawingml/2006/main">
            <a:r>
              <a:t>reports/validation/model_final_decision.md; reports/figures/model_final_test_metric_comparison.png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 simple scenario: a prospective buyer is considering several broad areas in mainland Portugal. Start with the 2026 comparative estimate, which ranks 1 km cells using 2025 predictor inputs. Then read the historical recurrence and official ICNF structural-hazard layers alongside it; these are separate evidence layers, not one combined score. The practical output is a shorter list of broad areas to visit and investigate first. Local planning, access, insurance, terrain and property-specific evidence still complete the decision.</a:t>
            </a:r>
            <a:endParaRPr/>
          </a:p>
          <a:p xmlns:a="http://schemas.openxmlformats.org/drawingml/2006/main">
            <a:r>
              <a:t/>
            </a:r>
            <a:endParaRPr/>
          </a:p>
          <a:p xmlns:a="http://schemas.openxmlformats.org/drawingml/2006/main">
            <a:r>
              <a:t>[Sources]</a:t>
            </a:r>
            <a:endParaRPr/>
          </a:p>
          <a:p xmlns:a="http://schemas.openxmlformats.org/drawingml/2006/main">
            <a:r>
              <a:t>qgis/wildfire_exposure_screening_portugal_2026.qgz; qgis/README.md; reports/validation/operational_forecast_2026_validation.md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narrows the broad search area, then hands the decision to local investigation. Read the three layers together, keep their source roles distinct, and retain traceability when the annual update is run.</a:t>
            </a:r>
            <a:endParaRPr/>
          </a:p>
          <a:p xmlns:a="http://schemas.openxmlformats.org/drawingml/2006/main">
            <a:r>
              <a:t/>
            </a:r>
            <a:endParaRPr/>
          </a:p>
          <a:p xmlns:a="http://schemas.openxmlformats.org/drawingml/2006/main">
            <a:r>
              <a:t>[Sources]</a:t>
            </a:r>
            <a:endParaRPr/>
          </a:p>
          <a:p xmlns:a="http://schemas.openxmlformats.org/drawingml/2006/main">
            <a:r>
              <a:t>README.md; docs/operational_forecast_cycle.md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repeatable project cycle: refresh completed-year inputs, rebuild the target-free estimate, use the maps to narrow broad areas, and evaluate the estimate when the observed outcome becomes available. The project’s practical result is a focused search area and a traceable evidence workflow.</a:t>
            </a:r>
            <a:endParaRPr/>
          </a:p>
          <a:p xmlns:a="http://schemas.openxmlformats.org/drawingml/2006/main">
            <a:r>
              <a:t/>
            </a:r>
            <a:endParaRPr/>
          </a:p>
          <a:p xmlns:a="http://schemas.openxmlformats.org/drawingml/2006/main">
            <a:r>
              <a:t>[Sources]</a:t>
            </a:r>
            <a:endParaRPr/>
          </a:p>
          <a:p xmlns:a="http://schemas.openxmlformats.org/drawingml/2006/main">
            <a:r>
              <a:t>README.md; reports/validation/model_final_decision.md; reports/validation/operational_forecast_readiness.md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bde9f9a851045fc"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b8b54375c5d421b" /><Relationship Type="http://schemas.openxmlformats.org/officeDocument/2006/relationships/slideLayout" Target="/ppt/slideLayouts/slideLayout1.xml" Id="R71d062de0ce64d9a"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1d062de0ce64d9a"/>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ebd6ece99104969" /><Relationship Type="http://schemas.openxmlformats.org/officeDocument/2006/relationships/notesSlide" Target="/ppt/notesSlides/notesSlide1.xml" Id="R8f5925b2cf66458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0f5b84ddb614ab8" /><Relationship Type="http://schemas.openxmlformats.org/officeDocument/2006/relationships/notesSlide" Target="/ppt/notesSlides/notesSlide2.xml" Id="R36297eee3324498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864e69178904fef" /><Relationship Type="http://schemas.openxmlformats.org/officeDocument/2006/relationships/image" Target="/ppt/media/image.png" Id="Rdf3b21fa64314acd" /><Relationship Type="http://schemas.openxmlformats.org/officeDocument/2006/relationships/notesSlide" Target="/ppt/notesSlides/notesSlide3.xml" Id="R2614fb0b3ea34ea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627b0c50eb742e0" /><Relationship Type="http://schemas.openxmlformats.org/officeDocument/2006/relationships/notesSlide" Target="/ppt/notesSlides/notesSlide4.xml" Id="R86eb02a5e631485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edc9dc394374822" /><Relationship Type="http://schemas.openxmlformats.org/officeDocument/2006/relationships/notesSlide" Target="/ppt/notesSlides/notesSlide5.xml" Id="Re77811f3bd5246a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1f98f6e0bc34d14" /><Relationship Type="http://schemas.openxmlformats.org/officeDocument/2006/relationships/notesSlide" Target="/ppt/notesSlides/notesSlide6.xml" Id="Raa3204ee6e70485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0285c2ec97f48aa" /><Relationship Type="http://schemas.openxmlformats.org/officeDocument/2006/relationships/notesSlide" Target="/ppt/notesSlides/notesSlide7.xml" Id="Rbe9f82d1936a4d6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f209e34518e4d31" /><Relationship Type="http://schemas.openxmlformats.org/officeDocument/2006/relationships/notesSlide" Target="/ppt/notesSlides/notesSlide8.xml" Id="R334ec76c590d4459"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261822D-4578-481F-87F9-4665CDB0AA90}"/>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0D1F2D"/>
          </a:solidFill>
          <a:ln xmlns:a="http://schemas.openxmlformats.org/drawingml/2006/main" w="12700">
            <a:solidFill>
              <a:srgbClr val="0D1F2D"/>
            </a:solidFill>
            <a:prstDash val="solid"/>
          </a:ln>
        </p:spPr>
      </p:sp>
      <p:sp>
        <p:nvSpPr>
          <p:cNvPr id="3" name="Shape 1">
            <a:extLst xmlns:a="http://schemas.openxmlformats.org/drawingml/2006/main">
              <a:ext uri="{FF2B5EF4-FFF2-40B4-BE49-F238E27FC236}">
                <a16:creationId xmlns:a16="http://schemas.microsoft.com/office/drawing/2014/main" id="{17C98984-AAC0-4845-8E7D-D44BA0BB2436}"/>
              </a:ext>
            </a:extLst>
          </p:cNvPr>
          <p:cNvSpPr>
            <a:spLocks xmlns:a="http://schemas.openxmlformats.org/drawingml/2006/main" noGrp="1"/>
          </p:cNvSpPr>
          <p:nvPr/>
        </p:nvSpPr>
        <p:spPr>
          <a:xfrm xmlns:a="http://schemas.openxmlformats.org/drawingml/2006/main">
            <a:off x="0" y="0"/>
            <a:ext cx="228600" cy="5143500"/>
          </a:xfrm>
          <a:prstGeom xmlns:a="http://schemas.openxmlformats.org/drawingml/2006/main" prst="rect">
            <a:avLst/>
          </a:prstGeom>
          <a:solidFill xmlns:a="http://schemas.openxmlformats.org/drawingml/2006/main">
            <a:srgbClr val="E8A020"/>
          </a:solidFill>
          <a:ln xmlns:a="http://schemas.openxmlformats.org/drawingml/2006/main" w="12700">
            <a:solidFill>
              <a:srgbClr val="E8A020"/>
            </a:solidFill>
            <a:prstDash val="solid"/>
          </a:ln>
        </p:spPr>
      </p:sp>
      <p:sp>
        <p:nvSpPr>
          <p:cNvPr id="4" name="Shape 2">
            <a:extLst xmlns:a="http://schemas.openxmlformats.org/drawingml/2006/main">
              <a:ext uri="{FF2B5EF4-FFF2-40B4-BE49-F238E27FC236}">
                <a16:creationId xmlns:a16="http://schemas.microsoft.com/office/drawing/2014/main" id="{E07502B4-7B66-4848-BBC8-24A1D40972F5}"/>
              </a:ext>
            </a:extLst>
          </p:cNvPr>
          <p:cNvSpPr>
            <a:spLocks xmlns:a="http://schemas.openxmlformats.org/drawingml/2006/main" noGrp="1"/>
          </p:cNvSpPr>
          <p:nvPr/>
        </p:nvSpPr>
        <p:spPr>
          <a:xfrm xmlns:a="http://schemas.openxmlformats.org/drawingml/2006/main">
            <a:off x="0" y="0"/>
            <a:ext cx="9144000" cy="64008"/>
          </a:xfrm>
          <a:prstGeom xmlns:a="http://schemas.openxmlformats.org/drawingml/2006/main" prst="rect">
            <a:avLst/>
          </a:prstGeom>
          <a:solidFill xmlns:a="http://schemas.openxmlformats.org/drawingml/2006/main">
            <a:srgbClr val="E8A020"/>
          </a:solidFill>
          <a:ln xmlns:a="http://schemas.openxmlformats.org/drawingml/2006/main" w="12700">
            <a:solidFill>
              <a:srgbClr val="E8A020"/>
            </a:solidFill>
            <a:prstDash val="solid"/>
          </a:ln>
        </p:spPr>
      </p:sp>
      <p:sp>
        <p:nvSpPr>
          <p:cNvPr id="5" name="Shape 3">
            <a:extLst xmlns:a="http://schemas.openxmlformats.org/drawingml/2006/main">
              <a:ext uri="{FF2B5EF4-FFF2-40B4-BE49-F238E27FC236}">
                <a16:creationId xmlns:a16="http://schemas.microsoft.com/office/drawing/2014/main" id="{3098EF88-3873-4928-927E-8115B41BD56A}"/>
              </a:ext>
            </a:extLst>
          </p:cNvPr>
          <p:cNvSpPr>
            <a:spLocks xmlns:a="http://schemas.openxmlformats.org/drawingml/2006/main" noGrp="1"/>
          </p:cNvSpPr>
          <p:nvPr/>
        </p:nvSpPr>
        <p:spPr>
          <a:xfrm xmlns:a="http://schemas.openxmlformats.org/drawingml/2006/main">
            <a:off x="320040" y="137160"/>
            <a:ext cx="1417320" cy="292608"/>
          </a:xfrm>
          <a:prstGeom xmlns:a="http://schemas.openxmlformats.org/drawingml/2006/main" prst="rect">
            <a:avLst/>
          </a:prstGeom>
          <a:solidFill xmlns:a="http://schemas.openxmlformats.org/drawingml/2006/main">
            <a:srgbClr val="1E3A50"/>
          </a:solidFill>
          <a:ln xmlns:a="http://schemas.openxmlformats.org/drawingml/2006/main" w="12700">
            <a:solidFill>
              <a:srgbClr val="1E3A50"/>
            </a:solidFill>
            <a:prstDash val="solid"/>
          </a:ln>
        </p:spPr>
      </p:sp>
      <p:sp>
        <p:nvSpPr>
          <p:cNvPr id="6" name="Text 4">
            <a:extLst xmlns:a="http://schemas.openxmlformats.org/drawingml/2006/main">
              <a:ext uri="{FF2B5EF4-FFF2-40B4-BE49-F238E27FC236}">
                <a16:creationId xmlns:a16="http://schemas.microsoft.com/office/drawing/2014/main" id="{92109C21-472F-42D3-A17F-B1B0B114C963}"/>
              </a:ext>
            </a:extLst>
          </p:cNvPr>
          <p:cNvSpPr>
            <a:spLocks xmlns:a="http://schemas.openxmlformats.org/drawingml/2006/main" noGrp="1"/>
          </p:cNvSpPr>
          <p:nvPr/>
        </p:nvSpPr>
        <p:spPr>
          <a:xfrm xmlns:a="http://schemas.openxmlformats.org/drawingml/2006/main">
            <a:off x="320040" y="137160"/>
            <a:ext cx="14173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750">
                <a:solidFill>
                  <a:srgbClr val="E1E8EF"/>
                </a:solidFill>
              </a:rPr>
              <a:t>DATA SCIENCE &amp; ML CAPSTONE</a:t>
            </a:r>
            <a:endParaRPr sz="750"/>
          </a:p>
        </p:txBody>
      </p:sp>
      <p:sp>
        <p:nvSpPr>
          <p:cNvPr id="7" name="Shape 5">
            <a:extLst xmlns:a="http://schemas.openxmlformats.org/drawingml/2006/main">
              <a:ext uri="{FF2B5EF4-FFF2-40B4-BE49-F238E27FC236}">
                <a16:creationId xmlns:a16="http://schemas.microsoft.com/office/drawing/2014/main" id="{C4A43634-1CB0-4994-88ED-0241FD70B912}"/>
              </a:ext>
            </a:extLst>
          </p:cNvPr>
          <p:cNvSpPr>
            <a:spLocks xmlns:a="http://schemas.openxmlformats.org/drawingml/2006/main" noGrp="1"/>
          </p:cNvSpPr>
          <p:nvPr/>
        </p:nvSpPr>
        <p:spPr>
          <a:xfrm xmlns:a="http://schemas.openxmlformats.org/drawingml/2006/main">
            <a:off x="7498080" y="137160"/>
            <a:ext cx="1417320" cy="292608"/>
          </a:xfrm>
          <a:prstGeom xmlns:a="http://schemas.openxmlformats.org/drawingml/2006/main" prst="rect">
            <a:avLst/>
          </a:prstGeom>
          <a:solidFill xmlns:a="http://schemas.openxmlformats.org/drawingml/2006/main">
            <a:srgbClr val="E8A020"/>
          </a:solidFill>
          <a:ln xmlns:a="http://schemas.openxmlformats.org/drawingml/2006/main" w="12700">
            <a:solidFill>
              <a:srgbClr val="E8A020"/>
            </a:solidFill>
            <a:prstDash val="solid"/>
          </a:ln>
        </p:spPr>
      </p:sp>
      <p:sp>
        <p:nvSpPr>
          <p:cNvPr id="8" name="Text 6">
            <a:extLst xmlns:a="http://schemas.openxmlformats.org/drawingml/2006/main">
              <a:ext uri="{FF2B5EF4-FFF2-40B4-BE49-F238E27FC236}">
                <a16:creationId xmlns:a16="http://schemas.microsoft.com/office/drawing/2014/main" id="{964A207C-AC70-4572-930C-439FA923718A}"/>
              </a:ext>
            </a:extLst>
          </p:cNvPr>
          <p:cNvSpPr>
            <a:spLocks xmlns:a="http://schemas.openxmlformats.org/drawingml/2006/main" noGrp="1"/>
          </p:cNvSpPr>
          <p:nvPr/>
        </p:nvSpPr>
        <p:spPr>
          <a:xfrm xmlns:a="http://schemas.openxmlformats.org/drawingml/2006/main">
            <a:off x="7498080" y="137160"/>
            <a:ext cx="14173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750" b="1">
                <a:solidFill>
                  <a:srgbClr val="0D1F2D"/>
                </a:solidFill>
              </a:rPr>
              <a:t>2026</a:t>
            </a:r>
            <a:endParaRPr sz="750"/>
          </a:p>
        </p:txBody>
      </p:sp>
      <p:sp>
        <p:nvSpPr>
          <p:cNvPr id="9" name="Text 7">
            <a:extLst xmlns:a="http://schemas.openxmlformats.org/drawingml/2006/main">
              <a:ext uri="{FF2B5EF4-FFF2-40B4-BE49-F238E27FC236}">
                <a16:creationId xmlns:a16="http://schemas.microsoft.com/office/drawing/2014/main" id="{10AAC529-8343-4E66-8809-CDF856659878}"/>
              </a:ext>
            </a:extLst>
          </p:cNvPr>
          <p:cNvSpPr>
            <a:spLocks xmlns:a="http://schemas.openxmlformats.org/drawingml/2006/main" noGrp="1"/>
          </p:cNvSpPr>
          <p:nvPr/>
        </p:nvSpPr>
        <p:spPr>
          <a:xfrm xmlns:a="http://schemas.openxmlformats.org/drawingml/2006/main">
            <a:off x="365760" y="566928"/>
            <a:ext cx="5486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E8A020"/>
                </a:solidFill>
              </a:rPr>
              <a:t>WILDFIRE EXPOSURE SCREENING</a:t>
            </a:r>
            <a:endParaRPr sz="1000"/>
          </a:p>
        </p:txBody>
      </p:sp>
      <p:sp>
        <p:nvSpPr>
          <p:cNvPr id="10" name="Text 8">
            <a:extLst xmlns:a="http://schemas.openxmlformats.org/drawingml/2006/main">
              <a:ext uri="{FF2B5EF4-FFF2-40B4-BE49-F238E27FC236}">
                <a16:creationId xmlns:a16="http://schemas.microsoft.com/office/drawing/2014/main" id="{C0CD8754-AC42-45DF-A7C8-F18DEEB89FF7}"/>
              </a:ext>
            </a:extLst>
          </p:cNvPr>
          <p:cNvSpPr>
            <a:spLocks xmlns:a="http://schemas.openxmlformats.org/drawingml/2006/main" noGrp="1"/>
          </p:cNvSpPr>
          <p:nvPr/>
        </p:nvSpPr>
        <p:spPr>
          <a:xfrm xmlns:a="http://schemas.openxmlformats.org/drawingml/2006/main">
            <a:off x="365760" y="914400"/>
            <a:ext cx="5577840"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5200" b="1">
                <a:solidFill>
                  <a:srgbClr val="FFFFFF"/>
                </a:solidFill>
              </a:rPr>
              <a:t>Wildfire Exposure</a:t>
            </a:r>
            <a:endParaRPr sz="5200"/>
          </a:p>
          <a:p xmlns:a="http://schemas.openxmlformats.org/drawingml/2006/main">
            <a:pPr marL="0" indent="0">
              <a:buNone/>
            </a:pPr>
            <a:r>
              <a:rPr sz="5200" b="1">
                <a:solidFill>
                  <a:srgbClr val="FFFFFF"/>
                </a:solidFill>
              </a:rPr>
              <a:t>Screening</a:t>
            </a:r>
            <a:endParaRPr sz="5200"/>
          </a:p>
        </p:txBody>
      </p:sp>
      <p:sp>
        <p:nvSpPr>
          <p:cNvPr id="11" name="Text 9">
            <a:extLst xmlns:a="http://schemas.openxmlformats.org/drawingml/2006/main">
              <a:ext uri="{FF2B5EF4-FFF2-40B4-BE49-F238E27FC236}">
                <a16:creationId xmlns:a16="http://schemas.microsoft.com/office/drawing/2014/main" id="{25E32464-A1C4-4D0B-AC94-952EF384B0FD}"/>
              </a:ext>
            </a:extLst>
          </p:cNvPr>
          <p:cNvSpPr>
            <a:spLocks xmlns:a="http://schemas.openxmlformats.org/drawingml/2006/main" noGrp="1"/>
          </p:cNvSpPr>
          <p:nvPr/>
        </p:nvSpPr>
        <p:spPr>
          <a:xfrm xmlns:a="http://schemas.openxmlformats.org/drawingml/2006/main">
            <a:off x="365760" y="2834640"/>
            <a:ext cx="55778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i="1">
                <a:solidFill>
                  <a:srgbClr val="A8C4D8"/>
                </a:solidFill>
              </a:rPr>
              <a:t>A reproducible GIS and machine-learning workflow for broad-area location research.</a:t>
            </a:r>
            <a:endParaRPr sz="1300"/>
          </a:p>
        </p:txBody>
      </p:sp>
      <p:sp>
        <p:nvSpPr>
          <p:cNvPr id="12" name="Shape 10">
            <a:extLst xmlns:a="http://schemas.openxmlformats.org/drawingml/2006/main">
              <a:ext uri="{FF2B5EF4-FFF2-40B4-BE49-F238E27FC236}">
                <a16:creationId xmlns:a16="http://schemas.microsoft.com/office/drawing/2014/main" id="{BA088A7F-8724-43F2-9478-03F62823D8FC}"/>
              </a:ext>
            </a:extLst>
          </p:cNvPr>
          <p:cNvSpPr>
            <a:spLocks xmlns:a="http://schemas.openxmlformats.org/drawingml/2006/main" noGrp="1"/>
          </p:cNvSpPr>
          <p:nvPr/>
        </p:nvSpPr>
        <p:spPr>
          <a:xfrm xmlns:a="http://schemas.openxmlformats.org/drawingml/2006/main">
            <a:off x="365760" y="3310128"/>
            <a:ext cx="5303520" cy="22860"/>
          </a:xfrm>
          <a:prstGeom xmlns:a="http://schemas.openxmlformats.org/drawingml/2006/main" prst="rect">
            <a:avLst/>
          </a:prstGeom>
          <a:solidFill xmlns:a="http://schemas.openxmlformats.org/drawingml/2006/main">
            <a:srgbClr val="E8A020"/>
          </a:solidFill>
          <a:ln xmlns:a="http://schemas.openxmlformats.org/drawingml/2006/main" w="12700">
            <a:solidFill>
              <a:srgbClr val="E8A020"/>
            </a:solidFill>
            <a:prstDash val="solid"/>
          </a:ln>
        </p:spPr>
      </p:sp>
      <p:sp>
        <p:nvSpPr>
          <p:cNvPr id="13" name="Text 11">
            <a:extLst xmlns:a="http://schemas.openxmlformats.org/drawingml/2006/main">
              <a:ext uri="{FF2B5EF4-FFF2-40B4-BE49-F238E27FC236}">
                <a16:creationId xmlns:a16="http://schemas.microsoft.com/office/drawing/2014/main" id="{079C33BE-79BB-423F-83BD-F16FC5DE38B4}"/>
              </a:ext>
            </a:extLst>
          </p:cNvPr>
          <p:cNvSpPr>
            <a:spLocks xmlns:a="http://schemas.openxmlformats.org/drawingml/2006/main" noGrp="1"/>
          </p:cNvSpPr>
          <p:nvPr/>
        </p:nvSpPr>
        <p:spPr>
          <a:xfrm xmlns:a="http://schemas.openxmlformats.org/drawingml/2006/main">
            <a:off x="365760" y="3383280"/>
            <a:ext cx="53035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E1E8EF"/>
                </a:solidFill>
              </a:rPr>
              <a:t>Serhii Diadechko</a:t>
            </a:r>
            <a:endParaRPr sz="1100"/>
          </a:p>
        </p:txBody>
      </p:sp>
      <p:sp>
        <p:nvSpPr>
          <p:cNvPr id="14" name="Shape 12">
            <a:extLst xmlns:a="http://schemas.openxmlformats.org/drawingml/2006/main">
              <a:ext uri="{FF2B5EF4-FFF2-40B4-BE49-F238E27FC236}">
                <a16:creationId xmlns:a16="http://schemas.microsoft.com/office/drawing/2014/main" id="{C8E31CD1-438D-4B3D-9D9C-F2377CAFF4FD}"/>
              </a:ext>
            </a:extLst>
          </p:cNvPr>
          <p:cNvSpPr>
            <a:spLocks xmlns:a="http://schemas.openxmlformats.org/drawingml/2006/main" noGrp="1"/>
          </p:cNvSpPr>
          <p:nvPr/>
        </p:nvSpPr>
        <p:spPr>
          <a:xfrm xmlns:a="http://schemas.openxmlformats.org/drawingml/2006/main">
            <a:off x="6080760" y="777240"/>
            <a:ext cx="2834640" cy="3931920"/>
          </a:xfrm>
          <a:prstGeom xmlns:a="http://schemas.openxmlformats.org/drawingml/2006/main" prst="rect">
            <a:avLst/>
          </a:prstGeom>
          <a:solidFill xmlns:a="http://schemas.openxmlformats.org/drawingml/2006/main">
            <a:srgbClr val="1E3A50"/>
          </a:solidFill>
          <a:ln xmlns:a="http://schemas.openxmlformats.org/drawingml/2006/main" w="12700">
            <a:solidFill>
              <a:srgbClr val="1E3A50"/>
            </a:solidFill>
            <a:prstDash val="solid"/>
          </a:ln>
        </p:spPr>
      </p:sp>
      <p:sp>
        <p:nvSpPr>
          <p:cNvPr id="15" name="Text 13">
            <a:extLst xmlns:a="http://schemas.openxmlformats.org/drawingml/2006/main">
              <a:ext uri="{FF2B5EF4-FFF2-40B4-BE49-F238E27FC236}">
                <a16:creationId xmlns:a16="http://schemas.microsoft.com/office/drawing/2014/main" id="{E6C4BB11-25B6-443C-B4D7-53F2F73BC767}"/>
              </a:ext>
            </a:extLst>
          </p:cNvPr>
          <p:cNvSpPr>
            <a:spLocks xmlns:a="http://schemas.openxmlformats.org/drawingml/2006/main" noGrp="1"/>
          </p:cNvSpPr>
          <p:nvPr/>
        </p:nvSpPr>
        <p:spPr>
          <a:xfrm xmlns:a="http://schemas.openxmlformats.org/drawingml/2006/main">
            <a:off x="6080760" y="822960"/>
            <a:ext cx="28346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E8A020"/>
                </a:solidFill>
              </a:rPr>
              <a:t>Purpose</a:t>
            </a:r>
            <a:endParaRPr sz="900"/>
          </a:p>
        </p:txBody>
      </p:sp>
      <p:sp>
        <p:nvSpPr>
          <p:cNvPr id="16" name="Shape 14">
            <a:extLst xmlns:a="http://schemas.openxmlformats.org/drawingml/2006/main">
              <a:ext uri="{FF2B5EF4-FFF2-40B4-BE49-F238E27FC236}">
                <a16:creationId xmlns:a16="http://schemas.microsoft.com/office/drawing/2014/main" id="{98AEF093-CAD3-408D-A164-DACD585B77F2}"/>
              </a:ext>
            </a:extLst>
          </p:cNvPr>
          <p:cNvSpPr>
            <a:spLocks xmlns:a="http://schemas.openxmlformats.org/drawingml/2006/main" noGrp="1"/>
          </p:cNvSpPr>
          <p:nvPr/>
        </p:nvSpPr>
        <p:spPr>
          <a:xfrm xmlns:a="http://schemas.openxmlformats.org/drawingml/2006/main">
            <a:off x="6217920" y="1170432"/>
            <a:ext cx="2560320" cy="22860"/>
          </a:xfrm>
          <a:prstGeom xmlns:a="http://schemas.openxmlformats.org/drawingml/2006/main" prst="rect">
            <a:avLst/>
          </a:prstGeom>
          <a:solidFill xmlns:a="http://schemas.openxmlformats.org/drawingml/2006/main">
            <a:srgbClr val="E8A020"/>
          </a:solidFill>
          <a:ln xmlns:a="http://schemas.openxmlformats.org/drawingml/2006/main" w="12700">
            <a:solidFill>
              <a:srgbClr val="E8A020"/>
            </a:solidFill>
            <a:prstDash val="solid"/>
          </a:ln>
        </p:spPr>
      </p:sp>
      <p:sp>
        <p:nvSpPr>
          <p:cNvPr id="17" name="Text 15">
            <a:extLst xmlns:a="http://schemas.openxmlformats.org/drawingml/2006/main">
              <a:ext uri="{FF2B5EF4-FFF2-40B4-BE49-F238E27FC236}">
                <a16:creationId xmlns:a16="http://schemas.microsoft.com/office/drawing/2014/main" id="{76ED4B9C-614D-4AA8-95B6-EE69D7CBA133}"/>
              </a:ext>
            </a:extLst>
          </p:cNvPr>
          <p:cNvSpPr>
            <a:spLocks xmlns:a="http://schemas.openxmlformats.org/drawingml/2006/main" noGrp="1"/>
          </p:cNvSpPr>
          <p:nvPr/>
        </p:nvSpPr>
        <p:spPr>
          <a:xfrm xmlns:a="http://schemas.openxmlformats.org/drawingml/2006/main">
            <a:off x="6217920" y="1261872"/>
            <a:ext cx="2560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E8A020"/>
                </a:solidFill>
              </a:rPr>
              <a:t>Observed history</a:t>
            </a:r>
            <a:endParaRPr sz="1050"/>
          </a:p>
        </p:txBody>
      </p:sp>
      <p:sp>
        <p:nvSpPr>
          <p:cNvPr id="18" name="Text 16">
            <a:extLst xmlns:a="http://schemas.openxmlformats.org/drawingml/2006/main">
              <a:ext uri="{FF2B5EF4-FFF2-40B4-BE49-F238E27FC236}">
                <a16:creationId xmlns:a16="http://schemas.microsoft.com/office/drawing/2014/main" id="{3786F527-9D79-45DD-8538-1D9E8823E2FE}"/>
              </a:ext>
            </a:extLst>
          </p:cNvPr>
          <p:cNvSpPr>
            <a:spLocks xmlns:a="http://schemas.openxmlformats.org/drawingml/2006/main" noGrp="1"/>
          </p:cNvSpPr>
          <p:nvPr/>
        </p:nvSpPr>
        <p:spPr>
          <a:xfrm xmlns:a="http://schemas.openxmlformats.org/drawingml/2006/main">
            <a:off x="6217920" y="1792224"/>
            <a:ext cx="2560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E8A020"/>
                </a:solidFill>
              </a:rPr>
              <a:t>Landscape, terrain and climate</a:t>
            </a:r>
            <a:endParaRPr sz="1050"/>
          </a:p>
        </p:txBody>
      </p:sp>
      <p:sp>
        <p:nvSpPr>
          <p:cNvPr id="19" name="Text 17">
            <a:extLst xmlns:a="http://schemas.openxmlformats.org/drawingml/2006/main">
              <a:ext uri="{FF2B5EF4-FFF2-40B4-BE49-F238E27FC236}">
                <a16:creationId xmlns:a16="http://schemas.microsoft.com/office/drawing/2014/main" id="{B737E5D3-D05C-498A-99E2-6808F3AFDE4C}"/>
              </a:ext>
            </a:extLst>
          </p:cNvPr>
          <p:cNvSpPr>
            <a:spLocks xmlns:a="http://schemas.openxmlformats.org/drawingml/2006/main" noGrp="1"/>
          </p:cNvSpPr>
          <p:nvPr/>
        </p:nvSpPr>
        <p:spPr>
          <a:xfrm xmlns:a="http://schemas.openxmlformats.org/drawingml/2006/main">
            <a:off x="6217920" y="2322576"/>
            <a:ext cx="2560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E8A020"/>
                </a:solidFill>
              </a:rPr>
              <a:t>Comparative 2026 estimate</a:t>
            </a:r>
            <a:endParaRPr sz="1050"/>
          </a:p>
        </p:txBody>
      </p:sp>
      <p:sp>
        <p:nvSpPr>
          <p:cNvPr id="20" name="Text 18">
            <a:extLst xmlns:a="http://schemas.openxmlformats.org/drawingml/2006/main">
              <a:ext uri="{FF2B5EF4-FFF2-40B4-BE49-F238E27FC236}">
                <a16:creationId xmlns:a16="http://schemas.microsoft.com/office/drawing/2014/main" id="{BF0B3D56-9FF7-4F97-9C8E-0E4C7C2C3D08}"/>
              </a:ext>
            </a:extLst>
          </p:cNvPr>
          <p:cNvSpPr>
            <a:spLocks xmlns:a="http://schemas.openxmlformats.org/drawingml/2006/main" noGrp="1"/>
          </p:cNvSpPr>
          <p:nvPr/>
        </p:nvSpPr>
        <p:spPr>
          <a:xfrm xmlns:a="http://schemas.openxmlformats.org/drawingml/2006/main">
            <a:off x="6217920" y="2852928"/>
            <a:ext cx="2560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E8A020"/>
                </a:solidFill>
              </a:rPr>
              <a:t>Narrow broad search areas</a:t>
            </a:r>
            <a:endParaRPr sz="1050"/>
          </a:p>
        </p:txBody>
      </p:sp>
      <p:sp>
        <p:nvSpPr>
          <p:cNvPr id="21" name="Text 19">
            <a:extLst xmlns:a="http://schemas.openxmlformats.org/drawingml/2006/main">
              <a:ext uri="{FF2B5EF4-FFF2-40B4-BE49-F238E27FC236}">
                <a16:creationId xmlns:a16="http://schemas.microsoft.com/office/drawing/2014/main" id="{7E6B6D66-B7F7-4748-9DA5-6949F743C883}"/>
              </a:ext>
            </a:extLst>
          </p:cNvPr>
          <p:cNvSpPr>
            <a:spLocks xmlns:a="http://schemas.openxmlformats.org/drawingml/2006/main" noGrp="1"/>
          </p:cNvSpPr>
          <p:nvPr/>
        </p:nvSpPr>
        <p:spPr>
          <a:xfrm xmlns:a="http://schemas.openxmlformats.org/drawingml/2006/main">
            <a:off x="6217920" y="3383280"/>
            <a:ext cx="256032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E8A020"/>
                </a:solidFill>
              </a:rPr>
              <a:t>Then continue with local evidence</a:t>
            </a:r>
            <a:endParaRPr sz="1050"/>
          </a:p>
        </p:txBody>
      </p:sp>
      <p:sp>
        <p:nvSpPr>
          <p:cNvPr id="22" name="Shape 20">
            <a:extLst xmlns:a="http://schemas.openxmlformats.org/drawingml/2006/main">
              <a:ext uri="{FF2B5EF4-FFF2-40B4-BE49-F238E27FC236}">
                <a16:creationId xmlns:a16="http://schemas.microsoft.com/office/drawing/2014/main" id="{09C7CF31-7300-4FEC-B833-22EA82DFBF47}"/>
              </a:ext>
            </a:extLst>
          </p:cNvPr>
          <p:cNvSpPr>
            <a:spLocks xmlns:a="http://schemas.openxmlformats.org/drawingml/2006/main" noGrp="1"/>
          </p:cNvSpPr>
          <p:nvPr/>
        </p:nvSpPr>
        <p:spPr>
          <a:xfrm xmlns:a="http://schemas.openxmlformats.org/drawingml/2006/main">
            <a:off x="0" y="4919472"/>
            <a:ext cx="9144000" cy="224028"/>
          </a:xfrm>
          <a:prstGeom xmlns:a="http://schemas.openxmlformats.org/drawingml/2006/main" prst="rect">
            <a:avLst/>
          </a:prstGeom>
          <a:solidFill xmlns:a="http://schemas.openxmlformats.org/drawingml/2006/main">
            <a:srgbClr val="162B3D"/>
          </a:solidFill>
          <a:ln xmlns:a="http://schemas.openxmlformats.org/drawingml/2006/main" w="12700">
            <a:solidFill>
              <a:srgbClr val="162B3D"/>
            </a:solidFill>
            <a:prstDash val="solid"/>
          </a:ln>
        </p:spPr>
      </p:sp>
      <p:sp>
        <p:nvSpPr>
          <p:cNvPr id="23" name="Text 21">
            <a:extLst xmlns:a="http://schemas.openxmlformats.org/drawingml/2006/main">
              <a:ext uri="{FF2B5EF4-FFF2-40B4-BE49-F238E27FC236}">
                <a16:creationId xmlns:a16="http://schemas.microsoft.com/office/drawing/2014/main" id="{9B377475-EFE6-44A2-9864-B41B5AD80579}"/>
              </a:ext>
            </a:extLst>
          </p:cNvPr>
          <p:cNvSpPr>
            <a:spLocks xmlns:a="http://schemas.openxmlformats.org/drawingml/2006/main" noGrp="1"/>
          </p:cNvSpPr>
          <p:nvPr/>
        </p:nvSpPr>
        <p:spPr>
          <a:xfrm xmlns:a="http://schemas.openxmlformats.org/drawingml/2006/main">
            <a:off x="274320" y="4919472"/>
            <a:ext cx="8595360" cy="2240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a:solidFill>
                  <a:srgbClr val="E8A020"/>
                </a:solidFill>
              </a:rPr>
              <a:t>Serhii Diadechko  |  Data Science &amp; Machine Learning Capstone</a:t>
            </a:r>
            <a:endParaRPr sz="800"/>
          </a:p>
        </p:txBody>
      </p:sp>
    </p:spTree>
    <p:extLst>
      <p:ext uri="{BB962C8B-B14F-4D97-AF65-F5344CB8AC3E}">
        <p14:creationId xmlns:p14="http://schemas.microsoft.com/office/powerpoint/2010/main" val="92667848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CE0DBA8-F241-4DE7-841E-6F212B2BAA81}"/>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F3F6F9"/>
          </a:solidFill>
          <a:ln xmlns:a="http://schemas.openxmlformats.org/drawingml/2006/main" w="12700">
            <a:solidFill>
              <a:srgbClr val="F3F6F9"/>
            </a:solidFill>
            <a:prstDash val="solid"/>
          </a:ln>
        </p:spPr>
      </p:sp>
      <p:sp>
        <p:nvSpPr>
          <p:cNvPr id="3" name="Shape 1">
            <a:extLst xmlns:a="http://schemas.openxmlformats.org/drawingml/2006/main">
              <a:ext uri="{FF2B5EF4-FFF2-40B4-BE49-F238E27FC236}">
                <a16:creationId xmlns:a16="http://schemas.microsoft.com/office/drawing/2014/main" id="{DF7765EB-0EA9-4512-8D95-C555572E3044}"/>
              </a:ext>
            </a:extLst>
          </p:cNvPr>
          <p:cNvSpPr>
            <a:spLocks xmlns:a="http://schemas.openxmlformats.org/drawingml/2006/main" noGrp="1"/>
          </p:cNvSpPr>
          <p:nvPr/>
        </p:nvSpPr>
        <p:spPr>
          <a:xfrm xmlns:a="http://schemas.openxmlformats.org/drawingml/2006/main">
            <a:off x="0" y="0"/>
            <a:ext cx="9144000" cy="64008"/>
          </a:xfrm>
          <a:prstGeom xmlns:a="http://schemas.openxmlformats.org/drawingml/2006/main" prst="rect">
            <a:avLst/>
          </a:prstGeom>
          <a:solidFill xmlns:a="http://schemas.openxmlformats.org/drawingml/2006/main">
            <a:srgbClr val="E8A020"/>
          </a:solidFill>
          <a:ln xmlns:a="http://schemas.openxmlformats.org/drawingml/2006/main" w="12700">
            <a:solidFill>
              <a:srgbClr val="E8A020"/>
            </a:solidFill>
            <a:prstDash val="solid"/>
          </a:ln>
        </p:spPr>
      </p:sp>
      <p:sp>
        <p:nvSpPr>
          <p:cNvPr id="4" name="Shape 2">
            <a:extLst xmlns:a="http://schemas.openxmlformats.org/drawingml/2006/main">
              <a:ext uri="{FF2B5EF4-FFF2-40B4-BE49-F238E27FC236}">
                <a16:creationId xmlns:a16="http://schemas.microsoft.com/office/drawing/2014/main" id="{AE6ABE1A-7F36-4AF0-9C33-F3C12D9FEFBB}"/>
              </a:ext>
            </a:extLst>
          </p:cNvPr>
          <p:cNvSpPr>
            <a:spLocks xmlns:a="http://schemas.openxmlformats.org/drawingml/2006/main" noGrp="1"/>
          </p:cNvSpPr>
          <p:nvPr/>
        </p:nvSpPr>
        <p:spPr>
          <a:xfrm xmlns:a="http://schemas.openxmlformats.org/drawingml/2006/main">
            <a:off x="0" y="64008"/>
            <a:ext cx="9144000" cy="658368"/>
          </a:xfrm>
          <a:prstGeom xmlns:a="http://schemas.openxmlformats.org/drawingml/2006/main" prst="rect">
            <a:avLst/>
          </a:prstGeom>
          <a:solidFill xmlns:a="http://schemas.openxmlformats.org/drawingml/2006/main">
            <a:srgbClr val="1E3A50"/>
          </a:solidFill>
          <a:ln xmlns:a="http://schemas.openxmlformats.org/drawingml/2006/main" w="12700">
            <a:solidFill>
              <a:srgbClr val="1E3A50"/>
            </a:solidFill>
            <a:prstDash val="solid"/>
          </a:ln>
        </p:spPr>
      </p:sp>
      <p:sp>
        <p:nvSpPr>
          <p:cNvPr id="5" name="Text 3">
            <a:extLst xmlns:a="http://schemas.openxmlformats.org/drawingml/2006/main">
              <a:ext uri="{FF2B5EF4-FFF2-40B4-BE49-F238E27FC236}">
                <a16:creationId xmlns:a16="http://schemas.microsoft.com/office/drawing/2014/main" id="{5E8AAAA1-B5EE-4E8D-8C98-575D38C3D915}"/>
              </a:ext>
            </a:extLst>
          </p:cNvPr>
          <p:cNvSpPr>
            <a:spLocks xmlns:a="http://schemas.openxmlformats.org/drawingml/2006/main" noGrp="1"/>
          </p:cNvSpPr>
          <p:nvPr/>
        </p:nvSpPr>
        <p:spPr>
          <a:xfrm xmlns:a="http://schemas.openxmlformats.org/drawingml/2006/main">
            <a:off x="274320" y="64008"/>
            <a:ext cx="731520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E8A020"/>
                </a:solidFill>
              </a:rPr>
              <a:t>DATASET OVERVIEW</a:t>
            </a:r>
            <a:endParaRPr sz="1100"/>
          </a:p>
        </p:txBody>
      </p:sp>
      <p:sp>
        <p:nvSpPr>
          <p:cNvPr id="6" name="Text 4">
            <a:extLst xmlns:a="http://schemas.openxmlformats.org/drawingml/2006/main">
              <a:ext uri="{FF2B5EF4-FFF2-40B4-BE49-F238E27FC236}">
                <a16:creationId xmlns:a16="http://schemas.microsoft.com/office/drawing/2014/main" id="{00F4CB20-9C08-4A2F-8880-3B0C42737A1E}"/>
              </a:ext>
            </a:extLst>
          </p:cNvPr>
          <p:cNvSpPr>
            <a:spLocks xmlns:a="http://schemas.openxmlformats.org/drawingml/2006/main" noGrp="1"/>
          </p:cNvSpPr>
          <p:nvPr/>
        </p:nvSpPr>
        <p:spPr>
          <a:xfrm xmlns:a="http://schemas.openxmlformats.org/drawingml/2006/main">
            <a:off x="6858000" y="64008"/>
            <a:ext cx="201168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b="1">
                <a:solidFill>
                  <a:srgbClr val="E1E8EF"/>
                </a:solidFill>
              </a:rPr>
              <a:t>2 / 8</a:t>
            </a:r>
            <a:endParaRPr sz="1100"/>
          </a:p>
        </p:txBody>
      </p:sp>
      <p:sp>
        <p:nvSpPr>
          <p:cNvPr id="7" name="Text 5">
            <a:extLst xmlns:a="http://schemas.openxmlformats.org/drawingml/2006/main">
              <a:ext uri="{FF2B5EF4-FFF2-40B4-BE49-F238E27FC236}">
                <a16:creationId xmlns:a16="http://schemas.microsoft.com/office/drawing/2014/main" id="{E75EB6B0-AC08-49BD-830B-C61FEDD8CA55}"/>
              </a:ext>
            </a:extLst>
          </p:cNvPr>
          <p:cNvSpPr>
            <a:spLocks xmlns:a="http://schemas.openxmlformats.org/drawingml/2006/main" noGrp="1"/>
          </p:cNvSpPr>
          <p:nvPr/>
        </p:nvSpPr>
        <p:spPr>
          <a:xfrm xmlns:a="http://schemas.openxmlformats.org/drawingml/2006/main">
            <a:off x="274320" y="804672"/>
            <a:ext cx="859536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1A2638"/>
                </a:solidFill>
              </a:rPr>
              <a:t>One 1 km mainland cell per year makes the evidence comparable</a:t>
            </a:r>
            <a:endParaRPr sz="1600"/>
          </a:p>
        </p:txBody>
      </p:sp>
      <p:sp>
        <p:nvSpPr>
          <p:cNvPr id="8" name="Shape 6">
            <a:extLst xmlns:a="http://schemas.openxmlformats.org/drawingml/2006/main">
              <a:ext uri="{FF2B5EF4-FFF2-40B4-BE49-F238E27FC236}">
                <a16:creationId xmlns:a16="http://schemas.microsoft.com/office/drawing/2014/main" id="{850ED047-25AD-4E4F-8EA7-8E4D1F3C4F9D}"/>
              </a:ext>
            </a:extLst>
          </p:cNvPr>
          <p:cNvSpPr>
            <a:spLocks xmlns:a="http://schemas.openxmlformats.org/drawingml/2006/main" noGrp="1"/>
          </p:cNvSpPr>
          <p:nvPr/>
        </p:nvSpPr>
        <p:spPr>
          <a:xfrm xmlns:a="http://schemas.openxmlformats.org/drawingml/2006/main">
            <a:off x="274320" y="1371600"/>
            <a:ext cx="2651760" cy="2834640"/>
          </a:xfrm>
          <a:prstGeom xmlns:a="http://schemas.openxmlformats.org/drawingml/2006/main" prst="rect">
            <a:avLst/>
          </a:prstGeom>
          <a:solidFill xmlns:a="http://schemas.openxmlformats.org/drawingml/2006/main">
            <a:srgbClr val="FFFFFF"/>
          </a:solidFill>
          <a:ln xmlns:a="http://schemas.openxmlformats.org/drawingml/2006/main" w="12700">
            <a:solidFill>
              <a:srgbClr val="2E6DB4"/>
            </a:solidFill>
            <a:prstDash val="solid"/>
          </a:ln>
          <a:effectLst xmlns:a="http://schemas.openxmlformats.org/drawingml/2006/main">
            <a:outerShdw blurRad="101600" dist="38100" dir="8100000" sx="100000" sy="100000" kx="0" ky="0" algn="bl" rotWithShape="0">
              <a:srgbClr val="000000">
                <a:alpha val="10000"/>
              </a:srgbClr>
            </a:outerShdw>
          </a:effectLst>
        </p:spPr>
      </p:sp>
      <p:sp>
        <p:nvSpPr>
          <p:cNvPr id="9" name="Shape 7">
            <a:extLst xmlns:a="http://schemas.openxmlformats.org/drawingml/2006/main">
              <a:ext uri="{FF2B5EF4-FFF2-40B4-BE49-F238E27FC236}">
                <a16:creationId xmlns:a16="http://schemas.microsoft.com/office/drawing/2014/main" id="{A976F6E2-E756-4CD4-9480-B649024AF23B}"/>
              </a:ext>
            </a:extLst>
          </p:cNvPr>
          <p:cNvSpPr>
            <a:spLocks xmlns:a="http://schemas.openxmlformats.org/drawingml/2006/main" noGrp="1"/>
          </p:cNvSpPr>
          <p:nvPr/>
        </p:nvSpPr>
        <p:spPr>
          <a:xfrm xmlns:a="http://schemas.openxmlformats.org/drawingml/2006/main">
            <a:off x="274320" y="1371600"/>
            <a:ext cx="2651760" cy="384048"/>
          </a:xfrm>
          <a:prstGeom xmlns:a="http://schemas.openxmlformats.org/drawingml/2006/main" prst="rect">
            <a:avLst/>
          </a:prstGeom>
          <a:solidFill xmlns:a="http://schemas.openxmlformats.org/drawingml/2006/main">
            <a:srgbClr val="2E6DB4"/>
          </a:solidFill>
          <a:ln xmlns:a="http://schemas.openxmlformats.org/drawingml/2006/main" w="12700">
            <a:solidFill>
              <a:srgbClr val="2E6DB4"/>
            </a:solidFill>
            <a:prstDash val="solid"/>
          </a:ln>
        </p:spPr>
      </p:sp>
      <p:sp>
        <p:nvSpPr>
          <p:cNvPr id="10" name="Text 8">
            <a:extLst xmlns:a="http://schemas.openxmlformats.org/drawingml/2006/main">
              <a:ext uri="{FF2B5EF4-FFF2-40B4-BE49-F238E27FC236}">
                <a16:creationId xmlns:a16="http://schemas.microsoft.com/office/drawing/2014/main" id="{3D8AE7C5-FB3D-4C33-ADFD-06675A208D30}"/>
              </a:ext>
            </a:extLst>
          </p:cNvPr>
          <p:cNvSpPr>
            <a:spLocks xmlns:a="http://schemas.openxmlformats.org/drawingml/2006/main" noGrp="1"/>
          </p:cNvSpPr>
          <p:nvPr/>
        </p:nvSpPr>
        <p:spPr>
          <a:xfrm xmlns:a="http://schemas.openxmlformats.org/drawingml/2006/main">
            <a:off x="274320" y="1371600"/>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rPr>
              <a:t>OBSERVED FIRE</a:t>
            </a:r>
            <a:endParaRPr sz="1100"/>
          </a:p>
        </p:txBody>
      </p:sp>
      <p:sp>
        <p:nvSpPr>
          <p:cNvPr id="11" name="Text 9">
            <a:extLst xmlns:a="http://schemas.openxmlformats.org/drawingml/2006/main">
              <a:ext uri="{FF2B5EF4-FFF2-40B4-BE49-F238E27FC236}">
                <a16:creationId xmlns:a16="http://schemas.microsoft.com/office/drawing/2014/main" id="{E356610B-1F94-4ECE-B570-CDF06D53212C}"/>
              </a:ext>
            </a:extLst>
          </p:cNvPr>
          <p:cNvSpPr>
            <a:spLocks xmlns:a="http://schemas.openxmlformats.org/drawingml/2006/main" noGrp="1"/>
          </p:cNvSpPr>
          <p:nvPr/>
        </p:nvSpPr>
        <p:spPr>
          <a:xfrm xmlns:a="http://schemas.openxmlformats.org/drawingml/2006/main">
            <a:off x="365760" y="1792224"/>
            <a:ext cx="24688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2E6DB4"/>
                </a:solidFill>
              </a:rPr>
              <a:t>ICNF annual burned areas</a:t>
            </a:r>
            <a:endParaRPr sz="800"/>
          </a:p>
        </p:txBody>
      </p:sp>
      <p:sp>
        <p:nvSpPr>
          <p:cNvPr id="12" name="Text 10">
            <a:extLst xmlns:a="http://schemas.openxmlformats.org/drawingml/2006/main">
              <a:ext uri="{FF2B5EF4-FFF2-40B4-BE49-F238E27FC236}">
                <a16:creationId xmlns:a16="http://schemas.microsoft.com/office/drawing/2014/main" id="{A0782A12-06FD-46AB-A59F-D41367841076}"/>
              </a:ext>
            </a:extLst>
          </p:cNvPr>
          <p:cNvSpPr>
            <a:spLocks xmlns:a="http://schemas.openxmlformats.org/drawingml/2006/main" noGrp="1"/>
          </p:cNvSpPr>
          <p:nvPr/>
        </p:nvSpPr>
        <p:spPr>
          <a:xfrm xmlns:a="http://schemas.openxmlformats.org/drawingml/2006/main">
            <a:off x="365760" y="2048256"/>
            <a:ext cx="24688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1A2638"/>
                </a:solidFill>
              </a:rPr>
              <a:t>Historical occurrence and next-year burned-share outcomes. Fire recurrence is measured in a 2 km context buffer.</a:t>
            </a:r>
            <a:endParaRPr sz="850"/>
          </a:p>
        </p:txBody>
      </p:sp>
      <p:sp>
        <p:nvSpPr>
          <p:cNvPr id="13" name="Shape 11">
            <a:extLst xmlns:a="http://schemas.openxmlformats.org/drawingml/2006/main">
              <a:ext uri="{FF2B5EF4-FFF2-40B4-BE49-F238E27FC236}">
                <a16:creationId xmlns:a16="http://schemas.microsoft.com/office/drawing/2014/main" id="{06FA9122-3570-4943-8E28-9854B62394B0}"/>
              </a:ext>
            </a:extLst>
          </p:cNvPr>
          <p:cNvSpPr>
            <a:spLocks xmlns:a="http://schemas.openxmlformats.org/drawingml/2006/main" noGrp="1"/>
          </p:cNvSpPr>
          <p:nvPr/>
        </p:nvSpPr>
        <p:spPr>
          <a:xfrm xmlns:a="http://schemas.openxmlformats.org/drawingml/2006/main">
            <a:off x="365760" y="2578608"/>
            <a:ext cx="2468880" cy="502920"/>
          </a:xfrm>
          <a:prstGeom xmlns:a="http://schemas.openxmlformats.org/drawingml/2006/main" prst="rect">
            <a:avLst/>
          </a:prstGeom>
          <a:solidFill xmlns:a="http://schemas.openxmlformats.org/drawingml/2006/main">
            <a:srgbClr val="EBF0FD"/>
          </a:solidFill>
          <a:ln xmlns:a="http://schemas.openxmlformats.org/drawingml/2006/main" w="12700">
            <a:solidFill>
              <a:srgbClr val="EBF0FD"/>
            </a:solidFill>
            <a:prstDash val="solid"/>
          </a:ln>
        </p:spPr>
      </p:sp>
      <p:sp>
        <p:nvSpPr>
          <p:cNvPr id="14" name="Text 12">
            <a:extLst xmlns:a="http://schemas.openxmlformats.org/drawingml/2006/main">
              <a:ext uri="{FF2B5EF4-FFF2-40B4-BE49-F238E27FC236}">
                <a16:creationId xmlns:a16="http://schemas.microsoft.com/office/drawing/2014/main" id="{6DA1C8F9-5E1A-4E03-8D3D-4F3ECC110889}"/>
              </a:ext>
            </a:extLst>
          </p:cNvPr>
          <p:cNvSpPr>
            <a:spLocks xmlns:a="http://schemas.openxmlformats.org/drawingml/2006/main" noGrp="1"/>
          </p:cNvSpPr>
          <p:nvPr/>
        </p:nvSpPr>
        <p:spPr>
          <a:xfrm xmlns:a="http://schemas.openxmlformats.org/drawingml/2006/main">
            <a:off x="411480" y="2578608"/>
            <a:ext cx="23774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i="1">
                <a:solidFill>
                  <a:srgbClr val="1A2638"/>
                </a:solidFill>
              </a:rPr>
              <a:t>2000–2025 coverage</a:t>
            </a:r>
            <a:endParaRPr sz="800"/>
          </a:p>
        </p:txBody>
      </p:sp>
      <p:sp>
        <p:nvSpPr>
          <p:cNvPr id="15" name="Text 13">
            <a:extLst xmlns:a="http://schemas.openxmlformats.org/drawingml/2006/main">
              <a:ext uri="{FF2B5EF4-FFF2-40B4-BE49-F238E27FC236}">
                <a16:creationId xmlns:a16="http://schemas.microsoft.com/office/drawing/2014/main" id="{68EE0945-8EB5-490D-A7E4-88E16F04DD2E}"/>
              </a:ext>
            </a:extLst>
          </p:cNvPr>
          <p:cNvSpPr>
            <a:spLocks xmlns:a="http://schemas.openxmlformats.org/drawingml/2006/main" noGrp="1"/>
          </p:cNvSpPr>
          <p:nvPr/>
        </p:nvSpPr>
        <p:spPr>
          <a:xfrm xmlns:a="http://schemas.openxmlformats.org/drawingml/2006/main">
            <a:off x="365760" y="3145536"/>
            <a:ext cx="24688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750" b="1">
                <a:solidFill>
                  <a:srgbClr val="2A9D61"/>
                </a:solidFill>
              </a:rPr>
              <a:t>Use: observed history and outcome labels</a:t>
            </a:r>
            <a:endParaRPr sz="750"/>
          </a:p>
        </p:txBody>
      </p:sp>
      <p:sp>
        <p:nvSpPr>
          <p:cNvPr id="16" name="Text 14">
            <a:extLst xmlns:a="http://schemas.openxmlformats.org/drawingml/2006/main">
              <a:ext uri="{FF2B5EF4-FFF2-40B4-BE49-F238E27FC236}">
                <a16:creationId xmlns:a16="http://schemas.microsoft.com/office/drawing/2014/main" id="{1BD26CB1-F165-4EEE-8E1E-6F5551AD5551}"/>
              </a:ext>
            </a:extLst>
          </p:cNvPr>
          <p:cNvSpPr>
            <a:spLocks xmlns:a="http://schemas.openxmlformats.org/drawingml/2006/main" noGrp="1"/>
          </p:cNvSpPr>
          <p:nvPr/>
        </p:nvSpPr>
        <p:spPr>
          <a:xfrm xmlns:a="http://schemas.openxmlformats.org/drawingml/2006/main">
            <a:off x="365760" y="3675888"/>
            <a:ext cx="24688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750" b="1">
                <a:solidFill>
                  <a:srgbClr val="C0392B"/>
                </a:solidFill>
              </a:rPr>
              <a:t>Burned share = burned land area / cell land area.</a:t>
            </a:r>
            <a:endParaRPr sz="750"/>
          </a:p>
        </p:txBody>
      </p:sp>
      <p:sp>
        <p:nvSpPr>
          <p:cNvPr id="17" name="Text 15">
            <a:extLst xmlns:a="http://schemas.openxmlformats.org/drawingml/2006/main">
              <a:ext uri="{FF2B5EF4-FFF2-40B4-BE49-F238E27FC236}">
                <a16:creationId xmlns:a16="http://schemas.microsoft.com/office/drawing/2014/main" id="{19C7B146-38E8-4AC6-BC1B-E7E04E3F1199}"/>
              </a:ext>
            </a:extLst>
          </p:cNvPr>
          <p:cNvSpPr>
            <a:spLocks xmlns:a="http://schemas.openxmlformats.org/drawingml/2006/main" noGrp="1"/>
          </p:cNvSpPr>
          <p:nvPr/>
        </p:nvSpPr>
        <p:spPr>
          <a:xfrm xmlns:a="http://schemas.openxmlformats.org/drawingml/2006/main">
            <a:off x="2962656" y="2560320"/>
            <a:ext cx="3200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E8A020"/>
                </a:solidFill>
              </a:rPr>
              <a:t>→</a:t>
            </a:r>
            <a:endParaRPr sz="2000"/>
          </a:p>
        </p:txBody>
      </p:sp>
      <p:sp>
        <p:nvSpPr>
          <p:cNvPr id="18" name="Shape 16">
            <a:extLst xmlns:a="http://schemas.openxmlformats.org/drawingml/2006/main">
              <a:ext uri="{FF2B5EF4-FFF2-40B4-BE49-F238E27FC236}">
                <a16:creationId xmlns:a16="http://schemas.microsoft.com/office/drawing/2014/main" id="{227D0A40-0DA6-40CE-A9D7-5598EA3D53ED}"/>
              </a:ext>
            </a:extLst>
          </p:cNvPr>
          <p:cNvSpPr>
            <a:spLocks xmlns:a="http://schemas.openxmlformats.org/drawingml/2006/main" noGrp="1"/>
          </p:cNvSpPr>
          <p:nvPr/>
        </p:nvSpPr>
        <p:spPr>
          <a:xfrm xmlns:a="http://schemas.openxmlformats.org/drawingml/2006/main">
            <a:off x="3310128" y="1371600"/>
            <a:ext cx="2651760" cy="2834640"/>
          </a:xfrm>
          <a:prstGeom xmlns:a="http://schemas.openxmlformats.org/drawingml/2006/main" prst="rect">
            <a:avLst/>
          </a:prstGeom>
          <a:solidFill xmlns:a="http://schemas.openxmlformats.org/drawingml/2006/main">
            <a:srgbClr val="FFFFFF"/>
          </a:solidFill>
          <a:ln xmlns:a="http://schemas.openxmlformats.org/drawingml/2006/main" w="12700">
            <a:solidFill>
              <a:srgbClr val="E67E22"/>
            </a:solidFill>
            <a:prstDash val="solid"/>
          </a:ln>
          <a:effectLst xmlns:a="http://schemas.openxmlformats.org/drawingml/2006/main">
            <a:outerShdw blurRad="101600" dist="38100" dir="8100000" sx="100000" sy="100000" kx="0" ky="0" algn="bl" rotWithShape="0">
              <a:srgbClr val="000000">
                <a:alpha val="10000"/>
              </a:srgbClr>
            </a:outerShdw>
          </a:effectLst>
        </p:spPr>
      </p:sp>
      <p:sp>
        <p:nvSpPr>
          <p:cNvPr id="19" name="Shape 17">
            <a:extLst xmlns:a="http://schemas.openxmlformats.org/drawingml/2006/main">
              <a:ext uri="{FF2B5EF4-FFF2-40B4-BE49-F238E27FC236}">
                <a16:creationId xmlns:a16="http://schemas.microsoft.com/office/drawing/2014/main" id="{1853FDD2-81C9-47AF-9DE5-156DDAF5F885}"/>
              </a:ext>
            </a:extLst>
          </p:cNvPr>
          <p:cNvSpPr>
            <a:spLocks xmlns:a="http://schemas.openxmlformats.org/drawingml/2006/main" noGrp="1"/>
          </p:cNvSpPr>
          <p:nvPr/>
        </p:nvSpPr>
        <p:spPr>
          <a:xfrm xmlns:a="http://schemas.openxmlformats.org/drawingml/2006/main">
            <a:off x="3310128" y="1371600"/>
            <a:ext cx="2651760" cy="384048"/>
          </a:xfrm>
          <a:prstGeom xmlns:a="http://schemas.openxmlformats.org/drawingml/2006/main" prst="rect">
            <a:avLst/>
          </a:prstGeom>
          <a:solidFill xmlns:a="http://schemas.openxmlformats.org/drawingml/2006/main">
            <a:srgbClr val="E67E22"/>
          </a:solidFill>
          <a:ln xmlns:a="http://schemas.openxmlformats.org/drawingml/2006/main" w="12700">
            <a:solidFill>
              <a:srgbClr val="E67E22"/>
            </a:solidFill>
            <a:prstDash val="solid"/>
          </a:ln>
        </p:spPr>
      </p:sp>
      <p:sp>
        <p:nvSpPr>
          <p:cNvPr id="20" name="Text 18">
            <a:extLst xmlns:a="http://schemas.openxmlformats.org/drawingml/2006/main">
              <a:ext uri="{FF2B5EF4-FFF2-40B4-BE49-F238E27FC236}">
                <a16:creationId xmlns:a16="http://schemas.microsoft.com/office/drawing/2014/main" id="{105B757C-3387-43E4-8755-47E796BA4C51}"/>
              </a:ext>
            </a:extLst>
          </p:cNvPr>
          <p:cNvSpPr>
            <a:spLocks xmlns:a="http://schemas.openxmlformats.org/drawingml/2006/main" noGrp="1"/>
          </p:cNvSpPr>
          <p:nvPr/>
        </p:nvSpPr>
        <p:spPr>
          <a:xfrm xmlns:a="http://schemas.openxmlformats.org/drawingml/2006/main">
            <a:off x="3310128" y="1371600"/>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rPr>
              <a:t>PLACE CONTEXT</a:t>
            </a:r>
            <a:endParaRPr sz="1100"/>
          </a:p>
        </p:txBody>
      </p:sp>
      <p:sp>
        <p:nvSpPr>
          <p:cNvPr id="21" name="Text 19">
            <a:extLst xmlns:a="http://schemas.openxmlformats.org/drawingml/2006/main">
              <a:ext uri="{FF2B5EF4-FFF2-40B4-BE49-F238E27FC236}">
                <a16:creationId xmlns:a16="http://schemas.microsoft.com/office/drawing/2014/main" id="{7FCCAA10-640A-4877-BDF7-D0715D3E9D85}"/>
              </a:ext>
            </a:extLst>
          </p:cNvPr>
          <p:cNvSpPr>
            <a:spLocks xmlns:a="http://schemas.openxmlformats.org/drawingml/2006/main" noGrp="1"/>
          </p:cNvSpPr>
          <p:nvPr/>
        </p:nvSpPr>
        <p:spPr>
          <a:xfrm xmlns:a="http://schemas.openxmlformats.org/drawingml/2006/main">
            <a:off x="3401568" y="1792224"/>
            <a:ext cx="24688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E67E22"/>
                </a:solidFill>
              </a:rPr>
              <a:t>CLC and Copernicus DEM</a:t>
            </a:r>
            <a:endParaRPr sz="800"/>
          </a:p>
        </p:txBody>
      </p:sp>
      <p:sp>
        <p:nvSpPr>
          <p:cNvPr id="22" name="Text 20">
            <a:extLst xmlns:a="http://schemas.openxmlformats.org/drawingml/2006/main">
              <a:ext uri="{FF2B5EF4-FFF2-40B4-BE49-F238E27FC236}">
                <a16:creationId xmlns:a16="http://schemas.microsoft.com/office/drawing/2014/main" id="{2E8ADD6B-24AD-4193-9FBD-F3F31B5B609E}"/>
              </a:ext>
            </a:extLst>
          </p:cNvPr>
          <p:cNvSpPr>
            <a:spLocks xmlns:a="http://schemas.openxmlformats.org/drawingml/2006/main" noGrp="1"/>
          </p:cNvSpPr>
          <p:nvPr/>
        </p:nvSpPr>
        <p:spPr>
          <a:xfrm xmlns:a="http://schemas.openxmlformats.org/drawingml/2006/main">
            <a:off x="3401568" y="2048256"/>
            <a:ext cx="24688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1A2638"/>
                </a:solidFill>
              </a:rPr>
              <a:t>Built-up share, forest/shrub context and mean slope describe the surrounding landscape.</a:t>
            </a:r>
            <a:endParaRPr sz="850"/>
          </a:p>
        </p:txBody>
      </p:sp>
      <p:sp>
        <p:nvSpPr>
          <p:cNvPr id="23" name="Shape 21">
            <a:extLst xmlns:a="http://schemas.openxmlformats.org/drawingml/2006/main">
              <a:ext uri="{FF2B5EF4-FFF2-40B4-BE49-F238E27FC236}">
                <a16:creationId xmlns:a16="http://schemas.microsoft.com/office/drawing/2014/main" id="{BF495EEE-9C70-49FA-9B76-01434D5B515B}"/>
              </a:ext>
            </a:extLst>
          </p:cNvPr>
          <p:cNvSpPr>
            <a:spLocks xmlns:a="http://schemas.openxmlformats.org/drawingml/2006/main" noGrp="1"/>
          </p:cNvSpPr>
          <p:nvPr/>
        </p:nvSpPr>
        <p:spPr>
          <a:xfrm xmlns:a="http://schemas.openxmlformats.org/drawingml/2006/main">
            <a:off x="3401568" y="2578608"/>
            <a:ext cx="2468880" cy="502920"/>
          </a:xfrm>
          <a:prstGeom xmlns:a="http://schemas.openxmlformats.org/drawingml/2006/main" prst="rect">
            <a:avLst/>
          </a:prstGeom>
          <a:solidFill xmlns:a="http://schemas.openxmlformats.org/drawingml/2006/main">
            <a:srgbClr val="FEF3E2"/>
          </a:solidFill>
          <a:ln xmlns:a="http://schemas.openxmlformats.org/drawingml/2006/main" w="12700">
            <a:solidFill>
              <a:srgbClr val="FEF3E2"/>
            </a:solidFill>
            <a:prstDash val="solid"/>
          </a:ln>
        </p:spPr>
      </p:sp>
      <p:sp>
        <p:nvSpPr>
          <p:cNvPr id="24" name="Text 22">
            <a:extLst xmlns:a="http://schemas.openxmlformats.org/drawingml/2006/main">
              <a:ext uri="{FF2B5EF4-FFF2-40B4-BE49-F238E27FC236}">
                <a16:creationId xmlns:a16="http://schemas.microsoft.com/office/drawing/2014/main" id="{7E9DFFCA-C999-493A-85F1-CEEE2960D202}"/>
              </a:ext>
            </a:extLst>
          </p:cNvPr>
          <p:cNvSpPr>
            <a:spLocks xmlns:a="http://schemas.openxmlformats.org/drawingml/2006/main" noGrp="1"/>
          </p:cNvSpPr>
          <p:nvPr/>
        </p:nvSpPr>
        <p:spPr>
          <a:xfrm xmlns:a="http://schemas.openxmlformats.org/drawingml/2006/main">
            <a:off x="3447288" y="2578608"/>
            <a:ext cx="23774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i="1">
                <a:solidFill>
                  <a:srgbClr val="1A2638"/>
                </a:solidFill>
              </a:rPr>
              <a:t>Static or governed historical layers</a:t>
            </a:r>
            <a:endParaRPr sz="800"/>
          </a:p>
        </p:txBody>
      </p:sp>
      <p:sp>
        <p:nvSpPr>
          <p:cNvPr id="25" name="Text 23">
            <a:extLst xmlns:a="http://schemas.openxmlformats.org/drawingml/2006/main">
              <a:ext uri="{FF2B5EF4-FFF2-40B4-BE49-F238E27FC236}">
                <a16:creationId xmlns:a16="http://schemas.microsoft.com/office/drawing/2014/main" id="{DCF76D05-AD79-475B-BF3A-C3D4F0DF1815}"/>
              </a:ext>
            </a:extLst>
          </p:cNvPr>
          <p:cNvSpPr>
            <a:spLocks xmlns:a="http://schemas.openxmlformats.org/drawingml/2006/main" noGrp="1"/>
          </p:cNvSpPr>
          <p:nvPr/>
        </p:nvSpPr>
        <p:spPr>
          <a:xfrm xmlns:a="http://schemas.openxmlformats.org/drawingml/2006/main">
            <a:off x="3401568" y="3145536"/>
            <a:ext cx="24688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750" b="1">
                <a:solidFill>
                  <a:srgbClr val="2A9D61"/>
                </a:solidFill>
              </a:rPr>
              <a:t>Use: landscape and terrain predictors</a:t>
            </a:r>
            <a:endParaRPr sz="750"/>
          </a:p>
        </p:txBody>
      </p:sp>
      <p:sp>
        <p:nvSpPr>
          <p:cNvPr id="26" name="Text 24">
            <a:extLst xmlns:a="http://schemas.openxmlformats.org/drawingml/2006/main">
              <a:ext uri="{FF2B5EF4-FFF2-40B4-BE49-F238E27FC236}">
                <a16:creationId xmlns:a16="http://schemas.microsoft.com/office/drawing/2014/main" id="{4C110B4E-8200-4661-8C23-2F8B6C0A4D28}"/>
              </a:ext>
            </a:extLst>
          </p:cNvPr>
          <p:cNvSpPr>
            <a:spLocks xmlns:a="http://schemas.openxmlformats.org/drawingml/2006/main" noGrp="1"/>
          </p:cNvSpPr>
          <p:nvPr/>
        </p:nvSpPr>
        <p:spPr>
          <a:xfrm xmlns:a="http://schemas.openxmlformats.org/drawingml/2006/main">
            <a:off x="3401568" y="3675888"/>
            <a:ext cx="24688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750" b="1">
                <a:solidFill>
                  <a:srgbClr val="C0392B"/>
                </a:solidFill>
              </a:rPr>
              <a:t>No parcel-level claim.</a:t>
            </a:r>
            <a:endParaRPr sz="750"/>
          </a:p>
        </p:txBody>
      </p:sp>
      <p:sp>
        <p:nvSpPr>
          <p:cNvPr id="27" name="Text 25">
            <a:extLst xmlns:a="http://schemas.openxmlformats.org/drawingml/2006/main">
              <a:ext uri="{FF2B5EF4-FFF2-40B4-BE49-F238E27FC236}">
                <a16:creationId xmlns:a16="http://schemas.microsoft.com/office/drawing/2014/main" id="{83201544-152E-4D02-8077-3884EAB07F98}"/>
              </a:ext>
            </a:extLst>
          </p:cNvPr>
          <p:cNvSpPr>
            <a:spLocks xmlns:a="http://schemas.openxmlformats.org/drawingml/2006/main" noGrp="1"/>
          </p:cNvSpPr>
          <p:nvPr/>
        </p:nvSpPr>
        <p:spPr>
          <a:xfrm xmlns:a="http://schemas.openxmlformats.org/drawingml/2006/main">
            <a:off x="5998464" y="2560320"/>
            <a:ext cx="3200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E8A020"/>
                </a:solidFill>
              </a:rPr>
              <a:t>→</a:t>
            </a:r>
            <a:endParaRPr sz="2000"/>
          </a:p>
        </p:txBody>
      </p:sp>
      <p:sp>
        <p:nvSpPr>
          <p:cNvPr id="28" name="Shape 26">
            <a:extLst xmlns:a="http://schemas.openxmlformats.org/drawingml/2006/main">
              <a:ext uri="{FF2B5EF4-FFF2-40B4-BE49-F238E27FC236}">
                <a16:creationId xmlns:a16="http://schemas.microsoft.com/office/drawing/2014/main" id="{BE55346A-E69C-419B-9F53-C37EAE7BCF74}"/>
              </a:ext>
            </a:extLst>
          </p:cNvPr>
          <p:cNvSpPr>
            <a:spLocks xmlns:a="http://schemas.openxmlformats.org/drawingml/2006/main" noGrp="1"/>
          </p:cNvSpPr>
          <p:nvPr/>
        </p:nvSpPr>
        <p:spPr>
          <a:xfrm xmlns:a="http://schemas.openxmlformats.org/drawingml/2006/main">
            <a:off x="6345936" y="1371600"/>
            <a:ext cx="2651760" cy="2834640"/>
          </a:xfrm>
          <a:prstGeom xmlns:a="http://schemas.openxmlformats.org/drawingml/2006/main" prst="rect">
            <a:avLst/>
          </a:prstGeom>
          <a:solidFill xmlns:a="http://schemas.openxmlformats.org/drawingml/2006/main">
            <a:srgbClr val="FFFFFF"/>
          </a:solidFill>
          <a:ln xmlns:a="http://schemas.openxmlformats.org/drawingml/2006/main" w="12700">
            <a:solidFill>
              <a:srgbClr val="2A9D61"/>
            </a:solidFill>
            <a:prstDash val="solid"/>
          </a:ln>
          <a:effectLst xmlns:a="http://schemas.openxmlformats.org/drawingml/2006/main">
            <a:outerShdw blurRad="101600" dist="38100" dir="8100000" sx="100000" sy="100000" kx="0" ky="0" algn="bl" rotWithShape="0">
              <a:srgbClr val="000000">
                <a:alpha val="10000"/>
              </a:srgbClr>
            </a:outerShdw>
          </a:effectLst>
        </p:spPr>
      </p:sp>
      <p:sp>
        <p:nvSpPr>
          <p:cNvPr id="29" name="Shape 27">
            <a:extLst xmlns:a="http://schemas.openxmlformats.org/drawingml/2006/main">
              <a:ext uri="{FF2B5EF4-FFF2-40B4-BE49-F238E27FC236}">
                <a16:creationId xmlns:a16="http://schemas.microsoft.com/office/drawing/2014/main" id="{9E9ACD73-16DC-45DA-BF3F-29483F5DA902}"/>
              </a:ext>
            </a:extLst>
          </p:cNvPr>
          <p:cNvSpPr>
            <a:spLocks xmlns:a="http://schemas.openxmlformats.org/drawingml/2006/main" noGrp="1"/>
          </p:cNvSpPr>
          <p:nvPr/>
        </p:nvSpPr>
        <p:spPr>
          <a:xfrm xmlns:a="http://schemas.openxmlformats.org/drawingml/2006/main">
            <a:off x="6345936" y="1371600"/>
            <a:ext cx="2651760" cy="384048"/>
          </a:xfrm>
          <a:prstGeom xmlns:a="http://schemas.openxmlformats.org/drawingml/2006/main" prst="rect">
            <a:avLst/>
          </a:prstGeom>
          <a:solidFill xmlns:a="http://schemas.openxmlformats.org/drawingml/2006/main">
            <a:srgbClr val="2A9D61"/>
          </a:solidFill>
          <a:ln xmlns:a="http://schemas.openxmlformats.org/drawingml/2006/main" w="12700">
            <a:solidFill>
              <a:srgbClr val="2A9D61"/>
            </a:solidFill>
            <a:prstDash val="solid"/>
          </a:ln>
        </p:spPr>
      </p:sp>
      <p:sp>
        <p:nvSpPr>
          <p:cNvPr id="30" name="Text 28">
            <a:extLst xmlns:a="http://schemas.openxmlformats.org/drawingml/2006/main">
              <a:ext uri="{FF2B5EF4-FFF2-40B4-BE49-F238E27FC236}">
                <a16:creationId xmlns:a16="http://schemas.microsoft.com/office/drawing/2014/main" id="{B62BA0E5-342B-4B8A-B522-4EBF950A10B6}"/>
              </a:ext>
            </a:extLst>
          </p:cNvPr>
          <p:cNvSpPr>
            <a:spLocks xmlns:a="http://schemas.openxmlformats.org/drawingml/2006/main" noGrp="1"/>
          </p:cNvSpPr>
          <p:nvPr/>
        </p:nvSpPr>
        <p:spPr>
          <a:xfrm xmlns:a="http://schemas.openxmlformats.org/drawingml/2006/main">
            <a:off x="6345936" y="1371600"/>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rPr>
              <a:t>CLIMATE CONTEXT</a:t>
            </a:r>
            <a:endParaRPr sz="1100"/>
          </a:p>
        </p:txBody>
      </p:sp>
      <p:sp>
        <p:nvSpPr>
          <p:cNvPr id="31" name="Text 29">
            <a:extLst xmlns:a="http://schemas.openxmlformats.org/drawingml/2006/main">
              <a:ext uri="{FF2B5EF4-FFF2-40B4-BE49-F238E27FC236}">
                <a16:creationId xmlns:a16="http://schemas.microsoft.com/office/drawing/2014/main" id="{4AC5C230-4301-4FDE-B694-E685F46AB091}"/>
              </a:ext>
            </a:extLst>
          </p:cNvPr>
          <p:cNvSpPr>
            <a:spLocks xmlns:a="http://schemas.openxmlformats.org/drawingml/2006/main" noGrp="1"/>
          </p:cNvSpPr>
          <p:nvPr/>
        </p:nvSpPr>
        <p:spPr>
          <a:xfrm xmlns:a="http://schemas.openxmlformats.org/drawingml/2006/main">
            <a:off x="6437376" y="1792224"/>
            <a:ext cx="24688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2A9D61"/>
                </a:solidFill>
              </a:rPr>
              <a:t>ERA5-Land JJAS</a:t>
            </a:r>
            <a:endParaRPr sz="800"/>
          </a:p>
        </p:txBody>
      </p:sp>
      <p:sp>
        <p:nvSpPr>
          <p:cNvPr id="32" name="Text 30">
            <a:extLst xmlns:a="http://schemas.openxmlformats.org/drawingml/2006/main">
              <a:ext uri="{FF2B5EF4-FFF2-40B4-BE49-F238E27FC236}">
                <a16:creationId xmlns:a16="http://schemas.microsoft.com/office/drawing/2014/main" id="{3E5AD3DE-3E62-4022-9451-D7F12B56A64D}"/>
              </a:ext>
            </a:extLst>
          </p:cNvPr>
          <p:cNvSpPr>
            <a:spLocks xmlns:a="http://schemas.openxmlformats.org/drawingml/2006/main" noGrp="1"/>
          </p:cNvSpPr>
          <p:nvPr/>
        </p:nvSpPr>
        <p:spPr>
          <a:xfrm xmlns:a="http://schemas.openxmlformats.org/drawingml/2006/main">
            <a:off x="6437376" y="2048256"/>
            <a:ext cx="24688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1A2638"/>
                </a:solidFill>
              </a:rPr>
              <a:t>Warm-season temperature, precipitation and shallow soil-water conditions from predictor year T only.</a:t>
            </a:r>
            <a:endParaRPr sz="850"/>
          </a:p>
        </p:txBody>
      </p:sp>
      <p:sp>
        <p:nvSpPr>
          <p:cNvPr id="33" name="Shape 31">
            <a:extLst xmlns:a="http://schemas.openxmlformats.org/drawingml/2006/main">
              <a:ext uri="{FF2B5EF4-FFF2-40B4-BE49-F238E27FC236}">
                <a16:creationId xmlns:a16="http://schemas.microsoft.com/office/drawing/2014/main" id="{1D97F61A-3048-4A24-B838-60FD9F2680DE}"/>
              </a:ext>
            </a:extLst>
          </p:cNvPr>
          <p:cNvSpPr>
            <a:spLocks xmlns:a="http://schemas.openxmlformats.org/drawingml/2006/main" noGrp="1"/>
          </p:cNvSpPr>
          <p:nvPr/>
        </p:nvSpPr>
        <p:spPr>
          <a:xfrm xmlns:a="http://schemas.openxmlformats.org/drawingml/2006/main">
            <a:off x="6437376" y="2578608"/>
            <a:ext cx="2468880" cy="502920"/>
          </a:xfrm>
          <a:prstGeom xmlns:a="http://schemas.openxmlformats.org/drawingml/2006/main" prst="rect">
            <a:avLst/>
          </a:prstGeom>
          <a:solidFill xmlns:a="http://schemas.openxmlformats.org/drawingml/2006/main">
            <a:srgbClr val="E6F5EE"/>
          </a:solidFill>
          <a:ln xmlns:a="http://schemas.openxmlformats.org/drawingml/2006/main" w="12700">
            <a:solidFill>
              <a:srgbClr val="E6F5EE"/>
            </a:solidFill>
            <a:prstDash val="solid"/>
          </a:ln>
        </p:spPr>
      </p:sp>
      <p:sp>
        <p:nvSpPr>
          <p:cNvPr id="34" name="Text 32">
            <a:extLst xmlns:a="http://schemas.openxmlformats.org/drawingml/2006/main">
              <a:ext uri="{FF2B5EF4-FFF2-40B4-BE49-F238E27FC236}">
                <a16:creationId xmlns:a16="http://schemas.microsoft.com/office/drawing/2014/main" id="{E463D690-7AF4-490A-8AEF-BDD57CA7B3F8}"/>
              </a:ext>
            </a:extLst>
          </p:cNvPr>
          <p:cNvSpPr>
            <a:spLocks xmlns:a="http://schemas.openxmlformats.org/drawingml/2006/main" noGrp="1"/>
          </p:cNvSpPr>
          <p:nvPr/>
        </p:nvSpPr>
        <p:spPr>
          <a:xfrm xmlns:a="http://schemas.openxmlformats.org/drawingml/2006/main">
            <a:off x="6483096" y="2578608"/>
            <a:ext cx="23774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i="1">
                <a:solidFill>
                  <a:srgbClr val="1A2638"/>
                </a:solidFill>
              </a:rPr>
              <a:t>0.1° regional climate cells</a:t>
            </a:r>
            <a:endParaRPr sz="800"/>
          </a:p>
        </p:txBody>
      </p:sp>
      <p:sp>
        <p:nvSpPr>
          <p:cNvPr id="35" name="Text 33">
            <a:extLst xmlns:a="http://schemas.openxmlformats.org/drawingml/2006/main">
              <a:ext uri="{FF2B5EF4-FFF2-40B4-BE49-F238E27FC236}">
                <a16:creationId xmlns:a16="http://schemas.microsoft.com/office/drawing/2014/main" id="{3CECC8A6-84AE-4D97-A48E-EBF1D00E3B3F}"/>
              </a:ext>
            </a:extLst>
          </p:cNvPr>
          <p:cNvSpPr>
            <a:spLocks xmlns:a="http://schemas.openxmlformats.org/drawingml/2006/main" noGrp="1"/>
          </p:cNvSpPr>
          <p:nvPr/>
        </p:nvSpPr>
        <p:spPr>
          <a:xfrm xmlns:a="http://schemas.openxmlformats.org/drawingml/2006/main">
            <a:off x="6437376" y="3145536"/>
            <a:ext cx="24688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750" b="1">
                <a:solidFill>
                  <a:srgbClr val="2A9D61"/>
                </a:solidFill>
              </a:rPr>
              <a:t>Use: predictor-year climate context</a:t>
            </a:r>
            <a:endParaRPr sz="750"/>
          </a:p>
        </p:txBody>
      </p:sp>
      <p:sp>
        <p:nvSpPr>
          <p:cNvPr id="36" name="Text 34">
            <a:extLst xmlns:a="http://schemas.openxmlformats.org/drawingml/2006/main">
              <a:ext uri="{FF2B5EF4-FFF2-40B4-BE49-F238E27FC236}">
                <a16:creationId xmlns:a16="http://schemas.microsoft.com/office/drawing/2014/main" id="{58D1355D-D03F-4A09-BDA2-4D152B718612}"/>
              </a:ext>
            </a:extLst>
          </p:cNvPr>
          <p:cNvSpPr>
            <a:spLocks xmlns:a="http://schemas.openxmlformats.org/drawingml/2006/main" noGrp="1"/>
          </p:cNvSpPr>
          <p:nvPr/>
        </p:nvSpPr>
        <p:spPr>
          <a:xfrm xmlns:a="http://schemas.openxmlformats.org/drawingml/2006/main">
            <a:off x="6437376" y="3675888"/>
            <a:ext cx="24688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750" b="1">
                <a:solidFill>
                  <a:srgbClr val="C0392B"/>
                </a:solidFill>
              </a:rPr>
              <a:t>No interpolation or downscaling.</a:t>
            </a:r>
            <a:endParaRPr sz="750"/>
          </a:p>
        </p:txBody>
      </p:sp>
      <p:sp>
        <p:nvSpPr>
          <p:cNvPr id="37" name="Shape 35">
            <a:extLst xmlns:a="http://schemas.openxmlformats.org/drawingml/2006/main">
              <a:ext uri="{FF2B5EF4-FFF2-40B4-BE49-F238E27FC236}">
                <a16:creationId xmlns:a16="http://schemas.microsoft.com/office/drawing/2014/main" id="{19000DE9-D9C8-4054-86C8-5E7938726140}"/>
              </a:ext>
            </a:extLst>
          </p:cNvPr>
          <p:cNvSpPr>
            <a:spLocks xmlns:a="http://schemas.openxmlformats.org/drawingml/2006/main" noGrp="1"/>
          </p:cNvSpPr>
          <p:nvPr/>
        </p:nvSpPr>
        <p:spPr>
          <a:xfrm xmlns:a="http://schemas.openxmlformats.org/drawingml/2006/main">
            <a:off x="274320" y="4315968"/>
            <a:ext cx="8595360" cy="457200"/>
          </a:xfrm>
          <a:prstGeom xmlns:a="http://schemas.openxmlformats.org/drawingml/2006/main" prst="rect">
            <a:avLst/>
          </a:prstGeom>
          <a:solidFill xmlns:a="http://schemas.openxmlformats.org/drawingml/2006/main">
            <a:srgbClr val="0D1F2D"/>
          </a:solidFill>
          <a:ln xmlns:a="http://schemas.openxmlformats.org/drawingml/2006/main" w="12700">
            <a:solidFill>
              <a:srgbClr val="0D1F2D"/>
            </a:solidFill>
            <a:prstDash val="solid"/>
          </a:ln>
        </p:spPr>
      </p:sp>
      <p:sp>
        <p:nvSpPr>
          <p:cNvPr id="38" name="Text 36">
            <a:extLst xmlns:a="http://schemas.openxmlformats.org/drawingml/2006/main">
              <a:ext uri="{FF2B5EF4-FFF2-40B4-BE49-F238E27FC236}">
                <a16:creationId xmlns:a16="http://schemas.microsoft.com/office/drawing/2014/main" id="{E71B9F53-7C87-466A-82C0-B1674D8C50DE}"/>
              </a:ext>
            </a:extLst>
          </p:cNvPr>
          <p:cNvSpPr>
            <a:spLocks xmlns:a="http://schemas.openxmlformats.org/drawingml/2006/main" noGrp="1"/>
          </p:cNvSpPr>
          <p:nvPr/>
        </p:nvSpPr>
        <p:spPr>
          <a:xfrm xmlns:a="http://schemas.openxmlformats.org/drawingml/2006/main">
            <a:off x="411480" y="4315968"/>
            <a:ext cx="83210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E8A020"/>
                </a:solidFill>
              </a:rPr>
              <a:t>89,112 mainland cells; one EPSG:3763 1 km cell × predictor year record.</a:t>
            </a:r>
            <a:endParaRPr sz="850"/>
          </a:p>
        </p:txBody>
      </p:sp>
      <p:sp>
        <p:nvSpPr>
          <p:cNvPr id="39" name="Shape 37">
            <a:extLst xmlns:a="http://schemas.openxmlformats.org/drawingml/2006/main">
              <a:ext uri="{FF2B5EF4-FFF2-40B4-BE49-F238E27FC236}">
                <a16:creationId xmlns:a16="http://schemas.microsoft.com/office/drawing/2014/main" id="{FD984804-AA2D-42E2-920F-E4B1379C983E}"/>
              </a:ext>
            </a:extLst>
          </p:cNvPr>
          <p:cNvSpPr>
            <a:spLocks xmlns:a="http://schemas.openxmlformats.org/drawingml/2006/main" noGrp="1"/>
          </p:cNvSpPr>
          <p:nvPr/>
        </p:nvSpPr>
        <p:spPr>
          <a:xfrm xmlns:a="http://schemas.openxmlformats.org/drawingml/2006/main">
            <a:off x="0" y="4919472"/>
            <a:ext cx="9144000" cy="224028"/>
          </a:xfrm>
          <a:prstGeom xmlns:a="http://schemas.openxmlformats.org/drawingml/2006/main" prst="rect">
            <a:avLst/>
          </a:prstGeom>
          <a:solidFill xmlns:a="http://schemas.openxmlformats.org/drawingml/2006/main">
            <a:srgbClr val="162B3D"/>
          </a:solidFill>
          <a:ln xmlns:a="http://schemas.openxmlformats.org/drawingml/2006/main" w="12700">
            <a:solidFill>
              <a:srgbClr val="162B3D"/>
            </a:solidFill>
            <a:prstDash val="solid"/>
          </a:ln>
        </p:spPr>
      </p:sp>
      <p:sp>
        <p:nvSpPr>
          <p:cNvPr id="40" name="Text 38">
            <a:extLst xmlns:a="http://schemas.openxmlformats.org/drawingml/2006/main">
              <a:ext uri="{FF2B5EF4-FFF2-40B4-BE49-F238E27FC236}">
                <a16:creationId xmlns:a16="http://schemas.microsoft.com/office/drawing/2014/main" id="{93433E41-EB5C-414B-84DF-E080804E3487}"/>
              </a:ext>
            </a:extLst>
          </p:cNvPr>
          <p:cNvSpPr>
            <a:spLocks xmlns:a="http://schemas.openxmlformats.org/drawingml/2006/main" noGrp="1"/>
          </p:cNvSpPr>
          <p:nvPr/>
        </p:nvSpPr>
        <p:spPr>
          <a:xfrm xmlns:a="http://schemas.openxmlformats.org/drawingml/2006/main">
            <a:off x="274320" y="4919472"/>
            <a:ext cx="8595360" cy="2240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a:solidFill>
                  <a:srgbClr val="E8A020"/>
                </a:solidFill>
              </a:rPr>
              <a:t>Serhii Diadechko  |  Data Science &amp; Machine Learning Capstone</a:t>
            </a:r>
            <a:endParaRPr sz="800"/>
          </a:p>
        </p:txBody>
      </p:sp>
    </p:spTree>
    <p:extLst>
      <p:ext uri="{BB962C8B-B14F-4D97-AF65-F5344CB8AC3E}">
        <p14:creationId xmlns:p14="http://schemas.microsoft.com/office/powerpoint/2010/main" val="187536327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A63A09F-AE73-4540-845E-65563E53A39E}"/>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F3F6F9"/>
          </a:solidFill>
          <a:ln xmlns:a="http://schemas.openxmlformats.org/drawingml/2006/main" w="12700">
            <a:solidFill>
              <a:srgbClr val="F3F6F9"/>
            </a:solidFill>
            <a:prstDash val="solid"/>
          </a:ln>
        </p:spPr>
      </p:sp>
      <p:sp>
        <p:nvSpPr>
          <p:cNvPr id="3" name="Shape 1">
            <a:extLst xmlns:a="http://schemas.openxmlformats.org/drawingml/2006/main">
              <a:ext uri="{FF2B5EF4-FFF2-40B4-BE49-F238E27FC236}">
                <a16:creationId xmlns:a16="http://schemas.microsoft.com/office/drawing/2014/main" id="{33E1C700-E82D-46AF-9320-78168AFBC906}"/>
              </a:ext>
            </a:extLst>
          </p:cNvPr>
          <p:cNvSpPr>
            <a:spLocks xmlns:a="http://schemas.openxmlformats.org/drawingml/2006/main" noGrp="1"/>
          </p:cNvSpPr>
          <p:nvPr/>
        </p:nvSpPr>
        <p:spPr>
          <a:xfrm xmlns:a="http://schemas.openxmlformats.org/drawingml/2006/main">
            <a:off x="0" y="0"/>
            <a:ext cx="9144000" cy="64008"/>
          </a:xfrm>
          <a:prstGeom xmlns:a="http://schemas.openxmlformats.org/drawingml/2006/main" prst="rect">
            <a:avLst/>
          </a:prstGeom>
          <a:solidFill xmlns:a="http://schemas.openxmlformats.org/drawingml/2006/main">
            <a:srgbClr val="E8A020"/>
          </a:solidFill>
          <a:ln xmlns:a="http://schemas.openxmlformats.org/drawingml/2006/main" w="12700">
            <a:solidFill>
              <a:srgbClr val="E8A020"/>
            </a:solidFill>
            <a:prstDash val="solid"/>
          </a:ln>
        </p:spPr>
      </p:sp>
      <p:sp>
        <p:nvSpPr>
          <p:cNvPr id="4" name="Shape 2">
            <a:extLst xmlns:a="http://schemas.openxmlformats.org/drawingml/2006/main">
              <a:ext uri="{FF2B5EF4-FFF2-40B4-BE49-F238E27FC236}">
                <a16:creationId xmlns:a16="http://schemas.microsoft.com/office/drawing/2014/main" id="{FAE10E53-DEBA-4EB8-AD4F-7D18269E96A2}"/>
              </a:ext>
            </a:extLst>
          </p:cNvPr>
          <p:cNvSpPr>
            <a:spLocks xmlns:a="http://schemas.openxmlformats.org/drawingml/2006/main" noGrp="1"/>
          </p:cNvSpPr>
          <p:nvPr/>
        </p:nvSpPr>
        <p:spPr>
          <a:xfrm xmlns:a="http://schemas.openxmlformats.org/drawingml/2006/main">
            <a:off x="0" y="64008"/>
            <a:ext cx="9144000" cy="658368"/>
          </a:xfrm>
          <a:prstGeom xmlns:a="http://schemas.openxmlformats.org/drawingml/2006/main" prst="rect">
            <a:avLst/>
          </a:prstGeom>
          <a:solidFill xmlns:a="http://schemas.openxmlformats.org/drawingml/2006/main">
            <a:srgbClr val="1E3A50"/>
          </a:solidFill>
          <a:ln xmlns:a="http://schemas.openxmlformats.org/drawingml/2006/main" w="12700">
            <a:solidFill>
              <a:srgbClr val="1E3A50"/>
            </a:solidFill>
            <a:prstDash val="solid"/>
          </a:ln>
        </p:spPr>
      </p:sp>
      <p:sp>
        <p:nvSpPr>
          <p:cNvPr id="5" name="Text 3">
            <a:extLst xmlns:a="http://schemas.openxmlformats.org/drawingml/2006/main">
              <a:ext uri="{FF2B5EF4-FFF2-40B4-BE49-F238E27FC236}">
                <a16:creationId xmlns:a16="http://schemas.microsoft.com/office/drawing/2014/main" id="{F0C3F6DB-4ADD-4575-96A6-B729E7F84D25}"/>
              </a:ext>
            </a:extLst>
          </p:cNvPr>
          <p:cNvSpPr>
            <a:spLocks xmlns:a="http://schemas.openxmlformats.org/drawingml/2006/main" noGrp="1"/>
          </p:cNvSpPr>
          <p:nvPr/>
        </p:nvSpPr>
        <p:spPr>
          <a:xfrm xmlns:a="http://schemas.openxmlformats.org/drawingml/2006/main">
            <a:off x="274320" y="64008"/>
            <a:ext cx="731520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E8A020"/>
                </a:solidFill>
              </a:rPr>
              <a:t>KEY FINDING 1</a:t>
            </a:r>
            <a:endParaRPr sz="1100"/>
          </a:p>
        </p:txBody>
      </p:sp>
      <p:sp>
        <p:nvSpPr>
          <p:cNvPr id="6" name="Text 4">
            <a:extLst xmlns:a="http://schemas.openxmlformats.org/drawingml/2006/main">
              <a:ext uri="{FF2B5EF4-FFF2-40B4-BE49-F238E27FC236}">
                <a16:creationId xmlns:a16="http://schemas.microsoft.com/office/drawing/2014/main" id="{99500F34-0B56-4DEF-A917-D4D1BC052E9C}"/>
              </a:ext>
            </a:extLst>
          </p:cNvPr>
          <p:cNvSpPr>
            <a:spLocks xmlns:a="http://schemas.openxmlformats.org/drawingml/2006/main" noGrp="1"/>
          </p:cNvSpPr>
          <p:nvPr/>
        </p:nvSpPr>
        <p:spPr>
          <a:xfrm xmlns:a="http://schemas.openxmlformats.org/drawingml/2006/main">
            <a:off x="6858000" y="64008"/>
            <a:ext cx="201168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b="1">
                <a:solidFill>
                  <a:srgbClr val="E1E8EF"/>
                </a:solidFill>
              </a:rPr>
              <a:t>3 / 8</a:t>
            </a:r>
            <a:endParaRPr sz="1100"/>
          </a:p>
        </p:txBody>
      </p:sp>
      <p:sp>
        <p:nvSpPr>
          <p:cNvPr id="7" name="Text 5">
            <a:extLst xmlns:a="http://schemas.openxmlformats.org/drawingml/2006/main">
              <a:ext uri="{FF2B5EF4-FFF2-40B4-BE49-F238E27FC236}">
                <a16:creationId xmlns:a16="http://schemas.microsoft.com/office/drawing/2014/main" id="{04E18D4A-EDB8-4BC2-9C82-157B504F9E3A}"/>
              </a:ext>
            </a:extLst>
          </p:cNvPr>
          <p:cNvSpPr>
            <a:spLocks xmlns:a="http://schemas.openxmlformats.org/drawingml/2006/main" noGrp="1"/>
          </p:cNvSpPr>
          <p:nvPr/>
        </p:nvSpPr>
        <p:spPr>
          <a:xfrm xmlns:a="http://schemas.openxmlformats.org/drawingml/2006/main">
            <a:off x="274320" y="804672"/>
            <a:ext cx="85953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1A2638"/>
                </a:solidFill>
              </a:rPr>
              <a:t>Historical wildfire recurrence is uneven across mainland Portugal</a:t>
            </a:r>
            <a:endParaRPr sz="1600"/>
          </a:p>
        </p:txBody>
      </p:sp>
      <p:sp>
        <p:nvSpPr>
          <p:cNvPr id="8" name="Shape 6">
            <a:extLst xmlns:a="http://schemas.openxmlformats.org/drawingml/2006/main">
              <a:ext uri="{FF2B5EF4-FFF2-40B4-BE49-F238E27FC236}">
                <a16:creationId xmlns:a16="http://schemas.microsoft.com/office/drawing/2014/main" id="{1DF78375-6CC3-4BBB-9C4D-668753BE7353}"/>
              </a:ext>
            </a:extLst>
          </p:cNvPr>
          <p:cNvSpPr>
            <a:spLocks xmlns:a="http://schemas.openxmlformats.org/drawingml/2006/main" noGrp="1"/>
          </p:cNvSpPr>
          <p:nvPr/>
        </p:nvSpPr>
        <p:spPr>
          <a:xfrm xmlns:a="http://schemas.openxmlformats.org/drawingml/2006/main">
            <a:off x="274320" y="1298448"/>
            <a:ext cx="8595360" cy="749808"/>
          </a:xfrm>
          <a:prstGeom xmlns:a="http://schemas.openxmlformats.org/drawingml/2006/main" prst="rect">
            <a:avLst/>
          </a:prstGeom>
          <a:solidFill xmlns:a="http://schemas.openxmlformats.org/drawingml/2006/main">
            <a:srgbClr val="FDE8E8"/>
          </a:solidFill>
          <a:ln xmlns:a="http://schemas.openxmlformats.org/drawingml/2006/main" w="12700">
            <a:solidFill>
              <a:srgbClr val="C0392B"/>
            </a:solidFill>
            <a:prstDash val="solid"/>
          </a:ln>
        </p:spPr>
      </p:sp>
      <p:sp>
        <p:nvSpPr>
          <p:cNvPr id="9" name="Shape 7">
            <a:extLst xmlns:a="http://schemas.openxmlformats.org/drawingml/2006/main">
              <a:ext uri="{FF2B5EF4-FFF2-40B4-BE49-F238E27FC236}">
                <a16:creationId xmlns:a16="http://schemas.microsoft.com/office/drawing/2014/main" id="{37241FFF-4FDB-4617-B3FD-D10DC8E1538B}"/>
              </a:ext>
            </a:extLst>
          </p:cNvPr>
          <p:cNvSpPr>
            <a:spLocks xmlns:a="http://schemas.openxmlformats.org/drawingml/2006/main" noGrp="1"/>
          </p:cNvSpPr>
          <p:nvPr/>
        </p:nvSpPr>
        <p:spPr>
          <a:xfrm xmlns:a="http://schemas.openxmlformats.org/drawingml/2006/main">
            <a:off x="274320" y="1298448"/>
            <a:ext cx="128016" cy="749808"/>
          </a:xfrm>
          <a:prstGeom xmlns:a="http://schemas.openxmlformats.org/drawingml/2006/main" prst="rect">
            <a:avLst/>
          </a:prstGeom>
          <a:solidFill xmlns:a="http://schemas.openxmlformats.org/drawingml/2006/main">
            <a:srgbClr val="C0392B"/>
          </a:solidFill>
          <a:ln xmlns:a="http://schemas.openxmlformats.org/drawingml/2006/main" w="12700">
            <a:solidFill>
              <a:srgbClr val="C0392B"/>
            </a:solidFill>
            <a:prstDash val="solid"/>
          </a:ln>
        </p:spPr>
      </p:sp>
      <p:sp>
        <p:nvSpPr>
          <p:cNvPr id="10" name="Text 8">
            <a:extLst xmlns:a="http://schemas.openxmlformats.org/drawingml/2006/main">
              <a:ext uri="{FF2B5EF4-FFF2-40B4-BE49-F238E27FC236}">
                <a16:creationId xmlns:a16="http://schemas.microsoft.com/office/drawing/2014/main" id="{0AB972DB-D96A-4C36-AC50-5D19F5554E22}"/>
              </a:ext>
            </a:extLst>
          </p:cNvPr>
          <p:cNvSpPr>
            <a:spLocks xmlns:a="http://schemas.openxmlformats.org/drawingml/2006/main" noGrp="1"/>
          </p:cNvSpPr>
          <p:nvPr/>
        </p:nvSpPr>
        <p:spPr>
          <a:xfrm xmlns:a="http://schemas.openxmlformats.org/drawingml/2006/main">
            <a:off x="475488" y="1298448"/>
            <a:ext cx="411480"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C0392B"/>
                </a:solidFill>
              </a:rPr>
              <a:t>01</a:t>
            </a:r>
            <a:endParaRPr sz="1800"/>
          </a:p>
        </p:txBody>
      </p:sp>
      <p:sp>
        <p:nvSpPr>
          <p:cNvPr id="11" name="Text 9">
            <a:extLst xmlns:a="http://schemas.openxmlformats.org/drawingml/2006/main">
              <a:ext uri="{FF2B5EF4-FFF2-40B4-BE49-F238E27FC236}">
                <a16:creationId xmlns:a16="http://schemas.microsoft.com/office/drawing/2014/main" id="{4C545729-0E44-4E8B-9A11-A0A00A3A1E0D}"/>
              </a:ext>
            </a:extLst>
          </p:cNvPr>
          <p:cNvSpPr>
            <a:spLocks xmlns:a="http://schemas.openxmlformats.org/drawingml/2006/main" noGrp="1"/>
          </p:cNvSpPr>
          <p:nvPr/>
        </p:nvSpPr>
        <p:spPr>
          <a:xfrm xmlns:a="http://schemas.openxmlformats.org/drawingml/2006/main">
            <a:off x="932688" y="1353312"/>
            <a:ext cx="41148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1A2638"/>
                </a:solidFill>
              </a:rPr>
              <a:t>Reading the slides out loud</a:t>
            </a:r>
            <a:endParaRPr sz="1000"/>
          </a:p>
        </p:txBody>
      </p:sp>
      <p:sp>
        <p:nvSpPr>
          <p:cNvPr id="12" name="Text 10">
            <a:extLst xmlns:a="http://schemas.openxmlformats.org/drawingml/2006/main">
              <a:ext uri="{FF2B5EF4-FFF2-40B4-BE49-F238E27FC236}">
                <a16:creationId xmlns:a16="http://schemas.microsoft.com/office/drawing/2014/main" id="{B7B6E4B0-65A6-43EE-BE83-C4087BAB6EBB}"/>
              </a:ext>
            </a:extLst>
          </p:cNvPr>
          <p:cNvSpPr>
            <a:spLocks xmlns:a="http://schemas.openxmlformats.org/drawingml/2006/main" noGrp="1"/>
          </p:cNvSpPr>
          <p:nvPr/>
        </p:nvSpPr>
        <p:spPr>
          <a:xfrm xmlns:a="http://schemas.openxmlformats.org/drawingml/2006/main">
            <a:off x="932688" y="1664208"/>
            <a:ext cx="777240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b="1">
                <a:solidFill>
                  <a:srgbClr val="C0392B"/>
                </a:solidFill>
              </a:rPr>
              <a:t>Fix: </a:t>
            </a:r>
            <a:r>
              <a:rPr sz="850">
                <a:solidFill>
                  <a:srgbClr val="1A2638"/>
                </a:solidFill>
              </a:rPr>
              <a:t>Your slides show the chart. You explain what it means. Script: "This chart shows X — what's interesting is Y, because Z."</a:t>
            </a:r>
            <a:endParaRPr sz="850"/>
          </a:p>
        </p:txBody>
      </p:sp>
      <p:sp>
        <p:nvSpPr>
          <p:cNvPr id="13" name="Shape 11">
            <a:extLst xmlns:a="http://schemas.openxmlformats.org/drawingml/2006/main">
              <a:ext uri="{FF2B5EF4-FFF2-40B4-BE49-F238E27FC236}">
                <a16:creationId xmlns:a16="http://schemas.microsoft.com/office/drawing/2014/main" id="{5E1D40A7-DDF4-4090-9E86-7C0F4533A2C8}"/>
              </a:ext>
            </a:extLst>
          </p:cNvPr>
          <p:cNvSpPr>
            <a:spLocks xmlns:a="http://schemas.openxmlformats.org/drawingml/2006/main" noGrp="1"/>
          </p:cNvSpPr>
          <p:nvPr/>
        </p:nvSpPr>
        <p:spPr>
          <a:xfrm xmlns:a="http://schemas.openxmlformats.org/drawingml/2006/main">
            <a:off x="274320" y="2121408"/>
            <a:ext cx="8595360" cy="749808"/>
          </a:xfrm>
          <a:prstGeom xmlns:a="http://schemas.openxmlformats.org/drawingml/2006/main" prst="rect">
            <a:avLst/>
          </a:prstGeom>
          <a:solidFill xmlns:a="http://schemas.openxmlformats.org/drawingml/2006/main">
            <a:srgbClr val="FEF3E2"/>
          </a:solidFill>
          <a:ln xmlns:a="http://schemas.openxmlformats.org/drawingml/2006/main" w="12700">
            <a:solidFill>
              <a:srgbClr val="E67E22"/>
            </a:solidFill>
            <a:prstDash val="solid"/>
          </a:ln>
        </p:spPr>
      </p:sp>
      <p:sp>
        <p:nvSpPr>
          <p:cNvPr id="14" name="Shape 12">
            <a:extLst xmlns:a="http://schemas.openxmlformats.org/drawingml/2006/main">
              <a:ext uri="{FF2B5EF4-FFF2-40B4-BE49-F238E27FC236}">
                <a16:creationId xmlns:a16="http://schemas.microsoft.com/office/drawing/2014/main" id="{3A668561-846B-48E2-A808-B6713B58751C}"/>
              </a:ext>
            </a:extLst>
          </p:cNvPr>
          <p:cNvSpPr>
            <a:spLocks xmlns:a="http://schemas.openxmlformats.org/drawingml/2006/main" noGrp="1"/>
          </p:cNvSpPr>
          <p:nvPr/>
        </p:nvSpPr>
        <p:spPr>
          <a:xfrm xmlns:a="http://schemas.openxmlformats.org/drawingml/2006/main">
            <a:off x="274320" y="2121408"/>
            <a:ext cx="128016" cy="749808"/>
          </a:xfrm>
          <a:prstGeom xmlns:a="http://schemas.openxmlformats.org/drawingml/2006/main" prst="rect">
            <a:avLst/>
          </a:prstGeom>
          <a:solidFill xmlns:a="http://schemas.openxmlformats.org/drawingml/2006/main">
            <a:srgbClr val="E67E22"/>
          </a:solidFill>
          <a:ln xmlns:a="http://schemas.openxmlformats.org/drawingml/2006/main" w="12700">
            <a:solidFill>
              <a:srgbClr val="E67E22"/>
            </a:solidFill>
            <a:prstDash val="solid"/>
          </a:ln>
        </p:spPr>
      </p:sp>
      <p:sp>
        <p:nvSpPr>
          <p:cNvPr id="15" name="Text 13">
            <a:extLst xmlns:a="http://schemas.openxmlformats.org/drawingml/2006/main">
              <a:ext uri="{FF2B5EF4-FFF2-40B4-BE49-F238E27FC236}">
                <a16:creationId xmlns:a16="http://schemas.microsoft.com/office/drawing/2014/main" id="{BE09C76B-4A6D-4F8E-8CF2-0A519C817F32}"/>
              </a:ext>
            </a:extLst>
          </p:cNvPr>
          <p:cNvSpPr>
            <a:spLocks xmlns:a="http://schemas.openxmlformats.org/drawingml/2006/main" noGrp="1"/>
          </p:cNvSpPr>
          <p:nvPr/>
        </p:nvSpPr>
        <p:spPr>
          <a:xfrm xmlns:a="http://schemas.openxmlformats.org/drawingml/2006/main">
            <a:off x="475488" y="2121408"/>
            <a:ext cx="411480"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E67E22"/>
                </a:solidFill>
              </a:rPr>
              <a:t>02</a:t>
            </a:r>
            <a:endParaRPr sz="1800"/>
          </a:p>
        </p:txBody>
      </p:sp>
      <p:sp>
        <p:nvSpPr>
          <p:cNvPr id="16" name="Text 14">
            <a:extLst xmlns:a="http://schemas.openxmlformats.org/drawingml/2006/main">
              <a:ext uri="{FF2B5EF4-FFF2-40B4-BE49-F238E27FC236}">
                <a16:creationId xmlns:a16="http://schemas.microsoft.com/office/drawing/2014/main" id="{A49618AA-C5BA-4250-A242-1C4DE077ECB2}"/>
              </a:ext>
            </a:extLst>
          </p:cNvPr>
          <p:cNvSpPr>
            <a:spLocks xmlns:a="http://schemas.openxmlformats.org/drawingml/2006/main" noGrp="1"/>
          </p:cNvSpPr>
          <p:nvPr/>
        </p:nvSpPr>
        <p:spPr>
          <a:xfrm xmlns:a="http://schemas.openxmlformats.org/drawingml/2006/main">
            <a:off x="932688" y="2176272"/>
            <a:ext cx="41148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1A2638"/>
                </a:solidFill>
              </a:rPr>
              <a:t>Too many charts, not enough story</a:t>
            </a:r>
            <a:endParaRPr sz="1000"/>
          </a:p>
        </p:txBody>
      </p:sp>
      <p:sp>
        <p:nvSpPr>
          <p:cNvPr id="17" name="Text 15">
            <a:extLst xmlns:a="http://schemas.openxmlformats.org/drawingml/2006/main">
              <a:ext uri="{FF2B5EF4-FFF2-40B4-BE49-F238E27FC236}">
                <a16:creationId xmlns:a16="http://schemas.microsoft.com/office/drawing/2014/main" id="{FE12AB27-787A-4DD4-9E8B-D6D295A68097}"/>
              </a:ext>
            </a:extLst>
          </p:cNvPr>
          <p:cNvSpPr>
            <a:spLocks xmlns:a="http://schemas.openxmlformats.org/drawingml/2006/main" noGrp="1"/>
          </p:cNvSpPr>
          <p:nvPr/>
        </p:nvSpPr>
        <p:spPr>
          <a:xfrm xmlns:a="http://schemas.openxmlformats.org/drawingml/2006/main">
            <a:off x="932688" y="2487168"/>
            <a:ext cx="777240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b="1">
                <a:solidFill>
                  <a:srgbClr val="E67E22"/>
                </a:solidFill>
              </a:rPr>
              <a:t>Fix: </a:t>
            </a:r>
            <a:r>
              <a:rPr sz="850">
                <a:solidFill>
                  <a:srgbClr val="1A2638"/>
                </a:solidFill>
              </a:rPr>
              <a:t>Max 1 chart per slide. Ask: does removing this chart break the argument? If not, cut it.</a:t>
            </a:r>
            <a:endParaRPr sz="850"/>
          </a:p>
        </p:txBody>
      </p:sp>
      <p:sp>
        <p:nvSpPr>
          <p:cNvPr id="18" name="Shape 16">
            <a:extLst xmlns:a="http://schemas.openxmlformats.org/drawingml/2006/main">
              <a:ext uri="{FF2B5EF4-FFF2-40B4-BE49-F238E27FC236}">
                <a16:creationId xmlns:a16="http://schemas.microsoft.com/office/drawing/2014/main" id="{83037F46-5760-4891-B794-1835EA8729A1}"/>
              </a:ext>
            </a:extLst>
          </p:cNvPr>
          <p:cNvSpPr>
            <a:spLocks xmlns:a="http://schemas.openxmlformats.org/drawingml/2006/main" noGrp="1"/>
          </p:cNvSpPr>
          <p:nvPr/>
        </p:nvSpPr>
        <p:spPr>
          <a:xfrm xmlns:a="http://schemas.openxmlformats.org/drawingml/2006/main">
            <a:off x="274320" y="2944368"/>
            <a:ext cx="8595360" cy="749808"/>
          </a:xfrm>
          <a:prstGeom xmlns:a="http://schemas.openxmlformats.org/drawingml/2006/main" prst="rect">
            <a:avLst/>
          </a:prstGeom>
          <a:solidFill xmlns:a="http://schemas.openxmlformats.org/drawingml/2006/main">
            <a:srgbClr val="EBF0FD"/>
          </a:solidFill>
          <a:ln xmlns:a="http://schemas.openxmlformats.org/drawingml/2006/main" w="12700">
            <a:solidFill>
              <a:srgbClr val="2E6DB4"/>
            </a:solidFill>
            <a:prstDash val="solid"/>
          </a:ln>
        </p:spPr>
      </p:sp>
      <p:sp>
        <p:nvSpPr>
          <p:cNvPr id="19" name="Shape 17">
            <a:extLst xmlns:a="http://schemas.openxmlformats.org/drawingml/2006/main">
              <a:ext uri="{FF2B5EF4-FFF2-40B4-BE49-F238E27FC236}">
                <a16:creationId xmlns:a16="http://schemas.microsoft.com/office/drawing/2014/main" id="{80E0A910-91A0-45E3-A2D3-F5812E3F0043}"/>
              </a:ext>
            </a:extLst>
          </p:cNvPr>
          <p:cNvSpPr>
            <a:spLocks xmlns:a="http://schemas.openxmlformats.org/drawingml/2006/main" noGrp="1"/>
          </p:cNvSpPr>
          <p:nvPr/>
        </p:nvSpPr>
        <p:spPr>
          <a:xfrm xmlns:a="http://schemas.openxmlformats.org/drawingml/2006/main">
            <a:off x="274320" y="2944368"/>
            <a:ext cx="128016" cy="749808"/>
          </a:xfrm>
          <a:prstGeom xmlns:a="http://schemas.openxmlformats.org/drawingml/2006/main" prst="rect">
            <a:avLst/>
          </a:prstGeom>
          <a:solidFill xmlns:a="http://schemas.openxmlformats.org/drawingml/2006/main">
            <a:srgbClr val="2E6DB4"/>
          </a:solidFill>
          <a:ln xmlns:a="http://schemas.openxmlformats.org/drawingml/2006/main" w="12700">
            <a:solidFill>
              <a:srgbClr val="2E6DB4"/>
            </a:solidFill>
            <a:prstDash val="solid"/>
          </a:ln>
        </p:spPr>
      </p:sp>
      <p:sp>
        <p:nvSpPr>
          <p:cNvPr id="20" name="Text 18">
            <a:extLst xmlns:a="http://schemas.openxmlformats.org/drawingml/2006/main">
              <a:ext uri="{FF2B5EF4-FFF2-40B4-BE49-F238E27FC236}">
                <a16:creationId xmlns:a16="http://schemas.microsoft.com/office/drawing/2014/main" id="{293FA046-6D6A-4E4A-9969-04CA3AB563C0}"/>
              </a:ext>
            </a:extLst>
          </p:cNvPr>
          <p:cNvSpPr>
            <a:spLocks xmlns:a="http://schemas.openxmlformats.org/drawingml/2006/main" noGrp="1"/>
          </p:cNvSpPr>
          <p:nvPr/>
        </p:nvSpPr>
        <p:spPr>
          <a:xfrm xmlns:a="http://schemas.openxmlformats.org/drawingml/2006/main">
            <a:off x="475488" y="2944368"/>
            <a:ext cx="411480"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2E6DB4"/>
                </a:solidFill>
              </a:rPr>
              <a:t>03</a:t>
            </a:r>
            <a:endParaRPr sz="1800"/>
          </a:p>
        </p:txBody>
      </p:sp>
      <p:sp>
        <p:nvSpPr>
          <p:cNvPr id="21" name="Text 19">
            <a:extLst xmlns:a="http://schemas.openxmlformats.org/drawingml/2006/main">
              <a:ext uri="{FF2B5EF4-FFF2-40B4-BE49-F238E27FC236}">
                <a16:creationId xmlns:a16="http://schemas.microsoft.com/office/drawing/2014/main" id="{EF9BA277-6DD9-47D4-8D6E-1E3F1CBE95C8}"/>
              </a:ext>
            </a:extLst>
          </p:cNvPr>
          <p:cNvSpPr>
            <a:spLocks xmlns:a="http://schemas.openxmlformats.org/drawingml/2006/main" noGrp="1"/>
          </p:cNvSpPr>
          <p:nvPr/>
        </p:nvSpPr>
        <p:spPr>
          <a:xfrm xmlns:a="http://schemas.openxmlformats.org/drawingml/2006/main">
            <a:off x="932688" y="2999232"/>
            <a:ext cx="41148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1A2638"/>
                </a:solidFill>
              </a:rPr>
              <a:t>Data without context</a:t>
            </a:r>
            <a:endParaRPr sz="1000"/>
          </a:p>
        </p:txBody>
      </p:sp>
      <p:sp>
        <p:nvSpPr>
          <p:cNvPr id="22" name="Text 20">
            <a:extLst xmlns:a="http://schemas.openxmlformats.org/drawingml/2006/main">
              <a:ext uri="{FF2B5EF4-FFF2-40B4-BE49-F238E27FC236}">
                <a16:creationId xmlns:a16="http://schemas.microsoft.com/office/drawing/2014/main" id="{912809A9-CEA3-4744-93F4-4488C9D10710}"/>
              </a:ext>
            </a:extLst>
          </p:cNvPr>
          <p:cNvSpPr>
            <a:spLocks xmlns:a="http://schemas.openxmlformats.org/drawingml/2006/main" noGrp="1"/>
          </p:cNvSpPr>
          <p:nvPr/>
        </p:nvSpPr>
        <p:spPr>
          <a:xfrm xmlns:a="http://schemas.openxmlformats.org/drawingml/2006/main">
            <a:off x="932688" y="3310128"/>
            <a:ext cx="777240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b="1">
                <a:solidFill>
                  <a:srgbClr val="2E6DB4"/>
                </a:solidFill>
              </a:rPr>
              <a:t>Fix: </a:t>
            </a:r>
            <a:r>
              <a:rPr sz="850">
                <a:solidFill>
                  <a:srgbClr val="1A2638"/>
                </a:solidFill>
              </a:rPr>
              <a:t>Always say what the number means relative to something. "€1,847 average" means nothing. "€1,847 — 3x higher than online courses" means something.</a:t>
            </a:r>
            <a:endParaRPr sz="850"/>
          </a:p>
        </p:txBody>
      </p:sp>
      <p:sp>
        <p:nvSpPr>
          <p:cNvPr id="23" name="Shape 21">
            <a:extLst xmlns:a="http://schemas.openxmlformats.org/drawingml/2006/main">
              <a:ext uri="{FF2B5EF4-FFF2-40B4-BE49-F238E27FC236}">
                <a16:creationId xmlns:a16="http://schemas.microsoft.com/office/drawing/2014/main" id="{86247392-4C9E-45C2-8226-10FC4C3C4E90}"/>
              </a:ext>
            </a:extLst>
          </p:cNvPr>
          <p:cNvSpPr>
            <a:spLocks xmlns:a="http://schemas.openxmlformats.org/drawingml/2006/main" noGrp="1"/>
          </p:cNvSpPr>
          <p:nvPr/>
        </p:nvSpPr>
        <p:spPr>
          <a:xfrm xmlns:a="http://schemas.openxmlformats.org/drawingml/2006/main">
            <a:off x="274320" y="3767328"/>
            <a:ext cx="8595360" cy="749808"/>
          </a:xfrm>
          <a:prstGeom xmlns:a="http://schemas.openxmlformats.org/drawingml/2006/main" prst="rect">
            <a:avLst/>
          </a:prstGeom>
          <a:solidFill xmlns:a="http://schemas.openxmlformats.org/drawingml/2006/main">
            <a:srgbClr val="F3E8F7"/>
          </a:solidFill>
          <a:ln xmlns:a="http://schemas.openxmlformats.org/drawingml/2006/main" w="12700">
            <a:solidFill>
              <a:srgbClr val="7B2D8B"/>
            </a:solidFill>
            <a:prstDash val="solid"/>
          </a:ln>
        </p:spPr>
      </p:sp>
      <p:sp>
        <p:nvSpPr>
          <p:cNvPr id="24" name="Shape 22">
            <a:extLst xmlns:a="http://schemas.openxmlformats.org/drawingml/2006/main">
              <a:ext uri="{FF2B5EF4-FFF2-40B4-BE49-F238E27FC236}">
                <a16:creationId xmlns:a16="http://schemas.microsoft.com/office/drawing/2014/main" id="{3E131450-CAFD-4200-80E7-9C907B23DD2F}"/>
              </a:ext>
            </a:extLst>
          </p:cNvPr>
          <p:cNvSpPr>
            <a:spLocks xmlns:a="http://schemas.openxmlformats.org/drawingml/2006/main" noGrp="1"/>
          </p:cNvSpPr>
          <p:nvPr/>
        </p:nvSpPr>
        <p:spPr>
          <a:xfrm xmlns:a="http://schemas.openxmlformats.org/drawingml/2006/main">
            <a:off x="274320" y="3767328"/>
            <a:ext cx="128016" cy="749808"/>
          </a:xfrm>
          <a:prstGeom xmlns:a="http://schemas.openxmlformats.org/drawingml/2006/main" prst="rect">
            <a:avLst/>
          </a:prstGeom>
          <a:solidFill xmlns:a="http://schemas.openxmlformats.org/drawingml/2006/main">
            <a:srgbClr val="7B2D8B"/>
          </a:solidFill>
          <a:ln xmlns:a="http://schemas.openxmlformats.org/drawingml/2006/main" w="12700">
            <a:solidFill>
              <a:srgbClr val="7B2D8B"/>
            </a:solidFill>
            <a:prstDash val="solid"/>
          </a:ln>
        </p:spPr>
      </p:sp>
      <p:sp>
        <p:nvSpPr>
          <p:cNvPr id="25" name="Text 23">
            <a:extLst xmlns:a="http://schemas.openxmlformats.org/drawingml/2006/main">
              <a:ext uri="{FF2B5EF4-FFF2-40B4-BE49-F238E27FC236}">
                <a16:creationId xmlns:a16="http://schemas.microsoft.com/office/drawing/2014/main" id="{1D05C492-0403-4A94-B95E-31783A48853C}"/>
              </a:ext>
            </a:extLst>
          </p:cNvPr>
          <p:cNvSpPr>
            <a:spLocks xmlns:a="http://schemas.openxmlformats.org/drawingml/2006/main" noGrp="1"/>
          </p:cNvSpPr>
          <p:nvPr/>
        </p:nvSpPr>
        <p:spPr>
          <a:xfrm xmlns:a="http://schemas.openxmlformats.org/drawingml/2006/main">
            <a:off x="475488" y="3767328"/>
            <a:ext cx="411480"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7B2D8B"/>
                </a:solidFill>
              </a:rPr>
              <a:t>04</a:t>
            </a:r>
            <a:endParaRPr sz="1800"/>
          </a:p>
        </p:txBody>
      </p:sp>
      <p:sp>
        <p:nvSpPr>
          <p:cNvPr id="26" name="Text 24">
            <a:extLst xmlns:a="http://schemas.openxmlformats.org/drawingml/2006/main">
              <a:ext uri="{FF2B5EF4-FFF2-40B4-BE49-F238E27FC236}">
                <a16:creationId xmlns:a16="http://schemas.microsoft.com/office/drawing/2014/main" id="{EB988EB0-4610-44C8-871E-9B3EF86B458C}"/>
              </a:ext>
            </a:extLst>
          </p:cNvPr>
          <p:cNvSpPr>
            <a:spLocks xmlns:a="http://schemas.openxmlformats.org/drawingml/2006/main" noGrp="1"/>
          </p:cNvSpPr>
          <p:nvPr/>
        </p:nvSpPr>
        <p:spPr>
          <a:xfrm xmlns:a="http://schemas.openxmlformats.org/drawingml/2006/main">
            <a:off x="932688" y="3822192"/>
            <a:ext cx="41148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1A2638"/>
                </a:solidFill>
              </a:rPr>
              <a:t>Weak conclusions</a:t>
            </a:r>
            <a:endParaRPr sz="1000"/>
          </a:p>
        </p:txBody>
      </p:sp>
      <p:sp>
        <p:nvSpPr>
          <p:cNvPr id="27" name="Text 25">
            <a:extLst xmlns:a="http://schemas.openxmlformats.org/drawingml/2006/main">
              <a:ext uri="{FF2B5EF4-FFF2-40B4-BE49-F238E27FC236}">
                <a16:creationId xmlns:a16="http://schemas.microsoft.com/office/drawing/2014/main" id="{E7ABCB67-1999-4E01-AB8D-BC329595FF63}"/>
              </a:ext>
            </a:extLst>
          </p:cNvPr>
          <p:cNvSpPr>
            <a:spLocks xmlns:a="http://schemas.openxmlformats.org/drawingml/2006/main" noGrp="1"/>
          </p:cNvSpPr>
          <p:nvPr/>
        </p:nvSpPr>
        <p:spPr>
          <a:xfrm xmlns:a="http://schemas.openxmlformats.org/drawingml/2006/main">
            <a:off x="932688" y="4133088"/>
            <a:ext cx="777240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b="1">
                <a:solidFill>
                  <a:srgbClr val="7B2D8B"/>
                </a:solidFill>
              </a:rPr>
              <a:t>Fix: </a:t>
            </a:r>
            <a:r>
              <a:rPr sz="850">
                <a:solidFill>
                  <a:srgbClr val="1A2638"/>
                </a:solidFill>
              </a:rPr>
              <a:t>Ban "in conclusion, more research may be needed." Replace with: "We recommend X. The data supports this because Y."</a:t>
            </a:r>
            <a:endParaRPr sz="850"/>
          </a:p>
        </p:txBody>
      </p:sp>
      <p:sp>
        <p:nvSpPr>
          <p:cNvPr id="28" name="Shape 26">
            <a:extLst xmlns:a="http://schemas.openxmlformats.org/drawingml/2006/main">
              <a:ext uri="{FF2B5EF4-FFF2-40B4-BE49-F238E27FC236}">
                <a16:creationId xmlns:a16="http://schemas.microsoft.com/office/drawing/2014/main" id="{E15B9A44-ECE3-458B-9D84-6F20B4815673}"/>
              </a:ext>
            </a:extLst>
          </p:cNvPr>
          <p:cNvSpPr>
            <a:spLocks xmlns:a="http://schemas.openxmlformats.org/drawingml/2006/main" noGrp="1"/>
          </p:cNvSpPr>
          <p:nvPr/>
        </p:nvSpPr>
        <p:spPr>
          <a:xfrm xmlns:a="http://schemas.openxmlformats.org/drawingml/2006/main">
            <a:off x="274320" y="4590288"/>
            <a:ext cx="8595360" cy="749808"/>
          </a:xfrm>
          <a:prstGeom xmlns:a="http://schemas.openxmlformats.org/drawingml/2006/main" prst="rect">
            <a:avLst/>
          </a:prstGeom>
          <a:solidFill xmlns:a="http://schemas.openxmlformats.org/drawingml/2006/main">
            <a:srgbClr val="E6F5EE"/>
          </a:solidFill>
          <a:ln xmlns:a="http://schemas.openxmlformats.org/drawingml/2006/main" w="12700">
            <a:solidFill>
              <a:srgbClr val="2A9D61"/>
            </a:solidFill>
            <a:prstDash val="solid"/>
          </a:ln>
        </p:spPr>
      </p:sp>
      <p:sp>
        <p:nvSpPr>
          <p:cNvPr id="29" name="Shape 27">
            <a:extLst xmlns:a="http://schemas.openxmlformats.org/drawingml/2006/main">
              <a:ext uri="{FF2B5EF4-FFF2-40B4-BE49-F238E27FC236}">
                <a16:creationId xmlns:a16="http://schemas.microsoft.com/office/drawing/2014/main" id="{710CD624-8B20-4476-841A-BB7FE9D33914}"/>
              </a:ext>
            </a:extLst>
          </p:cNvPr>
          <p:cNvSpPr>
            <a:spLocks xmlns:a="http://schemas.openxmlformats.org/drawingml/2006/main" noGrp="1"/>
          </p:cNvSpPr>
          <p:nvPr/>
        </p:nvSpPr>
        <p:spPr>
          <a:xfrm xmlns:a="http://schemas.openxmlformats.org/drawingml/2006/main">
            <a:off x="274320" y="4590288"/>
            <a:ext cx="128016" cy="749808"/>
          </a:xfrm>
          <a:prstGeom xmlns:a="http://schemas.openxmlformats.org/drawingml/2006/main" prst="rect">
            <a:avLst/>
          </a:prstGeom>
          <a:solidFill xmlns:a="http://schemas.openxmlformats.org/drawingml/2006/main">
            <a:srgbClr val="2A9D61"/>
          </a:solidFill>
          <a:ln xmlns:a="http://schemas.openxmlformats.org/drawingml/2006/main" w="12700">
            <a:solidFill>
              <a:srgbClr val="2A9D61"/>
            </a:solidFill>
            <a:prstDash val="solid"/>
          </a:ln>
        </p:spPr>
      </p:sp>
      <p:sp>
        <p:nvSpPr>
          <p:cNvPr id="30" name="Text 28">
            <a:extLst xmlns:a="http://schemas.openxmlformats.org/drawingml/2006/main">
              <a:ext uri="{FF2B5EF4-FFF2-40B4-BE49-F238E27FC236}">
                <a16:creationId xmlns:a16="http://schemas.microsoft.com/office/drawing/2014/main" id="{3ADAB531-E85B-485E-B069-51CF50F7E781}"/>
              </a:ext>
            </a:extLst>
          </p:cNvPr>
          <p:cNvSpPr>
            <a:spLocks xmlns:a="http://schemas.openxmlformats.org/drawingml/2006/main" noGrp="1"/>
          </p:cNvSpPr>
          <p:nvPr/>
        </p:nvSpPr>
        <p:spPr>
          <a:xfrm xmlns:a="http://schemas.openxmlformats.org/drawingml/2006/main">
            <a:off x="475488" y="4590288"/>
            <a:ext cx="411480"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2A9D61"/>
                </a:solidFill>
              </a:rPr>
              <a:t>05</a:t>
            </a:r>
            <a:endParaRPr sz="1800"/>
          </a:p>
        </p:txBody>
      </p:sp>
      <p:sp>
        <p:nvSpPr>
          <p:cNvPr id="31" name="Text 29">
            <a:extLst xmlns:a="http://schemas.openxmlformats.org/drawingml/2006/main">
              <a:ext uri="{FF2B5EF4-FFF2-40B4-BE49-F238E27FC236}">
                <a16:creationId xmlns:a16="http://schemas.microsoft.com/office/drawing/2014/main" id="{89F6C8CE-B944-4399-9B6A-884CBC6F50BC}"/>
              </a:ext>
            </a:extLst>
          </p:cNvPr>
          <p:cNvSpPr>
            <a:spLocks xmlns:a="http://schemas.openxmlformats.org/drawingml/2006/main" noGrp="1"/>
          </p:cNvSpPr>
          <p:nvPr/>
        </p:nvSpPr>
        <p:spPr>
          <a:xfrm xmlns:a="http://schemas.openxmlformats.org/drawingml/2006/main">
            <a:off x="932688" y="4645152"/>
            <a:ext cx="41148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1A2638"/>
                </a:solidFill>
              </a:rPr>
              <a:t>Going over time</a:t>
            </a:r>
            <a:endParaRPr sz="1000"/>
          </a:p>
        </p:txBody>
      </p:sp>
      <p:sp>
        <p:nvSpPr>
          <p:cNvPr id="32" name="Text 30">
            <a:extLst xmlns:a="http://schemas.openxmlformats.org/drawingml/2006/main">
              <a:ext uri="{FF2B5EF4-FFF2-40B4-BE49-F238E27FC236}">
                <a16:creationId xmlns:a16="http://schemas.microsoft.com/office/drawing/2014/main" id="{FA053208-4D49-41BA-9C43-D454672197FB}"/>
              </a:ext>
            </a:extLst>
          </p:cNvPr>
          <p:cNvSpPr>
            <a:spLocks xmlns:a="http://schemas.openxmlformats.org/drawingml/2006/main" noGrp="1"/>
          </p:cNvSpPr>
          <p:nvPr/>
        </p:nvSpPr>
        <p:spPr>
          <a:xfrm xmlns:a="http://schemas.openxmlformats.org/drawingml/2006/main">
            <a:off x="932688" y="4956048"/>
            <a:ext cx="777240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b="1">
                <a:solidFill>
                  <a:srgbClr val="2A9D61"/>
                </a:solidFill>
              </a:rPr>
              <a:t>Fix: </a:t>
            </a:r>
            <a:r>
              <a:rPr sz="850">
                <a:solidFill>
                  <a:srgbClr val="1A2638"/>
                </a:solidFill>
              </a:rPr>
              <a:t>Practice out loud with a timer. 8 slides x 1.5 min = 12 min. That's your target.</a:t>
            </a:r>
            <a:endParaRPr sz="850"/>
          </a:p>
        </p:txBody>
      </p:sp>
      <p:sp>
        <p:nvSpPr>
          <p:cNvPr id="33" name="Shape 31">
            <a:extLst xmlns:a="http://schemas.openxmlformats.org/drawingml/2006/main">
              <a:ext uri="{FF2B5EF4-FFF2-40B4-BE49-F238E27FC236}">
                <a16:creationId xmlns:a16="http://schemas.microsoft.com/office/drawing/2014/main" id="{9B411C35-90B5-4B61-840C-47AE8AE2E51B}"/>
              </a:ext>
            </a:extLst>
          </p:cNvPr>
          <p:cNvSpPr>
            <a:spLocks xmlns:a="http://schemas.openxmlformats.org/drawingml/2006/main" noGrp="1"/>
          </p:cNvSpPr>
          <p:nvPr/>
        </p:nvSpPr>
        <p:spPr>
          <a:xfrm xmlns:a="http://schemas.openxmlformats.org/drawingml/2006/main">
            <a:off x="0" y="4919472"/>
            <a:ext cx="9144000" cy="224028"/>
          </a:xfrm>
          <a:prstGeom xmlns:a="http://schemas.openxmlformats.org/drawingml/2006/main" prst="rect">
            <a:avLst/>
          </a:prstGeom>
          <a:solidFill xmlns:a="http://schemas.openxmlformats.org/drawingml/2006/main">
            <a:srgbClr val="162B3D"/>
          </a:solidFill>
          <a:ln xmlns:a="http://schemas.openxmlformats.org/drawingml/2006/main" w="12700">
            <a:solidFill>
              <a:srgbClr val="162B3D"/>
            </a:solidFill>
            <a:prstDash val="solid"/>
          </a:ln>
        </p:spPr>
      </p:sp>
      <p:sp>
        <p:nvSpPr>
          <p:cNvPr id="34" name="Text 32">
            <a:extLst xmlns:a="http://schemas.openxmlformats.org/drawingml/2006/main">
              <a:ext uri="{FF2B5EF4-FFF2-40B4-BE49-F238E27FC236}">
                <a16:creationId xmlns:a16="http://schemas.microsoft.com/office/drawing/2014/main" id="{BA3EB167-C93B-417E-8E67-5309792E9CFA}"/>
              </a:ext>
            </a:extLst>
          </p:cNvPr>
          <p:cNvSpPr>
            <a:spLocks xmlns:a="http://schemas.openxmlformats.org/drawingml/2006/main" noGrp="1"/>
          </p:cNvSpPr>
          <p:nvPr/>
        </p:nvSpPr>
        <p:spPr>
          <a:xfrm xmlns:a="http://schemas.openxmlformats.org/drawingml/2006/main">
            <a:off x="274320" y="4919472"/>
            <a:ext cx="8595360" cy="2240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a:solidFill>
                  <a:srgbClr val="E8A020"/>
                </a:solidFill>
              </a:rPr>
              <a:t>Serhii Diadechko  |  Data Science &amp; Machine Learning Capstone</a:t>
            </a:r>
            <a:endParaRPr sz="800"/>
          </a:p>
        </p:txBody>
      </p:sp>
      <p:sp>
        <p:nvSpPr>
          <p:cNvPr id="35" name="">
            <a:extLst xmlns:a="http://schemas.openxmlformats.org/drawingml/2006/main">
              <a:ext uri="{FF2B5EF4-FFF2-40B4-BE49-F238E27FC236}">
                <a16:creationId xmlns:a16="http://schemas.microsoft.com/office/drawing/2014/main" id="{66160571-CBBC-41A9-A4C1-F4EE3C1B7438}"/>
              </a:ext>
            </a:extLst>
          </p:cNvPr>
          <p:cNvSpPr>
            <a:spLocks xmlns:a="http://schemas.openxmlformats.org/drawingml/2006/main" noGrp="1"/>
          </p:cNvSpPr>
          <p:nvPr/>
        </p:nvSpPr>
        <p:spPr>
          <a:xfrm xmlns:a="http://schemas.openxmlformats.org/drawingml/2006/main">
            <a:off x="266700" y="1200150"/>
            <a:ext cx="8610600" cy="36957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pic>
        <p:nvPicPr>
          <p:cNvPr id="71" name=""/>
          <p:cNvPicPr>
            <a:picLocks xmlns:a="http://schemas.openxmlformats.org/drawingml/2006/main" noChangeAspect="1"/>
          </p:cNvPicPr>
          <p:nvPr/>
        </p:nvPicPr>
        <p:blipFill>
          <a:blip xmlns:r="http://schemas.openxmlformats.org/officeDocument/2006/relationships" xmlns:a="http://schemas.openxmlformats.org/drawingml/2006/main" r:embed="Rdf3b21fa64314acd"/>
          <a:stretch xmlns:a="http://schemas.openxmlformats.org/drawingml/2006/main"/>
        </p:blipFill>
        <p:spPr>
          <a:xfrm xmlns:a="http://schemas.openxmlformats.org/drawingml/2006/main">
            <a:off x="2215075" y="1219200"/>
            <a:ext cx="4713851" cy="3333750"/>
          </a:xfrm>
          <a:prstGeom xmlns:a="http://schemas.openxmlformats.org/drawingml/2006/main" prst="rect">
            <a:avLst/>
          </a:prstGeom>
        </p:spPr>
      </p:pic>
    </p:spTree>
    <p:extLst>
      <p:ext uri="{BB962C8B-B14F-4D97-AF65-F5344CB8AC3E}">
        <p14:creationId xmlns:p14="http://schemas.microsoft.com/office/powerpoint/2010/main" val="163566404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1F71032-95DB-4481-90BA-EE48E7D6D9D9}"/>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F3F6F9"/>
          </a:solidFill>
          <a:ln xmlns:a="http://schemas.openxmlformats.org/drawingml/2006/main" w="12700">
            <a:solidFill>
              <a:srgbClr val="F3F6F9"/>
            </a:solidFill>
            <a:prstDash val="solid"/>
          </a:ln>
        </p:spPr>
      </p:sp>
      <p:sp>
        <p:nvSpPr>
          <p:cNvPr id="3" name="Shape 1">
            <a:extLst xmlns:a="http://schemas.openxmlformats.org/drawingml/2006/main">
              <a:ext uri="{FF2B5EF4-FFF2-40B4-BE49-F238E27FC236}">
                <a16:creationId xmlns:a16="http://schemas.microsoft.com/office/drawing/2014/main" id="{CD270622-BBFE-474A-B3AA-F358D4B67C4B}"/>
              </a:ext>
            </a:extLst>
          </p:cNvPr>
          <p:cNvSpPr>
            <a:spLocks xmlns:a="http://schemas.openxmlformats.org/drawingml/2006/main" noGrp="1"/>
          </p:cNvSpPr>
          <p:nvPr/>
        </p:nvSpPr>
        <p:spPr>
          <a:xfrm xmlns:a="http://schemas.openxmlformats.org/drawingml/2006/main">
            <a:off x="0" y="0"/>
            <a:ext cx="9144000" cy="64008"/>
          </a:xfrm>
          <a:prstGeom xmlns:a="http://schemas.openxmlformats.org/drawingml/2006/main" prst="rect">
            <a:avLst/>
          </a:prstGeom>
          <a:solidFill xmlns:a="http://schemas.openxmlformats.org/drawingml/2006/main">
            <a:srgbClr val="E8A020"/>
          </a:solidFill>
          <a:ln xmlns:a="http://schemas.openxmlformats.org/drawingml/2006/main" w="12700">
            <a:solidFill>
              <a:srgbClr val="E8A020"/>
            </a:solidFill>
            <a:prstDash val="solid"/>
          </a:ln>
        </p:spPr>
      </p:sp>
      <p:sp>
        <p:nvSpPr>
          <p:cNvPr id="4" name="Shape 2">
            <a:extLst xmlns:a="http://schemas.openxmlformats.org/drawingml/2006/main">
              <a:ext uri="{FF2B5EF4-FFF2-40B4-BE49-F238E27FC236}">
                <a16:creationId xmlns:a16="http://schemas.microsoft.com/office/drawing/2014/main" id="{54993E5A-7AC1-45E2-80F4-37FBE7F9FF0E}"/>
              </a:ext>
            </a:extLst>
          </p:cNvPr>
          <p:cNvSpPr>
            <a:spLocks xmlns:a="http://schemas.openxmlformats.org/drawingml/2006/main" noGrp="1"/>
          </p:cNvSpPr>
          <p:nvPr/>
        </p:nvSpPr>
        <p:spPr>
          <a:xfrm xmlns:a="http://schemas.openxmlformats.org/drawingml/2006/main">
            <a:off x="0" y="64008"/>
            <a:ext cx="9144000" cy="658368"/>
          </a:xfrm>
          <a:prstGeom xmlns:a="http://schemas.openxmlformats.org/drawingml/2006/main" prst="rect">
            <a:avLst/>
          </a:prstGeom>
          <a:solidFill xmlns:a="http://schemas.openxmlformats.org/drawingml/2006/main">
            <a:srgbClr val="1E3A50"/>
          </a:solidFill>
          <a:ln xmlns:a="http://schemas.openxmlformats.org/drawingml/2006/main" w="12700">
            <a:solidFill>
              <a:srgbClr val="1E3A50"/>
            </a:solidFill>
            <a:prstDash val="solid"/>
          </a:ln>
        </p:spPr>
      </p:sp>
      <p:sp>
        <p:nvSpPr>
          <p:cNvPr id="5" name="Text 3">
            <a:extLst xmlns:a="http://schemas.openxmlformats.org/drawingml/2006/main">
              <a:ext uri="{FF2B5EF4-FFF2-40B4-BE49-F238E27FC236}">
                <a16:creationId xmlns:a16="http://schemas.microsoft.com/office/drawing/2014/main" id="{94C619D5-0C07-4377-9B2B-ABA61131A82D}"/>
              </a:ext>
            </a:extLst>
          </p:cNvPr>
          <p:cNvSpPr>
            <a:spLocks xmlns:a="http://schemas.openxmlformats.org/drawingml/2006/main" noGrp="1"/>
          </p:cNvSpPr>
          <p:nvPr/>
        </p:nvSpPr>
        <p:spPr>
          <a:xfrm xmlns:a="http://schemas.openxmlformats.org/drawingml/2006/main">
            <a:off x="274320" y="64008"/>
            <a:ext cx="731520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E8A020"/>
                </a:solidFill>
              </a:rPr>
              <a:t>KEY FINDING 2</a:t>
            </a:r>
            <a:endParaRPr sz="1100"/>
          </a:p>
        </p:txBody>
      </p:sp>
      <p:sp>
        <p:nvSpPr>
          <p:cNvPr id="6" name="Text 4">
            <a:extLst xmlns:a="http://schemas.openxmlformats.org/drawingml/2006/main">
              <a:ext uri="{FF2B5EF4-FFF2-40B4-BE49-F238E27FC236}">
                <a16:creationId xmlns:a16="http://schemas.microsoft.com/office/drawing/2014/main" id="{5F9D6C8C-698D-47A7-A3C5-7E2590958517}"/>
              </a:ext>
            </a:extLst>
          </p:cNvPr>
          <p:cNvSpPr>
            <a:spLocks xmlns:a="http://schemas.openxmlformats.org/drawingml/2006/main" noGrp="1"/>
          </p:cNvSpPr>
          <p:nvPr/>
        </p:nvSpPr>
        <p:spPr>
          <a:xfrm xmlns:a="http://schemas.openxmlformats.org/drawingml/2006/main">
            <a:off x="6858000" y="64008"/>
            <a:ext cx="201168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b="1">
                <a:solidFill>
                  <a:srgbClr val="E1E8EF"/>
                </a:solidFill>
              </a:rPr>
              <a:t>4 / 8</a:t>
            </a:r>
            <a:endParaRPr sz="1100"/>
          </a:p>
        </p:txBody>
      </p:sp>
      <p:sp>
        <p:nvSpPr>
          <p:cNvPr id="7" name="Text 5">
            <a:extLst xmlns:a="http://schemas.openxmlformats.org/drawingml/2006/main">
              <a:ext uri="{FF2B5EF4-FFF2-40B4-BE49-F238E27FC236}">
                <a16:creationId xmlns:a16="http://schemas.microsoft.com/office/drawing/2014/main" id="{E5EB7BA8-611A-4FE4-8DCA-846D2994D29A}"/>
              </a:ext>
            </a:extLst>
          </p:cNvPr>
          <p:cNvSpPr>
            <a:spLocks xmlns:a="http://schemas.openxmlformats.org/drawingml/2006/main" noGrp="1"/>
          </p:cNvSpPr>
          <p:nvPr/>
        </p:nvSpPr>
        <p:spPr>
          <a:xfrm xmlns:a="http://schemas.openxmlformats.org/drawingml/2006/main">
            <a:off x="274320" y="804672"/>
            <a:ext cx="85953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1A2638"/>
                </a:solidFill>
              </a:rPr>
              <a:t>Historical recurrence and structural hazard provide complementary context</a:t>
            </a:r>
            <a:endParaRPr sz="1600"/>
          </a:p>
        </p:txBody>
      </p:sp>
      <p:sp>
        <p:nvSpPr>
          <p:cNvPr id="8" name="Shape 6">
            <a:extLst xmlns:a="http://schemas.openxmlformats.org/drawingml/2006/main">
              <a:ext uri="{FF2B5EF4-FFF2-40B4-BE49-F238E27FC236}">
                <a16:creationId xmlns:a16="http://schemas.microsoft.com/office/drawing/2014/main" id="{E81B247D-7B46-4878-9759-A852E6DD8BD5}"/>
              </a:ext>
            </a:extLst>
          </p:cNvPr>
          <p:cNvSpPr>
            <a:spLocks xmlns:a="http://schemas.openxmlformats.org/drawingml/2006/main" noGrp="1"/>
          </p:cNvSpPr>
          <p:nvPr/>
        </p:nvSpPr>
        <p:spPr>
          <a:xfrm xmlns:a="http://schemas.openxmlformats.org/drawingml/2006/main">
            <a:off x="274320" y="1298448"/>
            <a:ext cx="4160520" cy="3291840"/>
          </a:xfrm>
          <a:prstGeom xmlns:a="http://schemas.openxmlformats.org/drawingml/2006/main" prst="rect">
            <a:avLst/>
          </a:prstGeom>
          <a:solidFill xmlns:a="http://schemas.openxmlformats.org/drawingml/2006/main">
            <a:srgbClr val="FFFFFF"/>
          </a:solidFill>
          <a:ln xmlns:a="http://schemas.openxmlformats.org/drawingml/2006/main" w="12700">
            <a:solidFill>
              <a:srgbClr val="E1E8EF"/>
            </a:solidFill>
            <a:prstDash val="solid"/>
          </a:ln>
          <a:effectLst xmlns:a="http://schemas.openxmlformats.org/drawingml/2006/main">
            <a:outerShdw blurRad="101600" dist="38100" dir="8100000" sx="100000" sy="100000" kx="0" ky="0" algn="bl" rotWithShape="0">
              <a:srgbClr val="000000">
                <a:alpha val="10000"/>
              </a:srgbClr>
            </a:outerShdw>
          </a:effectLst>
        </p:spPr>
      </p:sp>
      <p:sp>
        <p:nvSpPr>
          <p:cNvPr id="9" name="Shape 7">
            <a:extLst xmlns:a="http://schemas.openxmlformats.org/drawingml/2006/main">
              <a:ext uri="{FF2B5EF4-FFF2-40B4-BE49-F238E27FC236}">
                <a16:creationId xmlns:a16="http://schemas.microsoft.com/office/drawing/2014/main" id="{EE2EDBCC-C6A0-4EB0-ABA9-364F21C6C046}"/>
              </a:ext>
            </a:extLst>
          </p:cNvPr>
          <p:cNvSpPr>
            <a:spLocks xmlns:a="http://schemas.openxmlformats.org/drawingml/2006/main" noGrp="1"/>
          </p:cNvSpPr>
          <p:nvPr/>
        </p:nvSpPr>
        <p:spPr>
          <a:xfrm xmlns:a="http://schemas.openxmlformats.org/drawingml/2006/main">
            <a:off x="274320" y="1298448"/>
            <a:ext cx="4160520" cy="384048"/>
          </a:xfrm>
          <a:prstGeom xmlns:a="http://schemas.openxmlformats.org/drawingml/2006/main" prst="rect">
            <a:avLst/>
          </a:prstGeom>
          <a:solidFill xmlns:a="http://schemas.openxmlformats.org/drawingml/2006/main">
            <a:srgbClr val="1E3A50"/>
          </a:solidFill>
          <a:ln xmlns:a="http://schemas.openxmlformats.org/drawingml/2006/main" w="12700">
            <a:solidFill>
              <a:srgbClr val="1E3A50"/>
            </a:solidFill>
            <a:prstDash val="solid"/>
          </a:ln>
        </p:spPr>
      </p:sp>
      <p:sp>
        <p:nvSpPr>
          <p:cNvPr id="10" name="Text 8">
            <a:extLst xmlns:a="http://schemas.openxmlformats.org/drawingml/2006/main">
              <a:ext uri="{FF2B5EF4-FFF2-40B4-BE49-F238E27FC236}">
                <a16:creationId xmlns:a16="http://schemas.microsoft.com/office/drawing/2014/main" id="{34B6A4FE-0A95-45E8-B92F-8B01AB71A047}"/>
              </a:ext>
            </a:extLst>
          </p:cNvPr>
          <p:cNvSpPr>
            <a:spLocks xmlns:a="http://schemas.openxmlformats.org/drawingml/2006/main" noGrp="1"/>
          </p:cNvSpPr>
          <p:nvPr/>
        </p:nvSpPr>
        <p:spPr>
          <a:xfrm xmlns:a="http://schemas.openxmlformats.org/drawingml/2006/main">
            <a:off x="274320" y="1298448"/>
            <a:ext cx="41605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rPr>
              <a:t>Evidence layers</a:t>
            </a:r>
            <a:endParaRPr sz="1000"/>
          </a:p>
        </p:txBody>
      </p:sp>
      <p:sp>
        <p:nvSpPr>
          <p:cNvPr id="11" name="Shape 9">
            <a:extLst xmlns:a="http://schemas.openxmlformats.org/drawingml/2006/main">
              <a:ext uri="{FF2B5EF4-FFF2-40B4-BE49-F238E27FC236}">
                <a16:creationId xmlns:a16="http://schemas.microsoft.com/office/drawing/2014/main" id="{E06E9D48-2C14-4301-826B-F612D4177347}"/>
              </a:ext>
            </a:extLst>
          </p:cNvPr>
          <p:cNvSpPr>
            <a:spLocks xmlns:a="http://schemas.openxmlformats.org/drawingml/2006/main" noGrp="1"/>
          </p:cNvSpPr>
          <p:nvPr/>
        </p:nvSpPr>
        <p:spPr>
          <a:xfrm xmlns:a="http://schemas.openxmlformats.org/drawingml/2006/main">
            <a:off x="438912" y="1810512"/>
            <a:ext cx="201168" cy="201168"/>
          </a:xfrm>
          <a:prstGeom xmlns:a="http://schemas.openxmlformats.org/drawingml/2006/main" prst="rect">
            <a:avLst/>
          </a:prstGeom>
          <a:solidFill xmlns:a="http://schemas.openxmlformats.org/drawingml/2006/main">
            <a:srgbClr val="2A9D61"/>
          </a:solidFill>
          <a:ln xmlns:a="http://schemas.openxmlformats.org/drawingml/2006/main" w="12700">
            <a:solidFill>
              <a:srgbClr val="2A9D61"/>
            </a:solidFill>
            <a:prstDash val="solid"/>
          </a:ln>
        </p:spPr>
      </p:sp>
      <p:sp>
        <p:nvSpPr>
          <p:cNvPr id="12" name="Text 10">
            <a:extLst xmlns:a="http://schemas.openxmlformats.org/drawingml/2006/main">
              <a:ext uri="{FF2B5EF4-FFF2-40B4-BE49-F238E27FC236}">
                <a16:creationId xmlns:a16="http://schemas.microsoft.com/office/drawing/2014/main" id="{762EDECB-CC41-484F-9DAC-CC0567DC9945}"/>
              </a:ext>
            </a:extLst>
          </p:cNvPr>
          <p:cNvSpPr>
            <a:spLocks xmlns:a="http://schemas.openxmlformats.org/drawingml/2006/main" noGrp="1"/>
          </p:cNvSpPr>
          <p:nvPr/>
        </p:nvSpPr>
        <p:spPr>
          <a:xfrm xmlns:a="http://schemas.openxmlformats.org/drawingml/2006/main">
            <a:off x="438912" y="1810512"/>
            <a:ext cx="2011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rPr>
              <a:t>v</a:t>
            </a:r>
            <a:endParaRPr sz="800"/>
          </a:p>
        </p:txBody>
      </p:sp>
      <p:sp>
        <p:nvSpPr>
          <p:cNvPr id="13" name="Text 11">
            <a:extLst xmlns:a="http://schemas.openxmlformats.org/drawingml/2006/main">
              <a:ext uri="{FF2B5EF4-FFF2-40B4-BE49-F238E27FC236}">
                <a16:creationId xmlns:a16="http://schemas.microsoft.com/office/drawing/2014/main" id="{9845F9BB-8101-4018-B054-66F0EDF6D458}"/>
              </a:ext>
            </a:extLst>
          </p:cNvPr>
          <p:cNvSpPr>
            <a:spLocks xmlns:a="http://schemas.openxmlformats.org/drawingml/2006/main" noGrp="1"/>
          </p:cNvSpPr>
          <p:nvPr/>
        </p:nvSpPr>
        <p:spPr>
          <a:xfrm xmlns:a="http://schemas.openxmlformats.org/drawingml/2006/main">
            <a:off x="713232" y="1773936"/>
            <a:ext cx="36118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1A2638"/>
                </a:solidFill>
              </a:rPr>
              <a:t>Counts 2016–2025 burned years in the 2 km context around each 1 km cell.</a:t>
            </a:r>
            <a:endParaRPr sz="850"/>
          </a:p>
        </p:txBody>
      </p:sp>
      <p:sp>
        <p:nvSpPr>
          <p:cNvPr id="14" name="Shape 12">
            <a:extLst xmlns:a="http://schemas.openxmlformats.org/drawingml/2006/main">
              <a:ext uri="{FF2B5EF4-FFF2-40B4-BE49-F238E27FC236}">
                <a16:creationId xmlns:a16="http://schemas.microsoft.com/office/drawing/2014/main" id="{8F7D6DC9-1BFC-4804-ACF1-7C0FCFE8FCCC}"/>
              </a:ext>
            </a:extLst>
          </p:cNvPr>
          <p:cNvSpPr>
            <a:spLocks xmlns:a="http://schemas.openxmlformats.org/drawingml/2006/main" noGrp="1"/>
          </p:cNvSpPr>
          <p:nvPr/>
        </p:nvSpPr>
        <p:spPr>
          <a:xfrm xmlns:a="http://schemas.openxmlformats.org/drawingml/2006/main">
            <a:off x="438912" y="2212848"/>
            <a:ext cx="201168" cy="201168"/>
          </a:xfrm>
          <a:prstGeom xmlns:a="http://schemas.openxmlformats.org/drawingml/2006/main" prst="rect">
            <a:avLst/>
          </a:prstGeom>
          <a:solidFill xmlns:a="http://schemas.openxmlformats.org/drawingml/2006/main">
            <a:srgbClr val="2A9D61"/>
          </a:solidFill>
          <a:ln xmlns:a="http://schemas.openxmlformats.org/drawingml/2006/main" w="12700">
            <a:solidFill>
              <a:srgbClr val="2A9D61"/>
            </a:solidFill>
            <a:prstDash val="solid"/>
          </a:ln>
        </p:spPr>
      </p:sp>
      <p:sp>
        <p:nvSpPr>
          <p:cNvPr id="15" name="Text 13">
            <a:extLst xmlns:a="http://schemas.openxmlformats.org/drawingml/2006/main">
              <a:ext uri="{FF2B5EF4-FFF2-40B4-BE49-F238E27FC236}">
                <a16:creationId xmlns:a16="http://schemas.microsoft.com/office/drawing/2014/main" id="{67ADF009-96D8-495A-A992-EFF22040FAD5}"/>
              </a:ext>
            </a:extLst>
          </p:cNvPr>
          <p:cNvSpPr>
            <a:spLocks xmlns:a="http://schemas.openxmlformats.org/drawingml/2006/main" noGrp="1"/>
          </p:cNvSpPr>
          <p:nvPr/>
        </p:nvSpPr>
        <p:spPr>
          <a:xfrm xmlns:a="http://schemas.openxmlformats.org/drawingml/2006/main">
            <a:off x="438912" y="2212848"/>
            <a:ext cx="2011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rPr>
              <a:t>v</a:t>
            </a:r>
            <a:endParaRPr sz="800"/>
          </a:p>
        </p:txBody>
      </p:sp>
      <p:sp>
        <p:nvSpPr>
          <p:cNvPr id="16" name="Text 14">
            <a:extLst xmlns:a="http://schemas.openxmlformats.org/drawingml/2006/main">
              <a:ext uri="{FF2B5EF4-FFF2-40B4-BE49-F238E27FC236}">
                <a16:creationId xmlns:a16="http://schemas.microsoft.com/office/drawing/2014/main" id="{A575E5B0-49CA-4B4E-9DC3-3BA924662B54}"/>
              </a:ext>
            </a:extLst>
          </p:cNvPr>
          <p:cNvSpPr>
            <a:spLocks xmlns:a="http://schemas.openxmlformats.org/drawingml/2006/main" noGrp="1"/>
          </p:cNvSpPr>
          <p:nvPr/>
        </p:nvSpPr>
        <p:spPr>
          <a:xfrm xmlns:a="http://schemas.openxmlformats.org/drawingml/2006/main">
            <a:off x="713232" y="2176272"/>
            <a:ext cx="36118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1A2638"/>
                </a:solidFill>
              </a:rPr>
              <a:t>Official structural hazard</a:t>
            </a:r>
            <a:endParaRPr sz="850"/>
          </a:p>
        </p:txBody>
      </p:sp>
      <p:sp>
        <p:nvSpPr>
          <p:cNvPr id="17" name="Shape 15">
            <a:extLst xmlns:a="http://schemas.openxmlformats.org/drawingml/2006/main">
              <a:ext uri="{FF2B5EF4-FFF2-40B4-BE49-F238E27FC236}">
                <a16:creationId xmlns:a16="http://schemas.microsoft.com/office/drawing/2014/main" id="{D8D3CCF8-00C9-4170-8866-25687FF7FD1B}"/>
              </a:ext>
            </a:extLst>
          </p:cNvPr>
          <p:cNvSpPr>
            <a:spLocks xmlns:a="http://schemas.openxmlformats.org/drawingml/2006/main" noGrp="1"/>
          </p:cNvSpPr>
          <p:nvPr/>
        </p:nvSpPr>
        <p:spPr>
          <a:xfrm xmlns:a="http://schemas.openxmlformats.org/drawingml/2006/main">
            <a:off x="438912" y="2615184"/>
            <a:ext cx="201168" cy="201168"/>
          </a:xfrm>
          <a:prstGeom xmlns:a="http://schemas.openxmlformats.org/drawingml/2006/main" prst="rect">
            <a:avLst/>
          </a:prstGeom>
          <a:solidFill xmlns:a="http://schemas.openxmlformats.org/drawingml/2006/main">
            <a:srgbClr val="2A9D61"/>
          </a:solidFill>
          <a:ln xmlns:a="http://schemas.openxmlformats.org/drawingml/2006/main" w="12700">
            <a:solidFill>
              <a:srgbClr val="2A9D61"/>
            </a:solidFill>
            <a:prstDash val="solid"/>
          </a:ln>
        </p:spPr>
      </p:sp>
      <p:sp>
        <p:nvSpPr>
          <p:cNvPr id="18" name="Text 16">
            <a:extLst xmlns:a="http://schemas.openxmlformats.org/drawingml/2006/main">
              <a:ext uri="{FF2B5EF4-FFF2-40B4-BE49-F238E27FC236}">
                <a16:creationId xmlns:a16="http://schemas.microsoft.com/office/drawing/2014/main" id="{92FDB06B-FD4A-42B3-86E0-E537A1E2C523}"/>
              </a:ext>
            </a:extLst>
          </p:cNvPr>
          <p:cNvSpPr>
            <a:spLocks xmlns:a="http://schemas.openxmlformats.org/drawingml/2006/main" noGrp="1"/>
          </p:cNvSpPr>
          <p:nvPr/>
        </p:nvSpPr>
        <p:spPr>
          <a:xfrm xmlns:a="http://schemas.openxmlformats.org/drawingml/2006/main">
            <a:off x="438912" y="2615184"/>
            <a:ext cx="2011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rPr>
              <a:t>v</a:t>
            </a:r>
            <a:endParaRPr sz="800"/>
          </a:p>
        </p:txBody>
      </p:sp>
      <p:sp>
        <p:nvSpPr>
          <p:cNvPr id="19" name="Text 17">
            <a:extLst xmlns:a="http://schemas.openxmlformats.org/drawingml/2006/main">
              <a:ext uri="{FF2B5EF4-FFF2-40B4-BE49-F238E27FC236}">
                <a16:creationId xmlns:a16="http://schemas.microsoft.com/office/drawing/2014/main" id="{BCDBEFEE-46CB-44A3-88E9-AFF40DBD9C38}"/>
              </a:ext>
            </a:extLst>
          </p:cNvPr>
          <p:cNvSpPr>
            <a:spLocks xmlns:a="http://schemas.openxmlformats.org/drawingml/2006/main" noGrp="1"/>
          </p:cNvSpPr>
          <p:nvPr/>
        </p:nvSpPr>
        <p:spPr>
          <a:xfrm xmlns:a="http://schemas.openxmlformats.org/drawingml/2006/main">
            <a:off x="713232" y="2578608"/>
            <a:ext cx="36118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1A2638"/>
                </a:solidFill>
              </a:rPr>
              <a:t>An official ICNF classification of underlying landscape hazard conditions, summarised from 25 m classes to the predominant 1 km class.</a:t>
            </a:r>
            <a:endParaRPr sz="850"/>
          </a:p>
        </p:txBody>
      </p:sp>
      <p:sp>
        <p:nvSpPr>
          <p:cNvPr id="20" name="Shape 18">
            <a:extLst xmlns:a="http://schemas.openxmlformats.org/drawingml/2006/main">
              <a:ext uri="{FF2B5EF4-FFF2-40B4-BE49-F238E27FC236}">
                <a16:creationId xmlns:a16="http://schemas.microsoft.com/office/drawing/2014/main" id="{38CC2047-DAFF-4F79-8A6C-9693337DE728}"/>
              </a:ext>
            </a:extLst>
          </p:cNvPr>
          <p:cNvSpPr>
            <a:spLocks xmlns:a="http://schemas.openxmlformats.org/drawingml/2006/main" noGrp="1"/>
          </p:cNvSpPr>
          <p:nvPr/>
        </p:nvSpPr>
        <p:spPr>
          <a:xfrm xmlns:a="http://schemas.openxmlformats.org/drawingml/2006/main">
            <a:off x="438912" y="3017520"/>
            <a:ext cx="201168" cy="201168"/>
          </a:xfrm>
          <a:prstGeom xmlns:a="http://schemas.openxmlformats.org/drawingml/2006/main" prst="rect">
            <a:avLst/>
          </a:prstGeom>
          <a:solidFill xmlns:a="http://schemas.openxmlformats.org/drawingml/2006/main">
            <a:srgbClr val="2A9D61"/>
          </a:solidFill>
          <a:ln xmlns:a="http://schemas.openxmlformats.org/drawingml/2006/main" w="12700">
            <a:solidFill>
              <a:srgbClr val="2A9D61"/>
            </a:solidFill>
            <a:prstDash val="solid"/>
          </a:ln>
        </p:spPr>
      </p:sp>
      <p:sp>
        <p:nvSpPr>
          <p:cNvPr id="21" name="Text 19">
            <a:extLst xmlns:a="http://schemas.openxmlformats.org/drawingml/2006/main">
              <a:ext uri="{FF2B5EF4-FFF2-40B4-BE49-F238E27FC236}">
                <a16:creationId xmlns:a16="http://schemas.microsoft.com/office/drawing/2014/main" id="{81A07EFA-64C1-421F-8395-E96857D11C9D}"/>
              </a:ext>
            </a:extLst>
          </p:cNvPr>
          <p:cNvSpPr>
            <a:spLocks xmlns:a="http://schemas.openxmlformats.org/drawingml/2006/main" noGrp="1"/>
          </p:cNvSpPr>
          <p:nvPr/>
        </p:nvSpPr>
        <p:spPr>
          <a:xfrm xmlns:a="http://schemas.openxmlformats.org/drawingml/2006/main">
            <a:off x="438912" y="3017520"/>
            <a:ext cx="2011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rPr>
              <a:t>v</a:t>
            </a:r>
            <a:endParaRPr sz="800"/>
          </a:p>
        </p:txBody>
      </p:sp>
      <p:sp>
        <p:nvSpPr>
          <p:cNvPr id="22" name="Text 20">
            <a:extLst xmlns:a="http://schemas.openxmlformats.org/drawingml/2006/main">
              <a:ext uri="{FF2B5EF4-FFF2-40B4-BE49-F238E27FC236}">
                <a16:creationId xmlns:a16="http://schemas.microsoft.com/office/drawing/2014/main" id="{5EAD8AF5-A5F3-448D-94DD-FC8FED090183}"/>
              </a:ext>
            </a:extLst>
          </p:cNvPr>
          <p:cNvSpPr>
            <a:spLocks xmlns:a="http://schemas.openxmlformats.org/drawingml/2006/main" noGrp="1"/>
          </p:cNvSpPr>
          <p:nvPr/>
        </p:nvSpPr>
        <p:spPr>
          <a:xfrm xmlns:a="http://schemas.openxmlformats.org/drawingml/2006/main">
            <a:off x="713232" y="2980944"/>
            <a:ext cx="36118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1A2638"/>
                </a:solidFill>
              </a:rPr>
              <a:t>Why compare both?</a:t>
            </a:r>
            <a:endParaRPr sz="850"/>
          </a:p>
        </p:txBody>
      </p:sp>
      <p:sp>
        <p:nvSpPr>
          <p:cNvPr id="23" name="Shape 21">
            <a:extLst xmlns:a="http://schemas.openxmlformats.org/drawingml/2006/main">
              <a:ext uri="{FF2B5EF4-FFF2-40B4-BE49-F238E27FC236}">
                <a16:creationId xmlns:a16="http://schemas.microsoft.com/office/drawing/2014/main" id="{DED7C38A-5AFF-444C-9656-647FE8BFFCC0}"/>
              </a:ext>
            </a:extLst>
          </p:cNvPr>
          <p:cNvSpPr>
            <a:spLocks xmlns:a="http://schemas.openxmlformats.org/drawingml/2006/main" noGrp="1"/>
          </p:cNvSpPr>
          <p:nvPr/>
        </p:nvSpPr>
        <p:spPr>
          <a:xfrm xmlns:a="http://schemas.openxmlformats.org/drawingml/2006/main">
            <a:off x="438912" y="3419856"/>
            <a:ext cx="201168" cy="201168"/>
          </a:xfrm>
          <a:prstGeom xmlns:a="http://schemas.openxmlformats.org/drawingml/2006/main" prst="rect">
            <a:avLst/>
          </a:prstGeom>
          <a:solidFill xmlns:a="http://schemas.openxmlformats.org/drawingml/2006/main">
            <a:srgbClr val="2A9D61"/>
          </a:solidFill>
          <a:ln xmlns:a="http://schemas.openxmlformats.org/drawingml/2006/main" w="12700">
            <a:solidFill>
              <a:srgbClr val="2A9D61"/>
            </a:solidFill>
            <a:prstDash val="solid"/>
          </a:ln>
        </p:spPr>
      </p:sp>
      <p:sp>
        <p:nvSpPr>
          <p:cNvPr id="24" name="Text 22">
            <a:extLst xmlns:a="http://schemas.openxmlformats.org/drawingml/2006/main">
              <a:ext uri="{FF2B5EF4-FFF2-40B4-BE49-F238E27FC236}">
                <a16:creationId xmlns:a16="http://schemas.microsoft.com/office/drawing/2014/main" id="{6D116A6D-EF77-48F1-A187-EBD01D9FDCCF}"/>
              </a:ext>
            </a:extLst>
          </p:cNvPr>
          <p:cNvSpPr>
            <a:spLocks xmlns:a="http://schemas.openxmlformats.org/drawingml/2006/main" noGrp="1"/>
          </p:cNvSpPr>
          <p:nvPr/>
        </p:nvSpPr>
        <p:spPr>
          <a:xfrm xmlns:a="http://schemas.openxmlformats.org/drawingml/2006/main">
            <a:off x="438912" y="3419856"/>
            <a:ext cx="2011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rPr>
              <a:t>v</a:t>
            </a:r>
            <a:endParaRPr sz="800"/>
          </a:p>
        </p:txBody>
      </p:sp>
      <p:sp>
        <p:nvSpPr>
          <p:cNvPr id="25" name="Text 23">
            <a:extLst xmlns:a="http://schemas.openxmlformats.org/drawingml/2006/main">
              <a:ext uri="{FF2B5EF4-FFF2-40B4-BE49-F238E27FC236}">
                <a16:creationId xmlns:a16="http://schemas.microsoft.com/office/drawing/2014/main" id="{015EC6A5-C6DF-4FAE-A905-3C6C3F4211DE}"/>
              </a:ext>
            </a:extLst>
          </p:cNvPr>
          <p:cNvSpPr>
            <a:spLocks xmlns:a="http://schemas.openxmlformats.org/drawingml/2006/main" noGrp="1"/>
          </p:cNvSpPr>
          <p:nvPr/>
        </p:nvSpPr>
        <p:spPr>
          <a:xfrm xmlns:a="http://schemas.openxmlformats.org/drawingml/2006/main">
            <a:off x="713232" y="3383280"/>
            <a:ext cx="36118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1A2638"/>
                </a:solidFill>
              </a:rPr>
              <a:t>They use different methods and time frames, so agreement or disagreement adds context.</a:t>
            </a:r>
            <a:endParaRPr sz="850"/>
          </a:p>
        </p:txBody>
      </p:sp>
      <p:sp>
        <p:nvSpPr>
          <p:cNvPr id="26" name="Shape 24">
            <a:extLst xmlns:a="http://schemas.openxmlformats.org/drawingml/2006/main">
              <a:ext uri="{FF2B5EF4-FFF2-40B4-BE49-F238E27FC236}">
                <a16:creationId xmlns:a16="http://schemas.microsoft.com/office/drawing/2014/main" id="{A5DEA074-89DF-4CCE-8A8F-D65475D0DE9E}"/>
              </a:ext>
            </a:extLst>
          </p:cNvPr>
          <p:cNvSpPr>
            <a:spLocks xmlns:a="http://schemas.openxmlformats.org/drawingml/2006/main" noGrp="1"/>
          </p:cNvSpPr>
          <p:nvPr/>
        </p:nvSpPr>
        <p:spPr>
          <a:xfrm xmlns:a="http://schemas.openxmlformats.org/drawingml/2006/main">
            <a:off x="438912" y="3822192"/>
            <a:ext cx="201168" cy="201168"/>
          </a:xfrm>
          <a:prstGeom xmlns:a="http://schemas.openxmlformats.org/drawingml/2006/main" prst="rect">
            <a:avLst/>
          </a:prstGeom>
          <a:solidFill xmlns:a="http://schemas.openxmlformats.org/drawingml/2006/main">
            <a:srgbClr val="2A9D61"/>
          </a:solidFill>
          <a:ln xmlns:a="http://schemas.openxmlformats.org/drawingml/2006/main" w="12700">
            <a:solidFill>
              <a:srgbClr val="2A9D61"/>
            </a:solidFill>
            <a:prstDash val="solid"/>
          </a:ln>
        </p:spPr>
      </p:sp>
      <p:sp>
        <p:nvSpPr>
          <p:cNvPr id="27" name="Text 25">
            <a:extLst xmlns:a="http://schemas.openxmlformats.org/drawingml/2006/main">
              <a:ext uri="{FF2B5EF4-FFF2-40B4-BE49-F238E27FC236}">
                <a16:creationId xmlns:a16="http://schemas.microsoft.com/office/drawing/2014/main" id="{D82964B2-8744-443C-B136-A69FE27A06C9}"/>
              </a:ext>
            </a:extLst>
          </p:cNvPr>
          <p:cNvSpPr>
            <a:spLocks xmlns:a="http://schemas.openxmlformats.org/drawingml/2006/main" noGrp="1"/>
          </p:cNvSpPr>
          <p:nvPr/>
        </p:nvSpPr>
        <p:spPr>
          <a:xfrm xmlns:a="http://schemas.openxmlformats.org/drawingml/2006/main">
            <a:off x="438912" y="3822192"/>
            <a:ext cx="2011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rPr>
              <a:t>v</a:t>
            </a:r>
            <a:endParaRPr sz="800"/>
          </a:p>
        </p:txBody>
      </p:sp>
      <p:sp>
        <p:nvSpPr>
          <p:cNvPr id="28" name="Text 26">
            <a:extLst xmlns:a="http://schemas.openxmlformats.org/drawingml/2006/main">
              <a:ext uri="{FF2B5EF4-FFF2-40B4-BE49-F238E27FC236}">
                <a16:creationId xmlns:a16="http://schemas.microsoft.com/office/drawing/2014/main" id="{68538838-CB0E-4D90-B7D0-6D1BCBE624DD}"/>
              </a:ext>
            </a:extLst>
          </p:cNvPr>
          <p:cNvSpPr>
            <a:spLocks xmlns:a="http://schemas.openxmlformats.org/drawingml/2006/main" noGrp="1"/>
          </p:cNvSpPr>
          <p:nvPr/>
        </p:nvSpPr>
        <p:spPr>
          <a:xfrm xmlns:a="http://schemas.openxmlformats.org/drawingml/2006/main">
            <a:off x="713232" y="3785616"/>
            <a:ext cx="36118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1A2638"/>
                </a:solidFill>
              </a:rPr>
              <a:t>Interpretation</a:t>
            </a:r>
            <a:endParaRPr sz="850"/>
          </a:p>
        </p:txBody>
      </p:sp>
      <p:sp>
        <p:nvSpPr>
          <p:cNvPr id="29" name="Shape 27">
            <a:extLst xmlns:a="http://schemas.openxmlformats.org/drawingml/2006/main">
              <a:ext uri="{FF2B5EF4-FFF2-40B4-BE49-F238E27FC236}">
                <a16:creationId xmlns:a16="http://schemas.microsoft.com/office/drawing/2014/main" id="{28BACFDF-0F5E-4145-ACA1-EC4AB0020157}"/>
              </a:ext>
            </a:extLst>
          </p:cNvPr>
          <p:cNvSpPr>
            <a:spLocks xmlns:a="http://schemas.openxmlformats.org/drawingml/2006/main" noGrp="1"/>
          </p:cNvSpPr>
          <p:nvPr/>
        </p:nvSpPr>
        <p:spPr>
          <a:xfrm xmlns:a="http://schemas.openxmlformats.org/drawingml/2006/main">
            <a:off x="438912" y="4224528"/>
            <a:ext cx="201168" cy="201168"/>
          </a:xfrm>
          <a:prstGeom xmlns:a="http://schemas.openxmlformats.org/drawingml/2006/main" prst="rect">
            <a:avLst/>
          </a:prstGeom>
          <a:solidFill xmlns:a="http://schemas.openxmlformats.org/drawingml/2006/main">
            <a:srgbClr val="2A9D61"/>
          </a:solidFill>
          <a:ln xmlns:a="http://schemas.openxmlformats.org/drawingml/2006/main" w="12700">
            <a:solidFill>
              <a:srgbClr val="2A9D61"/>
            </a:solidFill>
            <a:prstDash val="solid"/>
          </a:ln>
        </p:spPr>
      </p:sp>
      <p:sp>
        <p:nvSpPr>
          <p:cNvPr id="30" name="Text 28">
            <a:extLst xmlns:a="http://schemas.openxmlformats.org/drawingml/2006/main">
              <a:ext uri="{FF2B5EF4-FFF2-40B4-BE49-F238E27FC236}">
                <a16:creationId xmlns:a16="http://schemas.microsoft.com/office/drawing/2014/main" id="{00C33222-0D7C-404A-A063-BA5FAC42951D}"/>
              </a:ext>
            </a:extLst>
          </p:cNvPr>
          <p:cNvSpPr>
            <a:spLocks xmlns:a="http://schemas.openxmlformats.org/drawingml/2006/main" noGrp="1"/>
          </p:cNvSpPr>
          <p:nvPr/>
        </p:nvSpPr>
        <p:spPr>
          <a:xfrm xmlns:a="http://schemas.openxmlformats.org/drawingml/2006/main">
            <a:off x="438912" y="4224528"/>
            <a:ext cx="2011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rPr>
              <a:t>v</a:t>
            </a:r>
            <a:endParaRPr sz="800"/>
          </a:p>
        </p:txBody>
      </p:sp>
      <p:sp>
        <p:nvSpPr>
          <p:cNvPr id="31" name="Text 29">
            <a:extLst xmlns:a="http://schemas.openxmlformats.org/drawingml/2006/main">
              <a:ext uri="{FF2B5EF4-FFF2-40B4-BE49-F238E27FC236}">
                <a16:creationId xmlns:a16="http://schemas.microsoft.com/office/drawing/2014/main" id="{5F197E6F-C69F-4616-BDF4-CA6F67397AC1}"/>
              </a:ext>
            </a:extLst>
          </p:cNvPr>
          <p:cNvSpPr>
            <a:spLocks xmlns:a="http://schemas.openxmlformats.org/drawingml/2006/main" noGrp="1"/>
          </p:cNvSpPr>
          <p:nvPr/>
        </p:nvSpPr>
        <p:spPr>
          <a:xfrm xmlns:a="http://schemas.openxmlformats.org/drawingml/2006/main">
            <a:off x="713232" y="4187952"/>
            <a:ext cx="36118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1A2638"/>
                </a:solidFill>
              </a:rPr>
              <a:t>Structural hazard is not this project’s prediction and does not describe one particular year’s burned area.</a:t>
            </a:r>
            <a:endParaRPr sz="850"/>
          </a:p>
        </p:txBody>
      </p:sp>
      <p:sp>
        <p:nvSpPr>
          <p:cNvPr id="32" name="Shape 30">
            <a:extLst xmlns:a="http://schemas.openxmlformats.org/drawingml/2006/main">
              <a:ext uri="{FF2B5EF4-FFF2-40B4-BE49-F238E27FC236}">
                <a16:creationId xmlns:a16="http://schemas.microsoft.com/office/drawing/2014/main" id="{3AFF6CB0-C7CA-42E9-9B23-8A61B0C3A8D8}"/>
              </a:ext>
            </a:extLst>
          </p:cNvPr>
          <p:cNvSpPr>
            <a:spLocks xmlns:a="http://schemas.openxmlformats.org/drawingml/2006/main" noGrp="1"/>
          </p:cNvSpPr>
          <p:nvPr/>
        </p:nvSpPr>
        <p:spPr>
          <a:xfrm xmlns:a="http://schemas.openxmlformats.org/drawingml/2006/main">
            <a:off x="4709160" y="1298448"/>
            <a:ext cx="4160520" cy="3291840"/>
          </a:xfrm>
          <a:prstGeom xmlns:a="http://schemas.openxmlformats.org/drawingml/2006/main" prst="rect">
            <a:avLst/>
          </a:prstGeom>
          <a:solidFill xmlns:a="http://schemas.openxmlformats.org/drawingml/2006/main">
            <a:srgbClr val="FFFFFF"/>
          </a:solidFill>
          <a:ln xmlns:a="http://schemas.openxmlformats.org/drawingml/2006/main" w="12700">
            <a:solidFill>
              <a:srgbClr val="E1E8EF"/>
            </a:solidFill>
            <a:prstDash val="solid"/>
          </a:ln>
          <a:effectLst xmlns:a="http://schemas.openxmlformats.org/drawingml/2006/main">
            <a:outerShdw blurRad="101600" dist="38100" dir="8100000" sx="100000" sy="100000" kx="0" ky="0" algn="bl" rotWithShape="0">
              <a:srgbClr val="000000">
                <a:alpha val="10000"/>
              </a:srgbClr>
            </a:outerShdw>
          </a:effectLst>
        </p:spPr>
      </p:sp>
      <p:sp>
        <p:nvSpPr>
          <p:cNvPr id="33" name="Shape 31">
            <a:extLst xmlns:a="http://schemas.openxmlformats.org/drawingml/2006/main">
              <a:ext uri="{FF2B5EF4-FFF2-40B4-BE49-F238E27FC236}">
                <a16:creationId xmlns:a16="http://schemas.microsoft.com/office/drawing/2014/main" id="{86C73BAB-D264-42B4-9433-3E06E95BBC7C}"/>
              </a:ext>
            </a:extLst>
          </p:cNvPr>
          <p:cNvSpPr>
            <a:spLocks xmlns:a="http://schemas.openxmlformats.org/drawingml/2006/main" noGrp="1"/>
          </p:cNvSpPr>
          <p:nvPr/>
        </p:nvSpPr>
        <p:spPr>
          <a:xfrm xmlns:a="http://schemas.openxmlformats.org/drawingml/2006/main">
            <a:off x="4709160" y="1298448"/>
            <a:ext cx="4160520" cy="384048"/>
          </a:xfrm>
          <a:prstGeom xmlns:a="http://schemas.openxmlformats.org/drawingml/2006/main" prst="rect">
            <a:avLst/>
          </a:prstGeom>
          <a:solidFill xmlns:a="http://schemas.openxmlformats.org/drawingml/2006/main">
            <a:srgbClr val="1E3A50"/>
          </a:solidFill>
          <a:ln xmlns:a="http://schemas.openxmlformats.org/drawingml/2006/main" w="12700">
            <a:solidFill>
              <a:srgbClr val="1E3A50"/>
            </a:solidFill>
            <a:prstDash val="solid"/>
          </a:ln>
        </p:spPr>
      </p:sp>
      <p:sp>
        <p:nvSpPr>
          <p:cNvPr id="34" name="Text 32">
            <a:extLst xmlns:a="http://schemas.openxmlformats.org/drawingml/2006/main">
              <a:ext uri="{FF2B5EF4-FFF2-40B4-BE49-F238E27FC236}">
                <a16:creationId xmlns:a16="http://schemas.microsoft.com/office/drawing/2014/main" id="{2FC985B9-E4DF-42B6-ADA0-B9CCDAE183B4}"/>
              </a:ext>
            </a:extLst>
          </p:cNvPr>
          <p:cNvSpPr>
            <a:spLocks xmlns:a="http://schemas.openxmlformats.org/drawingml/2006/main" noGrp="1"/>
          </p:cNvSpPr>
          <p:nvPr/>
        </p:nvSpPr>
        <p:spPr>
          <a:xfrm xmlns:a="http://schemas.openxmlformats.org/drawingml/2006/main">
            <a:off x="4709160" y="1298448"/>
            <a:ext cx="41605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rPr>
              <a:t>One comparison, two sources</a:t>
            </a:r>
            <a:endParaRPr sz="1000"/>
          </a:p>
        </p:txBody>
      </p:sp>
      <p:sp>
        <p:nvSpPr>
          <p:cNvPr id="35" name="Text 33">
            <a:extLst xmlns:a="http://schemas.openxmlformats.org/drawingml/2006/main">
              <a:ext uri="{FF2B5EF4-FFF2-40B4-BE49-F238E27FC236}">
                <a16:creationId xmlns:a16="http://schemas.microsoft.com/office/drawing/2014/main" id="{658F1690-5C44-4152-B042-A6646FDB39E8}"/>
              </a:ext>
            </a:extLst>
          </p:cNvPr>
          <p:cNvSpPr>
            <a:spLocks xmlns:a="http://schemas.openxmlformats.org/drawingml/2006/main" noGrp="1"/>
          </p:cNvSpPr>
          <p:nvPr/>
        </p:nvSpPr>
        <p:spPr>
          <a:xfrm xmlns:a="http://schemas.openxmlformats.org/drawingml/2006/main">
            <a:off x="4873752" y="1755648"/>
            <a:ext cx="3886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a:solidFill>
                  <a:srgbClr val="5B6880"/>
                </a:solidFill>
              </a:rPr>
              <a:t>Technical</a:t>
            </a:r>
            <a:endParaRPr sz="800"/>
          </a:p>
        </p:txBody>
      </p:sp>
      <p:sp>
        <p:nvSpPr>
          <p:cNvPr id="36" name="Shape 34">
            <a:extLst xmlns:a="http://schemas.openxmlformats.org/drawingml/2006/main">
              <a:ext uri="{FF2B5EF4-FFF2-40B4-BE49-F238E27FC236}">
                <a16:creationId xmlns:a16="http://schemas.microsoft.com/office/drawing/2014/main" id="{71C50895-D71E-4952-B2DB-F09E20DBC72B}"/>
              </a:ext>
            </a:extLst>
          </p:cNvPr>
          <p:cNvSpPr>
            <a:spLocks xmlns:a="http://schemas.openxmlformats.org/drawingml/2006/main" noGrp="1"/>
          </p:cNvSpPr>
          <p:nvPr/>
        </p:nvSpPr>
        <p:spPr>
          <a:xfrm xmlns:a="http://schemas.openxmlformats.org/drawingml/2006/main">
            <a:off x="4873752" y="2093976"/>
            <a:ext cx="164592" cy="164592"/>
          </a:xfrm>
          <a:prstGeom xmlns:a="http://schemas.openxmlformats.org/drawingml/2006/main" prst="rect">
            <a:avLst/>
          </a:prstGeom>
          <a:solidFill xmlns:a="http://schemas.openxmlformats.org/drawingml/2006/main">
            <a:srgbClr val="2E6DB4"/>
          </a:solidFill>
          <a:ln xmlns:a="http://schemas.openxmlformats.org/drawingml/2006/main" w="12700">
            <a:solidFill>
              <a:srgbClr val="2E6DB4"/>
            </a:solidFill>
            <a:prstDash val="solid"/>
          </a:ln>
        </p:spPr>
      </p:sp>
      <p:sp>
        <p:nvSpPr>
          <p:cNvPr id="37" name="Text 35">
            <a:extLst xmlns:a="http://schemas.openxmlformats.org/drawingml/2006/main">
              <a:ext uri="{FF2B5EF4-FFF2-40B4-BE49-F238E27FC236}">
                <a16:creationId xmlns:a16="http://schemas.microsoft.com/office/drawing/2014/main" id="{DDE362E9-A857-46C9-9F3F-B9F66FF26D23}"/>
              </a:ext>
            </a:extLst>
          </p:cNvPr>
          <p:cNvSpPr>
            <a:spLocks xmlns:a="http://schemas.openxmlformats.org/drawingml/2006/main" noGrp="1"/>
          </p:cNvSpPr>
          <p:nvPr/>
        </p:nvSpPr>
        <p:spPr>
          <a:xfrm xmlns:a="http://schemas.openxmlformats.org/drawingml/2006/main">
            <a:off x="4873752" y="2093976"/>
            <a:ext cx="164592"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700" b="1">
                <a:solidFill>
                  <a:srgbClr val="FFFFFF"/>
                </a:solidFill>
              </a:rPr>
              <a:t>v</a:t>
            </a:r>
            <a:endParaRPr sz="700"/>
          </a:p>
        </p:txBody>
      </p:sp>
      <p:sp>
        <p:nvSpPr>
          <p:cNvPr id="38" name="Text 36">
            <a:extLst xmlns:a="http://schemas.openxmlformats.org/drawingml/2006/main">
              <a:ext uri="{FF2B5EF4-FFF2-40B4-BE49-F238E27FC236}">
                <a16:creationId xmlns:a16="http://schemas.microsoft.com/office/drawing/2014/main" id="{C50A687C-C5BF-4C24-B785-AAE81140370A}"/>
              </a:ext>
            </a:extLst>
          </p:cNvPr>
          <p:cNvSpPr>
            <a:spLocks xmlns:a="http://schemas.openxmlformats.org/drawingml/2006/main" noGrp="1"/>
          </p:cNvSpPr>
          <p:nvPr/>
        </p:nvSpPr>
        <p:spPr>
          <a:xfrm xmlns:a="http://schemas.openxmlformats.org/drawingml/2006/main">
            <a:off x="5111496" y="2048256"/>
            <a:ext cx="3648456"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1A2638"/>
                </a:solidFill>
              </a:rPr>
              <a:t>Use the layers together to understand patterns; neither layer is a buyer threshold.</a:t>
            </a:r>
            <a:endParaRPr sz="800"/>
          </a:p>
        </p:txBody>
      </p:sp>
      <p:sp>
        <p:nvSpPr>
          <p:cNvPr id="39" name="Shape 37">
            <a:extLst xmlns:a="http://schemas.openxmlformats.org/drawingml/2006/main">
              <a:ext uri="{FF2B5EF4-FFF2-40B4-BE49-F238E27FC236}">
                <a16:creationId xmlns:a16="http://schemas.microsoft.com/office/drawing/2014/main" id="{5E376839-E1BB-4BB7-A2B8-1734C73B620B}"/>
              </a:ext>
            </a:extLst>
          </p:cNvPr>
          <p:cNvSpPr>
            <a:spLocks xmlns:a="http://schemas.openxmlformats.org/drawingml/2006/main" noGrp="1"/>
          </p:cNvSpPr>
          <p:nvPr/>
        </p:nvSpPr>
        <p:spPr>
          <a:xfrm xmlns:a="http://schemas.openxmlformats.org/drawingml/2006/main">
            <a:off x="4873752" y="2441448"/>
            <a:ext cx="164592" cy="164592"/>
          </a:xfrm>
          <a:prstGeom xmlns:a="http://schemas.openxmlformats.org/drawingml/2006/main" prst="rect">
            <a:avLst/>
          </a:prstGeom>
          <a:solidFill xmlns:a="http://schemas.openxmlformats.org/drawingml/2006/main">
            <a:srgbClr val="2E6DB4"/>
          </a:solidFill>
          <a:ln xmlns:a="http://schemas.openxmlformats.org/drawingml/2006/main" w="12700">
            <a:solidFill>
              <a:srgbClr val="2E6DB4"/>
            </a:solidFill>
            <a:prstDash val="solid"/>
          </a:ln>
        </p:spPr>
      </p:sp>
      <p:sp>
        <p:nvSpPr>
          <p:cNvPr id="40" name="Text 38">
            <a:extLst xmlns:a="http://schemas.openxmlformats.org/drawingml/2006/main">
              <a:ext uri="{FF2B5EF4-FFF2-40B4-BE49-F238E27FC236}">
                <a16:creationId xmlns:a16="http://schemas.microsoft.com/office/drawing/2014/main" id="{A01EA3BC-0FCB-49C4-A55F-97CAAB6F402D}"/>
              </a:ext>
            </a:extLst>
          </p:cNvPr>
          <p:cNvSpPr>
            <a:spLocks xmlns:a="http://schemas.openxmlformats.org/drawingml/2006/main" noGrp="1"/>
          </p:cNvSpPr>
          <p:nvPr/>
        </p:nvSpPr>
        <p:spPr>
          <a:xfrm xmlns:a="http://schemas.openxmlformats.org/drawingml/2006/main">
            <a:off x="4873752" y="2441448"/>
            <a:ext cx="164592"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700" b="1">
                <a:solidFill>
                  <a:srgbClr val="FFFFFF"/>
                </a:solidFill>
              </a:rPr>
              <a:t>v</a:t>
            </a:r>
            <a:endParaRPr sz="700"/>
          </a:p>
        </p:txBody>
      </p:sp>
      <p:sp>
        <p:nvSpPr>
          <p:cNvPr id="41" name="Text 39">
            <a:extLst xmlns:a="http://schemas.openxmlformats.org/drawingml/2006/main">
              <a:ext uri="{FF2B5EF4-FFF2-40B4-BE49-F238E27FC236}">
                <a16:creationId xmlns:a16="http://schemas.microsoft.com/office/drawing/2014/main" id="{8809B3A3-0DA5-4598-97B3-FE43ED817C67}"/>
              </a:ext>
            </a:extLst>
          </p:cNvPr>
          <p:cNvSpPr>
            <a:spLocks xmlns:a="http://schemas.openxmlformats.org/drawingml/2006/main" noGrp="1"/>
          </p:cNvSpPr>
          <p:nvPr/>
        </p:nvSpPr>
        <p:spPr>
          <a:xfrm xmlns:a="http://schemas.openxmlformats.org/drawingml/2006/main">
            <a:off x="5111496" y="2395728"/>
            <a:ext cx="3648456"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1A2638"/>
                </a:solidFill>
              </a:rPr>
              <a:t>Maps describe evidence; they do not certify a location.</a:t>
            </a:r>
            <a:endParaRPr sz="800"/>
          </a:p>
        </p:txBody>
      </p:sp>
      <p:sp>
        <p:nvSpPr>
          <p:cNvPr id="42" name="Shape 40">
            <a:extLst xmlns:a="http://schemas.openxmlformats.org/drawingml/2006/main">
              <a:ext uri="{FF2B5EF4-FFF2-40B4-BE49-F238E27FC236}">
                <a16:creationId xmlns:a16="http://schemas.microsoft.com/office/drawing/2014/main" id="{04DD2B2E-E82C-45BC-BE89-09F4E19B41E9}"/>
              </a:ext>
            </a:extLst>
          </p:cNvPr>
          <p:cNvSpPr>
            <a:spLocks xmlns:a="http://schemas.openxmlformats.org/drawingml/2006/main" noGrp="1"/>
          </p:cNvSpPr>
          <p:nvPr/>
        </p:nvSpPr>
        <p:spPr>
          <a:xfrm xmlns:a="http://schemas.openxmlformats.org/drawingml/2006/main">
            <a:off x="4873752" y="2788920"/>
            <a:ext cx="164592" cy="164592"/>
          </a:xfrm>
          <a:prstGeom xmlns:a="http://schemas.openxmlformats.org/drawingml/2006/main" prst="rect">
            <a:avLst/>
          </a:prstGeom>
          <a:solidFill xmlns:a="http://schemas.openxmlformats.org/drawingml/2006/main">
            <a:srgbClr val="2E6DB4"/>
          </a:solidFill>
          <a:ln xmlns:a="http://schemas.openxmlformats.org/drawingml/2006/main" w="12700">
            <a:solidFill>
              <a:srgbClr val="2E6DB4"/>
            </a:solidFill>
            <a:prstDash val="solid"/>
          </a:ln>
        </p:spPr>
      </p:sp>
      <p:sp>
        <p:nvSpPr>
          <p:cNvPr id="43" name="Text 41">
            <a:extLst xmlns:a="http://schemas.openxmlformats.org/drawingml/2006/main">
              <a:ext uri="{FF2B5EF4-FFF2-40B4-BE49-F238E27FC236}">
                <a16:creationId xmlns:a16="http://schemas.microsoft.com/office/drawing/2014/main" id="{EEB1BEEB-8312-41BE-85B4-D13CC920FF0B}"/>
              </a:ext>
            </a:extLst>
          </p:cNvPr>
          <p:cNvSpPr>
            <a:spLocks xmlns:a="http://schemas.openxmlformats.org/drawingml/2006/main" noGrp="1"/>
          </p:cNvSpPr>
          <p:nvPr/>
        </p:nvSpPr>
        <p:spPr>
          <a:xfrm xmlns:a="http://schemas.openxmlformats.org/drawingml/2006/main">
            <a:off x="4873752" y="2788920"/>
            <a:ext cx="164592"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700" b="1">
                <a:solidFill>
                  <a:srgbClr val="FFFFFF"/>
                </a:solidFill>
              </a:rPr>
              <a:t>v</a:t>
            </a:r>
            <a:endParaRPr sz="700"/>
          </a:p>
        </p:txBody>
      </p:sp>
      <p:sp>
        <p:nvSpPr>
          <p:cNvPr id="44" name="Text 42">
            <a:extLst xmlns:a="http://schemas.openxmlformats.org/drawingml/2006/main">
              <a:ext uri="{FF2B5EF4-FFF2-40B4-BE49-F238E27FC236}">
                <a16:creationId xmlns:a16="http://schemas.microsoft.com/office/drawing/2014/main" id="{4905A8FB-5807-43E1-8DBD-D43367C8B3EB}"/>
              </a:ext>
            </a:extLst>
          </p:cNvPr>
          <p:cNvSpPr>
            <a:spLocks xmlns:a="http://schemas.openxmlformats.org/drawingml/2006/main" noGrp="1"/>
          </p:cNvSpPr>
          <p:nvPr/>
        </p:nvSpPr>
        <p:spPr>
          <a:xfrm xmlns:a="http://schemas.openxmlformats.org/drawingml/2006/main">
            <a:off x="5111496" y="2743200"/>
            <a:ext cx="3648456"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1A2638"/>
                </a:solidFill>
              </a:rPr>
              <a:t>Both layers still require local verification.</a:t>
            </a:r>
            <a:endParaRPr sz="800"/>
          </a:p>
        </p:txBody>
      </p:sp>
      <p:sp>
        <p:nvSpPr>
          <p:cNvPr id="45" name="Text 43">
            <a:extLst xmlns:a="http://schemas.openxmlformats.org/drawingml/2006/main">
              <a:ext uri="{FF2B5EF4-FFF2-40B4-BE49-F238E27FC236}">
                <a16:creationId xmlns:a16="http://schemas.microsoft.com/office/drawing/2014/main" id="{02C67DCD-F138-4A42-A665-6D062D32E9DD}"/>
              </a:ext>
            </a:extLst>
          </p:cNvPr>
          <p:cNvSpPr>
            <a:spLocks xmlns:a="http://schemas.openxmlformats.org/drawingml/2006/main" noGrp="1"/>
          </p:cNvSpPr>
          <p:nvPr/>
        </p:nvSpPr>
        <p:spPr>
          <a:xfrm xmlns:a="http://schemas.openxmlformats.org/drawingml/2006/main">
            <a:off x="4873752" y="3127248"/>
            <a:ext cx="3886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a:solidFill>
                  <a:srgbClr val="5B6880"/>
                </a:solidFill>
              </a:rPr>
              <a:t>Delivery Tips</a:t>
            </a:r>
            <a:endParaRPr sz="800"/>
          </a:p>
        </p:txBody>
      </p:sp>
      <p:sp>
        <p:nvSpPr>
          <p:cNvPr id="46" name="Text 44">
            <a:extLst xmlns:a="http://schemas.openxmlformats.org/drawingml/2006/main">
              <a:ext uri="{FF2B5EF4-FFF2-40B4-BE49-F238E27FC236}">
                <a16:creationId xmlns:a16="http://schemas.microsoft.com/office/drawing/2014/main" id="{C18C945C-1C08-400A-BE5B-DB2B6C52AF09}"/>
              </a:ext>
            </a:extLst>
          </p:cNvPr>
          <p:cNvSpPr>
            <a:spLocks xmlns:a="http://schemas.openxmlformats.org/drawingml/2006/main" noGrp="1"/>
          </p:cNvSpPr>
          <p:nvPr/>
        </p:nvSpPr>
        <p:spPr>
          <a:xfrm xmlns:a="http://schemas.openxmlformats.org/drawingml/2006/main">
            <a:off x="4873752" y="3401568"/>
            <a:ext cx="3886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b="1">
                <a:solidFill>
                  <a:srgbClr val="E8A020"/>
                </a:solidFill>
              </a:rPr>
              <a:t>Takeaway</a:t>
            </a:r>
            <a:endParaRPr sz="750"/>
          </a:p>
        </p:txBody>
      </p:sp>
      <p:sp>
        <p:nvSpPr>
          <p:cNvPr id="47" name="Text 45">
            <a:extLst xmlns:a="http://schemas.openxmlformats.org/drawingml/2006/main">
              <a:ext uri="{FF2B5EF4-FFF2-40B4-BE49-F238E27FC236}">
                <a16:creationId xmlns:a16="http://schemas.microsoft.com/office/drawing/2014/main" id="{937B33A7-28FF-4038-A79B-FAC8CBE9835C}"/>
              </a:ext>
            </a:extLst>
          </p:cNvPr>
          <p:cNvSpPr>
            <a:spLocks xmlns:a="http://schemas.openxmlformats.org/drawingml/2006/main" noGrp="1"/>
          </p:cNvSpPr>
          <p:nvPr/>
        </p:nvSpPr>
        <p:spPr>
          <a:xfrm xmlns:a="http://schemas.openxmlformats.org/drawingml/2006/main">
            <a:off x="4873752" y="3630168"/>
            <a:ext cx="3886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b="1">
                <a:solidFill>
                  <a:srgbClr val="E8A020"/>
                </a:solidFill>
              </a:rPr>
              <a:t>Observed recurrence = what burned.</a:t>
            </a:r>
            <a:endParaRPr sz="750"/>
          </a:p>
        </p:txBody>
      </p:sp>
      <p:sp>
        <p:nvSpPr>
          <p:cNvPr id="48" name="Text 46">
            <a:extLst xmlns:a="http://schemas.openxmlformats.org/drawingml/2006/main">
              <a:ext uri="{FF2B5EF4-FFF2-40B4-BE49-F238E27FC236}">
                <a16:creationId xmlns:a16="http://schemas.microsoft.com/office/drawing/2014/main" id="{0F262A02-4282-4553-9F48-CA22BC998ED4}"/>
              </a:ext>
            </a:extLst>
          </p:cNvPr>
          <p:cNvSpPr>
            <a:spLocks xmlns:a="http://schemas.openxmlformats.org/drawingml/2006/main" noGrp="1"/>
          </p:cNvSpPr>
          <p:nvPr/>
        </p:nvSpPr>
        <p:spPr>
          <a:xfrm xmlns:a="http://schemas.openxmlformats.org/drawingml/2006/main">
            <a:off x="4873752" y="3858768"/>
            <a:ext cx="3886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b="1">
                <a:solidFill>
                  <a:srgbClr val="E8A020"/>
                </a:solidFill>
              </a:rPr>
              <a:t>Structural hazard = underlying landscape classification.</a:t>
            </a:r>
            <a:endParaRPr sz="750"/>
          </a:p>
        </p:txBody>
      </p:sp>
      <p:sp>
        <p:nvSpPr>
          <p:cNvPr id="49" name="Text 47">
            <a:extLst xmlns:a="http://schemas.openxmlformats.org/drawingml/2006/main">
              <a:ext uri="{FF2B5EF4-FFF2-40B4-BE49-F238E27FC236}">
                <a16:creationId xmlns:a16="http://schemas.microsoft.com/office/drawing/2014/main" id="{80ADC56E-8CDF-4533-9D13-29A328F28F97}"/>
              </a:ext>
            </a:extLst>
          </p:cNvPr>
          <p:cNvSpPr>
            <a:spLocks xmlns:a="http://schemas.openxmlformats.org/drawingml/2006/main" noGrp="1"/>
          </p:cNvSpPr>
          <p:nvPr/>
        </p:nvSpPr>
        <p:spPr>
          <a:xfrm xmlns:a="http://schemas.openxmlformats.org/drawingml/2006/main">
            <a:off x="4873752" y="4087368"/>
            <a:ext cx="3886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b="1">
                <a:solidFill>
                  <a:srgbClr val="E8A020"/>
                </a:solidFill>
              </a:rPr>
              <a:t>Together = broader screening context.</a:t>
            </a:r>
            <a:endParaRPr sz="750"/>
          </a:p>
        </p:txBody>
      </p:sp>
      <p:sp>
        <p:nvSpPr>
          <p:cNvPr id="50" name="Text 48">
            <a:extLst xmlns:a="http://schemas.openxmlformats.org/drawingml/2006/main">
              <a:ext uri="{FF2B5EF4-FFF2-40B4-BE49-F238E27FC236}">
                <a16:creationId xmlns:a16="http://schemas.microsoft.com/office/drawing/2014/main" id="{B09D24CA-CA3D-4B5F-A387-732847182130}"/>
              </a:ext>
            </a:extLst>
          </p:cNvPr>
          <p:cNvSpPr>
            <a:spLocks xmlns:a="http://schemas.openxmlformats.org/drawingml/2006/main" noGrp="1"/>
          </p:cNvSpPr>
          <p:nvPr/>
        </p:nvSpPr>
        <p:spPr>
          <a:xfrm xmlns:a="http://schemas.openxmlformats.org/drawingml/2006/main">
            <a:off x="4873752" y="4315968"/>
            <a:ext cx="3886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b="1">
                <a:solidFill>
                  <a:srgbClr val="E8A020"/>
                </a:solidFill>
              </a:rPr>
              <a:t>No model-accuracy claim is made from this comparison.</a:t>
            </a:r>
            <a:endParaRPr sz="750"/>
          </a:p>
        </p:txBody>
      </p:sp>
      <p:sp>
        <p:nvSpPr>
          <p:cNvPr id="51" name="Shape 49">
            <a:extLst xmlns:a="http://schemas.openxmlformats.org/drawingml/2006/main">
              <a:ext uri="{FF2B5EF4-FFF2-40B4-BE49-F238E27FC236}">
                <a16:creationId xmlns:a16="http://schemas.microsoft.com/office/drawing/2014/main" id="{046EB332-A276-466B-BCAE-B81EE8DE1BB5}"/>
              </a:ext>
            </a:extLst>
          </p:cNvPr>
          <p:cNvSpPr>
            <a:spLocks xmlns:a="http://schemas.openxmlformats.org/drawingml/2006/main" noGrp="1"/>
          </p:cNvSpPr>
          <p:nvPr/>
        </p:nvSpPr>
        <p:spPr>
          <a:xfrm xmlns:a="http://schemas.openxmlformats.org/drawingml/2006/main">
            <a:off x="274320" y="4663440"/>
            <a:ext cx="8595360" cy="292608"/>
          </a:xfrm>
          <a:prstGeom xmlns:a="http://schemas.openxmlformats.org/drawingml/2006/main" prst="rect">
            <a:avLst/>
          </a:prstGeom>
          <a:solidFill xmlns:a="http://schemas.openxmlformats.org/drawingml/2006/main">
            <a:srgbClr val="2A9D61"/>
          </a:solidFill>
          <a:ln xmlns:a="http://schemas.openxmlformats.org/drawingml/2006/main" w="12700">
            <a:solidFill>
              <a:srgbClr val="2A9D61"/>
            </a:solidFill>
            <a:prstDash val="solid"/>
          </a:ln>
        </p:spPr>
      </p:sp>
      <p:sp>
        <p:nvSpPr>
          <p:cNvPr id="52" name="Text 50">
            <a:extLst xmlns:a="http://schemas.openxmlformats.org/drawingml/2006/main">
              <a:ext uri="{FF2B5EF4-FFF2-40B4-BE49-F238E27FC236}">
                <a16:creationId xmlns:a16="http://schemas.microsoft.com/office/drawing/2014/main" id="{B7CC2583-B7A5-46EA-80FE-3AC1E9D1753B}"/>
              </a:ext>
            </a:extLst>
          </p:cNvPr>
          <p:cNvSpPr>
            <a:spLocks xmlns:a="http://schemas.openxmlformats.org/drawingml/2006/main" noGrp="1"/>
          </p:cNvSpPr>
          <p:nvPr/>
        </p:nvSpPr>
        <p:spPr>
          <a:xfrm xmlns:a="http://schemas.openxmlformats.org/drawingml/2006/main">
            <a:off x="411480" y="4663440"/>
            <a:ext cx="83210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rPr>
              <a:t>The official ICNF layer is a reference, not the project’s ML output.</a:t>
            </a:r>
            <a:endParaRPr sz="850"/>
          </a:p>
        </p:txBody>
      </p:sp>
      <p:sp>
        <p:nvSpPr>
          <p:cNvPr id="53" name="Shape 51">
            <a:extLst xmlns:a="http://schemas.openxmlformats.org/drawingml/2006/main">
              <a:ext uri="{FF2B5EF4-FFF2-40B4-BE49-F238E27FC236}">
                <a16:creationId xmlns:a16="http://schemas.microsoft.com/office/drawing/2014/main" id="{7E5B3B4E-B122-4896-8EDF-6B59DC353180}"/>
              </a:ext>
            </a:extLst>
          </p:cNvPr>
          <p:cNvSpPr>
            <a:spLocks xmlns:a="http://schemas.openxmlformats.org/drawingml/2006/main" noGrp="1"/>
          </p:cNvSpPr>
          <p:nvPr/>
        </p:nvSpPr>
        <p:spPr>
          <a:xfrm xmlns:a="http://schemas.openxmlformats.org/drawingml/2006/main">
            <a:off x="0" y="4919472"/>
            <a:ext cx="9144000" cy="224028"/>
          </a:xfrm>
          <a:prstGeom xmlns:a="http://schemas.openxmlformats.org/drawingml/2006/main" prst="rect">
            <a:avLst/>
          </a:prstGeom>
          <a:solidFill xmlns:a="http://schemas.openxmlformats.org/drawingml/2006/main">
            <a:srgbClr val="162B3D"/>
          </a:solidFill>
          <a:ln xmlns:a="http://schemas.openxmlformats.org/drawingml/2006/main" w="12700">
            <a:solidFill>
              <a:srgbClr val="162B3D"/>
            </a:solidFill>
            <a:prstDash val="solid"/>
          </a:ln>
        </p:spPr>
      </p:sp>
      <p:sp>
        <p:nvSpPr>
          <p:cNvPr id="54" name="Text 52">
            <a:extLst xmlns:a="http://schemas.openxmlformats.org/drawingml/2006/main">
              <a:ext uri="{FF2B5EF4-FFF2-40B4-BE49-F238E27FC236}">
                <a16:creationId xmlns:a16="http://schemas.microsoft.com/office/drawing/2014/main" id="{F1C53D4D-25F4-4AFB-98C2-194E6D7315E7}"/>
              </a:ext>
            </a:extLst>
          </p:cNvPr>
          <p:cNvSpPr>
            <a:spLocks xmlns:a="http://schemas.openxmlformats.org/drawingml/2006/main" noGrp="1"/>
          </p:cNvSpPr>
          <p:nvPr/>
        </p:nvSpPr>
        <p:spPr>
          <a:xfrm xmlns:a="http://schemas.openxmlformats.org/drawingml/2006/main">
            <a:off x="274320" y="4919472"/>
            <a:ext cx="8595360" cy="2240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a:solidFill>
                  <a:srgbClr val="E8A020"/>
                </a:solidFill>
              </a:rPr>
              <a:t>Serhii Diadechko  |  Data Science &amp; Machine Learning Capstone</a:t>
            </a:r>
            <a:endParaRPr sz="800"/>
          </a:p>
        </p:txBody>
      </p:sp>
    </p:spTree>
    <p:extLst>
      <p:ext uri="{BB962C8B-B14F-4D97-AF65-F5344CB8AC3E}">
        <p14:creationId xmlns:p14="http://schemas.microsoft.com/office/powerpoint/2010/main" val="78022506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1F71032-95DB-4481-90BA-EE48E7D6D9D9}"/>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F3F6F9"/>
          </a:solidFill>
          <a:ln xmlns:a="http://schemas.openxmlformats.org/drawingml/2006/main" w="12700">
            <a:solidFill>
              <a:srgbClr val="F3F6F9"/>
            </a:solidFill>
            <a:prstDash val="solid"/>
          </a:ln>
        </p:spPr>
      </p:sp>
      <p:sp>
        <p:nvSpPr>
          <p:cNvPr id="3" name="Shape 1">
            <a:extLst xmlns:a="http://schemas.openxmlformats.org/drawingml/2006/main">
              <a:ext uri="{FF2B5EF4-FFF2-40B4-BE49-F238E27FC236}">
                <a16:creationId xmlns:a16="http://schemas.microsoft.com/office/drawing/2014/main" id="{CD270622-BBFE-474A-B3AA-F358D4B67C4B}"/>
              </a:ext>
            </a:extLst>
          </p:cNvPr>
          <p:cNvSpPr>
            <a:spLocks xmlns:a="http://schemas.openxmlformats.org/drawingml/2006/main" noGrp="1"/>
          </p:cNvSpPr>
          <p:nvPr/>
        </p:nvSpPr>
        <p:spPr>
          <a:xfrm xmlns:a="http://schemas.openxmlformats.org/drawingml/2006/main">
            <a:off x="0" y="0"/>
            <a:ext cx="9144000" cy="64008"/>
          </a:xfrm>
          <a:prstGeom xmlns:a="http://schemas.openxmlformats.org/drawingml/2006/main" prst="rect">
            <a:avLst/>
          </a:prstGeom>
          <a:solidFill xmlns:a="http://schemas.openxmlformats.org/drawingml/2006/main">
            <a:srgbClr val="E8A020"/>
          </a:solidFill>
          <a:ln xmlns:a="http://schemas.openxmlformats.org/drawingml/2006/main" w="12700">
            <a:solidFill>
              <a:srgbClr val="E8A020"/>
            </a:solidFill>
            <a:prstDash val="solid"/>
          </a:ln>
        </p:spPr>
      </p:sp>
      <p:sp>
        <p:nvSpPr>
          <p:cNvPr id="4" name="Shape 2">
            <a:extLst xmlns:a="http://schemas.openxmlformats.org/drawingml/2006/main">
              <a:ext uri="{FF2B5EF4-FFF2-40B4-BE49-F238E27FC236}">
                <a16:creationId xmlns:a16="http://schemas.microsoft.com/office/drawing/2014/main" id="{54993E5A-7AC1-45E2-80F4-37FBE7F9FF0E}"/>
              </a:ext>
            </a:extLst>
          </p:cNvPr>
          <p:cNvSpPr>
            <a:spLocks xmlns:a="http://schemas.openxmlformats.org/drawingml/2006/main" noGrp="1"/>
          </p:cNvSpPr>
          <p:nvPr/>
        </p:nvSpPr>
        <p:spPr>
          <a:xfrm xmlns:a="http://schemas.openxmlformats.org/drawingml/2006/main">
            <a:off x="0" y="64008"/>
            <a:ext cx="9144000" cy="658368"/>
          </a:xfrm>
          <a:prstGeom xmlns:a="http://schemas.openxmlformats.org/drawingml/2006/main" prst="rect">
            <a:avLst/>
          </a:prstGeom>
          <a:solidFill xmlns:a="http://schemas.openxmlformats.org/drawingml/2006/main">
            <a:srgbClr val="1E3A50"/>
          </a:solidFill>
          <a:ln xmlns:a="http://schemas.openxmlformats.org/drawingml/2006/main" w="12700">
            <a:solidFill>
              <a:srgbClr val="1E3A50"/>
            </a:solidFill>
            <a:prstDash val="solid"/>
          </a:ln>
        </p:spPr>
      </p:sp>
      <p:sp>
        <p:nvSpPr>
          <p:cNvPr id="5" name="Text 3">
            <a:extLst xmlns:a="http://schemas.openxmlformats.org/drawingml/2006/main">
              <a:ext uri="{FF2B5EF4-FFF2-40B4-BE49-F238E27FC236}">
                <a16:creationId xmlns:a16="http://schemas.microsoft.com/office/drawing/2014/main" id="{94C619D5-0C07-4377-9B2B-ABA61131A82D}"/>
              </a:ext>
            </a:extLst>
          </p:cNvPr>
          <p:cNvSpPr>
            <a:spLocks xmlns:a="http://schemas.openxmlformats.org/drawingml/2006/main" noGrp="1"/>
          </p:cNvSpPr>
          <p:nvPr/>
        </p:nvSpPr>
        <p:spPr>
          <a:xfrm xmlns:a="http://schemas.openxmlformats.org/drawingml/2006/main">
            <a:off x="274320" y="64008"/>
            <a:ext cx="731520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E8A020"/>
                </a:solidFill>
              </a:rPr>
              <a:t>KEY FINDING 3 — MODEL</a:t>
            </a:r>
            <a:endParaRPr sz="1100"/>
          </a:p>
        </p:txBody>
      </p:sp>
      <p:sp>
        <p:nvSpPr>
          <p:cNvPr id="6" name="Text 4">
            <a:extLst xmlns:a="http://schemas.openxmlformats.org/drawingml/2006/main">
              <a:ext uri="{FF2B5EF4-FFF2-40B4-BE49-F238E27FC236}">
                <a16:creationId xmlns:a16="http://schemas.microsoft.com/office/drawing/2014/main" id="{5F9D6C8C-698D-47A7-A3C5-7E2590958517}"/>
              </a:ext>
            </a:extLst>
          </p:cNvPr>
          <p:cNvSpPr>
            <a:spLocks xmlns:a="http://schemas.openxmlformats.org/drawingml/2006/main" noGrp="1"/>
          </p:cNvSpPr>
          <p:nvPr/>
        </p:nvSpPr>
        <p:spPr>
          <a:xfrm xmlns:a="http://schemas.openxmlformats.org/drawingml/2006/main">
            <a:off x="6858000" y="64008"/>
            <a:ext cx="201168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b="1">
                <a:solidFill>
                  <a:srgbClr val="E1E8EF"/>
                </a:solidFill>
              </a:rPr>
              <a:t>5 / 8</a:t>
            </a:r>
            <a:endParaRPr sz="1100"/>
          </a:p>
        </p:txBody>
      </p:sp>
      <p:sp>
        <p:nvSpPr>
          <p:cNvPr id="7" name="Text 5">
            <a:extLst xmlns:a="http://schemas.openxmlformats.org/drawingml/2006/main">
              <a:ext uri="{FF2B5EF4-FFF2-40B4-BE49-F238E27FC236}">
                <a16:creationId xmlns:a16="http://schemas.microsoft.com/office/drawing/2014/main" id="{E5EB7BA8-611A-4FE4-8DCA-846D2994D29A}"/>
              </a:ext>
            </a:extLst>
          </p:cNvPr>
          <p:cNvSpPr>
            <a:spLocks xmlns:a="http://schemas.openxmlformats.org/drawingml/2006/main" noGrp="1"/>
          </p:cNvSpPr>
          <p:nvPr/>
        </p:nvSpPr>
        <p:spPr>
          <a:xfrm xmlns:a="http://schemas.openxmlformats.org/drawingml/2006/main">
            <a:off x="274320" y="804672"/>
            <a:ext cx="85953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1A2638"/>
                </a:solidFill>
              </a:rPr>
              <a:t>The nine-feature model improves selected comparative diagnostics</a:t>
            </a:r>
            <a:endParaRPr sz="1600"/>
          </a:p>
        </p:txBody>
      </p:sp>
      <p:sp>
        <p:nvSpPr>
          <p:cNvPr id="8" name="Shape 6">
            <a:extLst xmlns:a="http://schemas.openxmlformats.org/drawingml/2006/main">
              <a:ext uri="{FF2B5EF4-FFF2-40B4-BE49-F238E27FC236}">
                <a16:creationId xmlns:a16="http://schemas.microsoft.com/office/drawing/2014/main" id="{E81B247D-7B46-4878-9759-A852E6DD8BD5}"/>
              </a:ext>
            </a:extLst>
          </p:cNvPr>
          <p:cNvSpPr>
            <a:spLocks xmlns:a="http://schemas.openxmlformats.org/drawingml/2006/main" noGrp="1"/>
          </p:cNvSpPr>
          <p:nvPr/>
        </p:nvSpPr>
        <p:spPr>
          <a:xfrm xmlns:a="http://schemas.openxmlformats.org/drawingml/2006/main">
            <a:off x="274320" y="1298448"/>
            <a:ext cx="4160520" cy="3291840"/>
          </a:xfrm>
          <a:prstGeom xmlns:a="http://schemas.openxmlformats.org/drawingml/2006/main" prst="rect">
            <a:avLst/>
          </a:prstGeom>
          <a:solidFill xmlns:a="http://schemas.openxmlformats.org/drawingml/2006/main">
            <a:srgbClr val="FFFFFF"/>
          </a:solidFill>
          <a:ln xmlns:a="http://schemas.openxmlformats.org/drawingml/2006/main" w="12700">
            <a:solidFill>
              <a:srgbClr val="E1E8EF"/>
            </a:solidFill>
            <a:prstDash val="solid"/>
          </a:ln>
          <a:effectLst xmlns:a="http://schemas.openxmlformats.org/drawingml/2006/main">
            <a:outerShdw blurRad="101600" dist="38100" dir="8100000" sx="100000" sy="100000" kx="0" ky="0" algn="bl" rotWithShape="0">
              <a:srgbClr val="000000">
                <a:alpha val="10000"/>
              </a:srgbClr>
            </a:outerShdw>
          </a:effectLst>
        </p:spPr>
      </p:sp>
      <p:sp>
        <p:nvSpPr>
          <p:cNvPr id="9" name="Shape 7">
            <a:extLst xmlns:a="http://schemas.openxmlformats.org/drawingml/2006/main">
              <a:ext uri="{FF2B5EF4-FFF2-40B4-BE49-F238E27FC236}">
                <a16:creationId xmlns:a16="http://schemas.microsoft.com/office/drawing/2014/main" id="{EE2EDBCC-C6A0-4EB0-ABA9-364F21C6C046}"/>
              </a:ext>
            </a:extLst>
          </p:cNvPr>
          <p:cNvSpPr>
            <a:spLocks xmlns:a="http://schemas.openxmlformats.org/drawingml/2006/main" noGrp="1"/>
          </p:cNvSpPr>
          <p:nvPr/>
        </p:nvSpPr>
        <p:spPr>
          <a:xfrm xmlns:a="http://schemas.openxmlformats.org/drawingml/2006/main">
            <a:off x="274320" y="1298448"/>
            <a:ext cx="4160520" cy="384048"/>
          </a:xfrm>
          <a:prstGeom xmlns:a="http://schemas.openxmlformats.org/drawingml/2006/main" prst="rect">
            <a:avLst/>
          </a:prstGeom>
          <a:solidFill xmlns:a="http://schemas.openxmlformats.org/drawingml/2006/main">
            <a:srgbClr val="1E3A50"/>
          </a:solidFill>
          <a:ln xmlns:a="http://schemas.openxmlformats.org/drawingml/2006/main" w="12700">
            <a:solidFill>
              <a:srgbClr val="1E3A50"/>
            </a:solidFill>
            <a:prstDash val="solid"/>
          </a:ln>
        </p:spPr>
      </p:sp>
      <p:sp>
        <p:nvSpPr>
          <p:cNvPr id="10" name="Text 8">
            <a:extLst xmlns:a="http://schemas.openxmlformats.org/drawingml/2006/main">
              <a:ext uri="{FF2B5EF4-FFF2-40B4-BE49-F238E27FC236}">
                <a16:creationId xmlns:a16="http://schemas.microsoft.com/office/drawing/2014/main" id="{34B6A4FE-0A95-45E8-B92F-8B01AB71A047}"/>
              </a:ext>
            </a:extLst>
          </p:cNvPr>
          <p:cNvSpPr>
            <a:spLocks xmlns:a="http://schemas.openxmlformats.org/drawingml/2006/main" noGrp="1"/>
          </p:cNvSpPr>
          <p:nvPr/>
        </p:nvSpPr>
        <p:spPr>
          <a:xfrm xmlns:a="http://schemas.openxmlformats.org/drawingml/2006/main">
            <a:off x="274320" y="1298448"/>
            <a:ext cx="41605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rPr>
              <a:t>MODEL COMPARISON</a:t>
            </a:r>
            <a:endParaRPr sz="1000"/>
          </a:p>
        </p:txBody>
      </p:sp>
      <p:sp>
        <p:nvSpPr>
          <p:cNvPr id="11" name="Shape 9">
            <a:extLst xmlns:a="http://schemas.openxmlformats.org/drawingml/2006/main">
              <a:ext uri="{FF2B5EF4-FFF2-40B4-BE49-F238E27FC236}">
                <a16:creationId xmlns:a16="http://schemas.microsoft.com/office/drawing/2014/main" id="{E06E9D48-2C14-4301-826B-F612D4177347}"/>
              </a:ext>
            </a:extLst>
          </p:cNvPr>
          <p:cNvSpPr>
            <a:spLocks xmlns:a="http://schemas.openxmlformats.org/drawingml/2006/main" noGrp="1"/>
          </p:cNvSpPr>
          <p:nvPr/>
        </p:nvSpPr>
        <p:spPr>
          <a:xfrm xmlns:a="http://schemas.openxmlformats.org/drawingml/2006/main">
            <a:off x="438912" y="1810512"/>
            <a:ext cx="201168" cy="201168"/>
          </a:xfrm>
          <a:prstGeom xmlns:a="http://schemas.openxmlformats.org/drawingml/2006/main" prst="rect">
            <a:avLst/>
          </a:prstGeom>
          <a:solidFill xmlns:a="http://schemas.openxmlformats.org/drawingml/2006/main">
            <a:srgbClr val="2A9D61"/>
          </a:solidFill>
          <a:ln xmlns:a="http://schemas.openxmlformats.org/drawingml/2006/main" w="12700">
            <a:solidFill>
              <a:srgbClr val="2A9D61"/>
            </a:solidFill>
            <a:prstDash val="solid"/>
          </a:ln>
        </p:spPr>
      </p:sp>
      <p:sp>
        <p:nvSpPr>
          <p:cNvPr id="12" name="Text 10">
            <a:extLst xmlns:a="http://schemas.openxmlformats.org/drawingml/2006/main">
              <a:ext uri="{FF2B5EF4-FFF2-40B4-BE49-F238E27FC236}">
                <a16:creationId xmlns:a16="http://schemas.microsoft.com/office/drawing/2014/main" id="{762EDECB-CC41-484F-9DAC-CC0567DC9945}"/>
              </a:ext>
            </a:extLst>
          </p:cNvPr>
          <p:cNvSpPr>
            <a:spLocks xmlns:a="http://schemas.openxmlformats.org/drawingml/2006/main" noGrp="1"/>
          </p:cNvSpPr>
          <p:nvPr/>
        </p:nvSpPr>
        <p:spPr>
          <a:xfrm xmlns:a="http://schemas.openxmlformats.org/drawingml/2006/main">
            <a:off x="438912" y="1810512"/>
            <a:ext cx="2011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rPr>
              <a:t>v</a:t>
            </a:r>
            <a:endParaRPr sz="800"/>
          </a:p>
        </p:txBody>
      </p:sp>
      <p:sp>
        <p:nvSpPr>
          <p:cNvPr id="13" name="Text 11">
            <a:extLst xmlns:a="http://schemas.openxmlformats.org/drawingml/2006/main">
              <a:ext uri="{FF2B5EF4-FFF2-40B4-BE49-F238E27FC236}">
                <a16:creationId xmlns:a16="http://schemas.microsoft.com/office/drawing/2014/main" id="{9845F9BB-8101-4018-B054-66F0EDF6D458}"/>
              </a:ext>
            </a:extLst>
          </p:cNvPr>
          <p:cNvSpPr>
            <a:spLocks xmlns:a="http://schemas.openxmlformats.org/drawingml/2006/main" noGrp="1"/>
          </p:cNvSpPr>
          <p:nvPr/>
        </p:nvSpPr>
        <p:spPr>
          <a:xfrm xmlns:a="http://schemas.openxmlformats.org/drawingml/2006/main">
            <a:off x="713232" y="1773936"/>
            <a:ext cx="36118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1A2638"/>
                </a:solidFill>
              </a:rPr>
              <a:t>Baseline → nine-feature model</a:t>
            </a:r>
            <a:endParaRPr sz="850"/>
          </a:p>
        </p:txBody>
      </p:sp>
      <p:sp>
        <p:nvSpPr>
          <p:cNvPr id="14" name="Shape 12">
            <a:extLst xmlns:a="http://schemas.openxmlformats.org/drawingml/2006/main">
              <a:ext uri="{FF2B5EF4-FFF2-40B4-BE49-F238E27FC236}">
                <a16:creationId xmlns:a16="http://schemas.microsoft.com/office/drawing/2014/main" id="{8F7D6DC9-1BFC-4804-ACF1-7C0FCFE8FCCC}"/>
              </a:ext>
            </a:extLst>
          </p:cNvPr>
          <p:cNvSpPr>
            <a:spLocks xmlns:a="http://schemas.openxmlformats.org/drawingml/2006/main" noGrp="1"/>
          </p:cNvSpPr>
          <p:nvPr/>
        </p:nvSpPr>
        <p:spPr>
          <a:xfrm xmlns:a="http://schemas.openxmlformats.org/drawingml/2006/main">
            <a:off x="438912" y="2212848"/>
            <a:ext cx="201168" cy="201168"/>
          </a:xfrm>
          <a:prstGeom xmlns:a="http://schemas.openxmlformats.org/drawingml/2006/main" prst="rect">
            <a:avLst/>
          </a:prstGeom>
          <a:solidFill xmlns:a="http://schemas.openxmlformats.org/drawingml/2006/main">
            <a:srgbClr val="2A9D61"/>
          </a:solidFill>
          <a:ln xmlns:a="http://schemas.openxmlformats.org/drawingml/2006/main" w="12700">
            <a:solidFill>
              <a:srgbClr val="2A9D61"/>
            </a:solidFill>
            <a:prstDash val="solid"/>
          </a:ln>
        </p:spPr>
      </p:sp>
      <p:sp>
        <p:nvSpPr>
          <p:cNvPr id="15" name="Text 13">
            <a:extLst xmlns:a="http://schemas.openxmlformats.org/drawingml/2006/main">
              <a:ext uri="{FF2B5EF4-FFF2-40B4-BE49-F238E27FC236}">
                <a16:creationId xmlns:a16="http://schemas.microsoft.com/office/drawing/2014/main" id="{67ADF009-96D8-495A-A992-EFF22040FAD5}"/>
              </a:ext>
            </a:extLst>
          </p:cNvPr>
          <p:cNvSpPr>
            <a:spLocks xmlns:a="http://schemas.openxmlformats.org/drawingml/2006/main" noGrp="1"/>
          </p:cNvSpPr>
          <p:nvPr/>
        </p:nvSpPr>
        <p:spPr>
          <a:xfrm xmlns:a="http://schemas.openxmlformats.org/drawingml/2006/main">
            <a:off x="438912" y="2212848"/>
            <a:ext cx="2011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rPr>
              <a:t>v</a:t>
            </a:r>
            <a:endParaRPr sz="800"/>
          </a:p>
        </p:txBody>
      </p:sp>
      <p:sp>
        <p:nvSpPr>
          <p:cNvPr id="16" name="Text 14">
            <a:extLst xmlns:a="http://schemas.openxmlformats.org/drawingml/2006/main">
              <a:ext uri="{FF2B5EF4-FFF2-40B4-BE49-F238E27FC236}">
                <a16:creationId xmlns:a16="http://schemas.microsoft.com/office/drawing/2014/main" id="{A575E5B0-49CA-4B4E-9DC3-3BA924662B54}"/>
              </a:ext>
            </a:extLst>
          </p:cNvPr>
          <p:cNvSpPr>
            <a:spLocks xmlns:a="http://schemas.openxmlformats.org/drawingml/2006/main" noGrp="1"/>
          </p:cNvSpPr>
          <p:nvPr/>
        </p:nvSpPr>
        <p:spPr>
          <a:xfrm xmlns:a="http://schemas.openxmlformats.org/drawingml/2006/main">
            <a:off x="713232" y="2176272"/>
            <a:ext cx="36118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1A2638"/>
                </a:solidFill>
              </a:rPr>
              <a:t>Historical recurrence baseline</a:t>
            </a:r>
            <a:endParaRPr sz="850"/>
          </a:p>
        </p:txBody>
      </p:sp>
      <p:sp>
        <p:nvSpPr>
          <p:cNvPr id="17" name="Shape 15">
            <a:extLst xmlns:a="http://schemas.openxmlformats.org/drawingml/2006/main">
              <a:ext uri="{FF2B5EF4-FFF2-40B4-BE49-F238E27FC236}">
                <a16:creationId xmlns:a16="http://schemas.microsoft.com/office/drawing/2014/main" id="{D8D3CCF8-00C9-4170-8866-25687FF7FD1B}"/>
              </a:ext>
            </a:extLst>
          </p:cNvPr>
          <p:cNvSpPr>
            <a:spLocks xmlns:a="http://schemas.openxmlformats.org/drawingml/2006/main" noGrp="1"/>
          </p:cNvSpPr>
          <p:nvPr/>
        </p:nvSpPr>
        <p:spPr>
          <a:xfrm xmlns:a="http://schemas.openxmlformats.org/drawingml/2006/main">
            <a:off x="438912" y="2615184"/>
            <a:ext cx="201168" cy="201168"/>
          </a:xfrm>
          <a:prstGeom xmlns:a="http://schemas.openxmlformats.org/drawingml/2006/main" prst="rect">
            <a:avLst/>
          </a:prstGeom>
          <a:solidFill xmlns:a="http://schemas.openxmlformats.org/drawingml/2006/main">
            <a:srgbClr val="2A9D61"/>
          </a:solidFill>
          <a:ln xmlns:a="http://schemas.openxmlformats.org/drawingml/2006/main" w="12700">
            <a:solidFill>
              <a:srgbClr val="2A9D61"/>
            </a:solidFill>
            <a:prstDash val="solid"/>
          </a:ln>
        </p:spPr>
      </p:sp>
      <p:sp>
        <p:nvSpPr>
          <p:cNvPr id="18" name="Text 16">
            <a:extLst xmlns:a="http://schemas.openxmlformats.org/drawingml/2006/main">
              <a:ext uri="{FF2B5EF4-FFF2-40B4-BE49-F238E27FC236}">
                <a16:creationId xmlns:a16="http://schemas.microsoft.com/office/drawing/2014/main" id="{92FDB06B-FD4A-42B3-86E0-E537A1E2C523}"/>
              </a:ext>
            </a:extLst>
          </p:cNvPr>
          <p:cNvSpPr>
            <a:spLocks xmlns:a="http://schemas.openxmlformats.org/drawingml/2006/main" noGrp="1"/>
          </p:cNvSpPr>
          <p:nvPr/>
        </p:nvSpPr>
        <p:spPr>
          <a:xfrm xmlns:a="http://schemas.openxmlformats.org/drawingml/2006/main">
            <a:off x="438912" y="2615184"/>
            <a:ext cx="2011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rPr>
              <a:t>v</a:t>
            </a:r>
            <a:endParaRPr sz="800"/>
          </a:p>
        </p:txBody>
      </p:sp>
      <p:sp>
        <p:nvSpPr>
          <p:cNvPr id="19" name="Text 17">
            <a:extLst xmlns:a="http://schemas.openxmlformats.org/drawingml/2006/main">
              <a:ext uri="{FF2B5EF4-FFF2-40B4-BE49-F238E27FC236}">
                <a16:creationId xmlns:a16="http://schemas.microsoft.com/office/drawing/2014/main" id="{BCDBEFEE-46CB-44A3-88E9-AFF40DBD9C38}"/>
              </a:ext>
            </a:extLst>
          </p:cNvPr>
          <p:cNvSpPr>
            <a:spLocks xmlns:a="http://schemas.openxmlformats.org/drawingml/2006/main" noGrp="1"/>
          </p:cNvSpPr>
          <p:nvPr/>
        </p:nvSpPr>
        <p:spPr>
          <a:xfrm xmlns:a="http://schemas.openxmlformats.org/drawingml/2006/main">
            <a:off x="713232" y="2578608"/>
            <a:ext cx="36118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1A2638"/>
                </a:solidFill>
              </a:rPr>
              <a:t>Nine-feature hurdle model</a:t>
            </a:r>
            <a:endParaRPr sz="850"/>
          </a:p>
        </p:txBody>
      </p:sp>
      <p:sp>
        <p:nvSpPr>
          <p:cNvPr id="20" name="Shape 18">
            <a:extLst xmlns:a="http://schemas.openxmlformats.org/drawingml/2006/main">
              <a:ext uri="{FF2B5EF4-FFF2-40B4-BE49-F238E27FC236}">
                <a16:creationId xmlns:a16="http://schemas.microsoft.com/office/drawing/2014/main" id="{38CC2047-DAFF-4F79-8A6C-9693337DE728}"/>
              </a:ext>
            </a:extLst>
          </p:cNvPr>
          <p:cNvSpPr>
            <a:spLocks xmlns:a="http://schemas.openxmlformats.org/drawingml/2006/main" noGrp="1"/>
          </p:cNvSpPr>
          <p:nvPr/>
        </p:nvSpPr>
        <p:spPr>
          <a:xfrm xmlns:a="http://schemas.openxmlformats.org/drawingml/2006/main">
            <a:off x="438912" y="3017520"/>
            <a:ext cx="201168" cy="201168"/>
          </a:xfrm>
          <a:prstGeom xmlns:a="http://schemas.openxmlformats.org/drawingml/2006/main" prst="rect">
            <a:avLst/>
          </a:prstGeom>
          <a:solidFill xmlns:a="http://schemas.openxmlformats.org/drawingml/2006/main">
            <a:srgbClr val="2A9D61"/>
          </a:solidFill>
          <a:ln xmlns:a="http://schemas.openxmlformats.org/drawingml/2006/main" w="12700">
            <a:solidFill>
              <a:srgbClr val="2A9D61"/>
            </a:solidFill>
            <a:prstDash val="solid"/>
          </a:ln>
        </p:spPr>
      </p:sp>
      <p:sp>
        <p:nvSpPr>
          <p:cNvPr id="21" name="Text 19">
            <a:extLst xmlns:a="http://schemas.openxmlformats.org/drawingml/2006/main">
              <a:ext uri="{FF2B5EF4-FFF2-40B4-BE49-F238E27FC236}">
                <a16:creationId xmlns:a16="http://schemas.microsoft.com/office/drawing/2014/main" id="{81A07EFA-64C1-421F-8395-E96857D11C9D}"/>
              </a:ext>
            </a:extLst>
          </p:cNvPr>
          <p:cNvSpPr>
            <a:spLocks xmlns:a="http://schemas.openxmlformats.org/drawingml/2006/main" noGrp="1"/>
          </p:cNvSpPr>
          <p:nvPr/>
        </p:nvSpPr>
        <p:spPr>
          <a:xfrm xmlns:a="http://schemas.openxmlformats.org/drawingml/2006/main">
            <a:off x="438912" y="3017520"/>
            <a:ext cx="2011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rPr>
              <a:t>v</a:t>
            </a:r>
            <a:endParaRPr sz="800"/>
          </a:p>
        </p:txBody>
      </p:sp>
      <p:sp>
        <p:nvSpPr>
          <p:cNvPr id="22" name="Text 20">
            <a:extLst xmlns:a="http://schemas.openxmlformats.org/drawingml/2006/main">
              <a:ext uri="{FF2B5EF4-FFF2-40B4-BE49-F238E27FC236}">
                <a16:creationId xmlns:a16="http://schemas.microsoft.com/office/drawing/2014/main" id="{5EAD8AF5-A5F3-448D-94DD-FC8FED090183}"/>
              </a:ext>
            </a:extLst>
          </p:cNvPr>
          <p:cNvSpPr>
            <a:spLocks xmlns:a="http://schemas.openxmlformats.org/drawingml/2006/main" noGrp="1"/>
          </p:cNvSpPr>
          <p:nvPr/>
        </p:nvSpPr>
        <p:spPr>
          <a:xfrm xmlns:a="http://schemas.openxmlformats.org/drawingml/2006/main">
            <a:off x="713232" y="2980944"/>
            <a:ext cx="36118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1A2638"/>
                </a:solidFill>
              </a:rPr>
              <a:t>MAE: 0.029  →  0.021</a:t>
            </a:r>
            <a:endParaRPr sz="850"/>
          </a:p>
        </p:txBody>
      </p:sp>
      <p:sp>
        <p:nvSpPr>
          <p:cNvPr id="23" name="Shape 21">
            <a:extLst xmlns:a="http://schemas.openxmlformats.org/drawingml/2006/main">
              <a:ext uri="{FF2B5EF4-FFF2-40B4-BE49-F238E27FC236}">
                <a16:creationId xmlns:a16="http://schemas.microsoft.com/office/drawing/2014/main" id="{DED7C38A-5AFF-444C-9656-647FE8BFFCC0}"/>
              </a:ext>
            </a:extLst>
          </p:cNvPr>
          <p:cNvSpPr>
            <a:spLocks xmlns:a="http://schemas.openxmlformats.org/drawingml/2006/main" noGrp="1"/>
          </p:cNvSpPr>
          <p:nvPr/>
        </p:nvSpPr>
        <p:spPr>
          <a:xfrm xmlns:a="http://schemas.openxmlformats.org/drawingml/2006/main">
            <a:off x="438912" y="3419856"/>
            <a:ext cx="201168" cy="201168"/>
          </a:xfrm>
          <a:prstGeom xmlns:a="http://schemas.openxmlformats.org/drawingml/2006/main" prst="rect">
            <a:avLst/>
          </a:prstGeom>
          <a:solidFill xmlns:a="http://schemas.openxmlformats.org/drawingml/2006/main">
            <a:srgbClr val="2A9D61"/>
          </a:solidFill>
          <a:ln xmlns:a="http://schemas.openxmlformats.org/drawingml/2006/main" w="12700">
            <a:solidFill>
              <a:srgbClr val="2A9D61"/>
            </a:solidFill>
            <a:prstDash val="solid"/>
          </a:ln>
        </p:spPr>
      </p:sp>
      <p:sp>
        <p:nvSpPr>
          <p:cNvPr id="24" name="Text 22">
            <a:extLst xmlns:a="http://schemas.openxmlformats.org/drawingml/2006/main">
              <a:ext uri="{FF2B5EF4-FFF2-40B4-BE49-F238E27FC236}">
                <a16:creationId xmlns:a16="http://schemas.microsoft.com/office/drawing/2014/main" id="{6D116A6D-EF77-48F1-A187-EBD01D9FDCCF}"/>
              </a:ext>
            </a:extLst>
          </p:cNvPr>
          <p:cNvSpPr>
            <a:spLocks xmlns:a="http://schemas.openxmlformats.org/drawingml/2006/main" noGrp="1"/>
          </p:cNvSpPr>
          <p:nvPr/>
        </p:nvSpPr>
        <p:spPr>
          <a:xfrm xmlns:a="http://schemas.openxmlformats.org/drawingml/2006/main">
            <a:off x="438912" y="3419856"/>
            <a:ext cx="2011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rPr>
              <a:t>v</a:t>
            </a:r>
            <a:endParaRPr sz="800"/>
          </a:p>
        </p:txBody>
      </p:sp>
      <p:sp>
        <p:nvSpPr>
          <p:cNvPr id="25" name="Text 23">
            <a:extLst xmlns:a="http://schemas.openxmlformats.org/drawingml/2006/main">
              <a:ext uri="{FF2B5EF4-FFF2-40B4-BE49-F238E27FC236}">
                <a16:creationId xmlns:a16="http://schemas.microsoft.com/office/drawing/2014/main" id="{015EC6A5-C6DF-4FAE-A905-3C6C3F4211DE}"/>
              </a:ext>
            </a:extLst>
          </p:cNvPr>
          <p:cNvSpPr>
            <a:spLocks xmlns:a="http://schemas.openxmlformats.org/drawingml/2006/main" noGrp="1"/>
          </p:cNvSpPr>
          <p:nvPr/>
        </p:nvSpPr>
        <p:spPr>
          <a:xfrm xmlns:a="http://schemas.openxmlformats.org/drawingml/2006/main">
            <a:off x="713232" y="3383280"/>
            <a:ext cx="36118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1A2638"/>
                </a:solidFill>
              </a:rPr>
              <a:t>RMSE: 0.111  →  0.111</a:t>
            </a:r>
            <a:endParaRPr sz="850"/>
          </a:p>
        </p:txBody>
      </p:sp>
      <p:sp>
        <p:nvSpPr>
          <p:cNvPr id="26" name="Shape 24">
            <a:extLst xmlns:a="http://schemas.openxmlformats.org/drawingml/2006/main">
              <a:ext uri="{FF2B5EF4-FFF2-40B4-BE49-F238E27FC236}">
                <a16:creationId xmlns:a16="http://schemas.microsoft.com/office/drawing/2014/main" id="{A5DEA074-89DF-4CCE-8A8F-D65475D0DE9E}"/>
              </a:ext>
            </a:extLst>
          </p:cNvPr>
          <p:cNvSpPr>
            <a:spLocks xmlns:a="http://schemas.openxmlformats.org/drawingml/2006/main" noGrp="1"/>
          </p:cNvSpPr>
          <p:nvPr/>
        </p:nvSpPr>
        <p:spPr>
          <a:xfrm xmlns:a="http://schemas.openxmlformats.org/drawingml/2006/main">
            <a:off x="438912" y="3822192"/>
            <a:ext cx="201168" cy="201168"/>
          </a:xfrm>
          <a:prstGeom xmlns:a="http://schemas.openxmlformats.org/drawingml/2006/main" prst="rect">
            <a:avLst/>
          </a:prstGeom>
          <a:solidFill xmlns:a="http://schemas.openxmlformats.org/drawingml/2006/main">
            <a:srgbClr val="2A9D61"/>
          </a:solidFill>
          <a:ln xmlns:a="http://schemas.openxmlformats.org/drawingml/2006/main" w="12700">
            <a:solidFill>
              <a:srgbClr val="2A9D61"/>
            </a:solidFill>
            <a:prstDash val="solid"/>
          </a:ln>
        </p:spPr>
      </p:sp>
      <p:sp>
        <p:nvSpPr>
          <p:cNvPr id="27" name="Text 25">
            <a:extLst xmlns:a="http://schemas.openxmlformats.org/drawingml/2006/main">
              <a:ext uri="{FF2B5EF4-FFF2-40B4-BE49-F238E27FC236}">
                <a16:creationId xmlns:a16="http://schemas.microsoft.com/office/drawing/2014/main" id="{D82964B2-8744-443C-B136-A69FE27A06C9}"/>
              </a:ext>
            </a:extLst>
          </p:cNvPr>
          <p:cNvSpPr>
            <a:spLocks xmlns:a="http://schemas.openxmlformats.org/drawingml/2006/main" noGrp="1"/>
          </p:cNvSpPr>
          <p:nvPr/>
        </p:nvSpPr>
        <p:spPr>
          <a:xfrm xmlns:a="http://schemas.openxmlformats.org/drawingml/2006/main">
            <a:off x="438912" y="3822192"/>
            <a:ext cx="2011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rPr>
              <a:t>v</a:t>
            </a:r>
            <a:endParaRPr sz="800"/>
          </a:p>
        </p:txBody>
      </p:sp>
      <p:sp>
        <p:nvSpPr>
          <p:cNvPr id="28" name="Text 26">
            <a:extLst xmlns:a="http://schemas.openxmlformats.org/drawingml/2006/main">
              <a:ext uri="{FF2B5EF4-FFF2-40B4-BE49-F238E27FC236}">
                <a16:creationId xmlns:a16="http://schemas.microsoft.com/office/drawing/2014/main" id="{68538838-CB0E-4D90-B7D0-6D1BCBE624DD}"/>
              </a:ext>
            </a:extLst>
          </p:cNvPr>
          <p:cNvSpPr>
            <a:spLocks xmlns:a="http://schemas.openxmlformats.org/drawingml/2006/main" noGrp="1"/>
          </p:cNvSpPr>
          <p:nvPr/>
        </p:nvSpPr>
        <p:spPr>
          <a:xfrm xmlns:a="http://schemas.openxmlformats.org/drawingml/2006/main">
            <a:off x="713232" y="3785616"/>
            <a:ext cx="36118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1A2638"/>
                </a:solidFill>
              </a:rPr>
              <a:t>Capture@20%: 0.482  →  0.500</a:t>
            </a:r>
            <a:endParaRPr sz="850"/>
          </a:p>
        </p:txBody>
      </p:sp>
      <p:sp>
        <p:nvSpPr>
          <p:cNvPr id="29" name="Shape 27">
            <a:extLst xmlns:a="http://schemas.openxmlformats.org/drawingml/2006/main">
              <a:ext uri="{FF2B5EF4-FFF2-40B4-BE49-F238E27FC236}">
                <a16:creationId xmlns:a16="http://schemas.microsoft.com/office/drawing/2014/main" id="{28BACFDF-0F5E-4145-ACA1-EC4AB0020157}"/>
              </a:ext>
            </a:extLst>
          </p:cNvPr>
          <p:cNvSpPr>
            <a:spLocks xmlns:a="http://schemas.openxmlformats.org/drawingml/2006/main" noGrp="1"/>
          </p:cNvSpPr>
          <p:nvPr/>
        </p:nvSpPr>
        <p:spPr>
          <a:xfrm xmlns:a="http://schemas.openxmlformats.org/drawingml/2006/main">
            <a:off x="438912" y="4224528"/>
            <a:ext cx="201168" cy="201168"/>
          </a:xfrm>
          <a:prstGeom xmlns:a="http://schemas.openxmlformats.org/drawingml/2006/main" prst="rect">
            <a:avLst/>
          </a:prstGeom>
          <a:solidFill xmlns:a="http://schemas.openxmlformats.org/drawingml/2006/main">
            <a:srgbClr val="2A9D61"/>
          </a:solidFill>
          <a:ln xmlns:a="http://schemas.openxmlformats.org/drawingml/2006/main" w="12700">
            <a:solidFill>
              <a:srgbClr val="2A9D61"/>
            </a:solidFill>
            <a:prstDash val="solid"/>
          </a:ln>
        </p:spPr>
      </p:sp>
      <p:sp>
        <p:nvSpPr>
          <p:cNvPr id="30" name="Text 28">
            <a:extLst xmlns:a="http://schemas.openxmlformats.org/drawingml/2006/main">
              <a:ext uri="{FF2B5EF4-FFF2-40B4-BE49-F238E27FC236}">
                <a16:creationId xmlns:a16="http://schemas.microsoft.com/office/drawing/2014/main" id="{00C33222-0D7C-404A-A063-BA5FAC42951D}"/>
              </a:ext>
            </a:extLst>
          </p:cNvPr>
          <p:cNvSpPr>
            <a:spLocks xmlns:a="http://schemas.openxmlformats.org/drawingml/2006/main" noGrp="1"/>
          </p:cNvSpPr>
          <p:nvPr/>
        </p:nvSpPr>
        <p:spPr>
          <a:xfrm xmlns:a="http://schemas.openxmlformats.org/drawingml/2006/main">
            <a:off x="438912" y="4224528"/>
            <a:ext cx="2011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rPr>
              <a:t>v</a:t>
            </a:r>
            <a:endParaRPr sz="800"/>
          </a:p>
        </p:txBody>
      </p:sp>
      <p:sp>
        <p:nvSpPr>
          <p:cNvPr id="31" name="Text 29">
            <a:extLst xmlns:a="http://schemas.openxmlformats.org/drawingml/2006/main">
              <a:ext uri="{FF2B5EF4-FFF2-40B4-BE49-F238E27FC236}">
                <a16:creationId xmlns:a16="http://schemas.microsoft.com/office/drawing/2014/main" id="{5F197E6F-C69F-4616-BDF4-CA6F67397AC1}"/>
              </a:ext>
            </a:extLst>
          </p:cNvPr>
          <p:cNvSpPr>
            <a:spLocks xmlns:a="http://schemas.openxmlformats.org/drawingml/2006/main" noGrp="1"/>
          </p:cNvSpPr>
          <p:nvPr/>
        </p:nvSpPr>
        <p:spPr>
          <a:xfrm xmlns:a="http://schemas.openxmlformats.org/drawingml/2006/main">
            <a:off x="713232" y="4187952"/>
            <a:ext cx="36118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1A2638"/>
                </a:solidFill>
              </a:rPr>
              <a:t>Final temporal test: T=2022–2024; outcomes in T+1.</a:t>
            </a:r>
            <a:endParaRPr sz="850"/>
          </a:p>
        </p:txBody>
      </p:sp>
      <p:sp>
        <p:nvSpPr>
          <p:cNvPr id="32" name="Shape 30">
            <a:extLst xmlns:a="http://schemas.openxmlformats.org/drawingml/2006/main">
              <a:ext uri="{FF2B5EF4-FFF2-40B4-BE49-F238E27FC236}">
                <a16:creationId xmlns:a16="http://schemas.microsoft.com/office/drawing/2014/main" id="{3AFF6CB0-C7CA-42E9-9B23-8A61B0C3A8D8}"/>
              </a:ext>
            </a:extLst>
          </p:cNvPr>
          <p:cNvSpPr>
            <a:spLocks xmlns:a="http://schemas.openxmlformats.org/drawingml/2006/main" noGrp="1"/>
          </p:cNvSpPr>
          <p:nvPr/>
        </p:nvSpPr>
        <p:spPr>
          <a:xfrm xmlns:a="http://schemas.openxmlformats.org/drawingml/2006/main">
            <a:off x="4709160" y="1298448"/>
            <a:ext cx="4160520" cy="3291840"/>
          </a:xfrm>
          <a:prstGeom xmlns:a="http://schemas.openxmlformats.org/drawingml/2006/main" prst="rect">
            <a:avLst/>
          </a:prstGeom>
          <a:solidFill xmlns:a="http://schemas.openxmlformats.org/drawingml/2006/main">
            <a:srgbClr val="FFFFFF"/>
          </a:solidFill>
          <a:ln xmlns:a="http://schemas.openxmlformats.org/drawingml/2006/main" w="12700">
            <a:solidFill>
              <a:srgbClr val="E1E8EF"/>
            </a:solidFill>
            <a:prstDash val="solid"/>
          </a:ln>
          <a:effectLst xmlns:a="http://schemas.openxmlformats.org/drawingml/2006/main">
            <a:outerShdw blurRad="101600" dist="38100" dir="8100000" sx="100000" sy="100000" kx="0" ky="0" algn="bl" rotWithShape="0">
              <a:srgbClr val="000000">
                <a:alpha val="10000"/>
              </a:srgbClr>
            </a:outerShdw>
          </a:effectLst>
        </p:spPr>
      </p:sp>
      <p:sp>
        <p:nvSpPr>
          <p:cNvPr id="33" name="Shape 31">
            <a:extLst xmlns:a="http://schemas.openxmlformats.org/drawingml/2006/main">
              <a:ext uri="{FF2B5EF4-FFF2-40B4-BE49-F238E27FC236}">
                <a16:creationId xmlns:a16="http://schemas.microsoft.com/office/drawing/2014/main" id="{86C73BAB-D264-42B4-9433-3E06E95BBC7C}"/>
              </a:ext>
            </a:extLst>
          </p:cNvPr>
          <p:cNvSpPr>
            <a:spLocks xmlns:a="http://schemas.openxmlformats.org/drawingml/2006/main" noGrp="1"/>
          </p:cNvSpPr>
          <p:nvPr/>
        </p:nvSpPr>
        <p:spPr>
          <a:xfrm xmlns:a="http://schemas.openxmlformats.org/drawingml/2006/main">
            <a:off x="4709160" y="1298448"/>
            <a:ext cx="4160520" cy="384048"/>
          </a:xfrm>
          <a:prstGeom xmlns:a="http://schemas.openxmlformats.org/drawingml/2006/main" prst="rect">
            <a:avLst/>
          </a:prstGeom>
          <a:solidFill xmlns:a="http://schemas.openxmlformats.org/drawingml/2006/main">
            <a:srgbClr val="1E3A50"/>
          </a:solidFill>
          <a:ln xmlns:a="http://schemas.openxmlformats.org/drawingml/2006/main" w="12700">
            <a:solidFill>
              <a:srgbClr val="1E3A50"/>
            </a:solidFill>
            <a:prstDash val="solid"/>
          </a:ln>
        </p:spPr>
      </p:sp>
      <p:sp>
        <p:nvSpPr>
          <p:cNvPr id="34" name="Text 32">
            <a:extLst xmlns:a="http://schemas.openxmlformats.org/drawingml/2006/main">
              <a:ext uri="{FF2B5EF4-FFF2-40B4-BE49-F238E27FC236}">
                <a16:creationId xmlns:a16="http://schemas.microsoft.com/office/drawing/2014/main" id="{2FC985B9-E4DF-42B6-ADA0-B9CCDAE183B4}"/>
              </a:ext>
            </a:extLst>
          </p:cNvPr>
          <p:cNvSpPr>
            <a:spLocks xmlns:a="http://schemas.openxmlformats.org/drawingml/2006/main" noGrp="1"/>
          </p:cNvSpPr>
          <p:nvPr/>
        </p:nvSpPr>
        <p:spPr>
          <a:xfrm xmlns:a="http://schemas.openxmlformats.org/drawingml/2006/main">
            <a:off x="4709160" y="1298448"/>
            <a:ext cx="41605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rPr>
              <a:t>HOW TO READ IT</a:t>
            </a:r>
            <a:endParaRPr sz="1000"/>
          </a:p>
        </p:txBody>
      </p:sp>
      <p:sp>
        <p:nvSpPr>
          <p:cNvPr id="35" name="Text 33">
            <a:extLst xmlns:a="http://schemas.openxmlformats.org/drawingml/2006/main">
              <a:ext uri="{FF2B5EF4-FFF2-40B4-BE49-F238E27FC236}">
                <a16:creationId xmlns:a16="http://schemas.microsoft.com/office/drawing/2014/main" id="{658F1690-5C44-4152-B042-A6646FDB39E8}"/>
              </a:ext>
            </a:extLst>
          </p:cNvPr>
          <p:cNvSpPr>
            <a:spLocks xmlns:a="http://schemas.openxmlformats.org/drawingml/2006/main" noGrp="1"/>
          </p:cNvSpPr>
          <p:nvPr/>
        </p:nvSpPr>
        <p:spPr>
          <a:xfrm xmlns:a="http://schemas.openxmlformats.org/drawingml/2006/main">
            <a:off x="4873752" y="1755648"/>
            <a:ext cx="3886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a:solidFill>
                  <a:srgbClr val="5B6880"/>
                </a:solidFill>
              </a:rPr>
              <a:t>Technical</a:t>
            </a:r>
            <a:endParaRPr sz="800"/>
          </a:p>
        </p:txBody>
      </p:sp>
      <p:sp>
        <p:nvSpPr>
          <p:cNvPr id="36" name="Shape 34">
            <a:extLst xmlns:a="http://schemas.openxmlformats.org/drawingml/2006/main">
              <a:ext uri="{FF2B5EF4-FFF2-40B4-BE49-F238E27FC236}">
                <a16:creationId xmlns:a16="http://schemas.microsoft.com/office/drawing/2014/main" id="{71C50895-D71E-4952-B2DB-F09E20DBC72B}"/>
              </a:ext>
            </a:extLst>
          </p:cNvPr>
          <p:cNvSpPr>
            <a:spLocks xmlns:a="http://schemas.openxmlformats.org/drawingml/2006/main" noGrp="1"/>
          </p:cNvSpPr>
          <p:nvPr/>
        </p:nvSpPr>
        <p:spPr>
          <a:xfrm xmlns:a="http://schemas.openxmlformats.org/drawingml/2006/main">
            <a:off x="4873752" y="2093976"/>
            <a:ext cx="164592" cy="164592"/>
          </a:xfrm>
          <a:prstGeom xmlns:a="http://schemas.openxmlformats.org/drawingml/2006/main" prst="rect">
            <a:avLst/>
          </a:prstGeom>
          <a:solidFill xmlns:a="http://schemas.openxmlformats.org/drawingml/2006/main">
            <a:srgbClr val="2E6DB4"/>
          </a:solidFill>
          <a:ln xmlns:a="http://schemas.openxmlformats.org/drawingml/2006/main" w="12700">
            <a:solidFill>
              <a:srgbClr val="2E6DB4"/>
            </a:solidFill>
            <a:prstDash val="solid"/>
          </a:ln>
        </p:spPr>
      </p:sp>
      <p:sp>
        <p:nvSpPr>
          <p:cNvPr id="37" name="Text 35">
            <a:extLst xmlns:a="http://schemas.openxmlformats.org/drawingml/2006/main">
              <a:ext uri="{FF2B5EF4-FFF2-40B4-BE49-F238E27FC236}">
                <a16:creationId xmlns:a16="http://schemas.microsoft.com/office/drawing/2014/main" id="{DDE362E9-A857-46C9-9F3F-B9F66FF26D23}"/>
              </a:ext>
            </a:extLst>
          </p:cNvPr>
          <p:cNvSpPr>
            <a:spLocks xmlns:a="http://schemas.openxmlformats.org/drawingml/2006/main" noGrp="1"/>
          </p:cNvSpPr>
          <p:nvPr/>
        </p:nvSpPr>
        <p:spPr>
          <a:xfrm xmlns:a="http://schemas.openxmlformats.org/drawingml/2006/main">
            <a:off x="4873752" y="2093976"/>
            <a:ext cx="164592"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700" b="1">
                <a:solidFill>
                  <a:srgbClr val="FFFFFF"/>
                </a:solidFill>
              </a:rPr>
              <a:t>v</a:t>
            </a:r>
            <a:endParaRPr sz="700"/>
          </a:p>
        </p:txBody>
      </p:sp>
      <p:sp>
        <p:nvSpPr>
          <p:cNvPr id="38" name="Text 36">
            <a:extLst xmlns:a="http://schemas.openxmlformats.org/drawingml/2006/main">
              <a:ext uri="{FF2B5EF4-FFF2-40B4-BE49-F238E27FC236}">
                <a16:creationId xmlns:a16="http://schemas.microsoft.com/office/drawing/2014/main" id="{C50A687C-C5BF-4C24-B785-AAE81140370A}"/>
              </a:ext>
            </a:extLst>
          </p:cNvPr>
          <p:cNvSpPr>
            <a:spLocks xmlns:a="http://schemas.openxmlformats.org/drawingml/2006/main" noGrp="1"/>
          </p:cNvSpPr>
          <p:nvPr/>
        </p:nvSpPr>
        <p:spPr>
          <a:xfrm xmlns:a="http://schemas.openxmlformats.org/drawingml/2006/main">
            <a:off x="5111496" y="2048256"/>
            <a:ext cx="3648456"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1A2638"/>
                </a:solidFill>
              </a:rPr>
              <a:t>MAE is average error in burned-share units; lower is better.</a:t>
            </a:r>
            <a:endParaRPr sz="800"/>
          </a:p>
        </p:txBody>
      </p:sp>
      <p:sp>
        <p:nvSpPr>
          <p:cNvPr id="39" name="Shape 37">
            <a:extLst xmlns:a="http://schemas.openxmlformats.org/drawingml/2006/main">
              <a:ext uri="{FF2B5EF4-FFF2-40B4-BE49-F238E27FC236}">
                <a16:creationId xmlns:a16="http://schemas.microsoft.com/office/drawing/2014/main" id="{5E376839-E1BB-4BB7-A2B8-1734C73B620B}"/>
              </a:ext>
            </a:extLst>
          </p:cNvPr>
          <p:cNvSpPr>
            <a:spLocks xmlns:a="http://schemas.openxmlformats.org/drawingml/2006/main" noGrp="1"/>
          </p:cNvSpPr>
          <p:nvPr/>
        </p:nvSpPr>
        <p:spPr>
          <a:xfrm xmlns:a="http://schemas.openxmlformats.org/drawingml/2006/main">
            <a:off x="4873752" y="2441448"/>
            <a:ext cx="164592" cy="164592"/>
          </a:xfrm>
          <a:prstGeom xmlns:a="http://schemas.openxmlformats.org/drawingml/2006/main" prst="rect">
            <a:avLst/>
          </a:prstGeom>
          <a:solidFill xmlns:a="http://schemas.openxmlformats.org/drawingml/2006/main">
            <a:srgbClr val="2E6DB4"/>
          </a:solidFill>
          <a:ln xmlns:a="http://schemas.openxmlformats.org/drawingml/2006/main" w="12700">
            <a:solidFill>
              <a:srgbClr val="2E6DB4"/>
            </a:solidFill>
            <a:prstDash val="solid"/>
          </a:ln>
        </p:spPr>
      </p:sp>
      <p:sp>
        <p:nvSpPr>
          <p:cNvPr id="40" name="Text 38">
            <a:extLst xmlns:a="http://schemas.openxmlformats.org/drawingml/2006/main">
              <a:ext uri="{FF2B5EF4-FFF2-40B4-BE49-F238E27FC236}">
                <a16:creationId xmlns:a16="http://schemas.microsoft.com/office/drawing/2014/main" id="{A01EA3BC-0FCB-49C4-A55F-97CAAB6F402D}"/>
              </a:ext>
            </a:extLst>
          </p:cNvPr>
          <p:cNvSpPr>
            <a:spLocks xmlns:a="http://schemas.openxmlformats.org/drawingml/2006/main" noGrp="1"/>
          </p:cNvSpPr>
          <p:nvPr/>
        </p:nvSpPr>
        <p:spPr>
          <a:xfrm xmlns:a="http://schemas.openxmlformats.org/drawingml/2006/main">
            <a:off x="4873752" y="2441448"/>
            <a:ext cx="164592"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700" b="1">
                <a:solidFill>
                  <a:srgbClr val="FFFFFF"/>
                </a:solidFill>
              </a:rPr>
              <a:t>v</a:t>
            </a:r>
            <a:endParaRPr sz="700"/>
          </a:p>
        </p:txBody>
      </p:sp>
      <p:sp>
        <p:nvSpPr>
          <p:cNvPr id="41" name="Text 39">
            <a:extLst xmlns:a="http://schemas.openxmlformats.org/drawingml/2006/main">
              <a:ext uri="{FF2B5EF4-FFF2-40B4-BE49-F238E27FC236}">
                <a16:creationId xmlns:a16="http://schemas.microsoft.com/office/drawing/2014/main" id="{8809B3A3-0DA5-4598-97B3-FE43ED817C67}"/>
              </a:ext>
            </a:extLst>
          </p:cNvPr>
          <p:cNvSpPr>
            <a:spLocks xmlns:a="http://schemas.openxmlformats.org/drawingml/2006/main" noGrp="1"/>
          </p:cNvSpPr>
          <p:nvPr/>
        </p:nvSpPr>
        <p:spPr>
          <a:xfrm xmlns:a="http://schemas.openxmlformats.org/drawingml/2006/main">
            <a:off x="5111496" y="2395728"/>
            <a:ext cx="3648456"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1A2638"/>
                </a:solidFill>
              </a:rPr>
              <a:t>RMSE gives more weight to larger errors; lower is better.</a:t>
            </a:r>
            <a:endParaRPr sz="800"/>
          </a:p>
        </p:txBody>
      </p:sp>
      <p:sp>
        <p:nvSpPr>
          <p:cNvPr id="42" name="Shape 40">
            <a:extLst xmlns:a="http://schemas.openxmlformats.org/drawingml/2006/main">
              <a:ext uri="{FF2B5EF4-FFF2-40B4-BE49-F238E27FC236}">
                <a16:creationId xmlns:a16="http://schemas.microsoft.com/office/drawing/2014/main" id="{04DD2B2E-E82C-45BC-BE89-09F4E19B41E9}"/>
              </a:ext>
            </a:extLst>
          </p:cNvPr>
          <p:cNvSpPr>
            <a:spLocks xmlns:a="http://schemas.openxmlformats.org/drawingml/2006/main" noGrp="1"/>
          </p:cNvSpPr>
          <p:nvPr/>
        </p:nvSpPr>
        <p:spPr>
          <a:xfrm xmlns:a="http://schemas.openxmlformats.org/drawingml/2006/main">
            <a:off x="4873752" y="2788920"/>
            <a:ext cx="164592" cy="164592"/>
          </a:xfrm>
          <a:prstGeom xmlns:a="http://schemas.openxmlformats.org/drawingml/2006/main" prst="rect">
            <a:avLst/>
          </a:prstGeom>
          <a:solidFill xmlns:a="http://schemas.openxmlformats.org/drawingml/2006/main">
            <a:srgbClr val="2E6DB4"/>
          </a:solidFill>
          <a:ln xmlns:a="http://schemas.openxmlformats.org/drawingml/2006/main" w="12700">
            <a:solidFill>
              <a:srgbClr val="2E6DB4"/>
            </a:solidFill>
            <a:prstDash val="solid"/>
          </a:ln>
        </p:spPr>
      </p:sp>
      <p:sp>
        <p:nvSpPr>
          <p:cNvPr id="43" name="Text 41">
            <a:extLst xmlns:a="http://schemas.openxmlformats.org/drawingml/2006/main">
              <a:ext uri="{FF2B5EF4-FFF2-40B4-BE49-F238E27FC236}">
                <a16:creationId xmlns:a16="http://schemas.microsoft.com/office/drawing/2014/main" id="{EEB1BEEB-8312-41BE-85B4-D13CC920FF0B}"/>
              </a:ext>
            </a:extLst>
          </p:cNvPr>
          <p:cNvSpPr>
            <a:spLocks xmlns:a="http://schemas.openxmlformats.org/drawingml/2006/main" noGrp="1"/>
          </p:cNvSpPr>
          <p:nvPr/>
        </p:nvSpPr>
        <p:spPr>
          <a:xfrm xmlns:a="http://schemas.openxmlformats.org/drawingml/2006/main">
            <a:off x="4873752" y="2788920"/>
            <a:ext cx="164592"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700" b="1">
                <a:solidFill>
                  <a:srgbClr val="FFFFFF"/>
                </a:solidFill>
              </a:rPr>
              <a:t>v</a:t>
            </a:r>
            <a:endParaRPr sz="700"/>
          </a:p>
        </p:txBody>
      </p:sp>
      <p:sp>
        <p:nvSpPr>
          <p:cNvPr id="44" name="Text 42">
            <a:extLst xmlns:a="http://schemas.openxmlformats.org/drawingml/2006/main">
              <a:ext uri="{FF2B5EF4-FFF2-40B4-BE49-F238E27FC236}">
                <a16:creationId xmlns:a16="http://schemas.microsoft.com/office/drawing/2014/main" id="{4905A8FB-5807-43E1-8DBD-D43367C8B3EB}"/>
              </a:ext>
            </a:extLst>
          </p:cNvPr>
          <p:cNvSpPr>
            <a:spLocks xmlns:a="http://schemas.openxmlformats.org/drawingml/2006/main" noGrp="1"/>
          </p:cNvSpPr>
          <p:nvPr/>
        </p:nvSpPr>
        <p:spPr>
          <a:xfrm xmlns:a="http://schemas.openxmlformats.org/drawingml/2006/main">
            <a:off x="5111496" y="2743200"/>
            <a:ext cx="3648456"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1A2638"/>
                </a:solidFill>
              </a:rPr>
              <a:t>Capture@20% is the share of observed burned share found among the 20% highest-scored cells.</a:t>
            </a:r>
            <a:endParaRPr sz="800"/>
          </a:p>
        </p:txBody>
      </p:sp>
      <p:sp>
        <p:nvSpPr>
          <p:cNvPr id="45" name="Text 43">
            <a:extLst xmlns:a="http://schemas.openxmlformats.org/drawingml/2006/main">
              <a:ext uri="{FF2B5EF4-FFF2-40B4-BE49-F238E27FC236}">
                <a16:creationId xmlns:a16="http://schemas.microsoft.com/office/drawing/2014/main" id="{02C67DCD-F138-4A42-A665-6D062D32E9DD}"/>
              </a:ext>
            </a:extLst>
          </p:cNvPr>
          <p:cNvSpPr>
            <a:spLocks xmlns:a="http://schemas.openxmlformats.org/drawingml/2006/main" noGrp="1"/>
          </p:cNvSpPr>
          <p:nvPr/>
        </p:nvSpPr>
        <p:spPr>
          <a:xfrm xmlns:a="http://schemas.openxmlformats.org/drawingml/2006/main">
            <a:off x="4873752" y="3127248"/>
            <a:ext cx="3886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a:solidFill>
                  <a:srgbClr val="5B6880"/>
                </a:solidFill>
              </a:rPr>
              <a:t>Delivery Tips</a:t>
            </a:r>
            <a:endParaRPr sz="800"/>
          </a:p>
        </p:txBody>
      </p:sp>
      <p:sp>
        <p:nvSpPr>
          <p:cNvPr id="46" name="Text 44">
            <a:extLst xmlns:a="http://schemas.openxmlformats.org/drawingml/2006/main">
              <a:ext uri="{FF2B5EF4-FFF2-40B4-BE49-F238E27FC236}">
                <a16:creationId xmlns:a16="http://schemas.microsoft.com/office/drawing/2014/main" id="{C18C945C-1C08-400A-BE5B-DB2B6C52AF09}"/>
              </a:ext>
            </a:extLst>
          </p:cNvPr>
          <p:cNvSpPr>
            <a:spLocks xmlns:a="http://schemas.openxmlformats.org/drawingml/2006/main" noGrp="1"/>
          </p:cNvSpPr>
          <p:nvPr/>
        </p:nvSpPr>
        <p:spPr>
          <a:xfrm xmlns:a="http://schemas.openxmlformats.org/drawingml/2006/main">
            <a:off x="4873752" y="3401568"/>
            <a:ext cx="3886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b="1">
                <a:solidFill>
                  <a:srgbClr val="E8A020"/>
                </a:solidFill>
              </a:rPr>
              <a:t>It is a ranking diagnostic, not a buyer threshold.</a:t>
            </a:r>
            <a:endParaRPr sz="750"/>
          </a:p>
        </p:txBody>
      </p:sp>
      <p:sp>
        <p:nvSpPr>
          <p:cNvPr id="47" name="Text 45">
            <a:extLst xmlns:a="http://schemas.openxmlformats.org/drawingml/2006/main">
              <a:ext uri="{FF2B5EF4-FFF2-40B4-BE49-F238E27FC236}">
                <a16:creationId xmlns:a16="http://schemas.microsoft.com/office/drawing/2014/main" id="{937B33A7-28FF-4038-A79B-FAC8CBE9835C}"/>
              </a:ext>
            </a:extLst>
          </p:cNvPr>
          <p:cNvSpPr>
            <a:spLocks xmlns:a="http://schemas.openxmlformats.org/drawingml/2006/main" noGrp="1"/>
          </p:cNvSpPr>
          <p:nvPr/>
        </p:nvSpPr>
        <p:spPr>
          <a:xfrm xmlns:a="http://schemas.openxmlformats.org/drawingml/2006/main">
            <a:off x="4873752" y="3630168"/>
            <a:ext cx="3886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b="1">
                <a:solidFill>
                  <a:srgbClr val="E8A020"/>
                </a:solidFill>
              </a:rPr>
              <a:t>The model improves selected comparisons, but extreme fire years remain difficult.</a:t>
            </a:r>
            <a:endParaRPr sz="750"/>
          </a:p>
        </p:txBody>
      </p:sp>
      <p:sp>
        <p:nvSpPr>
          <p:cNvPr id="48" name="Text 46">
            <a:extLst xmlns:a="http://schemas.openxmlformats.org/drawingml/2006/main">
              <a:ext uri="{FF2B5EF4-FFF2-40B4-BE49-F238E27FC236}">
                <a16:creationId xmlns:a16="http://schemas.microsoft.com/office/drawing/2014/main" id="{0F262A02-4282-4553-9F48-CA22BC998ED4}"/>
              </a:ext>
            </a:extLst>
          </p:cNvPr>
          <p:cNvSpPr>
            <a:spLocks xmlns:a="http://schemas.openxmlformats.org/drawingml/2006/main" noGrp="1"/>
          </p:cNvSpPr>
          <p:nvPr/>
        </p:nvSpPr>
        <p:spPr>
          <a:xfrm xmlns:a="http://schemas.openxmlformats.org/drawingml/2006/main">
            <a:off x="4873752" y="3858768"/>
            <a:ext cx="3886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b="1">
                <a:solidFill>
                  <a:srgbClr val="E8A020"/>
                </a:solidFill>
              </a:rPr>
              <a:t>The target is continuous burned share: burned land area divided by cell land area.</a:t>
            </a:r>
            <a:endParaRPr sz="750"/>
          </a:p>
        </p:txBody>
      </p:sp>
      <p:sp>
        <p:nvSpPr>
          <p:cNvPr id="49" name="Text 47">
            <a:extLst xmlns:a="http://schemas.openxmlformats.org/drawingml/2006/main">
              <a:ext uri="{FF2B5EF4-FFF2-40B4-BE49-F238E27FC236}">
                <a16:creationId xmlns:a16="http://schemas.microsoft.com/office/drawing/2014/main" id="{80ADC56E-8CDF-4533-9D13-29A328F28F97}"/>
              </a:ext>
            </a:extLst>
          </p:cNvPr>
          <p:cNvSpPr>
            <a:spLocks xmlns:a="http://schemas.openxmlformats.org/drawingml/2006/main" noGrp="1"/>
          </p:cNvSpPr>
          <p:nvPr/>
        </p:nvSpPr>
        <p:spPr>
          <a:xfrm xmlns:a="http://schemas.openxmlformats.org/drawingml/2006/main">
            <a:off x="4873752" y="4087368"/>
            <a:ext cx="3886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b="1">
                <a:solidFill>
                  <a:srgbClr val="E8A020"/>
                </a:solidFill>
              </a:rPr>
              <a:t>The nine-feature model uses a two-part regression for the zero-heavy target.</a:t>
            </a:r>
            <a:endParaRPr sz="750"/>
          </a:p>
        </p:txBody>
      </p:sp>
      <p:sp>
        <p:nvSpPr>
          <p:cNvPr id="50" name="Text 48">
            <a:extLst xmlns:a="http://schemas.openxmlformats.org/drawingml/2006/main">
              <a:ext uri="{FF2B5EF4-FFF2-40B4-BE49-F238E27FC236}">
                <a16:creationId xmlns:a16="http://schemas.microsoft.com/office/drawing/2014/main" id="{B09D24CA-CA3D-4B5F-A387-732847182130}"/>
              </a:ext>
            </a:extLst>
          </p:cNvPr>
          <p:cNvSpPr>
            <a:spLocks xmlns:a="http://schemas.openxmlformats.org/drawingml/2006/main" noGrp="1"/>
          </p:cNvSpPr>
          <p:nvPr/>
        </p:nvSpPr>
        <p:spPr>
          <a:xfrm xmlns:a="http://schemas.openxmlformats.org/drawingml/2006/main">
            <a:off x="4873752" y="4315968"/>
            <a:ext cx="3886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b="1">
                <a:solidFill>
                  <a:srgbClr val="E8A020"/>
                </a:solidFill>
              </a:rPr>
              <a:t>No final-test result is used to claim a property-level forecast.</a:t>
            </a:r>
            <a:endParaRPr sz="750"/>
          </a:p>
        </p:txBody>
      </p:sp>
      <p:sp>
        <p:nvSpPr>
          <p:cNvPr id="51" name="Shape 49">
            <a:extLst xmlns:a="http://schemas.openxmlformats.org/drawingml/2006/main">
              <a:ext uri="{FF2B5EF4-FFF2-40B4-BE49-F238E27FC236}">
                <a16:creationId xmlns:a16="http://schemas.microsoft.com/office/drawing/2014/main" id="{046EB332-A276-466B-BCAE-B81EE8DE1BB5}"/>
              </a:ext>
            </a:extLst>
          </p:cNvPr>
          <p:cNvSpPr>
            <a:spLocks xmlns:a="http://schemas.openxmlformats.org/drawingml/2006/main" noGrp="1"/>
          </p:cNvSpPr>
          <p:nvPr/>
        </p:nvSpPr>
        <p:spPr>
          <a:xfrm xmlns:a="http://schemas.openxmlformats.org/drawingml/2006/main">
            <a:off x="274320" y="4663440"/>
            <a:ext cx="8595360" cy="292608"/>
          </a:xfrm>
          <a:prstGeom xmlns:a="http://schemas.openxmlformats.org/drawingml/2006/main" prst="rect">
            <a:avLst/>
          </a:prstGeom>
          <a:solidFill xmlns:a="http://schemas.openxmlformats.org/drawingml/2006/main">
            <a:srgbClr val="2A9D61"/>
          </a:solidFill>
          <a:ln xmlns:a="http://schemas.openxmlformats.org/drawingml/2006/main" w="12700">
            <a:solidFill>
              <a:srgbClr val="2A9D61"/>
            </a:solidFill>
            <a:prstDash val="solid"/>
          </a:ln>
        </p:spPr>
      </p:sp>
      <p:sp>
        <p:nvSpPr>
          <p:cNvPr id="52" name="Text 50">
            <a:extLst xmlns:a="http://schemas.openxmlformats.org/drawingml/2006/main">
              <a:ext uri="{FF2B5EF4-FFF2-40B4-BE49-F238E27FC236}">
                <a16:creationId xmlns:a16="http://schemas.microsoft.com/office/drawing/2014/main" id="{B7CC2583-B7A5-46EA-80FE-3AC1E9D1753B}"/>
              </a:ext>
            </a:extLst>
          </p:cNvPr>
          <p:cNvSpPr>
            <a:spLocks xmlns:a="http://schemas.openxmlformats.org/drawingml/2006/main" noGrp="1"/>
          </p:cNvSpPr>
          <p:nvPr/>
        </p:nvSpPr>
        <p:spPr>
          <a:xfrm xmlns:a="http://schemas.openxmlformats.org/drawingml/2006/main">
            <a:off x="411480" y="4663440"/>
            <a:ext cx="83210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rPr>
              <a:t>Conclusion: useful comparative improvement with visible uncertainty.</a:t>
            </a:r>
            <a:endParaRPr sz="850"/>
          </a:p>
        </p:txBody>
      </p:sp>
      <p:sp>
        <p:nvSpPr>
          <p:cNvPr id="53" name="Shape 51">
            <a:extLst xmlns:a="http://schemas.openxmlformats.org/drawingml/2006/main">
              <a:ext uri="{FF2B5EF4-FFF2-40B4-BE49-F238E27FC236}">
                <a16:creationId xmlns:a16="http://schemas.microsoft.com/office/drawing/2014/main" id="{7E5B3B4E-B122-4896-8EDF-6B59DC353180}"/>
              </a:ext>
            </a:extLst>
          </p:cNvPr>
          <p:cNvSpPr>
            <a:spLocks xmlns:a="http://schemas.openxmlformats.org/drawingml/2006/main" noGrp="1"/>
          </p:cNvSpPr>
          <p:nvPr/>
        </p:nvSpPr>
        <p:spPr>
          <a:xfrm xmlns:a="http://schemas.openxmlformats.org/drawingml/2006/main">
            <a:off x="0" y="4919472"/>
            <a:ext cx="9144000" cy="224028"/>
          </a:xfrm>
          <a:prstGeom xmlns:a="http://schemas.openxmlformats.org/drawingml/2006/main" prst="rect">
            <a:avLst/>
          </a:prstGeom>
          <a:solidFill xmlns:a="http://schemas.openxmlformats.org/drawingml/2006/main">
            <a:srgbClr val="162B3D"/>
          </a:solidFill>
          <a:ln xmlns:a="http://schemas.openxmlformats.org/drawingml/2006/main" w="12700">
            <a:solidFill>
              <a:srgbClr val="162B3D"/>
            </a:solidFill>
            <a:prstDash val="solid"/>
          </a:ln>
        </p:spPr>
      </p:sp>
      <p:sp>
        <p:nvSpPr>
          <p:cNvPr id="54" name="Text 52">
            <a:extLst xmlns:a="http://schemas.openxmlformats.org/drawingml/2006/main">
              <a:ext uri="{FF2B5EF4-FFF2-40B4-BE49-F238E27FC236}">
                <a16:creationId xmlns:a16="http://schemas.microsoft.com/office/drawing/2014/main" id="{F1C53D4D-25F4-4AFB-98C2-194E6D7315E7}"/>
              </a:ext>
            </a:extLst>
          </p:cNvPr>
          <p:cNvSpPr>
            <a:spLocks xmlns:a="http://schemas.openxmlformats.org/drawingml/2006/main" noGrp="1"/>
          </p:cNvSpPr>
          <p:nvPr/>
        </p:nvSpPr>
        <p:spPr>
          <a:xfrm xmlns:a="http://schemas.openxmlformats.org/drawingml/2006/main">
            <a:off x="274320" y="4919472"/>
            <a:ext cx="8595360" cy="2240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a:solidFill>
                  <a:srgbClr val="E8A020"/>
                </a:solidFill>
              </a:rPr>
              <a:t>Serhii Diadechko  |  Data Science &amp; Machine Learning Capstone</a:t>
            </a:r>
            <a:endParaRPr sz="800"/>
          </a:p>
        </p:txBody>
      </p:sp>
    </p:spTree>
    <p:extLst>
      <p:ext uri="{BB962C8B-B14F-4D97-AF65-F5344CB8AC3E}">
        <p14:creationId xmlns:p14="http://schemas.microsoft.com/office/powerpoint/2010/main" val="78022506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CE0DBA8-F241-4DE7-841E-6F212B2BAA81}"/>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F3F6F9"/>
          </a:solidFill>
          <a:ln xmlns:a="http://schemas.openxmlformats.org/drawingml/2006/main" w="12700">
            <a:solidFill>
              <a:srgbClr val="F3F6F9"/>
            </a:solidFill>
            <a:prstDash val="solid"/>
          </a:ln>
        </p:spPr>
      </p:sp>
      <p:sp>
        <p:nvSpPr>
          <p:cNvPr id="3" name="Shape 1">
            <a:extLst xmlns:a="http://schemas.openxmlformats.org/drawingml/2006/main">
              <a:ext uri="{FF2B5EF4-FFF2-40B4-BE49-F238E27FC236}">
                <a16:creationId xmlns:a16="http://schemas.microsoft.com/office/drawing/2014/main" id="{DF7765EB-0EA9-4512-8D95-C555572E3044}"/>
              </a:ext>
            </a:extLst>
          </p:cNvPr>
          <p:cNvSpPr>
            <a:spLocks xmlns:a="http://schemas.openxmlformats.org/drawingml/2006/main" noGrp="1"/>
          </p:cNvSpPr>
          <p:nvPr/>
        </p:nvSpPr>
        <p:spPr>
          <a:xfrm xmlns:a="http://schemas.openxmlformats.org/drawingml/2006/main">
            <a:off x="0" y="0"/>
            <a:ext cx="9144000" cy="64008"/>
          </a:xfrm>
          <a:prstGeom xmlns:a="http://schemas.openxmlformats.org/drawingml/2006/main" prst="rect">
            <a:avLst/>
          </a:prstGeom>
          <a:solidFill xmlns:a="http://schemas.openxmlformats.org/drawingml/2006/main">
            <a:srgbClr val="E8A020"/>
          </a:solidFill>
          <a:ln xmlns:a="http://schemas.openxmlformats.org/drawingml/2006/main" w="12700">
            <a:solidFill>
              <a:srgbClr val="E8A020"/>
            </a:solidFill>
            <a:prstDash val="solid"/>
          </a:ln>
        </p:spPr>
      </p:sp>
      <p:sp>
        <p:nvSpPr>
          <p:cNvPr id="4" name="Shape 2">
            <a:extLst xmlns:a="http://schemas.openxmlformats.org/drawingml/2006/main">
              <a:ext uri="{FF2B5EF4-FFF2-40B4-BE49-F238E27FC236}">
                <a16:creationId xmlns:a16="http://schemas.microsoft.com/office/drawing/2014/main" id="{AE6ABE1A-7F36-4AF0-9C33-F3C12D9FEFBB}"/>
              </a:ext>
            </a:extLst>
          </p:cNvPr>
          <p:cNvSpPr>
            <a:spLocks xmlns:a="http://schemas.openxmlformats.org/drawingml/2006/main" noGrp="1"/>
          </p:cNvSpPr>
          <p:nvPr/>
        </p:nvSpPr>
        <p:spPr>
          <a:xfrm xmlns:a="http://schemas.openxmlformats.org/drawingml/2006/main">
            <a:off x="0" y="64008"/>
            <a:ext cx="9144000" cy="658368"/>
          </a:xfrm>
          <a:prstGeom xmlns:a="http://schemas.openxmlformats.org/drawingml/2006/main" prst="rect">
            <a:avLst/>
          </a:prstGeom>
          <a:solidFill xmlns:a="http://schemas.openxmlformats.org/drawingml/2006/main">
            <a:srgbClr val="1E3A50"/>
          </a:solidFill>
          <a:ln xmlns:a="http://schemas.openxmlformats.org/drawingml/2006/main" w="12700">
            <a:solidFill>
              <a:srgbClr val="1E3A50"/>
            </a:solidFill>
            <a:prstDash val="solid"/>
          </a:ln>
        </p:spPr>
      </p:sp>
      <p:sp>
        <p:nvSpPr>
          <p:cNvPr id="5" name="Text 3">
            <a:extLst xmlns:a="http://schemas.openxmlformats.org/drawingml/2006/main">
              <a:ext uri="{FF2B5EF4-FFF2-40B4-BE49-F238E27FC236}">
                <a16:creationId xmlns:a16="http://schemas.microsoft.com/office/drawing/2014/main" id="{5E8AAAA1-B5EE-4E8D-8C98-575D38C3D915}"/>
              </a:ext>
            </a:extLst>
          </p:cNvPr>
          <p:cNvSpPr>
            <a:spLocks xmlns:a="http://schemas.openxmlformats.org/drawingml/2006/main" noGrp="1"/>
          </p:cNvSpPr>
          <p:nvPr/>
        </p:nvSpPr>
        <p:spPr>
          <a:xfrm xmlns:a="http://schemas.openxmlformats.org/drawingml/2006/main">
            <a:off x="274320" y="64008"/>
            <a:ext cx="731520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E8A020"/>
                </a:solidFill>
              </a:rPr>
              <a:t>RECOMMENDED USE CASE</a:t>
            </a:r>
            <a:endParaRPr sz="1100"/>
          </a:p>
        </p:txBody>
      </p:sp>
      <p:sp>
        <p:nvSpPr>
          <p:cNvPr id="6" name="Text 4">
            <a:extLst xmlns:a="http://schemas.openxmlformats.org/drawingml/2006/main">
              <a:ext uri="{FF2B5EF4-FFF2-40B4-BE49-F238E27FC236}">
                <a16:creationId xmlns:a16="http://schemas.microsoft.com/office/drawing/2014/main" id="{00F4CB20-9C08-4A2F-8880-3B0C42737A1E}"/>
              </a:ext>
            </a:extLst>
          </p:cNvPr>
          <p:cNvSpPr>
            <a:spLocks xmlns:a="http://schemas.openxmlformats.org/drawingml/2006/main" noGrp="1"/>
          </p:cNvSpPr>
          <p:nvPr/>
        </p:nvSpPr>
        <p:spPr>
          <a:xfrm xmlns:a="http://schemas.openxmlformats.org/drawingml/2006/main">
            <a:off x="6858000" y="64008"/>
            <a:ext cx="201168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b="1">
                <a:solidFill>
                  <a:srgbClr val="E1E8EF"/>
                </a:solidFill>
              </a:rPr>
              <a:t>6 / 8</a:t>
            </a:r>
            <a:endParaRPr sz="1100"/>
          </a:p>
        </p:txBody>
      </p:sp>
      <p:sp>
        <p:nvSpPr>
          <p:cNvPr id="7" name="Text 5">
            <a:extLst xmlns:a="http://schemas.openxmlformats.org/drawingml/2006/main">
              <a:ext uri="{FF2B5EF4-FFF2-40B4-BE49-F238E27FC236}">
                <a16:creationId xmlns:a16="http://schemas.microsoft.com/office/drawing/2014/main" id="{E75EB6B0-AC08-49BD-830B-C61FEDD8CA55}"/>
              </a:ext>
            </a:extLst>
          </p:cNvPr>
          <p:cNvSpPr>
            <a:spLocks xmlns:a="http://schemas.openxmlformats.org/drawingml/2006/main" noGrp="1"/>
          </p:cNvSpPr>
          <p:nvPr/>
        </p:nvSpPr>
        <p:spPr>
          <a:xfrm xmlns:a="http://schemas.openxmlformats.org/drawingml/2006/main">
            <a:off x="274320" y="804672"/>
            <a:ext cx="859536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1A2638"/>
                </a:solidFill>
              </a:rPr>
              <a:t>A prospective buyer narrows a national location search</a:t>
            </a:r>
            <a:endParaRPr sz="1600"/>
          </a:p>
        </p:txBody>
      </p:sp>
      <p:sp>
        <p:nvSpPr>
          <p:cNvPr id="8" name="Shape 6">
            <a:extLst xmlns:a="http://schemas.openxmlformats.org/drawingml/2006/main">
              <a:ext uri="{FF2B5EF4-FFF2-40B4-BE49-F238E27FC236}">
                <a16:creationId xmlns:a16="http://schemas.microsoft.com/office/drawing/2014/main" id="{850ED047-25AD-4E4F-8EA7-8E4D1F3C4F9D}"/>
              </a:ext>
            </a:extLst>
          </p:cNvPr>
          <p:cNvSpPr>
            <a:spLocks xmlns:a="http://schemas.openxmlformats.org/drawingml/2006/main" noGrp="1"/>
          </p:cNvSpPr>
          <p:nvPr/>
        </p:nvSpPr>
        <p:spPr>
          <a:xfrm xmlns:a="http://schemas.openxmlformats.org/drawingml/2006/main">
            <a:off x="274320" y="1371600"/>
            <a:ext cx="2651760" cy="2834640"/>
          </a:xfrm>
          <a:prstGeom xmlns:a="http://schemas.openxmlformats.org/drawingml/2006/main" prst="rect">
            <a:avLst/>
          </a:prstGeom>
          <a:solidFill xmlns:a="http://schemas.openxmlformats.org/drawingml/2006/main">
            <a:srgbClr val="FFFFFF"/>
          </a:solidFill>
          <a:ln xmlns:a="http://schemas.openxmlformats.org/drawingml/2006/main" w="12700">
            <a:solidFill>
              <a:srgbClr val="2E6DB4"/>
            </a:solidFill>
            <a:prstDash val="solid"/>
          </a:ln>
          <a:effectLst xmlns:a="http://schemas.openxmlformats.org/drawingml/2006/main">
            <a:outerShdw blurRad="101600" dist="38100" dir="8100000" sx="100000" sy="100000" kx="0" ky="0" algn="bl" rotWithShape="0">
              <a:srgbClr val="000000">
                <a:alpha val="10000"/>
              </a:srgbClr>
            </a:outerShdw>
          </a:effectLst>
        </p:spPr>
      </p:sp>
      <p:sp>
        <p:nvSpPr>
          <p:cNvPr id="9" name="Shape 7">
            <a:extLst xmlns:a="http://schemas.openxmlformats.org/drawingml/2006/main">
              <a:ext uri="{FF2B5EF4-FFF2-40B4-BE49-F238E27FC236}">
                <a16:creationId xmlns:a16="http://schemas.microsoft.com/office/drawing/2014/main" id="{A976F6E2-E756-4CD4-9480-B649024AF23B}"/>
              </a:ext>
            </a:extLst>
          </p:cNvPr>
          <p:cNvSpPr>
            <a:spLocks xmlns:a="http://schemas.openxmlformats.org/drawingml/2006/main" noGrp="1"/>
          </p:cNvSpPr>
          <p:nvPr/>
        </p:nvSpPr>
        <p:spPr>
          <a:xfrm xmlns:a="http://schemas.openxmlformats.org/drawingml/2006/main">
            <a:off x="274320" y="1371600"/>
            <a:ext cx="2651760" cy="384048"/>
          </a:xfrm>
          <a:prstGeom xmlns:a="http://schemas.openxmlformats.org/drawingml/2006/main" prst="rect">
            <a:avLst/>
          </a:prstGeom>
          <a:solidFill xmlns:a="http://schemas.openxmlformats.org/drawingml/2006/main">
            <a:srgbClr val="2E6DB4"/>
          </a:solidFill>
          <a:ln xmlns:a="http://schemas.openxmlformats.org/drawingml/2006/main" w="12700">
            <a:solidFill>
              <a:srgbClr val="2E6DB4"/>
            </a:solidFill>
            <a:prstDash val="solid"/>
          </a:ln>
        </p:spPr>
      </p:sp>
      <p:sp>
        <p:nvSpPr>
          <p:cNvPr id="10" name="Text 8">
            <a:extLst xmlns:a="http://schemas.openxmlformats.org/drawingml/2006/main">
              <a:ext uri="{FF2B5EF4-FFF2-40B4-BE49-F238E27FC236}">
                <a16:creationId xmlns:a16="http://schemas.microsoft.com/office/drawing/2014/main" id="{3D8AE7C5-FB3D-4C33-ADFD-06675A208D30}"/>
              </a:ext>
            </a:extLst>
          </p:cNvPr>
          <p:cNvSpPr>
            <a:spLocks xmlns:a="http://schemas.openxmlformats.org/drawingml/2006/main" noGrp="1"/>
          </p:cNvSpPr>
          <p:nvPr/>
        </p:nvSpPr>
        <p:spPr>
          <a:xfrm xmlns:a="http://schemas.openxmlformats.org/drawingml/2006/main">
            <a:off x="274320" y="1371600"/>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rPr>
              <a:t>START WITH</a:t>
            </a:r>
            <a:endParaRPr sz="1100"/>
          </a:p>
        </p:txBody>
      </p:sp>
      <p:sp>
        <p:nvSpPr>
          <p:cNvPr id="11" name="Text 9">
            <a:extLst xmlns:a="http://schemas.openxmlformats.org/drawingml/2006/main">
              <a:ext uri="{FF2B5EF4-FFF2-40B4-BE49-F238E27FC236}">
                <a16:creationId xmlns:a16="http://schemas.microsoft.com/office/drawing/2014/main" id="{E356610B-1F94-4ECE-B570-CDF06D53212C}"/>
              </a:ext>
            </a:extLst>
          </p:cNvPr>
          <p:cNvSpPr>
            <a:spLocks xmlns:a="http://schemas.openxmlformats.org/drawingml/2006/main" noGrp="1"/>
          </p:cNvSpPr>
          <p:nvPr/>
        </p:nvSpPr>
        <p:spPr>
          <a:xfrm xmlns:a="http://schemas.openxmlformats.org/drawingml/2006/main">
            <a:off x="365760" y="1792224"/>
            <a:ext cx="24688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2E6DB4"/>
                </a:solidFill>
              </a:rPr>
              <a:t>2026 comparative estimate</a:t>
            </a:r>
            <a:endParaRPr sz="800"/>
          </a:p>
        </p:txBody>
      </p:sp>
      <p:sp>
        <p:nvSpPr>
          <p:cNvPr id="12" name="Text 10">
            <a:extLst xmlns:a="http://schemas.openxmlformats.org/drawingml/2006/main">
              <a:ext uri="{FF2B5EF4-FFF2-40B4-BE49-F238E27FC236}">
                <a16:creationId xmlns:a16="http://schemas.microsoft.com/office/drawing/2014/main" id="{A0782A12-06FD-46AB-A59F-D41367841076}"/>
              </a:ext>
            </a:extLst>
          </p:cNvPr>
          <p:cNvSpPr>
            <a:spLocks xmlns:a="http://schemas.openxmlformats.org/drawingml/2006/main" noGrp="1"/>
          </p:cNvSpPr>
          <p:nvPr/>
        </p:nvSpPr>
        <p:spPr>
          <a:xfrm xmlns:a="http://schemas.openxmlformats.org/drawingml/2006/main">
            <a:off x="365760" y="2048256"/>
            <a:ext cx="24688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1A2638"/>
                </a:solidFill>
              </a:rPr>
              <a:t>Rank broad 1 km areas using 2025 predictor inputs.</a:t>
            </a:r>
            <a:endParaRPr sz="850"/>
          </a:p>
        </p:txBody>
      </p:sp>
      <p:sp>
        <p:nvSpPr>
          <p:cNvPr id="13" name="Shape 11">
            <a:extLst xmlns:a="http://schemas.openxmlformats.org/drawingml/2006/main">
              <a:ext uri="{FF2B5EF4-FFF2-40B4-BE49-F238E27FC236}">
                <a16:creationId xmlns:a16="http://schemas.microsoft.com/office/drawing/2014/main" id="{06FA9122-3570-4943-8E28-9854B62394B0}"/>
              </a:ext>
            </a:extLst>
          </p:cNvPr>
          <p:cNvSpPr>
            <a:spLocks xmlns:a="http://schemas.openxmlformats.org/drawingml/2006/main" noGrp="1"/>
          </p:cNvSpPr>
          <p:nvPr/>
        </p:nvSpPr>
        <p:spPr>
          <a:xfrm xmlns:a="http://schemas.openxmlformats.org/drawingml/2006/main">
            <a:off x="365760" y="2578608"/>
            <a:ext cx="2468880" cy="502920"/>
          </a:xfrm>
          <a:prstGeom xmlns:a="http://schemas.openxmlformats.org/drawingml/2006/main" prst="rect">
            <a:avLst/>
          </a:prstGeom>
          <a:solidFill xmlns:a="http://schemas.openxmlformats.org/drawingml/2006/main">
            <a:srgbClr val="EBF0FD"/>
          </a:solidFill>
          <a:ln xmlns:a="http://schemas.openxmlformats.org/drawingml/2006/main" w="12700">
            <a:solidFill>
              <a:srgbClr val="EBF0FD"/>
            </a:solidFill>
            <a:prstDash val="solid"/>
          </a:ln>
        </p:spPr>
      </p:sp>
      <p:sp>
        <p:nvSpPr>
          <p:cNvPr id="14" name="Text 12">
            <a:extLst xmlns:a="http://schemas.openxmlformats.org/drawingml/2006/main">
              <a:ext uri="{FF2B5EF4-FFF2-40B4-BE49-F238E27FC236}">
                <a16:creationId xmlns:a16="http://schemas.microsoft.com/office/drawing/2014/main" id="{6DA1C8F9-5E1A-4E03-8D3D-4F3ECC110889}"/>
              </a:ext>
            </a:extLst>
          </p:cNvPr>
          <p:cNvSpPr>
            <a:spLocks xmlns:a="http://schemas.openxmlformats.org/drawingml/2006/main" noGrp="1"/>
          </p:cNvSpPr>
          <p:nvPr/>
        </p:nvSpPr>
        <p:spPr>
          <a:xfrm xmlns:a="http://schemas.openxmlformats.org/drawingml/2006/main">
            <a:off x="411480" y="2578608"/>
            <a:ext cx="23774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i="1">
                <a:solidFill>
                  <a:srgbClr val="1A2638"/>
                </a:solidFill>
              </a:rPr>
              <a:t>COMPARE CONTEXT</a:t>
            </a:r>
            <a:endParaRPr sz="800"/>
          </a:p>
        </p:txBody>
      </p:sp>
      <p:sp>
        <p:nvSpPr>
          <p:cNvPr id="15" name="Text 13">
            <a:extLst xmlns:a="http://schemas.openxmlformats.org/drawingml/2006/main">
              <a:ext uri="{FF2B5EF4-FFF2-40B4-BE49-F238E27FC236}">
                <a16:creationId xmlns:a16="http://schemas.microsoft.com/office/drawing/2014/main" id="{68EE0945-8EB5-490D-A7E4-88E16F04DD2E}"/>
              </a:ext>
            </a:extLst>
          </p:cNvPr>
          <p:cNvSpPr>
            <a:spLocks xmlns:a="http://schemas.openxmlformats.org/drawingml/2006/main" noGrp="1"/>
          </p:cNvSpPr>
          <p:nvPr/>
        </p:nvSpPr>
        <p:spPr>
          <a:xfrm xmlns:a="http://schemas.openxmlformats.org/drawingml/2006/main">
            <a:off x="365760" y="3145536"/>
            <a:ext cx="24688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750" b="1">
                <a:solidFill>
                  <a:srgbClr val="2A9D61"/>
                </a:solidFill>
              </a:rPr>
              <a:t>Historical recurrence + official ICNF structural hazard</a:t>
            </a:r>
            <a:endParaRPr sz="750"/>
          </a:p>
        </p:txBody>
      </p:sp>
      <p:sp>
        <p:nvSpPr>
          <p:cNvPr id="16" name="Text 14">
            <a:extLst xmlns:a="http://schemas.openxmlformats.org/drawingml/2006/main">
              <a:ext uri="{FF2B5EF4-FFF2-40B4-BE49-F238E27FC236}">
                <a16:creationId xmlns:a16="http://schemas.microsoft.com/office/drawing/2014/main" id="{1BD26CB1-F165-4EEE-8E1E-6F5551AD5551}"/>
              </a:ext>
            </a:extLst>
          </p:cNvPr>
          <p:cNvSpPr>
            <a:spLocks xmlns:a="http://schemas.openxmlformats.org/drawingml/2006/main" noGrp="1"/>
          </p:cNvSpPr>
          <p:nvPr/>
        </p:nvSpPr>
        <p:spPr>
          <a:xfrm xmlns:a="http://schemas.openxmlformats.org/drawingml/2006/main">
            <a:off x="365760" y="3675888"/>
            <a:ext cx="24688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750" b="1">
                <a:solidFill>
                  <a:srgbClr val="C0392B"/>
                </a:solidFill>
              </a:rPr>
              <a:t>Read the three layers side by side before shortlisting areas.</a:t>
            </a:r>
            <a:endParaRPr sz="750"/>
          </a:p>
        </p:txBody>
      </p:sp>
      <p:sp>
        <p:nvSpPr>
          <p:cNvPr id="17" name="Text 15">
            <a:extLst xmlns:a="http://schemas.openxmlformats.org/drawingml/2006/main">
              <a:ext uri="{FF2B5EF4-FFF2-40B4-BE49-F238E27FC236}">
                <a16:creationId xmlns:a16="http://schemas.microsoft.com/office/drawing/2014/main" id="{19C7B146-38E8-4AC6-BC1B-E7E04E3F1199}"/>
              </a:ext>
            </a:extLst>
          </p:cNvPr>
          <p:cNvSpPr>
            <a:spLocks xmlns:a="http://schemas.openxmlformats.org/drawingml/2006/main" noGrp="1"/>
          </p:cNvSpPr>
          <p:nvPr/>
        </p:nvSpPr>
        <p:spPr>
          <a:xfrm xmlns:a="http://schemas.openxmlformats.org/drawingml/2006/main">
            <a:off x="2962656" y="2560320"/>
            <a:ext cx="3200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E8A020"/>
                </a:solidFill>
              </a:rPr>
              <a:t>→</a:t>
            </a:r>
            <a:endParaRPr sz="2000"/>
          </a:p>
        </p:txBody>
      </p:sp>
      <p:sp>
        <p:nvSpPr>
          <p:cNvPr id="18" name="Shape 16">
            <a:extLst xmlns:a="http://schemas.openxmlformats.org/drawingml/2006/main">
              <a:ext uri="{FF2B5EF4-FFF2-40B4-BE49-F238E27FC236}">
                <a16:creationId xmlns:a16="http://schemas.microsoft.com/office/drawing/2014/main" id="{227D0A40-0DA6-40CE-A9D7-5598EA3D53ED}"/>
              </a:ext>
            </a:extLst>
          </p:cNvPr>
          <p:cNvSpPr>
            <a:spLocks xmlns:a="http://schemas.openxmlformats.org/drawingml/2006/main" noGrp="1"/>
          </p:cNvSpPr>
          <p:nvPr/>
        </p:nvSpPr>
        <p:spPr>
          <a:xfrm xmlns:a="http://schemas.openxmlformats.org/drawingml/2006/main">
            <a:off x="3310128" y="1371600"/>
            <a:ext cx="2651760" cy="2834640"/>
          </a:xfrm>
          <a:prstGeom xmlns:a="http://schemas.openxmlformats.org/drawingml/2006/main" prst="rect">
            <a:avLst/>
          </a:prstGeom>
          <a:solidFill xmlns:a="http://schemas.openxmlformats.org/drawingml/2006/main">
            <a:srgbClr val="FFFFFF"/>
          </a:solidFill>
          <a:ln xmlns:a="http://schemas.openxmlformats.org/drawingml/2006/main" w="12700">
            <a:solidFill>
              <a:srgbClr val="E67E22"/>
            </a:solidFill>
            <a:prstDash val="solid"/>
          </a:ln>
          <a:effectLst xmlns:a="http://schemas.openxmlformats.org/drawingml/2006/main">
            <a:outerShdw blurRad="101600" dist="38100" dir="8100000" sx="100000" sy="100000" kx="0" ky="0" algn="bl" rotWithShape="0">
              <a:srgbClr val="000000">
                <a:alpha val="10000"/>
              </a:srgbClr>
            </a:outerShdw>
          </a:effectLst>
        </p:spPr>
      </p:sp>
      <p:sp>
        <p:nvSpPr>
          <p:cNvPr id="19" name="Shape 17">
            <a:extLst xmlns:a="http://schemas.openxmlformats.org/drawingml/2006/main">
              <a:ext uri="{FF2B5EF4-FFF2-40B4-BE49-F238E27FC236}">
                <a16:creationId xmlns:a16="http://schemas.microsoft.com/office/drawing/2014/main" id="{1853FDD2-81C9-47AF-9DE5-156DDAF5F885}"/>
              </a:ext>
            </a:extLst>
          </p:cNvPr>
          <p:cNvSpPr>
            <a:spLocks xmlns:a="http://schemas.openxmlformats.org/drawingml/2006/main" noGrp="1"/>
          </p:cNvSpPr>
          <p:nvPr/>
        </p:nvSpPr>
        <p:spPr>
          <a:xfrm xmlns:a="http://schemas.openxmlformats.org/drawingml/2006/main">
            <a:off x="3310128" y="1371600"/>
            <a:ext cx="2651760" cy="384048"/>
          </a:xfrm>
          <a:prstGeom xmlns:a="http://schemas.openxmlformats.org/drawingml/2006/main" prst="rect">
            <a:avLst/>
          </a:prstGeom>
          <a:solidFill xmlns:a="http://schemas.openxmlformats.org/drawingml/2006/main">
            <a:srgbClr val="E67E22"/>
          </a:solidFill>
          <a:ln xmlns:a="http://schemas.openxmlformats.org/drawingml/2006/main" w="12700">
            <a:solidFill>
              <a:srgbClr val="E67E22"/>
            </a:solidFill>
            <a:prstDash val="solid"/>
          </a:ln>
        </p:spPr>
      </p:sp>
      <p:sp>
        <p:nvSpPr>
          <p:cNvPr id="20" name="Text 18">
            <a:extLst xmlns:a="http://schemas.openxmlformats.org/drawingml/2006/main">
              <a:ext uri="{FF2B5EF4-FFF2-40B4-BE49-F238E27FC236}">
                <a16:creationId xmlns:a16="http://schemas.microsoft.com/office/drawing/2014/main" id="{105B757C-3387-43E4-8755-47E796BA4C51}"/>
              </a:ext>
            </a:extLst>
          </p:cNvPr>
          <p:cNvSpPr>
            <a:spLocks xmlns:a="http://schemas.openxmlformats.org/drawingml/2006/main" noGrp="1"/>
          </p:cNvSpPr>
          <p:nvPr/>
        </p:nvSpPr>
        <p:spPr>
          <a:xfrm xmlns:a="http://schemas.openxmlformats.org/drawingml/2006/main">
            <a:off x="3310128" y="1371600"/>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rPr>
              <a:t>SHORTLIST AREAS</a:t>
            </a:r>
            <a:endParaRPr sz="1100"/>
          </a:p>
        </p:txBody>
      </p:sp>
      <p:sp>
        <p:nvSpPr>
          <p:cNvPr id="21" name="Text 19">
            <a:extLst xmlns:a="http://schemas.openxmlformats.org/drawingml/2006/main">
              <a:ext uri="{FF2B5EF4-FFF2-40B4-BE49-F238E27FC236}">
                <a16:creationId xmlns:a16="http://schemas.microsoft.com/office/drawing/2014/main" id="{7FCCAA10-640A-4877-BDF7-D0715D3E9D85}"/>
              </a:ext>
            </a:extLst>
          </p:cNvPr>
          <p:cNvSpPr>
            <a:spLocks xmlns:a="http://schemas.openxmlformats.org/drawingml/2006/main" noGrp="1"/>
          </p:cNvSpPr>
          <p:nvPr/>
        </p:nvSpPr>
        <p:spPr>
          <a:xfrm xmlns:a="http://schemas.openxmlformats.org/drawingml/2006/main">
            <a:off x="3401568" y="1792224"/>
            <a:ext cx="24688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E67E22"/>
                </a:solidFill>
              </a:rPr>
              <a:t>Focus the search</a:t>
            </a:r>
            <a:endParaRPr sz="800"/>
          </a:p>
        </p:txBody>
      </p:sp>
      <p:sp>
        <p:nvSpPr>
          <p:cNvPr id="22" name="Text 20">
            <a:extLst xmlns:a="http://schemas.openxmlformats.org/drawingml/2006/main">
              <a:ext uri="{FF2B5EF4-FFF2-40B4-BE49-F238E27FC236}">
                <a16:creationId xmlns:a16="http://schemas.microsoft.com/office/drawing/2014/main" id="{2E8ADD6B-24AD-4193-9FBD-F3F31B5B609E}"/>
              </a:ext>
            </a:extLst>
          </p:cNvPr>
          <p:cNvSpPr>
            <a:spLocks xmlns:a="http://schemas.openxmlformats.org/drawingml/2006/main" noGrp="1"/>
          </p:cNvSpPr>
          <p:nvPr/>
        </p:nvSpPr>
        <p:spPr>
          <a:xfrm xmlns:a="http://schemas.openxmlformats.org/drawingml/2006/main">
            <a:off x="3401568" y="2048256"/>
            <a:ext cx="24688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1A2638"/>
                </a:solidFill>
              </a:rPr>
              <a:t>Prioritise broad areas for visits and deeper research.</a:t>
            </a:r>
            <a:endParaRPr sz="850"/>
          </a:p>
        </p:txBody>
      </p:sp>
      <p:sp>
        <p:nvSpPr>
          <p:cNvPr id="23" name="Shape 21">
            <a:extLst xmlns:a="http://schemas.openxmlformats.org/drawingml/2006/main">
              <a:ext uri="{FF2B5EF4-FFF2-40B4-BE49-F238E27FC236}">
                <a16:creationId xmlns:a16="http://schemas.microsoft.com/office/drawing/2014/main" id="{BF495EEE-9C70-49FA-9B76-01434D5B515B}"/>
              </a:ext>
            </a:extLst>
          </p:cNvPr>
          <p:cNvSpPr>
            <a:spLocks xmlns:a="http://schemas.openxmlformats.org/drawingml/2006/main" noGrp="1"/>
          </p:cNvSpPr>
          <p:nvPr/>
        </p:nvSpPr>
        <p:spPr>
          <a:xfrm xmlns:a="http://schemas.openxmlformats.org/drawingml/2006/main">
            <a:off x="3401568" y="2578608"/>
            <a:ext cx="2468880" cy="502920"/>
          </a:xfrm>
          <a:prstGeom xmlns:a="http://schemas.openxmlformats.org/drawingml/2006/main" prst="rect">
            <a:avLst/>
          </a:prstGeom>
          <a:solidFill xmlns:a="http://schemas.openxmlformats.org/drawingml/2006/main">
            <a:srgbClr val="FEF3E2"/>
          </a:solidFill>
          <a:ln xmlns:a="http://schemas.openxmlformats.org/drawingml/2006/main" w="12700">
            <a:solidFill>
              <a:srgbClr val="FEF3E2"/>
            </a:solidFill>
            <a:prstDash val="solid"/>
          </a:ln>
        </p:spPr>
      </p:sp>
      <p:sp>
        <p:nvSpPr>
          <p:cNvPr id="24" name="Text 22">
            <a:extLst xmlns:a="http://schemas.openxmlformats.org/drawingml/2006/main">
              <a:ext uri="{FF2B5EF4-FFF2-40B4-BE49-F238E27FC236}">
                <a16:creationId xmlns:a16="http://schemas.microsoft.com/office/drawing/2014/main" id="{7E9DFFCA-C999-493A-85F1-CEEE2960D202}"/>
              </a:ext>
            </a:extLst>
          </p:cNvPr>
          <p:cNvSpPr>
            <a:spLocks xmlns:a="http://schemas.openxmlformats.org/drawingml/2006/main" noGrp="1"/>
          </p:cNvSpPr>
          <p:nvPr/>
        </p:nvSpPr>
        <p:spPr>
          <a:xfrm xmlns:a="http://schemas.openxmlformats.org/drawingml/2006/main">
            <a:off x="3447288" y="2578608"/>
            <a:ext cx="23774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i="1">
                <a:solidFill>
                  <a:srgbClr val="1A2638"/>
                </a:solidFill>
              </a:rPr>
              <a:t>LOCAL VERIFICATION</a:t>
            </a:r>
            <a:endParaRPr sz="800"/>
          </a:p>
        </p:txBody>
      </p:sp>
      <p:sp>
        <p:nvSpPr>
          <p:cNvPr id="25" name="Text 23">
            <a:extLst xmlns:a="http://schemas.openxmlformats.org/drawingml/2006/main">
              <a:ext uri="{FF2B5EF4-FFF2-40B4-BE49-F238E27FC236}">
                <a16:creationId xmlns:a16="http://schemas.microsoft.com/office/drawing/2014/main" id="{DCF76D05-AD79-475B-BF3A-C3D4F0DF1815}"/>
              </a:ext>
            </a:extLst>
          </p:cNvPr>
          <p:cNvSpPr>
            <a:spLocks xmlns:a="http://schemas.openxmlformats.org/drawingml/2006/main" noGrp="1"/>
          </p:cNvSpPr>
          <p:nvPr/>
        </p:nvSpPr>
        <p:spPr>
          <a:xfrm xmlns:a="http://schemas.openxmlformats.org/drawingml/2006/main">
            <a:off x="3401568" y="3145536"/>
            <a:ext cx="24688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750" b="1">
                <a:solidFill>
                  <a:srgbClr val="2A9D61"/>
                </a:solidFill>
              </a:rPr>
              <a:t>Check local evidence</a:t>
            </a:r>
            <a:endParaRPr sz="750"/>
          </a:p>
        </p:txBody>
      </p:sp>
      <p:sp>
        <p:nvSpPr>
          <p:cNvPr id="26" name="Text 24">
            <a:extLst xmlns:a="http://schemas.openxmlformats.org/drawingml/2006/main">
              <a:ext uri="{FF2B5EF4-FFF2-40B4-BE49-F238E27FC236}">
                <a16:creationId xmlns:a16="http://schemas.microsoft.com/office/drawing/2014/main" id="{4C110B4E-8200-4661-8C23-2F8B6C0A4D28}"/>
              </a:ext>
            </a:extLst>
          </p:cNvPr>
          <p:cNvSpPr>
            <a:spLocks xmlns:a="http://schemas.openxmlformats.org/drawingml/2006/main" noGrp="1"/>
          </p:cNvSpPr>
          <p:nvPr/>
        </p:nvSpPr>
        <p:spPr>
          <a:xfrm xmlns:a="http://schemas.openxmlformats.org/drawingml/2006/main">
            <a:off x="3401568" y="3675888"/>
            <a:ext cx="24688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750" b="1">
                <a:solidFill>
                  <a:srgbClr val="C0392B"/>
                </a:solidFill>
              </a:rPr>
              <a:t>Review planning, access, insurance, terrain and site conditions.</a:t>
            </a:r>
            <a:endParaRPr sz="750"/>
          </a:p>
        </p:txBody>
      </p:sp>
      <p:sp>
        <p:nvSpPr>
          <p:cNvPr id="27" name="Text 25">
            <a:extLst xmlns:a="http://schemas.openxmlformats.org/drawingml/2006/main">
              <a:ext uri="{FF2B5EF4-FFF2-40B4-BE49-F238E27FC236}">
                <a16:creationId xmlns:a16="http://schemas.microsoft.com/office/drawing/2014/main" id="{83201544-152E-4D02-8077-3884EAB07F98}"/>
              </a:ext>
            </a:extLst>
          </p:cNvPr>
          <p:cNvSpPr>
            <a:spLocks xmlns:a="http://schemas.openxmlformats.org/drawingml/2006/main" noGrp="1"/>
          </p:cNvSpPr>
          <p:nvPr/>
        </p:nvSpPr>
        <p:spPr>
          <a:xfrm xmlns:a="http://schemas.openxmlformats.org/drawingml/2006/main">
            <a:off x="5998464" y="2560320"/>
            <a:ext cx="3200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E8A020"/>
                </a:solidFill>
              </a:rPr>
              <a:t>→</a:t>
            </a:r>
            <a:endParaRPr sz="2000"/>
          </a:p>
        </p:txBody>
      </p:sp>
      <p:sp>
        <p:nvSpPr>
          <p:cNvPr id="28" name="Shape 26">
            <a:extLst xmlns:a="http://schemas.openxmlformats.org/drawingml/2006/main">
              <a:ext uri="{FF2B5EF4-FFF2-40B4-BE49-F238E27FC236}">
                <a16:creationId xmlns:a16="http://schemas.microsoft.com/office/drawing/2014/main" id="{BE55346A-E69C-419B-9F53-C37EAE7BCF74}"/>
              </a:ext>
            </a:extLst>
          </p:cNvPr>
          <p:cNvSpPr>
            <a:spLocks xmlns:a="http://schemas.openxmlformats.org/drawingml/2006/main" noGrp="1"/>
          </p:cNvSpPr>
          <p:nvPr/>
        </p:nvSpPr>
        <p:spPr>
          <a:xfrm xmlns:a="http://schemas.openxmlformats.org/drawingml/2006/main">
            <a:off x="6345936" y="1371600"/>
            <a:ext cx="2651760" cy="2834640"/>
          </a:xfrm>
          <a:prstGeom xmlns:a="http://schemas.openxmlformats.org/drawingml/2006/main" prst="rect">
            <a:avLst/>
          </a:prstGeom>
          <a:solidFill xmlns:a="http://schemas.openxmlformats.org/drawingml/2006/main">
            <a:srgbClr val="FFFFFF"/>
          </a:solidFill>
          <a:ln xmlns:a="http://schemas.openxmlformats.org/drawingml/2006/main" w="12700">
            <a:solidFill>
              <a:srgbClr val="2A9D61"/>
            </a:solidFill>
            <a:prstDash val="solid"/>
          </a:ln>
          <a:effectLst xmlns:a="http://schemas.openxmlformats.org/drawingml/2006/main">
            <a:outerShdw blurRad="101600" dist="38100" dir="8100000" sx="100000" sy="100000" kx="0" ky="0" algn="bl" rotWithShape="0">
              <a:srgbClr val="000000">
                <a:alpha val="10000"/>
              </a:srgbClr>
            </a:outerShdw>
          </a:effectLst>
        </p:spPr>
      </p:sp>
      <p:sp>
        <p:nvSpPr>
          <p:cNvPr id="29" name="Shape 27">
            <a:extLst xmlns:a="http://schemas.openxmlformats.org/drawingml/2006/main">
              <a:ext uri="{FF2B5EF4-FFF2-40B4-BE49-F238E27FC236}">
                <a16:creationId xmlns:a16="http://schemas.microsoft.com/office/drawing/2014/main" id="{9E9ACD73-16DC-45DA-BF3F-29483F5DA902}"/>
              </a:ext>
            </a:extLst>
          </p:cNvPr>
          <p:cNvSpPr>
            <a:spLocks xmlns:a="http://schemas.openxmlformats.org/drawingml/2006/main" noGrp="1"/>
          </p:cNvSpPr>
          <p:nvPr/>
        </p:nvSpPr>
        <p:spPr>
          <a:xfrm xmlns:a="http://schemas.openxmlformats.org/drawingml/2006/main">
            <a:off x="6345936" y="1371600"/>
            <a:ext cx="2651760" cy="384048"/>
          </a:xfrm>
          <a:prstGeom xmlns:a="http://schemas.openxmlformats.org/drawingml/2006/main" prst="rect">
            <a:avLst/>
          </a:prstGeom>
          <a:solidFill xmlns:a="http://schemas.openxmlformats.org/drawingml/2006/main">
            <a:srgbClr val="2A9D61"/>
          </a:solidFill>
          <a:ln xmlns:a="http://schemas.openxmlformats.org/drawingml/2006/main" w="12700">
            <a:solidFill>
              <a:srgbClr val="2A9D61"/>
            </a:solidFill>
            <a:prstDash val="solid"/>
          </a:ln>
        </p:spPr>
      </p:sp>
      <p:sp>
        <p:nvSpPr>
          <p:cNvPr id="30" name="Text 28">
            <a:extLst xmlns:a="http://schemas.openxmlformats.org/drawingml/2006/main">
              <a:ext uri="{FF2B5EF4-FFF2-40B4-BE49-F238E27FC236}">
                <a16:creationId xmlns:a16="http://schemas.microsoft.com/office/drawing/2014/main" id="{B62BA0E5-342B-4B8A-B522-4EBF950A10B6}"/>
              </a:ext>
            </a:extLst>
          </p:cNvPr>
          <p:cNvSpPr>
            <a:spLocks xmlns:a="http://schemas.openxmlformats.org/drawingml/2006/main" noGrp="1"/>
          </p:cNvSpPr>
          <p:nvPr/>
        </p:nvSpPr>
        <p:spPr>
          <a:xfrm xmlns:a="http://schemas.openxmlformats.org/drawingml/2006/main">
            <a:off x="6345936" y="1371600"/>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rPr>
              <a:t>USE CASE OUTCOME</a:t>
            </a:r>
            <a:endParaRPr sz="1100"/>
          </a:p>
        </p:txBody>
      </p:sp>
      <p:sp>
        <p:nvSpPr>
          <p:cNvPr id="31" name="Text 29">
            <a:extLst xmlns:a="http://schemas.openxmlformats.org/drawingml/2006/main">
              <a:ext uri="{FF2B5EF4-FFF2-40B4-BE49-F238E27FC236}">
                <a16:creationId xmlns:a16="http://schemas.microsoft.com/office/drawing/2014/main" id="{4AC5C230-4301-4FDE-B694-E685F46AB091}"/>
              </a:ext>
            </a:extLst>
          </p:cNvPr>
          <p:cNvSpPr>
            <a:spLocks xmlns:a="http://schemas.openxmlformats.org/drawingml/2006/main" noGrp="1"/>
          </p:cNvSpPr>
          <p:nvPr/>
        </p:nvSpPr>
        <p:spPr>
          <a:xfrm xmlns:a="http://schemas.openxmlformats.org/drawingml/2006/main">
            <a:off x="6437376" y="1792224"/>
            <a:ext cx="24688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2A9D61"/>
                </a:solidFill>
              </a:rPr>
              <a:t>A smaller search area</a:t>
            </a:r>
            <a:endParaRPr sz="800"/>
          </a:p>
        </p:txBody>
      </p:sp>
      <p:sp>
        <p:nvSpPr>
          <p:cNvPr id="32" name="Text 30">
            <a:extLst xmlns:a="http://schemas.openxmlformats.org/drawingml/2006/main">
              <a:ext uri="{FF2B5EF4-FFF2-40B4-BE49-F238E27FC236}">
                <a16:creationId xmlns:a16="http://schemas.microsoft.com/office/drawing/2014/main" id="{3E5AD3DE-3E62-4022-9451-D7F12B56A64D}"/>
              </a:ext>
            </a:extLst>
          </p:cNvPr>
          <p:cNvSpPr>
            <a:spLocks xmlns:a="http://schemas.openxmlformats.org/drawingml/2006/main" noGrp="1"/>
          </p:cNvSpPr>
          <p:nvPr/>
        </p:nvSpPr>
        <p:spPr>
          <a:xfrm xmlns:a="http://schemas.openxmlformats.org/drawingml/2006/main">
            <a:off x="6437376" y="2048256"/>
            <a:ext cx="24688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1A2638"/>
                </a:solidFill>
              </a:rPr>
              <a:t>The QGIS layers help decide where to investigate first.</a:t>
            </a:r>
            <a:endParaRPr sz="850"/>
          </a:p>
        </p:txBody>
      </p:sp>
      <p:sp>
        <p:nvSpPr>
          <p:cNvPr id="33" name="Shape 31">
            <a:extLst xmlns:a="http://schemas.openxmlformats.org/drawingml/2006/main">
              <a:ext uri="{FF2B5EF4-FFF2-40B4-BE49-F238E27FC236}">
                <a16:creationId xmlns:a16="http://schemas.microsoft.com/office/drawing/2014/main" id="{1D97F61A-3048-4A24-B838-60FD9F2680DE}"/>
              </a:ext>
            </a:extLst>
          </p:cNvPr>
          <p:cNvSpPr>
            <a:spLocks xmlns:a="http://schemas.openxmlformats.org/drawingml/2006/main" noGrp="1"/>
          </p:cNvSpPr>
          <p:nvPr/>
        </p:nvSpPr>
        <p:spPr>
          <a:xfrm xmlns:a="http://schemas.openxmlformats.org/drawingml/2006/main">
            <a:off x="6437376" y="2578608"/>
            <a:ext cx="2468880" cy="502920"/>
          </a:xfrm>
          <a:prstGeom xmlns:a="http://schemas.openxmlformats.org/drawingml/2006/main" prst="rect">
            <a:avLst/>
          </a:prstGeom>
          <a:solidFill xmlns:a="http://schemas.openxmlformats.org/drawingml/2006/main">
            <a:srgbClr val="E6F5EE"/>
          </a:solidFill>
          <a:ln xmlns:a="http://schemas.openxmlformats.org/drawingml/2006/main" w="12700">
            <a:solidFill>
              <a:srgbClr val="E6F5EE"/>
            </a:solidFill>
            <a:prstDash val="solid"/>
          </a:ln>
        </p:spPr>
      </p:sp>
      <p:sp>
        <p:nvSpPr>
          <p:cNvPr id="34" name="Text 32">
            <a:extLst xmlns:a="http://schemas.openxmlformats.org/drawingml/2006/main">
              <a:ext uri="{FF2B5EF4-FFF2-40B4-BE49-F238E27FC236}">
                <a16:creationId xmlns:a16="http://schemas.microsoft.com/office/drawing/2014/main" id="{E463D690-7AF4-490A-8AEF-BDD57CA7B3F8}"/>
              </a:ext>
            </a:extLst>
          </p:cNvPr>
          <p:cNvSpPr>
            <a:spLocks xmlns:a="http://schemas.openxmlformats.org/drawingml/2006/main" noGrp="1"/>
          </p:cNvSpPr>
          <p:nvPr/>
        </p:nvSpPr>
        <p:spPr>
          <a:xfrm xmlns:a="http://schemas.openxmlformats.org/drawingml/2006/main">
            <a:off x="6483096" y="2578608"/>
            <a:ext cx="23774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i="1">
                <a:solidFill>
                  <a:srgbClr val="1A2638"/>
                </a:solidFill>
              </a:rPr>
              <a:t>NOT A FINAL DECISION</a:t>
            </a:r>
            <a:endParaRPr sz="800"/>
          </a:p>
        </p:txBody>
      </p:sp>
      <p:sp>
        <p:nvSpPr>
          <p:cNvPr id="35" name="Text 33">
            <a:extLst xmlns:a="http://schemas.openxmlformats.org/drawingml/2006/main">
              <a:ext uri="{FF2B5EF4-FFF2-40B4-BE49-F238E27FC236}">
                <a16:creationId xmlns:a16="http://schemas.microsoft.com/office/drawing/2014/main" id="{3CECC8A6-84AE-4D97-A48E-EBF1D00E3B3F}"/>
              </a:ext>
            </a:extLst>
          </p:cNvPr>
          <p:cNvSpPr>
            <a:spLocks xmlns:a="http://schemas.openxmlformats.org/drawingml/2006/main" noGrp="1"/>
          </p:cNvSpPr>
          <p:nvPr/>
        </p:nvSpPr>
        <p:spPr>
          <a:xfrm xmlns:a="http://schemas.openxmlformats.org/drawingml/2006/main">
            <a:off x="6437376" y="3145536"/>
            <a:ext cx="24688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750" b="1">
                <a:solidFill>
                  <a:srgbClr val="2A9D61"/>
                </a:solidFill>
              </a:rPr>
              <a:t>Continue locally</a:t>
            </a:r>
            <a:endParaRPr sz="750"/>
          </a:p>
        </p:txBody>
      </p:sp>
      <p:sp>
        <p:nvSpPr>
          <p:cNvPr id="36" name="Text 34">
            <a:extLst xmlns:a="http://schemas.openxmlformats.org/drawingml/2006/main">
              <a:ext uri="{FF2B5EF4-FFF2-40B4-BE49-F238E27FC236}">
                <a16:creationId xmlns:a16="http://schemas.microsoft.com/office/drawing/2014/main" id="{58D1355D-D03F-4A09-BDA2-4D152B718612}"/>
              </a:ext>
            </a:extLst>
          </p:cNvPr>
          <p:cNvSpPr>
            <a:spLocks xmlns:a="http://schemas.openxmlformats.org/drawingml/2006/main" noGrp="1"/>
          </p:cNvSpPr>
          <p:nvPr/>
        </p:nvSpPr>
        <p:spPr>
          <a:xfrm xmlns:a="http://schemas.openxmlformats.org/drawingml/2006/main">
            <a:off x="6437376" y="3675888"/>
            <a:ext cx="24688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750" b="1">
                <a:solidFill>
                  <a:srgbClr val="C0392B"/>
                </a:solidFill>
              </a:rPr>
              <a:t>The 1 km estimate cannot replace property-specific checks.</a:t>
            </a:r>
            <a:endParaRPr sz="750"/>
          </a:p>
        </p:txBody>
      </p:sp>
      <p:sp>
        <p:nvSpPr>
          <p:cNvPr id="37" name="Shape 35">
            <a:extLst xmlns:a="http://schemas.openxmlformats.org/drawingml/2006/main">
              <a:ext uri="{FF2B5EF4-FFF2-40B4-BE49-F238E27FC236}">
                <a16:creationId xmlns:a16="http://schemas.microsoft.com/office/drawing/2014/main" id="{19000DE9-D9C8-4054-86C8-5E7938726140}"/>
              </a:ext>
            </a:extLst>
          </p:cNvPr>
          <p:cNvSpPr>
            <a:spLocks xmlns:a="http://schemas.openxmlformats.org/drawingml/2006/main" noGrp="1"/>
          </p:cNvSpPr>
          <p:nvPr/>
        </p:nvSpPr>
        <p:spPr>
          <a:xfrm xmlns:a="http://schemas.openxmlformats.org/drawingml/2006/main">
            <a:off x="274320" y="4315968"/>
            <a:ext cx="8595360" cy="457200"/>
          </a:xfrm>
          <a:prstGeom xmlns:a="http://schemas.openxmlformats.org/drawingml/2006/main" prst="rect">
            <a:avLst/>
          </a:prstGeom>
          <a:solidFill xmlns:a="http://schemas.openxmlformats.org/drawingml/2006/main">
            <a:srgbClr val="0D1F2D"/>
          </a:solidFill>
          <a:ln xmlns:a="http://schemas.openxmlformats.org/drawingml/2006/main" w="12700">
            <a:solidFill>
              <a:srgbClr val="0D1F2D"/>
            </a:solidFill>
            <a:prstDash val="solid"/>
          </a:ln>
        </p:spPr>
      </p:sp>
      <p:sp>
        <p:nvSpPr>
          <p:cNvPr id="38" name="Text 36">
            <a:extLst xmlns:a="http://schemas.openxmlformats.org/drawingml/2006/main">
              <a:ext uri="{FF2B5EF4-FFF2-40B4-BE49-F238E27FC236}">
                <a16:creationId xmlns:a16="http://schemas.microsoft.com/office/drawing/2014/main" id="{E71B9F53-7C87-466A-82C0-B1674D8C50DE}"/>
              </a:ext>
            </a:extLst>
          </p:cNvPr>
          <p:cNvSpPr>
            <a:spLocks xmlns:a="http://schemas.openxmlformats.org/drawingml/2006/main" noGrp="1"/>
          </p:cNvSpPr>
          <p:nvPr/>
        </p:nvSpPr>
        <p:spPr>
          <a:xfrm xmlns:a="http://schemas.openxmlformats.org/drawingml/2006/main">
            <a:off x="411480" y="4315968"/>
            <a:ext cx="83210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E8A020"/>
                </a:solidFill>
              </a:rPr>
              <a:t>The model guides the research order; local evidence supports the final choice.</a:t>
            </a:r>
            <a:endParaRPr sz="850"/>
          </a:p>
        </p:txBody>
      </p:sp>
      <p:sp>
        <p:nvSpPr>
          <p:cNvPr id="39" name="Shape 37">
            <a:extLst xmlns:a="http://schemas.openxmlformats.org/drawingml/2006/main">
              <a:ext uri="{FF2B5EF4-FFF2-40B4-BE49-F238E27FC236}">
                <a16:creationId xmlns:a16="http://schemas.microsoft.com/office/drawing/2014/main" id="{FD984804-AA2D-42E2-920F-E4B1379C983E}"/>
              </a:ext>
            </a:extLst>
          </p:cNvPr>
          <p:cNvSpPr>
            <a:spLocks xmlns:a="http://schemas.openxmlformats.org/drawingml/2006/main" noGrp="1"/>
          </p:cNvSpPr>
          <p:nvPr/>
        </p:nvSpPr>
        <p:spPr>
          <a:xfrm xmlns:a="http://schemas.openxmlformats.org/drawingml/2006/main">
            <a:off x="0" y="4919472"/>
            <a:ext cx="9144000" cy="224028"/>
          </a:xfrm>
          <a:prstGeom xmlns:a="http://schemas.openxmlformats.org/drawingml/2006/main" prst="rect">
            <a:avLst/>
          </a:prstGeom>
          <a:solidFill xmlns:a="http://schemas.openxmlformats.org/drawingml/2006/main">
            <a:srgbClr val="162B3D"/>
          </a:solidFill>
          <a:ln xmlns:a="http://schemas.openxmlformats.org/drawingml/2006/main" w="12700">
            <a:solidFill>
              <a:srgbClr val="162B3D"/>
            </a:solidFill>
            <a:prstDash val="solid"/>
          </a:ln>
        </p:spPr>
      </p:sp>
      <p:sp>
        <p:nvSpPr>
          <p:cNvPr id="40" name="Text 38">
            <a:extLst xmlns:a="http://schemas.openxmlformats.org/drawingml/2006/main">
              <a:ext uri="{FF2B5EF4-FFF2-40B4-BE49-F238E27FC236}">
                <a16:creationId xmlns:a16="http://schemas.microsoft.com/office/drawing/2014/main" id="{93433E41-EB5C-414B-84DF-E080804E3487}"/>
              </a:ext>
            </a:extLst>
          </p:cNvPr>
          <p:cNvSpPr>
            <a:spLocks xmlns:a="http://schemas.openxmlformats.org/drawingml/2006/main" noGrp="1"/>
          </p:cNvSpPr>
          <p:nvPr/>
        </p:nvSpPr>
        <p:spPr>
          <a:xfrm xmlns:a="http://schemas.openxmlformats.org/drawingml/2006/main">
            <a:off x="274320" y="4919472"/>
            <a:ext cx="8595360" cy="2240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a:solidFill>
                  <a:srgbClr val="E8A020"/>
                </a:solidFill>
              </a:rPr>
              <a:t>Serhii Diadechko  |  Data Science &amp; Machine Learning Capstone</a:t>
            </a:r>
            <a:endParaRPr sz="800"/>
          </a:p>
        </p:txBody>
      </p:sp>
    </p:spTree>
    <p:extLst>
      <p:ext uri="{BB962C8B-B14F-4D97-AF65-F5344CB8AC3E}">
        <p14:creationId xmlns:p14="http://schemas.microsoft.com/office/powerpoint/2010/main" val="187536327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1F71032-95DB-4481-90BA-EE48E7D6D9D9}"/>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F3F6F9"/>
          </a:solidFill>
          <a:ln xmlns:a="http://schemas.openxmlformats.org/drawingml/2006/main" w="12700">
            <a:solidFill>
              <a:srgbClr val="F3F6F9"/>
            </a:solidFill>
            <a:prstDash val="solid"/>
          </a:ln>
        </p:spPr>
      </p:sp>
      <p:sp>
        <p:nvSpPr>
          <p:cNvPr id="3" name="Shape 1">
            <a:extLst xmlns:a="http://schemas.openxmlformats.org/drawingml/2006/main">
              <a:ext uri="{FF2B5EF4-FFF2-40B4-BE49-F238E27FC236}">
                <a16:creationId xmlns:a16="http://schemas.microsoft.com/office/drawing/2014/main" id="{CD270622-BBFE-474A-B3AA-F358D4B67C4B}"/>
              </a:ext>
            </a:extLst>
          </p:cNvPr>
          <p:cNvSpPr>
            <a:spLocks xmlns:a="http://schemas.openxmlformats.org/drawingml/2006/main" noGrp="1"/>
          </p:cNvSpPr>
          <p:nvPr/>
        </p:nvSpPr>
        <p:spPr>
          <a:xfrm xmlns:a="http://schemas.openxmlformats.org/drawingml/2006/main">
            <a:off x="0" y="0"/>
            <a:ext cx="9144000" cy="64008"/>
          </a:xfrm>
          <a:prstGeom xmlns:a="http://schemas.openxmlformats.org/drawingml/2006/main" prst="rect">
            <a:avLst/>
          </a:prstGeom>
          <a:solidFill xmlns:a="http://schemas.openxmlformats.org/drawingml/2006/main">
            <a:srgbClr val="E8A020"/>
          </a:solidFill>
          <a:ln xmlns:a="http://schemas.openxmlformats.org/drawingml/2006/main" w="12700">
            <a:solidFill>
              <a:srgbClr val="E8A020"/>
            </a:solidFill>
            <a:prstDash val="solid"/>
          </a:ln>
        </p:spPr>
      </p:sp>
      <p:sp>
        <p:nvSpPr>
          <p:cNvPr id="4" name="Shape 2">
            <a:extLst xmlns:a="http://schemas.openxmlformats.org/drawingml/2006/main">
              <a:ext uri="{FF2B5EF4-FFF2-40B4-BE49-F238E27FC236}">
                <a16:creationId xmlns:a16="http://schemas.microsoft.com/office/drawing/2014/main" id="{54993E5A-7AC1-45E2-80F4-37FBE7F9FF0E}"/>
              </a:ext>
            </a:extLst>
          </p:cNvPr>
          <p:cNvSpPr>
            <a:spLocks xmlns:a="http://schemas.openxmlformats.org/drawingml/2006/main" noGrp="1"/>
          </p:cNvSpPr>
          <p:nvPr/>
        </p:nvSpPr>
        <p:spPr>
          <a:xfrm xmlns:a="http://schemas.openxmlformats.org/drawingml/2006/main">
            <a:off x="0" y="64008"/>
            <a:ext cx="9144000" cy="658368"/>
          </a:xfrm>
          <a:prstGeom xmlns:a="http://schemas.openxmlformats.org/drawingml/2006/main" prst="rect">
            <a:avLst/>
          </a:prstGeom>
          <a:solidFill xmlns:a="http://schemas.openxmlformats.org/drawingml/2006/main">
            <a:srgbClr val="1E3A50"/>
          </a:solidFill>
          <a:ln xmlns:a="http://schemas.openxmlformats.org/drawingml/2006/main" w="12700">
            <a:solidFill>
              <a:srgbClr val="1E3A50"/>
            </a:solidFill>
            <a:prstDash val="solid"/>
          </a:ln>
        </p:spPr>
      </p:sp>
      <p:sp>
        <p:nvSpPr>
          <p:cNvPr id="5" name="Text 3">
            <a:extLst xmlns:a="http://schemas.openxmlformats.org/drawingml/2006/main">
              <a:ext uri="{FF2B5EF4-FFF2-40B4-BE49-F238E27FC236}">
                <a16:creationId xmlns:a16="http://schemas.microsoft.com/office/drawing/2014/main" id="{94C619D5-0C07-4377-9B2B-ABA61131A82D}"/>
              </a:ext>
            </a:extLst>
          </p:cNvPr>
          <p:cNvSpPr>
            <a:spLocks xmlns:a="http://schemas.openxmlformats.org/drawingml/2006/main" noGrp="1"/>
          </p:cNvSpPr>
          <p:nvPr/>
        </p:nvSpPr>
        <p:spPr>
          <a:xfrm xmlns:a="http://schemas.openxmlformats.org/drawingml/2006/main">
            <a:off x="274320" y="64008"/>
            <a:ext cx="731520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E8A020"/>
                </a:solidFill>
              </a:rPr>
              <a:t>RESPONSIBLE DECISION PATH</a:t>
            </a:r>
            <a:endParaRPr sz="1100"/>
          </a:p>
        </p:txBody>
      </p:sp>
      <p:sp>
        <p:nvSpPr>
          <p:cNvPr id="6" name="Text 4">
            <a:extLst xmlns:a="http://schemas.openxmlformats.org/drawingml/2006/main">
              <a:ext uri="{FF2B5EF4-FFF2-40B4-BE49-F238E27FC236}">
                <a16:creationId xmlns:a16="http://schemas.microsoft.com/office/drawing/2014/main" id="{5F9D6C8C-698D-47A7-A3C5-7E2590958517}"/>
              </a:ext>
            </a:extLst>
          </p:cNvPr>
          <p:cNvSpPr>
            <a:spLocks xmlns:a="http://schemas.openxmlformats.org/drawingml/2006/main" noGrp="1"/>
          </p:cNvSpPr>
          <p:nvPr/>
        </p:nvSpPr>
        <p:spPr>
          <a:xfrm xmlns:a="http://schemas.openxmlformats.org/drawingml/2006/main">
            <a:off x="6858000" y="64008"/>
            <a:ext cx="201168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b="1">
                <a:solidFill>
                  <a:srgbClr val="E1E8EF"/>
                </a:solidFill>
              </a:rPr>
              <a:t>7 / 8</a:t>
            </a:r>
            <a:endParaRPr sz="1100"/>
          </a:p>
        </p:txBody>
      </p:sp>
      <p:sp>
        <p:nvSpPr>
          <p:cNvPr id="7" name="Text 5">
            <a:extLst xmlns:a="http://schemas.openxmlformats.org/drawingml/2006/main">
              <a:ext uri="{FF2B5EF4-FFF2-40B4-BE49-F238E27FC236}">
                <a16:creationId xmlns:a16="http://schemas.microsoft.com/office/drawing/2014/main" id="{E5EB7BA8-611A-4FE4-8DCA-846D2994D29A}"/>
              </a:ext>
            </a:extLst>
          </p:cNvPr>
          <p:cNvSpPr>
            <a:spLocks xmlns:a="http://schemas.openxmlformats.org/drawingml/2006/main" noGrp="1"/>
          </p:cNvSpPr>
          <p:nvPr/>
        </p:nvSpPr>
        <p:spPr>
          <a:xfrm xmlns:a="http://schemas.openxmlformats.org/drawingml/2006/main">
            <a:off x="274320" y="804672"/>
            <a:ext cx="85953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1A2638"/>
                </a:solidFill>
              </a:rPr>
              <a:t>Use three evidence layers together, then verify locally</a:t>
            </a:r>
            <a:endParaRPr sz="1600"/>
          </a:p>
        </p:txBody>
      </p:sp>
      <p:sp>
        <p:nvSpPr>
          <p:cNvPr id="8" name="Shape 6">
            <a:extLst xmlns:a="http://schemas.openxmlformats.org/drawingml/2006/main">
              <a:ext uri="{FF2B5EF4-FFF2-40B4-BE49-F238E27FC236}">
                <a16:creationId xmlns:a16="http://schemas.microsoft.com/office/drawing/2014/main" id="{E81B247D-7B46-4878-9759-A852E6DD8BD5}"/>
              </a:ext>
            </a:extLst>
          </p:cNvPr>
          <p:cNvSpPr>
            <a:spLocks xmlns:a="http://schemas.openxmlformats.org/drawingml/2006/main" noGrp="1"/>
          </p:cNvSpPr>
          <p:nvPr/>
        </p:nvSpPr>
        <p:spPr>
          <a:xfrm xmlns:a="http://schemas.openxmlformats.org/drawingml/2006/main">
            <a:off x="274320" y="1298448"/>
            <a:ext cx="4160520" cy="3291840"/>
          </a:xfrm>
          <a:prstGeom xmlns:a="http://schemas.openxmlformats.org/drawingml/2006/main" prst="rect">
            <a:avLst/>
          </a:prstGeom>
          <a:solidFill xmlns:a="http://schemas.openxmlformats.org/drawingml/2006/main">
            <a:srgbClr val="FFFFFF"/>
          </a:solidFill>
          <a:ln xmlns:a="http://schemas.openxmlformats.org/drawingml/2006/main" w="12700">
            <a:solidFill>
              <a:srgbClr val="E1E8EF"/>
            </a:solidFill>
            <a:prstDash val="solid"/>
          </a:ln>
          <a:effectLst xmlns:a="http://schemas.openxmlformats.org/drawingml/2006/main">
            <a:outerShdw blurRad="101600" dist="38100" dir="8100000" sx="100000" sy="100000" kx="0" ky="0" algn="bl" rotWithShape="0">
              <a:srgbClr val="000000">
                <a:alpha val="10000"/>
              </a:srgbClr>
            </a:outerShdw>
          </a:effectLst>
        </p:spPr>
      </p:sp>
      <p:sp>
        <p:nvSpPr>
          <p:cNvPr id="9" name="Shape 7">
            <a:extLst xmlns:a="http://schemas.openxmlformats.org/drawingml/2006/main">
              <a:ext uri="{FF2B5EF4-FFF2-40B4-BE49-F238E27FC236}">
                <a16:creationId xmlns:a16="http://schemas.microsoft.com/office/drawing/2014/main" id="{EE2EDBCC-C6A0-4EB0-ABA9-364F21C6C046}"/>
              </a:ext>
            </a:extLst>
          </p:cNvPr>
          <p:cNvSpPr>
            <a:spLocks xmlns:a="http://schemas.openxmlformats.org/drawingml/2006/main" noGrp="1"/>
          </p:cNvSpPr>
          <p:nvPr/>
        </p:nvSpPr>
        <p:spPr>
          <a:xfrm xmlns:a="http://schemas.openxmlformats.org/drawingml/2006/main">
            <a:off x="274320" y="1298448"/>
            <a:ext cx="4160520" cy="384048"/>
          </a:xfrm>
          <a:prstGeom xmlns:a="http://schemas.openxmlformats.org/drawingml/2006/main" prst="rect">
            <a:avLst/>
          </a:prstGeom>
          <a:solidFill xmlns:a="http://schemas.openxmlformats.org/drawingml/2006/main">
            <a:srgbClr val="1E3A50"/>
          </a:solidFill>
          <a:ln xmlns:a="http://schemas.openxmlformats.org/drawingml/2006/main" w="12700">
            <a:solidFill>
              <a:srgbClr val="1E3A50"/>
            </a:solidFill>
            <a:prstDash val="solid"/>
          </a:ln>
        </p:spPr>
      </p:sp>
      <p:sp>
        <p:nvSpPr>
          <p:cNvPr id="10" name="Text 8">
            <a:extLst xmlns:a="http://schemas.openxmlformats.org/drawingml/2006/main">
              <a:ext uri="{FF2B5EF4-FFF2-40B4-BE49-F238E27FC236}">
                <a16:creationId xmlns:a16="http://schemas.microsoft.com/office/drawing/2014/main" id="{34B6A4FE-0A95-45E8-B92F-8B01AB71A047}"/>
              </a:ext>
            </a:extLst>
          </p:cNvPr>
          <p:cNvSpPr>
            <a:spLocks xmlns:a="http://schemas.openxmlformats.org/drawingml/2006/main" noGrp="1"/>
          </p:cNvSpPr>
          <p:nvPr/>
        </p:nvSpPr>
        <p:spPr>
          <a:xfrm xmlns:a="http://schemas.openxmlformats.org/drawingml/2006/main">
            <a:off x="274320" y="1298448"/>
            <a:ext cx="41605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rPr>
              <a:t>Recommended actions</a:t>
            </a:r>
            <a:endParaRPr sz="1000"/>
          </a:p>
        </p:txBody>
      </p:sp>
      <p:sp>
        <p:nvSpPr>
          <p:cNvPr id="11" name="Shape 9">
            <a:extLst xmlns:a="http://schemas.openxmlformats.org/drawingml/2006/main">
              <a:ext uri="{FF2B5EF4-FFF2-40B4-BE49-F238E27FC236}">
                <a16:creationId xmlns:a16="http://schemas.microsoft.com/office/drawing/2014/main" id="{E06E9D48-2C14-4301-826B-F612D4177347}"/>
              </a:ext>
            </a:extLst>
          </p:cNvPr>
          <p:cNvSpPr>
            <a:spLocks xmlns:a="http://schemas.openxmlformats.org/drawingml/2006/main" noGrp="1"/>
          </p:cNvSpPr>
          <p:nvPr/>
        </p:nvSpPr>
        <p:spPr>
          <a:xfrm xmlns:a="http://schemas.openxmlformats.org/drawingml/2006/main">
            <a:off x="438912" y="1810512"/>
            <a:ext cx="201168" cy="201168"/>
          </a:xfrm>
          <a:prstGeom xmlns:a="http://schemas.openxmlformats.org/drawingml/2006/main" prst="rect">
            <a:avLst/>
          </a:prstGeom>
          <a:solidFill xmlns:a="http://schemas.openxmlformats.org/drawingml/2006/main">
            <a:srgbClr val="2A9D61"/>
          </a:solidFill>
          <a:ln xmlns:a="http://schemas.openxmlformats.org/drawingml/2006/main" w="12700">
            <a:solidFill>
              <a:srgbClr val="2A9D61"/>
            </a:solidFill>
            <a:prstDash val="solid"/>
          </a:ln>
        </p:spPr>
      </p:sp>
      <p:sp>
        <p:nvSpPr>
          <p:cNvPr id="12" name="Text 10">
            <a:extLst xmlns:a="http://schemas.openxmlformats.org/drawingml/2006/main">
              <a:ext uri="{FF2B5EF4-FFF2-40B4-BE49-F238E27FC236}">
                <a16:creationId xmlns:a16="http://schemas.microsoft.com/office/drawing/2014/main" id="{762EDECB-CC41-484F-9DAC-CC0567DC9945}"/>
              </a:ext>
            </a:extLst>
          </p:cNvPr>
          <p:cNvSpPr>
            <a:spLocks xmlns:a="http://schemas.openxmlformats.org/drawingml/2006/main" noGrp="1"/>
          </p:cNvSpPr>
          <p:nvPr/>
        </p:nvSpPr>
        <p:spPr>
          <a:xfrm xmlns:a="http://schemas.openxmlformats.org/drawingml/2006/main">
            <a:off x="438912" y="1810512"/>
            <a:ext cx="2011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rPr>
              <a:t>v</a:t>
            </a:r>
            <a:endParaRPr sz="800"/>
          </a:p>
        </p:txBody>
      </p:sp>
      <p:sp>
        <p:nvSpPr>
          <p:cNvPr id="13" name="Text 11">
            <a:extLst xmlns:a="http://schemas.openxmlformats.org/drawingml/2006/main">
              <a:ext uri="{FF2B5EF4-FFF2-40B4-BE49-F238E27FC236}">
                <a16:creationId xmlns:a16="http://schemas.microsoft.com/office/drawing/2014/main" id="{9845F9BB-8101-4018-B054-66F0EDF6D458}"/>
              </a:ext>
            </a:extLst>
          </p:cNvPr>
          <p:cNvSpPr>
            <a:spLocks xmlns:a="http://schemas.openxmlformats.org/drawingml/2006/main" noGrp="1"/>
          </p:cNvSpPr>
          <p:nvPr/>
        </p:nvSpPr>
        <p:spPr>
          <a:xfrm xmlns:a="http://schemas.openxmlformats.org/drawingml/2006/main">
            <a:off x="713232" y="1773936"/>
            <a:ext cx="36118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1A2638"/>
                </a:solidFill>
              </a:rPr>
              <a:t>Use the 2026 comparative estimate to narrow broad-area research.</a:t>
            </a:r>
            <a:endParaRPr sz="850"/>
          </a:p>
        </p:txBody>
      </p:sp>
      <p:sp>
        <p:nvSpPr>
          <p:cNvPr id="14" name="Shape 12">
            <a:extLst xmlns:a="http://schemas.openxmlformats.org/drawingml/2006/main">
              <a:ext uri="{FF2B5EF4-FFF2-40B4-BE49-F238E27FC236}">
                <a16:creationId xmlns:a16="http://schemas.microsoft.com/office/drawing/2014/main" id="{8F7D6DC9-1BFC-4804-ACF1-7C0FCFE8FCCC}"/>
              </a:ext>
            </a:extLst>
          </p:cNvPr>
          <p:cNvSpPr>
            <a:spLocks xmlns:a="http://schemas.openxmlformats.org/drawingml/2006/main" noGrp="1"/>
          </p:cNvSpPr>
          <p:nvPr/>
        </p:nvSpPr>
        <p:spPr>
          <a:xfrm xmlns:a="http://schemas.openxmlformats.org/drawingml/2006/main">
            <a:off x="438912" y="2212848"/>
            <a:ext cx="201168" cy="201168"/>
          </a:xfrm>
          <a:prstGeom xmlns:a="http://schemas.openxmlformats.org/drawingml/2006/main" prst="rect">
            <a:avLst/>
          </a:prstGeom>
          <a:solidFill xmlns:a="http://schemas.openxmlformats.org/drawingml/2006/main">
            <a:srgbClr val="2A9D61"/>
          </a:solidFill>
          <a:ln xmlns:a="http://schemas.openxmlformats.org/drawingml/2006/main" w="12700">
            <a:solidFill>
              <a:srgbClr val="2A9D61"/>
            </a:solidFill>
            <a:prstDash val="solid"/>
          </a:ln>
        </p:spPr>
      </p:sp>
      <p:sp>
        <p:nvSpPr>
          <p:cNvPr id="15" name="Text 13">
            <a:extLst xmlns:a="http://schemas.openxmlformats.org/drawingml/2006/main">
              <a:ext uri="{FF2B5EF4-FFF2-40B4-BE49-F238E27FC236}">
                <a16:creationId xmlns:a16="http://schemas.microsoft.com/office/drawing/2014/main" id="{67ADF009-96D8-495A-A992-EFF22040FAD5}"/>
              </a:ext>
            </a:extLst>
          </p:cNvPr>
          <p:cNvSpPr>
            <a:spLocks xmlns:a="http://schemas.openxmlformats.org/drawingml/2006/main" noGrp="1"/>
          </p:cNvSpPr>
          <p:nvPr/>
        </p:nvSpPr>
        <p:spPr>
          <a:xfrm xmlns:a="http://schemas.openxmlformats.org/drawingml/2006/main">
            <a:off x="438912" y="2212848"/>
            <a:ext cx="2011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rPr>
              <a:t>v</a:t>
            </a:r>
            <a:endParaRPr sz="800"/>
          </a:p>
        </p:txBody>
      </p:sp>
      <p:sp>
        <p:nvSpPr>
          <p:cNvPr id="16" name="Text 14">
            <a:extLst xmlns:a="http://schemas.openxmlformats.org/drawingml/2006/main">
              <a:ext uri="{FF2B5EF4-FFF2-40B4-BE49-F238E27FC236}">
                <a16:creationId xmlns:a16="http://schemas.microsoft.com/office/drawing/2014/main" id="{A575E5B0-49CA-4B4E-9DC3-3BA924662B54}"/>
              </a:ext>
            </a:extLst>
          </p:cNvPr>
          <p:cNvSpPr>
            <a:spLocks xmlns:a="http://schemas.openxmlformats.org/drawingml/2006/main" noGrp="1"/>
          </p:cNvSpPr>
          <p:nvPr/>
        </p:nvSpPr>
        <p:spPr>
          <a:xfrm xmlns:a="http://schemas.openxmlformats.org/drawingml/2006/main">
            <a:off x="713232" y="2176272"/>
            <a:ext cx="36118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1A2638"/>
                </a:solidFill>
              </a:rPr>
              <a:t>Check 2016–2025 observed recurrence in the 2 km context.</a:t>
            </a:r>
            <a:endParaRPr sz="850"/>
          </a:p>
        </p:txBody>
      </p:sp>
      <p:sp>
        <p:nvSpPr>
          <p:cNvPr id="17" name="Shape 15">
            <a:extLst xmlns:a="http://schemas.openxmlformats.org/drawingml/2006/main">
              <a:ext uri="{FF2B5EF4-FFF2-40B4-BE49-F238E27FC236}">
                <a16:creationId xmlns:a16="http://schemas.microsoft.com/office/drawing/2014/main" id="{D8D3CCF8-00C9-4170-8866-25687FF7FD1B}"/>
              </a:ext>
            </a:extLst>
          </p:cNvPr>
          <p:cNvSpPr>
            <a:spLocks xmlns:a="http://schemas.openxmlformats.org/drawingml/2006/main" noGrp="1"/>
          </p:cNvSpPr>
          <p:nvPr/>
        </p:nvSpPr>
        <p:spPr>
          <a:xfrm xmlns:a="http://schemas.openxmlformats.org/drawingml/2006/main">
            <a:off x="438912" y="2615184"/>
            <a:ext cx="201168" cy="201168"/>
          </a:xfrm>
          <a:prstGeom xmlns:a="http://schemas.openxmlformats.org/drawingml/2006/main" prst="rect">
            <a:avLst/>
          </a:prstGeom>
          <a:solidFill xmlns:a="http://schemas.openxmlformats.org/drawingml/2006/main">
            <a:srgbClr val="2A9D61"/>
          </a:solidFill>
          <a:ln xmlns:a="http://schemas.openxmlformats.org/drawingml/2006/main" w="12700">
            <a:solidFill>
              <a:srgbClr val="2A9D61"/>
            </a:solidFill>
            <a:prstDash val="solid"/>
          </a:ln>
        </p:spPr>
      </p:sp>
      <p:sp>
        <p:nvSpPr>
          <p:cNvPr id="18" name="Text 16">
            <a:extLst xmlns:a="http://schemas.openxmlformats.org/drawingml/2006/main">
              <a:ext uri="{FF2B5EF4-FFF2-40B4-BE49-F238E27FC236}">
                <a16:creationId xmlns:a16="http://schemas.microsoft.com/office/drawing/2014/main" id="{92FDB06B-FD4A-42B3-86E0-E537A1E2C523}"/>
              </a:ext>
            </a:extLst>
          </p:cNvPr>
          <p:cNvSpPr>
            <a:spLocks xmlns:a="http://schemas.openxmlformats.org/drawingml/2006/main" noGrp="1"/>
          </p:cNvSpPr>
          <p:nvPr/>
        </p:nvSpPr>
        <p:spPr>
          <a:xfrm xmlns:a="http://schemas.openxmlformats.org/drawingml/2006/main">
            <a:off x="438912" y="2615184"/>
            <a:ext cx="2011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rPr>
              <a:t>v</a:t>
            </a:r>
            <a:endParaRPr sz="800"/>
          </a:p>
        </p:txBody>
      </p:sp>
      <p:sp>
        <p:nvSpPr>
          <p:cNvPr id="19" name="Text 17">
            <a:extLst xmlns:a="http://schemas.openxmlformats.org/drawingml/2006/main">
              <a:ext uri="{FF2B5EF4-FFF2-40B4-BE49-F238E27FC236}">
                <a16:creationId xmlns:a16="http://schemas.microsoft.com/office/drawing/2014/main" id="{BCDBEFEE-46CB-44A3-88E9-AFF40DBD9C38}"/>
              </a:ext>
            </a:extLst>
          </p:cNvPr>
          <p:cNvSpPr>
            <a:spLocks xmlns:a="http://schemas.openxmlformats.org/drawingml/2006/main" noGrp="1"/>
          </p:cNvSpPr>
          <p:nvPr/>
        </p:nvSpPr>
        <p:spPr>
          <a:xfrm xmlns:a="http://schemas.openxmlformats.org/drawingml/2006/main">
            <a:off x="713232" y="2578608"/>
            <a:ext cx="36118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1A2638"/>
                </a:solidFill>
              </a:rPr>
              <a:t>Compare the separate official ICNF structural-hazard class.</a:t>
            </a:r>
            <a:endParaRPr sz="850"/>
          </a:p>
        </p:txBody>
      </p:sp>
      <p:sp>
        <p:nvSpPr>
          <p:cNvPr id="20" name="Shape 18">
            <a:extLst xmlns:a="http://schemas.openxmlformats.org/drawingml/2006/main">
              <a:ext uri="{FF2B5EF4-FFF2-40B4-BE49-F238E27FC236}">
                <a16:creationId xmlns:a16="http://schemas.microsoft.com/office/drawing/2014/main" id="{38CC2047-DAFF-4F79-8A6C-9693337DE728}"/>
              </a:ext>
            </a:extLst>
          </p:cNvPr>
          <p:cNvSpPr>
            <a:spLocks xmlns:a="http://schemas.openxmlformats.org/drawingml/2006/main" noGrp="1"/>
          </p:cNvSpPr>
          <p:nvPr/>
        </p:nvSpPr>
        <p:spPr>
          <a:xfrm xmlns:a="http://schemas.openxmlformats.org/drawingml/2006/main">
            <a:off x="438912" y="3017520"/>
            <a:ext cx="201168" cy="201168"/>
          </a:xfrm>
          <a:prstGeom xmlns:a="http://schemas.openxmlformats.org/drawingml/2006/main" prst="rect">
            <a:avLst/>
          </a:prstGeom>
          <a:solidFill xmlns:a="http://schemas.openxmlformats.org/drawingml/2006/main">
            <a:srgbClr val="2A9D61"/>
          </a:solidFill>
          <a:ln xmlns:a="http://schemas.openxmlformats.org/drawingml/2006/main" w="12700">
            <a:solidFill>
              <a:srgbClr val="2A9D61"/>
            </a:solidFill>
            <a:prstDash val="solid"/>
          </a:ln>
        </p:spPr>
      </p:sp>
      <p:sp>
        <p:nvSpPr>
          <p:cNvPr id="21" name="Text 19">
            <a:extLst xmlns:a="http://schemas.openxmlformats.org/drawingml/2006/main">
              <a:ext uri="{FF2B5EF4-FFF2-40B4-BE49-F238E27FC236}">
                <a16:creationId xmlns:a16="http://schemas.microsoft.com/office/drawing/2014/main" id="{81A07EFA-64C1-421F-8395-E96857D11C9D}"/>
              </a:ext>
            </a:extLst>
          </p:cNvPr>
          <p:cNvSpPr>
            <a:spLocks xmlns:a="http://schemas.openxmlformats.org/drawingml/2006/main" noGrp="1"/>
          </p:cNvSpPr>
          <p:nvPr/>
        </p:nvSpPr>
        <p:spPr>
          <a:xfrm xmlns:a="http://schemas.openxmlformats.org/drawingml/2006/main">
            <a:off x="438912" y="3017520"/>
            <a:ext cx="2011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rPr>
              <a:t>v</a:t>
            </a:r>
            <a:endParaRPr sz="800"/>
          </a:p>
        </p:txBody>
      </p:sp>
      <p:sp>
        <p:nvSpPr>
          <p:cNvPr id="22" name="Text 20">
            <a:extLst xmlns:a="http://schemas.openxmlformats.org/drawingml/2006/main">
              <a:ext uri="{FF2B5EF4-FFF2-40B4-BE49-F238E27FC236}">
                <a16:creationId xmlns:a16="http://schemas.microsoft.com/office/drawing/2014/main" id="{5EAD8AF5-A5F3-448D-94DD-FC8FED090183}"/>
              </a:ext>
            </a:extLst>
          </p:cNvPr>
          <p:cNvSpPr>
            <a:spLocks xmlns:a="http://schemas.openxmlformats.org/drawingml/2006/main" noGrp="1"/>
          </p:cNvSpPr>
          <p:nvPr/>
        </p:nvSpPr>
        <p:spPr>
          <a:xfrm xmlns:a="http://schemas.openxmlformats.org/drawingml/2006/main">
            <a:off x="713232" y="2980944"/>
            <a:ext cx="36118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1A2638"/>
                </a:solidFill>
              </a:rPr>
              <a:t>Investigate municipal plans, access, vegetation, insurance and site conditions.</a:t>
            </a:r>
            <a:endParaRPr sz="850"/>
          </a:p>
        </p:txBody>
      </p:sp>
      <p:sp>
        <p:nvSpPr>
          <p:cNvPr id="23" name="Shape 21">
            <a:extLst xmlns:a="http://schemas.openxmlformats.org/drawingml/2006/main">
              <a:ext uri="{FF2B5EF4-FFF2-40B4-BE49-F238E27FC236}">
                <a16:creationId xmlns:a16="http://schemas.microsoft.com/office/drawing/2014/main" id="{DED7C38A-5AFF-444C-9656-647FE8BFFCC0}"/>
              </a:ext>
            </a:extLst>
          </p:cNvPr>
          <p:cNvSpPr>
            <a:spLocks xmlns:a="http://schemas.openxmlformats.org/drawingml/2006/main" noGrp="1"/>
          </p:cNvSpPr>
          <p:nvPr/>
        </p:nvSpPr>
        <p:spPr>
          <a:xfrm xmlns:a="http://schemas.openxmlformats.org/drawingml/2006/main">
            <a:off x="438912" y="3419856"/>
            <a:ext cx="201168" cy="201168"/>
          </a:xfrm>
          <a:prstGeom xmlns:a="http://schemas.openxmlformats.org/drawingml/2006/main" prst="rect">
            <a:avLst/>
          </a:prstGeom>
          <a:solidFill xmlns:a="http://schemas.openxmlformats.org/drawingml/2006/main">
            <a:srgbClr val="2A9D61"/>
          </a:solidFill>
          <a:ln xmlns:a="http://schemas.openxmlformats.org/drawingml/2006/main" w="12700">
            <a:solidFill>
              <a:srgbClr val="2A9D61"/>
            </a:solidFill>
            <a:prstDash val="solid"/>
          </a:ln>
        </p:spPr>
      </p:sp>
      <p:sp>
        <p:nvSpPr>
          <p:cNvPr id="24" name="Text 22">
            <a:extLst xmlns:a="http://schemas.openxmlformats.org/drawingml/2006/main">
              <a:ext uri="{FF2B5EF4-FFF2-40B4-BE49-F238E27FC236}">
                <a16:creationId xmlns:a16="http://schemas.microsoft.com/office/drawing/2014/main" id="{6D116A6D-EF77-48F1-A187-EBD01D9FDCCF}"/>
              </a:ext>
            </a:extLst>
          </p:cNvPr>
          <p:cNvSpPr>
            <a:spLocks xmlns:a="http://schemas.openxmlformats.org/drawingml/2006/main" noGrp="1"/>
          </p:cNvSpPr>
          <p:nvPr/>
        </p:nvSpPr>
        <p:spPr>
          <a:xfrm xmlns:a="http://schemas.openxmlformats.org/drawingml/2006/main">
            <a:off x="438912" y="3419856"/>
            <a:ext cx="2011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rPr>
              <a:t>v</a:t>
            </a:r>
            <a:endParaRPr sz="800"/>
          </a:p>
        </p:txBody>
      </p:sp>
      <p:sp>
        <p:nvSpPr>
          <p:cNvPr id="25" name="Text 23">
            <a:extLst xmlns:a="http://schemas.openxmlformats.org/drawingml/2006/main">
              <a:ext uri="{FF2B5EF4-FFF2-40B4-BE49-F238E27FC236}">
                <a16:creationId xmlns:a16="http://schemas.microsoft.com/office/drawing/2014/main" id="{015EC6A5-C6DF-4FAE-A905-3C6C3F4211DE}"/>
              </a:ext>
            </a:extLst>
          </p:cNvPr>
          <p:cNvSpPr>
            <a:spLocks xmlns:a="http://schemas.openxmlformats.org/drawingml/2006/main" noGrp="1"/>
          </p:cNvSpPr>
          <p:nvPr/>
        </p:nvSpPr>
        <p:spPr>
          <a:xfrm xmlns:a="http://schemas.openxmlformats.org/drawingml/2006/main">
            <a:off x="713232" y="3383280"/>
            <a:ext cx="36118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1A2638"/>
                </a:solidFill>
              </a:rPr>
              <a:t>Rebuild annually when new labelled outcomes and completed-year inputs are available.</a:t>
            </a:r>
            <a:endParaRPr sz="850"/>
          </a:p>
        </p:txBody>
      </p:sp>
      <p:sp>
        <p:nvSpPr>
          <p:cNvPr id="26" name="Shape 24">
            <a:extLst xmlns:a="http://schemas.openxmlformats.org/drawingml/2006/main">
              <a:ext uri="{FF2B5EF4-FFF2-40B4-BE49-F238E27FC236}">
                <a16:creationId xmlns:a16="http://schemas.microsoft.com/office/drawing/2014/main" id="{A5DEA074-89DF-4CCE-8A8F-D65475D0DE9E}"/>
              </a:ext>
            </a:extLst>
          </p:cNvPr>
          <p:cNvSpPr>
            <a:spLocks xmlns:a="http://schemas.openxmlformats.org/drawingml/2006/main" noGrp="1"/>
          </p:cNvSpPr>
          <p:nvPr/>
        </p:nvSpPr>
        <p:spPr>
          <a:xfrm xmlns:a="http://schemas.openxmlformats.org/drawingml/2006/main">
            <a:off x="438912" y="3822192"/>
            <a:ext cx="201168" cy="201168"/>
          </a:xfrm>
          <a:prstGeom xmlns:a="http://schemas.openxmlformats.org/drawingml/2006/main" prst="rect">
            <a:avLst/>
          </a:prstGeom>
          <a:solidFill xmlns:a="http://schemas.openxmlformats.org/drawingml/2006/main">
            <a:srgbClr val="2A9D61"/>
          </a:solidFill>
          <a:ln xmlns:a="http://schemas.openxmlformats.org/drawingml/2006/main" w="12700">
            <a:solidFill>
              <a:srgbClr val="2A9D61"/>
            </a:solidFill>
            <a:prstDash val="solid"/>
          </a:ln>
        </p:spPr>
      </p:sp>
      <p:sp>
        <p:nvSpPr>
          <p:cNvPr id="27" name="Text 25">
            <a:extLst xmlns:a="http://schemas.openxmlformats.org/drawingml/2006/main">
              <a:ext uri="{FF2B5EF4-FFF2-40B4-BE49-F238E27FC236}">
                <a16:creationId xmlns:a16="http://schemas.microsoft.com/office/drawing/2014/main" id="{D82964B2-8744-443C-B136-A69FE27A06C9}"/>
              </a:ext>
            </a:extLst>
          </p:cNvPr>
          <p:cNvSpPr>
            <a:spLocks xmlns:a="http://schemas.openxmlformats.org/drawingml/2006/main" noGrp="1"/>
          </p:cNvSpPr>
          <p:nvPr/>
        </p:nvSpPr>
        <p:spPr>
          <a:xfrm xmlns:a="http://schemas.openxmlformats.org/drawingml/2006/main">
            <a:off x="438912" y="3822192"/>
            <a:ext cx="2011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rPr>
              <a:t>v</a:t>
            </a:r>
            <a:endParaRPr sz="800"/>
          </a:p>
        </p:txBody>
      </p:sp>
      <p:sp>
        <p:nvSpPr>
          <p:cNvPr id="28" name="Text 26">
            <a:extLst xmlns:a="http://schemas.openxmlformats.org/drawingml/2006/main">
              <a:ext uri="{FF2B5EF4-FFF2-40B4-BE49-F238E27FC236}">
                <a16:creationId xmlns:a16="http://schemas.microsoft.com/office/drawing/2014/main" id="{68538838-CB0E-4D90-B7D0-6D1BCBE624DD}"/>
              </a:ext>
            </a:extLst>
          </p:cNvPr>
          <p:cNvSpPr>
            <a:spLocks xmlns:a="http://schemas.openxmlformats.org/drawingml/2006/main" noGrp="1"/>
          </p:cNvSpPr>
          <p:nvPr/>
        </p:nvSpPr>
        <p:spPr>
          <a:xfrm xmlns:a="http://schemas.openxmlformats.org/drawingml/2006/main">
            <a:off x="713232" y="3785616"/>
            <a:ext cx="36118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1A2638"/>
                </a:solidFill>
              </a:rPr>
              <a:t>Keep source files, model version and forecast year traceable.</a:t>
            </a:r>
            <a:endParaRPr sz="850"/>
          </a:p>
        </p:txBody>
      </p:sp>
      <p:sp>
        <p:nvSpPr>
          <p:cNvPr id="29" name="Shape 27">
            <a:extLst xmlns:a="http://schemas.openxmlformats.org/drawingml/2006/main">
              <a:ext uri="{FF2B5EF4-FFF2-40B4-BE49-F238E27FC236}">
                <a16:creationId xmlns:a16="http://schemas.microsoft.com/office/drawing/2014/main" id="{28BACFDF-0F5E-4145-ACA1-EC4AB0020157}"/>
              </a:ext>
            </a:extLst>
          </p:cNvPr>
          <p:cNvSpPr>
            <a:spLocks xmlns:a="http://schemas.openxmlformats.org/drawingml/2006/main" noGrp="1"/>
          </p:cNvSpPr>
          <p:nvPr/>
        </p:nvSpPr>
        <p:spPr>
          <a:xfrm xmlns:a="http://schemas.openxmlformats.org/drawingml/2006/main">
            <a:off x="438912" y="4224528"/>
            <a:ext cx="201168" cy="201168"/>
          </a:xfrm>
          <a:prstGeom xmlns:a="http://schemas.openxmlformats.org/drawingml/2006/main" prst="rect">
            <a:avLst/>
          </a:prstGeom>
          <a:solidFill xmlns:a="http://schemas.openxmlformats.org/drawingml/2006/main">
            <a:srgbClr val="2A9D61"/>
          </a:solidFill>
          <a:ln xmlns:a="http://schemas.openxmlformats.org/drawingml/2006/main" w="12700">
            <a:solidFill>
              <a:srgbClr val="2A9D61"/>
            </a:solidFill>
            <a:prstDash val="solid"/>
          </a:ln>
        </p:spPr>
      </p:sp>
      <p:sp>
        <p:nvSpPr>
          <p:cNvPr id="30" name="Text 28">
            <a:extLst xmlns:a="http://schemas.openxmlformats.org/drawingml/2006/main">
              <a:ext uri="{FF2B5EF4-FFF2-40B4-BE49-F238E27FC236}">
                <a16:creationId xmlns:a16="http://schemas.microsoft.com/office/drawing/2014/main" id="{00C33222-0D7C-404A-A063-BA5FAC42951D}"/>
              </a:ext>
            </a:extLst>
          </p:cNvPr>
          <p:cNvSpPr>
            <a:spLocks xmlns:a="http://schemas.openxmlformats.org/drawingml/2006/main" noGrp="1"/>
          </p:cNvSpPr>
          <p:nvPr/>
        </p:nvSpPr>
        <p:spPr>
          <a:xfrm xmlns:a="http://schemas.openxmlformats.org/drawingml/2006/main">
            <a:off x="438912" y="4224528"/>
            <a:ext cx="2011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rPr>
              <a:t>v</a:t>
            </a:r>
            <a:endParaRPr sz="800"/>
          </a:p>
        </p:txBody>
      </p:sp>
      <p:sp>
        <p:nvSpPr>
          <p:cNvPr id="31" name="Text 29">
            <a:extLst xmlns:a="http://schemas.openxmlformats.org/drawingml/2006/main">
              <a:ext uri="{FF2B5EF4-FFF2-40B4-BE49-F238E27FC236}">
                <a16:creationId xmlns:a16="http://schemas.microsoft.com/office/drawing/2014/main" id="{5F197E6F-C69F-4616-BDF4-CA6F67397AC1}"/>
              </a:ext>
            </a:extLst>
          </p:cNvPr>
          <p:cNvSpPr>
            <a:spLocks xmlns:a="http://schemas.openxmlformats.org/drawingml/2006/main" noGrp="1"/>
          </p:cNvSpPr>
          <p:nvPr/>
        </p:nvSpPr>
        <p:spPr>
          <a:xfrm xmlns:a="http://schemas.openxmlformats.org/drawingml/2006/main">
            <a:off x="713232" y="4187952"/>
            <a:ext cx="36118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1A2638"/>
                </a:solidFill>
              </a:rPr>
              <a:t>Keep local verification in the workflow.</a:t>
            </a:r>
            <a:endParaRPr sz="850"/>
          </a:p>
        </p:txBody>
      </p:sp>
      <p:sp>
        <p:nvSpPr>
          <p:cNvPr id="32" name="Shape 30">
            <a:extLst xmlns:a="http://schemas.openxmlformats.org/drawingml/2006/main">
              <a:ext uri="{FF2B5EF4-FFF2-40B4-BE49-F238E27FC236}">
                <a16:creationId xmlns:a16="http://schemas.microsoft.com/office/drawing/2014/main" id="{3AFF6CB0-C7CA-42E9-9B23-8A61B0C3A8D8}"/>
              </a:ext>
            </a:extLst>
          </p:cNvPr>
          <p:cNvSpPr>
            <a:spLocks xmlns:a="http://schemas.openxmlformats.org/drawingml/2006/main" noGrp="1"/>
          </p:cNvSpPr>
          <p:nvPr/>
        </p:nvSpPr>
        <p:spPr>
          <a:xfrm xmlns:a="http://schemas.openxmlformats.org/drawingml/2006/main">
            <a:off x="4709160" y="1298448"/>
            <a:ext cx="4160520" cy="3291840"/>
          </a:xfrm>
          <a:prstGeom xmlns:a="http://schemas.openxmlformats.org/drawingml/2006/main" prst="rect">
            <a:avLst/>
          </a:prstGeom>
          <a:solidFill xmlns:a="http://schemas.openxmlformats.org/drawingml/2006/main">
            <a:srgbClr val="FFFFFF"/>
          </a:solidFill>
          <a:ln xmlns:a="http://schemas.openxmlformats.org/drawingml/2006/main" w="12700">
            <a:solidFill>
              <a:srgbClr val="E1E8EF"/>
            </a:solidFill>
            <a:prstDash val="solid"/>
          </a:ln>
          <a:effectLst xmlns:a="http://schemas.openxmlformats.org/drawingml/2006/main">
            <a:outerShdw blurRad="101600" dist="38100" dir="8100000" sx="100000" sy="100000" kx="0" ky="0" algn="bl" rotWithShape="0">
              <a:srgbClr val="000000">
                <a:alpha val="10000"/>
              </a:srgbClr>
            </a:outerShdw>
          </a:effectLst>
        </p:spPr>
      </p:sp>
      <p:sp>
        <p:nvSpPr>
          <p:cNvPr id="33" name="Shape 31">
            <a:extLst xmlns:a="http://schemas.openxmlformats.org/drawingml/2006/main">
              <a:ext uri="{FF2B5EF4-FFF2-40B4-BE49-F238E27FC236}">
                <a16:creationId xmlns:a16="http://schemas.microsoft.com/office/drawing/2014/main" id="{86C73BAB-D264-42B4-9433-3E06E95BBC7C}"/>
              </a:ext>
            </a:extLst>
          </p:cNvPr>
          <p:cNvSpPr>
            <a:spLocks xmlns:a="http://schemas.openxmlformats.org/drawingml/2006/main" noGrp="1"/>
          </p:cNvSpPr>
          <p:nvPr/>
        </p:nvSpPr>
        <p:spPr>
          <a:xfrm xmlns:a="http://schemas.openxmlformats.org/drawingml/2006/main">
            <a:off x="4709160" y="1298448"/>
            <a:ext cx="4160520" cy="384048"/>
          </a:xfrm>
          <a:prstGeom xmlns:a="http://schemas.openxmlformats.org/drawingml/2006/main" prst="rect">
            <a:avLst/>
          </a:prstGeom>
          <a:solidFill xmlns:a="http://schemas.openxmlformats.org/drawingml/2006/main">
            <a:srgbClr val="1E3A50"/>
          </a:solidFill>
          <a:ln xmlns:a="http://schemas.openxmlformats.org/drawingml/2006/main" w="12700">
            <a:solidFill>
              <a:srgbClr val="1E3A50"/>
            </a:solidFill>
            <a:prstDash val="solid"/>
          </a:ln>
        </p:spPr>
      </p:sp>
      <p:sp>
        <p:nvSpPr>
          <p:cNvPr id="34" name="Text 32">
            <a:extLst xmlns:a="http://schemas.openxmlformats.org/drawingml/2006/main">
              <a:ext uri="{FF2B5EF4-FFF2-40B4-BE49-F238E27FC236}">
                <a16:creationId xmlns:a16="http://schemas.microsoft.com/office/drawing/2014/main" id="{2FC985B9-E4DF-42B6-ADA0-B9CCDAE183B4}"/>
              </a:ext>
            </a:extLst>
          </p:cNvPr>
          <p:cNvSpPr>
            <a:spLocks xmlns:a="http://schemas.openxmlformats.org/drawingml/2006/main" noGrp="1"/>
          </p:cNvSpPr>
          <p:nvPr/>
        </p:nvSpPr>
        <p:spPr>
          <a:xfrm xmlns:a="http://schemas.openxmlformats.org/drawingml/2006/main">
            <a:off x="4709160" y="1298448"/>
            <a:ext cx="41605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rPr>
              <a:t>Why this matters</a:t>
            </a:r>
            <a:endParaRPr sz="1000"/>
          </a:p>
        </p:txBody>
      </p:sp>
      <p:sp>
        <p:nvSpPr>
          <p:cNvPr id="35" name="Text 33">
            <a:extLst xmlns:a="http://schemas.openxmlformats.org/drawingml/2006/main">
              <a:ext uri="{FF2B5EF4-FFF2-40B4-BE49-F238E27FC236}">
                <a16:creationId xmlns:a16="http://schemas.microsoft.com/office/drawing/2014/main" id="{658F1690-5C44-4152-B042-A6646FDB39E8}"/>
              </a:ext>
            </a:extLst>
          </p:cNvPr>
          <p:cNvSpPr>
            <a:spLocks xmlns:a="http://schemas.openxmlformats.org/drawingml/2006/main" noGrp="1"/>
          </p:cNvSpPr>
          <p:nvPr/>
        </p:nvSpPr>
        <p:spPr>
          <a:xfrm xmlns:a="http://schemas.openxmlformats.org/drawingml/2006/main">
            <a:off x="4873752" y="1755648"/>
            <a:ext cx="3886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a:solidFill>
                  <a:srgbClr val="5B6880"/>
                </a:solidFill>
              </a:rPr>
              <a:t>Technical</a:t>
            </a:r>
            <a:endParaRPr sz="800"/>
          </a:p>
        </p:txBody>
      </p:sp>
      <p:sp>
        <p:nvSpPr>
          <p:cNvPr id="36" name="Shape 34">
            <a:extLst xmlns:a="http://schemas.openxmlformats.org/drawingml/2006/main">
              <a:ext uri="{FF2B5EF4-FFF2-40B4-BE49-F238E27FC236}">
                <a16:creationId xmlns:a16="http://schemas.microsoft.com/office/drawing/2014/main" id="{71C50895-D71E-4952-B2DB-F09E20DBC72B}"/>
              </a:ext>
            </a:extLst>
          </p:cNvPr>
          <p:cNvSpPr>
            <a:spLocks xmlns:a="http://schemas.openxmlformats.org/drawingml/2006/main" noGrp="1"/>
          </p:cNvSpPr>
          <p:nvPr/>
        </p:nvSpPr>
        <p:spPr>
          <a:xfrm xmlns:a="http://schemas.openxmlformats.org/drawingml/2006/main">
            <a:off x="4873752" y="2093976"/>
            <a:ext cx="164592" cy="164592"/>
          </a:xfrm>
          <a:prstGeom xmlns:a="http://schemas.openxmlformats.org/drawingml/2006/main" prst="rect">
            <a:avLst/>
          </a:prstGeom>
          <a:solidFill xmlns:a="http://schemas.openxmlformats.org/drawingml/2006/main">
            <a:srgbClr val="2E6DB4"/>
          </a:solidFill>
          <a:ln xmlns:a="http://schemas.openxmlformats.org/drawingml/2006/main" w="12700">
            <a:solidFill>
              <a:srgbClr val="2E6DB4"/>
            </a:solidFill>
            <a:prstDash val="solid"/>
          </a:ln>
        </p:spPr>
      </p:sp>
      <p:sp>
        <p:nvSpPr>
          <p:cNvPr id="37" name="Text 35">
            <a:extLst xmlns:a="http://schemas.openxmlformats.org/drawingml/2006/main">
              <a:ext uri="{FF2B5EF4-FFF2-40B4-BE49-F238E27FC236}">
                <a16:creationId xmlns:a16="http://schemas.microsoft.com/office/drawing/2014/main" id="{DDE362E9-A857-46C9-9F3F-B9F66FF26D23}"/>
              </a:ext>
            </a:extLst>
          </p:cNvPr>
          <p:cNvSpPr>
            <a:spLocks xmlns:a="http://schemas.openxmlformats.org/drawingml/2006/main" noGrp="1"/>
          </p:cNvSpPr>
          <p:nvPr/>
        </p:nvSpPr>
        <p:spPr>
          <a:xfrm xmlns:a="http://schemas.openxmlformats.org/drawingml/2006/main">
            <a:off x="4873752" y="2093976"/>
            <a:ext cx="164592"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700" b="1">
                <a:solidFill>
                  <a:srgbClr val="FFFFFF"/>
                </a:solidFill>
              </a:rPr>
              <a:t>v</a:t>
            </a:r>
            <a:endParaRPr sz="700"/>
          </a:p>
        </p:txBody>
      </p:sp>
      <p:sp>
        <p:nvSpPr>
          <p:cNvPr id="38" name="Text 36">
            <a:extLst xmlns:a="http://schemas.openxmlformats.org/drawingml/2006/main">
              <a:ext uri="{FF2B5EF4-FFF2-40B4-BE49-F238E27FC236}">
                <a16:creationId xmlns:a16="http://schemas.microsoft.com/office/drawing/2014/main" id="{C50A687C-C5BF-4C24-B785-AAE81140370A}"/>
              </a:ext>
            </a:extLst>
          </p:cNvPr>
          <p:cNvSpPr>
            <a:spLocks xmlns:a="http://schemas.openxmlformats.org/drawingml/2006/main" noGrp="1"/>
          </p:cNvSpPr>
          <p:nvPr/>
        </p:nvSpPr>
        <p:spPr>
          <a:xfrm xmlns:a="http://schemas.openxmlformats.org/drawingml/2006/main">
            <a:off x="5111496" y="2048256"/>
            <a:ext cx="3648456"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1A2638"/>
                </a:solidFill>
              </a:rPr>
              <a:t>The project gives a reproducible first screen. A real property decision needs evidence that a national 1 km model cannot provide.</a:t>
            </a:r>
            <a:endParaRPr sz="800"/>
          </a:p>
        </p:txBody>
      </p:sp>
      <p:sp>
        <p:nvSpPr>
          <p:cNvPr id="39" name="Shape 37">
            <a:extLst xmlns:a="http://schemas.openxmlformats.org/drawingml/2006/main">
              <a:ext uri="{FF2B5EF4-FFF2-40B4-BE49-F238E27FC236}">
                <a16:creationId xmlns:a16="http://schemas.microsoft.com/office/drawing/2014/main" id="{5E376839-E1BB-4BB7-A2B8-1734C73B620B}"/>
              </a:ext>
            </a:extLst>
          </p:cNvPr>
          <p:cNvSpPr>
            <a:spLocks xmlns:a="http://schemas.openxmlformats.org/drawingml/2006/main" noGrp="1"/>
          </p:cNvSpPr>
          <p:nvPr/>
        </p:nvSpPr>
        <p:spPr>
          <a:xfrm xmlns:a="http://schemas.openxmlformats.org/drawingml/2006/main">
            <a:off x="4873752" y="2441448"/>
            <a:ext cx="164592" cy="164592"/>
          </a:xfrm>
          <a:prstGeom xmlns:a="http://schemas.openxmlformats.org/drawingml/2006/main" prst="rect">
            <a:avLst/>
          </a:prstGeom>
          <a:solidFill xmlns:a="http://schemas.openxmlformats.org/drawingml/2006/main">
            <a:srgbClr val="2E6DB4"/>
          </a:solidFill>
          <a:ln xmlns:a="http://schemas.openxmlformats.org/drawingml/2006/main" w="12700">
            <a:solidFill>
              <a:srgbClr val="2E6DB4"/>
            </a:solidFill>
            <a:prstDash val="solid"/>
          </a:ln>
        </p:spPr>
      </p:sp>
      <p:sp>
        <p:nvSpPr>
          <p:cNvPr id="40" name="Text 38">
            <a:extLst xmlns:a="http://schemas.openxmlformats.org/drawingml/2006/main">
              <a:ext uri="{FF2B5EF4-FFF2-40B4-BE49-F238E27FC236}">
                <a16:creationId xmlns:a16="http://schemas.microsoft.com/office/drawing/2014/main" id="{A01EA3BC-0FCB-49C4-A55F-97CAAB6F402D}"/>
              </a:ext>
            </a:extLst>
          </p:cNvPr>
          <p:cNvSpPr>
            <a:spLocks xmlns:a="http://schemas.openxmlformats.org/drawingml/2006/main" noGrp="1"/>
          </p:cNvSpPr>
          <p:nvPr/>
        </p:nvSpPr>
        <p:spPr>
          <a:xfrm xmlns:a="http://schemas.openxmlformats.org/drawingml/2006/main">
            <a:off x="4873752" y="2441448"/>
            <a:ext cx="164592"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700" b="1">
                <a:solidFill>
                  <a:srgbClr val="FFFFFF"/>
                </a:solidFill>
              </a:rPr>
              <a:t>v</a:t>
            </a:r>
            <a:endParaRPr sz="700"/>
          </a:p>
        </p:txBody>
      </p:sp>
      <p:sp>
        <p:nvSpPr>
          <p:cNvPr id="41" name="Text 39">
            <a:extLst xmlns:a="http://schemas.openxmlformats.org/drawingml/2006/main">
              <a:ext uri="{FF2B5EF4-FFF2-40B4-BE49-F238E27FC236}">
                <a16:creationId xmlns:a16="http://schemas.microsoft.com/office/drawing/2014/main" id="{8809B3A3-0DA5-4598-97B3-FE43ED817C67}"/>
              </a:ext>
            </a:extLst>
          </p:cNvPr>
          <p:cNvSpPr>
            <a:spLocks xmlns:a="http://schemas.openxmlformats.org/drawingml/2006/main" noGrp="1"/>
          </p:cNvSpPr>
          <p:nvPr/>
        </p:nvSpPr>
        <p:spPr>
          <a:xfrm xmlns:a="http://schemas.openxmlformats.org/drawingml/2006/main">
            <a:off x="5111496" y="2395728"/>
            <a:ext cx="3648456"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1A2638"/>
                </a:solidFill>
              </a:rPr>
              <a:t>The workflow is designed to make uncertainty visible rather than hide it.</a:t>
            </a:r>
            <a:endParaRPr sz="800"/>
          </a:p>
        </p:txBody>
      </p:sp>
      <p:sp>
        <p:nvSpPr>
          <p:cNvPr id="42" name="Shape 40">
            <a:extLst xmlns:a="http://schemas.openxmlformats.org/drawingml/2006/main">
              <a:ext uri="{FF2B5EF4-FFF2-40B4-BE49-F238E27FC236}">
                <a16:creationId xmlns:a16="http://schemas.microsoft.com/office/drawing/2014/main" id="{04DD2B2E-E82C-45BC-BE89-09F4E19B41E9}"/>
              </a:ext>
            </a:extLst>
          </p:cNvPr>
          <p:cNvSpPr>
            <a:spLocks xmlns:a="http://schemas.openxmlformats.org/drawingml/2006/main" noGrp="1"/>
          </p:cNvSpPr>
          <p:nvPr/>
        </p:nvSpPr>
        <p:spPr>
          <a:xfrm xmlns:a="http://schemas.openxmlformats.org/drawingml/2006/main">
            <a:off x="4873752" y="2788920"/>
            <a:ext cx="164592" cy="164592"/>
          </a:xfrm>
          <a:prstGeom xmlns:a="http://schemas.openxmlformats.org/drawingml/2006/main" prst="rect">
            <a:avLst/>
          </a:prstGeom>
          <a:solidFill xmlns:a="http://schemas.openxmlformats.org/drawingml/2006/main">
            <a:srgbClr val="2E6DB4"/>
          </a:solidFill>
          <a:ln xmlns:a="http://schemas.openxmlformats.org/drawingml/2006/main" w="12700">
            <a:solidFill>
              <a:srgbClr val="2E6DB4"/>
            </a:solidFill>
            <a:prstDash val="solid"/>
          </a:ln>
        </p:spPr>
      </p:sp>
      <p:sp>
        <p:nvSpPr>
          <p:cNvPr id="43" name="Text 41">
            <a:extLst xmlns:a="http://schemas.openxmlformats.org/drawingml/2006/main">
              <a:ext uri="{FF2B5EF4-FFF2-40B4-BE49-F238E27FC236}">
                <a16:creationId xmlns:a16="http://schemas.microsoft.com/office/drawing/2014/main" id="{EEB1BEEB-8312-41BE-85B4-D13CC920FF0B}"/>
              </a:ext>
            </a:extLst>
          </p:cNvPr>
          <p:cNvSpPr>
            <a:spLocks xmlns:a="http://schemas.openxmlformats.org/drawingml/2006/main" noGrp="1"/>
          </p:cNvSpPr>
          <p:nvPr/>
        </p:nvSpPr>
        <p:spPr>
          <a:xfrm xmlns:a="http://schemas.openxmlformats.org/drawingml/2006/main">
            <a:off x="4873752" y="2788920"/>
            <a:ext cx="164592"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700" b="1">
                <a:solidFill>
                  <a:srgbClr val="FFFFFF"/>
                </a:solidFill>
              </a:rPr>
              <a:t>v</a:t>
            </a:r>
            <a:endParaRPr sz="700"/>
          </a:p>
        </p:txBody>
      </p:sp>
      <p:sp>
        <p:nvSpPr>
          <p:cNvPr id="44" name="Text 42">
            <a:extLst xmlns:a="http://schemas.openxmlformats.org/drawingml/2006/main">
              <a:ext uri="{FF2B5EF4-FFF2-40B4-BE49-F238E27FC236}">
                <a16:creationId xmlns:a16="http://schemas.microsoft.com/office/drawing/2014/main" id="{4905A8FB-5807-43E1-8DBD-D43367C8B3EB}"/>
              </a:ext>
            </a:extLst>
          </p:cNvPr>
          <p:cNvSpPr>
            <a:spLocks xmlns:a="http://schemas.openxmlformats.org/drawingml/2006/main" noGrp="1"/>
          </p:cNvSpPr>
          <p:nvPr/>
        </p:nvSpPr>
        <p:spPr>
          <a:xfrm xmlns:a="http://schemas.openxmlformats.org/drawingml/2006/main">
            <a:off x="5111496" y="2743200"/>
            <a:ext cx="3648456"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1A2638"/>
                </a:solidFill>
              </a:rPr>
              <a:t>The annual update process keeps the evidence current without changing the project’s scientific contract.</a:t>
            </a:r>
            <a:endParaRPr sz="800"/>
          </a:p>
        </p:txBody>
      </p:sp>
      <p:sp>
        <p:nvSpPr>
          <p:cNvPr id="45" name="Text 43">
            <a:extLst xmlns:a="http://schemas.openxmlformats.org/drawingml/2006/main">
              <a:ext uri="{FF2B5EF4-FFF2-40B4-BE49-F238E27FC236}">
                <a16:creationId xmlns:a16="http://schemas.microsoft.com/office/drawing/2014/main" id="{02C67DCD-F138-4A42-A665-6D062D32E9DD}"/>
              </a:ext>
            </a:extLst>
          </p:cNvPr>
          <p:cNvSpPr>
            <a:spLocks xmlns:a="http://schemas.openxmlformats.org/drawingml/2006/main" noGrp="1"/>
          </p:cNvSpPr>
          <p:nvPr/>
        </p:nvSpPr>
        <p:spPr>
          <a:xfrm xmlns:a="http://schemas.openxmlformats.org/drawingml/2006/main">
            <a:off x="4873752" y="3127248"/>
            <a:ext cx="3886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a:solidFill>
                  <a:srgbClr val="5B6880"/>
                </a:solidFill>
              </a:rPr>
              <a:t>Delivery Tips</a:t>
            </a:r>
            <a:endParaRPr sz="800"/>
          </a:p>
        </p:txBody>
      </p:sp>
      <p:sp>
        <p:nvSpPr>
          <p:cNvPr id="46" name="Text 44">
            <a:extLst xmlns:a="http://schemas.openxmlformats.org/drawingml/2006/main">
              <a:ext uri="{FF2B5EF4-FFF2-40B4-BE49-F238E27FC236}">
                <a16:creationId xmlns:a16="http://schemas.microsoft.com/office/drawing/2014/main" id="{C18C945C-1C08-400A-BE5B-DB2B6C52AF09}"/>
              </a:ext>
            </a:extLst>
          </p:cNvPr>
          <p:cNvSpPr>
            <a:spLocks xmlns:a="http://schemas.openxmlformats.org/drawingml/2006/main" noGrp="1"/>
          </p:cNvSpPr>
          <p:nvPr/>
        </p:nvSpPr>
        <p:spPr>
          <a:xfrm xmlns:a="http://schemas.openxmlformats.org/drawingml/2006/main">
            <a:off x="4873752" y="3401568"/>
            <a:ext cx="3886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b="1">
                <a:solidFill>
                  <a:srgbClr val="E8A020"/>
                </a:solidFill>
              </a:rPr>
              <a:t>Talk track</a:t>
            </a:r>
            <a:endParaRPr sz="750"/>
          </a:p>
        </p:txBody>
      </p:sp>
      <p:sp>
        <p:nvSpPr>
          <p:cNvPr id="47" name="Text 45">
            <a:extLst xmlns:a="http://schemas.openxmlformats.org/drawingml/2006/main">
              <a:ext uri="{FF2B5EF4-FFF2-40B4-BE49-F238E27FC236}">
                <a16:creationId xmlns:a16="http://schemas.microsoft.com/office/drawing/2014/main" id="{937B33A7-28FF-4038-A79B-FAC8CBE9835C}"/>
              </a:ext>
            </a:extLst>
          </p:cNvPr>
          <p:cNvSpPr>
            <a:spLocks xmlns:a="http://schemas.openxmlformats.org/drawingml/2006/main" noGrp="1"/>
          </p:cNvSpPr>
          <p:nvPr/>
        </p:nvSpPr>
        <p:spPr>
          <a:xfrm xmlns:a="http://schemas.openxmlformats.org/drawingml/2006/main">
            <a:off x="4873752" y="3630168"/>
            <a:ext cx="3886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b="1">
                <a:solidFill>
                  <a:srgbClr val="E8A020"/>
                </a:solidFill>
              </a:rPr>
              <a:t>Start broad.</a:t>
            </a:r>
            <a:endParaRPr sz="750"/>
          </a:p>
        </p:txBody>
      </p:sp>
      <p:sp>
        <p:nvSpPr>
          <p:cNvPr id="48" name="Text 46">
            <a:extLst xmlns:a="http://schemas.openxmlformats.org/drawingml/2006/main">
              <a:ext uri="{FF2B5EF4-FFF2-40B4-BE49-F238E27FC236}">
                <a16:creationId xmlns:a16="http://schemas.microsoft.com/office/drawing/2014/main" id="{0F262A02-4282-4553-9F48-CA22BC998ED4}"/>
              </a:ext>
            </a:extLst>
          </p:cNvPr>
          <p:cNvSpPr>
            <a:spLocks xmlns:a="http://schemas.openxmlformats.org/drawingml/2006/main" noGrp="1"/>
          </p:cNvSpPr>
          <p:nvPr/>
        </p:nvSpPr>
        <p:spPr>
          <a:xfrm xmlns:a="http://schemas.openxmlformats.org/drawingml/2006/main">
            <a:off x="4873752" y="3858768"/>
            <a:ext cx="3886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b="1">
                <a:solidFill>
                  <a:srgbClr val="E8A020"/>
                </a:solidFill>
              </a:rPr>
              <a:t>Compare layers.</a:t>
            </a:r>
            <a:endParaRPr sz="750"/>
          </a:p>
        </p:txBody>
      </p:sp>
      <p:sp>
        <p:nvSpPr>
          <p:cNvPr id="49" name="Text 47">
            <a:extLst xmlns:a="http://schemas.openxmlformats.org/drawingml/2006/main">
              <a:ext uri="{FF2B5EF4-FFF2-40B4-BE49-F238E27FC236}">
                <a16:creationId xmlns:a16="http://schemas.microsoft.com/office/drawing/2014/main" id="{80ADC56E-8CDF-4533-9D13-29A328F28F97}"/>
              </a:ext>
            </a:extLst>
          </p:cNvPr>
          <p:cNvSpPr>
            <a:spLocks xmlns:a="http://schemas.openxmlformats.org/drawingml/2006/main" noGrp="1"/>
          </p:cNvSpPr>
          <p:nvPr/>
        </p:nvSpPr>
        <p:spPr>
          <a:xfrm xmlns:a="http://schemas.openxmlformats.org/drawingml/2006/main">
            <a:off x="4873752" y="4087368"/>
            <a:ext cx="3886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b="1">
                <a:solidFill>
                  <a:srgbClr val="E8A020"/>
                </a:solidFill>
              </a:rPr>
              <a:t>Verify locally.</a:t>
            </a:r>
            <a:endParaRPr sz="750"/>
          </a:p>
        </p:txBody>
      </p:sp>
      <p:sp>
        <p:nvSpPr>
          <p:cNvPr id="50" name="Text 48">
            <a:extLst xmlns:a="http://schemas.openxmlformats.org/drawingml/2006/main">
              <a:ext uri="{FF2B5EF4-FFF2-40B4-BE49-F238E27FC236}">
                <a16:creationId xmlns:a16="http://schemas.microsoft.com/office/drawing/2014/main" id="{B09D24CA-CA3D-4B5F-A387-732847182130}"/>
              </a:ext>
            </a:extLst>
          </p:cNvPr>
          <p:cNvSpPr>
            <a:spLocks xmlns:a="http://schemas.openxmlformats.org/drawingml/2006/main" noGrp="1"/>
          </p:cNvSpPr>
          <p:nvPr/>
        </p:nvSpPr>
        <p:spPr>
          <a:xfrm xmlns:a="http://schemas.openxmlformats.org/drawingml/2006/main">
            <a:off x="4873752" y="4315968"/>
            <a:ext cx="3886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50" b="1">
                <a:solidFill>
                  <a:srgbClr val="E8A020"/>
                </a:solidFill>
              </a:rPr>
              <a:t>Use evidence before deciding.</a:t>
            </a:r>
            <a:endParaRPr sz="750"/>
          </a:p>
        </p:txBody>
      </p:sp>
      <p:sp>
        <p:nvSpPr>
          <p:cNvPr id="51" name="Shape 49">
            <a:extLst xmlns:a="http://schemas.openxmlformats.org/drawingml/2006/main">
              <a:ext uri="{FF2B5EF4-FFF2-40B4-BE49-F238E27FC236}">
                <a16:creationId xmlns:a16="http://schemas.microsoft.com/office/drawing/2014/main" id="{046EB332-A276-466B-BCAE-B81EE8DE1BB5}"/>
              </a:ext>
            </a:extLst>
          </p:cNvPr>
          <p:cNvSpPr>
            <a:spLocks xmlns:a="http://schemas.openxmlformats.org/drawingml/2006/main" noGrp="1"/>
          </p:cNvSpPr>
          <p:nvPr/>
        </p:nvSpPr>
        <p:spPr>
          <a:xfrm xmlns:a="http://schemas.openxmlformats.org/drawingml/2006/main">
            <a:off x="274320" y="4663440"/>
            <a:ext cx="8595360" cy="292608"/>
          </a:xfrm>
          <a:prstGeom xmlns:a="http://schemas.openxmlformats.org/drawingml/2006/main" prst="rect">
            <a:avLst/>
          </a:prstGeom>
          <a:solidFill xmlns:a="http://schemas.openxmlformats.org/drawingml/2006/main">
            <a:srgbClr val="2A9D61"/>
          </a:solidFill>
          <a:ln xmlns:a="http://schemas.openxmlformats.org/drawingml/2006/main" w="12700">
            <a:solidFill>
              <a:srgbClr val="2A9D61"/>
            </a:solidFill>
            <a:prstDash val="solid"/>
          </a:ln>
        </p:spPr>
      </p:sp>
      <p:sp>
        <p:nvSpPr>
          <p:cNvPr id="52" name="Text 50">
            <a:extLst xmlns:a="http://schemas.openxmlformats.org/drawingml/2006/main">
              <a:ext uri="{FF2B5EF4-FFF2-40B4-BE49-F238E27FC236}">
                <a16:creationId xmlns:a16="http://schemas.microsoft.com/office/drawing/2014/main" id="{B7CC2583-B7A5-46EA-80FE-3AC1E9D1753B}"/>
              </a:ext>
            </a:extLst>
          </p:cNvPr>
          <p:cNvSpPr>
            <a:spLocks xmlns:a="http://schemas.openxmlformats.org/drawingml/2006/main" noGrp="1"/>
          </p:cNvSpPr>
          <p:nvPr/>
        </p:nvSpPr>
        <p:spPr>
          <a:xfrm xmlns:a="http://schemas.openxmlformats.org/drawingml/2006/main">
            <a:off x="411480" y="4663440"/>
            <a:ext cx="83210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rPr>
              <a:t>The practical question is: which areas deserve deeper investigation first?</a:t>
            </a:r>
            <a:endParaRPr sz="850"/>
          </a:p>
        </p:txBody>
      </p:sp>
      <p:sp>
        <p:nvSpPr>
          <p:cNvPr id="53" name="Shape 51">
            <a:extLst xmlns:a="http://schemas.openxmlformats.org/drawingml/2006/main">
              <a:ext uri="{FF2B5EF4-FFF2-40B4-BE49-F238E27FC236}">
                <a16:creationId xmlns:a16="http://schemas.microsoft.com/office/drawing/2014/main" id="{7E5B3B4E-B122-4896-8EDF-6B59DC353180}"/>
              </a:ext>
            </a:extLst>
          </p:cNvPr>
          <p:cNvSpPr>
            <a:spLocks xmlns:a="http://schemas.openxmlformats.org/drawingml/2006/main" noGrp="1"/>
          </p:cNvSpPr>
          <p:nvPr/>
        </p:nvSpPr>
        <p:spPr>
          <a:xfrm xmlns:a="http://schemas.openxmlformats.org/drawingml/2006/main">
            <a:off x="0" y="4919472"/>
            <a:ext cx="9144000" cy="224028"/>
          </a:xfrm>
          <a:prstGeom xmlns:a="http://schemas.openxmlformats.org/drawingml/2006/main" prst="rect">
            <a:avLst/>
          </a:prstGeom>
          <a:solidFill xmlns:a="http://schemas.openxmlformats.org/drawingml/2006/main">
            <a:srgbClr val="162B3D"/>
          </a:solidFill>
          <a:ln xmlns:a="http://schemas.openxmlformats.org/drawingml/2006/main" w="12700">
            <a:solidFill>
              <a:srgbClr val="162B3D"/>
            </a:solidFill>
            <a:prstDash val="solid"/>
          </a:ln>
        </p:spPr>
      </p:sp>
      <p:sp>
        <p:nvSpPr>
          <p:cNvPr id="54" name="Text 52">
            <a:extLst xmlns:a="http://schemas.openxmlformats.org/drawingml/2006/main">
              <a:ext uri="{FF2B5EF4-FFF2-40B4-BE49-F238E27FC236}">
                <a16:creationId xmlns:a16="http://schemas.microsoft.com/office/drawing/2014/main" id="{F1C53D4D-25F4-4AFB-98C2-194E6D7315E7}"/>
              </a:ext>
            </a:extLst>
          </p:cNvPr>
          <p:cNvSpPr>
            <a:spLocks xmlns:a="http://schemas.openxmlformats.org/drawingml/2006/main" noGrp="1"/>
          </p:cNvSpPr>
          <p:nvPr/>
        </p:nvSpPr>
        <p:spPr>
          <a:xfrm xmlns:a="http://schemas.openxmlformats.org/drawingml/2006/main">
            <a:off x="274320" y="4919472"/>
            <a:ext cx="8595360" cy="2240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a:solidFill>
                  <a:srgbClr val="E8A020"/>
                </a:solidFill>
              </a:rPr>
              <a:t>Serhii Diadechko  |  Data Science &amp; Machine Learning Capstone</a:t>
            </a:r>
            <a:endParaRPr sz="800"/>
          </a:p>
        </p:txBody>
      </p:sp>
    </p:spTree>
    <p:extLst>
      <p:ext uri="{BB962C8B-B14F-4D97-AF65-F5344CB8AC3E}">
        <p14:creationId xmlns:p14="http://schemas.microsoft.com/office/powerpoint/2010/main" val="78022506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CE0DBA8-F241-4DE7-841E-6F212B2BAA81}"/>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F3F6F9"/>
          </a:solidFill>
          <a:ln xmlns:a="http://schemas.openxmlformats.org/drawingml/2006/main" w="12700">
            <a:solidFill>
              <a:srgbClr val="F3F6F9"/>
            </a:solidFill>
            <a:prstDash val="solid"/>
          </a:ln>
        </p:spPr>
      </p:sp>
      <p:sp>
        <p:nvSpPr>
          <p:cNvPr id="3" name="Shape 1">
            <a:extLst xmlns:a="http://schemas.openxmlformats.org/drawingml/2006/main">
              <a:ext uri="{FF2B5EF4-FFF2-40B4-BE49-F238E27FC236}">
                <a16:creationId xmlns:a16="http://schemas.microsoft.com/office/drawing/2014/main" id="{DF7765EB-0EA9-4512-8D95-C555572E3044}"/>
              </a:ext>
            </a:extLst>
          </p:cNvPr>
          <p:cNvSpPr>
            <a:spLocks xmlns:a="http://schemas.openxmlformats.org/drawingml/2006/main" noGrp="1"/>
          </p:cNvSpPr>
          <p:nvPr/>
        </p:nvSpPr>
        <p:spPr>
          <a:xfrm xmlns:a="http://schemas.openxmlformats.org/drawingml/2006/main">
            <a:off x="0" y="0"/>
            <a:ext cx="9144000" cy="64008"/>
          </a:xfrm>
          <a:prstGeom xmlns:a="http://schemas.openxmlformats.org/drawingml/2006/main" prst="rect">
            <a:avLst/>
          </a:prstGeom>
          <a:solidFill xmlns:a="http://schemas.openxmlformats.org/drawingml/2006/main">
            <a:srgbClr val="E8A020"/>
          </a:solidFill>
          <a:ln xmlns:a="http://schemas.openxmlformats.org/drawingml/2006/main" w="12700">
            <a:solidFill>
              <a:srgbClr val="E8A020"/>
            </a:solidFill>
            <a:prstDash val="solid"/>
          </a:ln>
        </p:spPr>
      </p:sp>
      <p:sp>
        <p:nvSpPr>
          <p:cNvPr id="4" name="Shape 2">
            <a:extLst xmlns:a="http://schemas.openxmlformats.org/drawingml/2006/main">
              <a:ext uri="{FF2B5EF4-FFF2-40B4-BE49-F238E27FC236}">
                <a16:creationId xmlns:a16="http://schemas.microsoft.com/office/drawing/2014/main" id="{AE6ABE1A-7F36-4AF0-9C33-F3C12D9FEFBB}"/>
              </a:ext>
            </a:extLst>
          </p:cNvPr>
          <p:cNvSpPr>
            <a:spLocks xmlns:a="http://schemas.openxmlformats.org/drawingml/2006/main" noGrp="1"/>
          </p:cNvSpPr>
          <p:nvPr/>
        </p:nvSpPr>
        <p:spPr>
          <a:xfrm xmlns:a="http://schemas.openxmlformats.org/drawingml/2006/main">
            <a:off x="0" y="64008"/>
            <a:ext cx="9144000" cy="658368"/>
          </a:xfrm>
          <a:prstGeom xmlns:a="http://schemas.openxmlformats.org/drawingml/2006/main" prst="rect">
            <a:avLst/>
          </a:prstGeom>
          <a:solidFill xmlns:a="http://schemas.openxmlformats.org/drawingml/2006/main">
            <a:srgbClr val="1E3A50"/>
          </a:solidFill>
          <a:ln xmlns:a="http://schemas.openxmlformats.org/drawingml/2006/main" w="12700">
            <a:solidFill>
              <a:srgbClr val="1E3A50"/>
            </a:solidFill>
            <a:prstDash val="solid"/>
          </a:ln>
        </p:spPr>
      </p:sp>
      <p:sp>
        <p:nvSpPr>
          <p:cNvPr id="5" name="Text 3">
            <a:extLst xmlns:a="http://schemas.openxmlformats.org/drawingml/2006/main">
              <a:ext uri="{FF2B5EF4-FFF2-40B4-BE49-F238E27FC236}">
                <a16:creationId xmlns:a16="http://schemas.microsoft.com/office/drawing/2014/main" id="{5E8AAAA1-B5EE-4E8D-8C98-575D38C3D915}"/>
              </a:ext>
            </a:extLst>
          </p:cNvPr>
          <p:cNvSpPr>
            <a:spLocks xmlns:a="http://schemas.openxmlformats.org/drawingml/2006/main" noGrp="1"/>
          </p:cNvSpPr>
          <p:nvPr/>
        </p:nvSpPr>
        <p:spPr>
          <a:xfrm xmlns:a="http://schemas.openxmlformats.org/drawingml/2006/main">
            <a:off x="274320" y="64008"/>
            <a:ext cx="731520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E8A020"/>
                </a:solidFill>
              </a:rPr>
              <a:t>CONCLUSION</a:t>
            </a:r>
            <a:endParaRPr sz="1100"/>
          </a:p>
        </p:txBody>
      </p:sp>
      <p:sp>
        <p:nvSpPr>
          <p:cNvPr id="6" name="Text 4">
            <a:extLst xmlns:a="http://schemas.openxmlformats.org/drawingml/2006/main">
              <a:ext uri="{FF2B5EF4-FFF2-40B4-BE49-F238E27FC236}">
                <a16:creationId xmlns:a16="http://schemas.microsoft.com/office/drawing/2014/main" id="{00F4CB20-9C08-4A2F-8880-3B0C42737A1E}"/>
              </a:ext>
            </a:extLst>
          </p:cNvPr>
          <p:cNvSpPr>
            <a:spLocks xmlns:a="http://schemas.openxmlformats.org/drawingml/2006/main" noGrp="1"/>
          </p:cNvSpPr>
          <p:nvPr/>
        </p:nvSpPr>
        <p:spPr>
          <a:xfrm xmlns:a="http://schemas.openxmlformats.org/drawingml/2006/main">
            <a:off x="6858000" y="64008"/>
            <a:ext cx="201168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b="1">
                <a:solidFill>
                  <a:srgbClr val="E1E8EF"/>
                </a:solidFill>
              </a:rPr>
              <a:t>8 / 8</a:t>
            </a:r>
            <a:endParaRPr sz="1100"/>
          </a:p>
        </p:txBody>
      </p:sp>
      <p:sp>
        <p:nvSpPr>
          <p:cNvPr id="7" name="Text 5">
            <a:extLst xmlns:a="http://schemas.openxmlformats.org/drawingml/2006/main">
              <a:ext uri="{FF2B5EF4-FFF2-40B4-BE49-F238E27FC236}">
                <a16:creationId xmlns:a16="http://schemas.microsoft.com/office/drawing/2014/main" id="{E75EB6B0-AC08-49BD-830B-C61FEDD8CA55}"/>
              </a:ext>
            </a:extLst>
          </p:cNvPr>
          <p:cNvSpPr>
            <a:spLocks xmlns:a="http://schemas.openxmlformats.org/drawingml/2006/main" noGrp="1"/>
          </p:cNvSpPr>
          <p:nvPr/>
        </p:nvSpPr>
        <p:spPr>
          <a:xfrm xmlns:a="http://schemas.openxmlformats.org/drawingml/2006/main">
            <a:off x="274320" y="804672"/>
            <a:ext cx="859536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1A2638"/>
                </a:solidFill>
              </a:rPr>
              <a:t>The workflow narrows the search area and keeps evidence traceable</a:t>
            </a:r>
            <a:endParaRPr sz="1600"/>
          </a:p>
        </p:txBody>
      </p:sp>
      <p:sp>
        <p:nvSpPr>
          <p:cNvPr id="8" name="Shape 6">
            <a:extLst xmlns:a="http://schemas.openxmlformats.org/drawingml/2006/main">
              <a:ext uri="{FF2B5EF4-FFF2-40B4-BE49-F238E27FC236}">
                <a16:creationId xmlns:a16="http://schemas.microsoft.com/office/drawing/2014/main" id="{850ED047-25AD-4E4F-8EA7-8E4D1F3C4F9D}"/>
              </a:ext>
            </a:extLst>
          </p:cNvPr>
          <p:cNvSpPr>
            <a:spLocks xmlns:a="http://schemas.openxmlformats.org/drawingml/2006/main" noGrp="1"/>
          </p:cNvSpPr>
          <p:nvPr/>
        </p:nvSpPr>
        <p:spPr>
          <a:xfrm xmlns:a="http://schemas.openxmlformats.org/drawingml/2006/main">
            <a:off x="274320" y="1371600"/>
            <a:ext cx="2651760" cy="2834640"/>
          </a:xfrm>
          <a:prstGeom xmlns:a="http://schemas.openxmlformats.org/drawingml/2006/main" prst="rect">
            <a:avLst/>
          </a:prstGeom>
          <a:solidFill xmlns:a="http://schemas.openxmlformats.org/drawingml/2006/main">
            <a:srgbClr val="FFFFFF"/>
          </a:solidFill>
          <a:ln xmlns:a="http://schemas.openxmlformats.org/drawingml/2006/main" w="12700">
            <a:solidFill>
              <a:srgbClr val="2E6DB4"/>
            </a:solidFill>
            <a:prstDash val="solid"/>
          </a:ln>
          <a:effectLst xmlns:a="http://schemas.openxmlformats.org/drawingml/2006/main">
            <a:outerShdw blurRad="101600" dist="38100" dir="8100000" sx="100000" sy="100000" kx="0" ky="0" algn="bl" rotWithShape="0">
              <a:srgbClr val="000000">
                <a:alpha val="10000"/>
              </a:srgbClr>
            </a:outerShdw>
          </a:effectLst>
        </p:spPr>
      </p:sp>
      <p:sp>
        <p:nvSpPr>
          <p:cNvPr id="9" name="Shape 7">
            <a:extLst xmlns:a="http://schemas.openxmlformats.org/drawingml/2006/main">
              <a:ext uri="{FF2B5EF4-FFF2-40B4-BE49-F238E27FC236}">
                <a16:creationId xmlns:a16="http://schemas.microsoft.com/office/drawing/2014/main" id="{A976F6E2-E756-4CD4-9480-B649024AF23B}"/>
              </a:ext>
            </a:extLst>
          </p:cNvPr>
          <p:cNvSpPr>
            <a:spLocks xmlns:a="http://schemas.openxmlformats.org/drawingml/2006/main" noGrp="1"/>
          </p:cNvSpPr>
          <p:nvPr/>
        </p:nvSpPr>
        <p:spPr>
          <a:xfrm xmlns:a="http://schemas.openxmlformats.org/drawingml/2006/main">
            <a:off x="274320" y="1371600"/>
            <a:ext cx="2651760" cy="384048"/>
          </a:xfrm>
          <a:prstGeom xmlns:a="http://schemas.openxmlformats.org/drawingml/2006/main" prst="rect">
            <a:avLst/>
          </a:prstGeom>
          <a:solidFill xmlns:a="http://schemas.openxmlformats.org/drawingml/2006/main">
            <a:srgbClr val="2E6DB4"/>
          </a:solidFill>
          <a:ln xmlns:a="http://schemas.openxmlformats.org/drawingml/2006/main" w="12700">
            <a:solidFill>
              <a:srgbClr val="2E6DB4"/>
            </a:solidFill>
            <a:prstDash val="solid"/>
          </a:ln>
        </p:spPr>
      </p:sp>
      <p:sp>
        <p:nvSpPr>
          <p:cNvPr id="10" name="Text 8">
            <a:extLst xmlns:a="http://schemas.openxmlformats.org/drawingml/2006/main">
              <a:ext uri="{FF2B5EF4-FFF2-40B4-BE49-F238E27FC236}">
                <a16:creationId xmlns:a16="http://schemas.microsoft.com/office/drawing/2014/main" id="{3D8AE7C5-FB3D-4C33-ADFD-06675A208D30}"/>
              </a:ext>
            </a:extLst>
          </p:cNvPr>
          <p:cNvSpPr>
            <a:spLocks xmlns:a="http://schemas.openxmlformats.org/drawingml/2006/main" noGrp="1"/>
          </p:cNvSpPr>
          <p:nvPr/>
        </p:nvSpPr>
        <p:spPr>
          <a:xfrm xmlns:a="http://schemas.openxmlformats.org/drawingml/2006/main">
            <a:off x="274320" y="1371600"/>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rPr>
              <a:t>DELIVERED</a:t>
            </a:r>
            <a:endParaRPr sz="1100"/>
          </a:p>
        </p:txBody>
      </p:sp>
      <p:sp>
        <p:nvSpPr>
          <p:cNvPr id="11" name="Text 9">
            <a:extLst xmlns:a="http://schemas.openxmlformats.org/drawingml/2006/main">
              <a:ext uri="{FF2B5EF4-FFF2-40B4-BE49-F238E27FC236}">
                <a16:creationId xmlns:a16="http://schemas.microsoft.com/office/drawing/2014/main" id="{E356610B-1F94-4ECE-B570-CDF06D53212C}"/>
              </a:ext>
            </a:extLst>
          </p:cNvPr>
          <p:cNvSpPr>
            <a:spLocks xmlns:a="http://schemas.openxmlformats.org/drawingml/2006/main" noGrp="1"/>
          </p:cNvSpPr>
          <p:nvPr/>
        </p:nvSpPr>
        <p:spPr>
          <a:xfrm xmlns:a="http://schemas.openxmlformats.org/drawingml/2006/main">
            <a:off x="365760" y="1792224"/>
            <a:ext cx="24688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2E6DB4"/>
                </a:solidFill>
              </a:rPr>
              <a:t>Reproducible national workflow</a:t>
            </a:r>
            <a:endParaRPr sz="800"/>
          </a:p>
        </p:txBody>
      </p:sp>
      <p:sp>
        <p:nvSpPr>
          <p:cNvPr id="12" name="Text 10">
            <a:extLst xmlns:a="http://schemas.openxmlformats.org/drawingml/2006/main">
              <a:ext uri="{FF2B5EF4-FFF2-40B4-BE49-F238E27FC236}">
                <a16:creationId xmlns:a16="http://schemas.microsoft.com/office/drawing/2014/main" id="{A0782A12-06FD-46AB-A59F-D41367841076}"/>
              </a:ext>
            </a:extLst>
          </p:cNvPr>
          <p:cNvSpPr>
            <a:spLocks xmlns:a="http://schemas.openxmlformats.org/drawingml/2006/main" noGrp="1"/>
          </p:cNvSpPr>
          <p:nvPr/>
        </p:nvSpPr>
        <p:spPr>
          <a:xfrm xmlns:a="http://schemas.openxmlformats.org/drawingml/2006/main">
            <a:off x="365760" y="2048256"/>
            <a:ext cx="24688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1A2638"/>
                </a:solidFill>
              </a:rPr>
              <a:t>Validated source checks, one consistent 1 km grid, QGIS layers, and an annual update path.</a:t>
            </a:r>
            <a:endParaRPr sz="850"/>
          </a:p>
        </p:txBody>
      </p:sp>
      <p:sp>
        <p:nvSpPr>
          <p:cNvPr id="13" name="Shape 11">
            <a:extLst xmlns:a="http://schemas.openxmlformats.org/drawingml/2006/main">
              <a:ext uri="{FF2B5EF4-FFF2-40B4-BE49-F238E27FC236}">
                <a16:creationId xmlns:a16="http://schemas.microsoft.com/office/drawing/2014/main" id="{06FA9122-3570-4943-8E28-9854B62394B0}"/>
              </a:ext>
            </a:extLst>
          </p:cNvPr>
          <p:cNvSpPr>
            <a:spLocks xmlns:a="http://schemas.openxmlformats.org/drawingml/2006/main" noGrp="1"/>
          </p:cNvSpPr>
          <p:nvPr/>
        </p:nvSpPr>
        <p:spPr>
          <a:xfrm xmlns:a="http://schemas.openxmlformats.org/drawingml/2006/main">
            <a:off x="365760" y="2578608"/>
            <a:ext cx="2468880" cy="502920"/>
          </a:xfrm>
          <a:prstGeom xmlns:a="http://schemas.openxmlformats.org/drawingml/2006/main" prst="rect">
            <a:avLst/>
          </a:prstGeom>
          <a:solidFill xmlns:a="http://schemas.openxmlformats.org/drawingml/2006/main">
            <a:srgbClr val="EBF0FD"/>
          </a:solidFill>
          <a:ln xmlns:a="http://schemas.openxmlformats.org/drawingml/2006/main" w="12700">
            <a:solidFill>
              <a:srgbClr val="EBF0FD"/>
            </a:solidFill>
            <a:prstDash val="solid"/>
          </a:ln>
        </p:spPr>
      </p:sp>
      <p:sp>
        <p:nvSpPr>
          <p:cNvPr id="14" name="Text 12">
            <a:extLst xmlns:a="http://schemas.openxmlformats.org/drawingml/2006/main">
              <a:ext uri="{FF2B5EF4-FFF2-40B4-BE49-F238E27FC236}">
                <a16:creationId xmlns:a16="http://schemas.microsoft.com/office/drawing/2014/main" id="{6DA1C8F9-5E1A-4E03-8D3D-4F3ECC110889}"/>
              </a:ext>
            </a:extLst>
          </p:cNvPr>
          <p:cNvSpPr>
            <a:spLocks xmlns:a="http://schemas.openxmlformats.org/drawingml/2006/main" noGrp="1"/>
          </p:cNvSpPr>
          <p:nvPr/>
        </p:nvSpPr>
        <p:spPr>
          <a:xfrm xmlns:a="http://schemas.openxmlformats.org/drawingml/2006/main">
            <a:off x="411480" y="2578608"/>
            <a:ext cx="23774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i="1">
                <a:solidFill>
                  <a:srgbClr val="1A2638"/>
                </a:solidFill>
              </a:rPr>
              <a:t>Historical evidence + GIS context</a:t>
            </a:r>
            <a:endParaRPr sz="800"/>
          </a:p>
        </p:txBody>
      </p:sp>
      <p:sp>
        <p:nvSpPr>
          <p:cNvPr id="15" name="Text 13">
            <a:extLst xmlns:a="http://schemas.openxmlformats.org/drawingml/2006/main">
              <a:ext uri="{FF2B5EF4-FFF2-40B4-BE49-F238E27FC236}">
                <a16:creationId xmlns:a16="http://schemas.microsoft.com/office/drawing/2014/main" id="{68EE0945-8EB5-490D-A7E4-88E16F04DD2E}"/>
              </a:ext>
            </a:extLst>
          </p:cNvPr>
          <p:cNvSpPr>
            <a:spLocks xmlns:a="http://schemas.openxmlformats.org/drawingml/2006/main" noGrp="1"/>
          </p:cNvSpPr>
          <p:nvPr/>
        </p:nvSpPr>
        <p:spPr>
          <a:xfrm xmlns:a="http://schemas.openxmlformats.org/drawingml/2006/main">
            <a:off x="365760" y="3145536"/>
            <a:ext cx="24688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750" b="1">
                <a:solidFill>
                  <a:srgbClr val="2A9D61"/>
                </a:solidFill>
              </a:rPr>
              <a:t>A separate 2016–2025 recurrence screen and official ICNF structural-hazard comparison.</a:t>
            </a:r>
            <a:endParaRPr sz="750"/>
          </a:p>
        </p:txBody>
      </p:sp>
      <p:sp>
        <p:nvSpPr>
          <p:cNvPr id="16" name="Text 14">
            <a:extLst xmlns:a="http://schemas.openxmlformats.org/drawingml/2006/main">
              <a:ext uri="{FF2B5EF4-FFF2-40B4-BE49-F238E27FC236}">
                <a16:creationId xmlns:a16="http://schemas.microsoft.com/office/drawing/2014/main" id="{1BD26CB1-F165-4EEE-8E1E-6F5551AD5551}"/>
              </a:ext>
            </a:extLst>
          </p:cNvPr>
          <p:cNvSpPr>
            <a:spLocks xmlns:a="http://schemas.openxmlformats.org/drawingml/2006/main" noGrp="1"/>
          </p:cNvSpPr>
          <p:nvPr/>
        </p:nvSpPr>
        <p:spPr>
          <a:xfrm xmlns:a="http://schemas.openxmlformats.org/drawingml/2006/main">
            <a:off x="365760" y="3675888"/>
            <a:ext cx="24688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750" b="1">
                <a:solidFill>
                  <a:srgbClr val="C0392B"/>
                </a:solidFill>
              </a:rPr>
              <a:t>Transparent source roles and limitations.</a:t>
            </a:r>
            <a:endParaRPr sz="750"/>
          </a:p>
        </p:txBody>
      </p:sp>
      <p:sp>
        <p:nvSpPr>
          <p:cNvPr id="17" name="Text 15">
            <a:extLst xmlns:a="http://schemas.openxmlformats.org/drawingml/2006/main">
              <a:ext uri="{FF2B5EF4-FFF2-40B4-BE49-F238E27FC236}">
                <a16:creationId xmlns:a16="http://schemas.microsoft.com/office/drawing/2014/main" id="{19C7B146-38E8-4AC6-BC1B-E7E04E3F1199}"/>
              </a:ext>
            </a:extLst>
          </p:cNvPr>
          <p:cNvSpPr>
            <a:spLocks xmlns:a="http://schemas.openxmlformats.org/drawingml/2006/main" noGrp="1"/>
          </p:cNvSpPr>
          <p:nvPr/>
        </p:nvSpPr>
        <p:spPr>
          <a:xfrm xmlns:a="http://schemas.openxmlformats.org/drawingml/2006/main">
            <a:off x="2962656" y="2560320"/>
            <a:ext cx="3200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E8A020"/>
                </a:solidFill>
              </a:rPr>
              <a:t>→</a:t>
            </a:r>
            <a:endParaRPr sz="2000"/>
          </a:p>
        </p:txBody>
      </p:sp>
      <p:sp>
        <p:nvSpPr>
          <p:cNvPr id="18" name="Shape 16">
            <a:extLst xmlns:a="http://schemas.openxmlformats.org/drawingml/2006/main">
              <a:ext uri="{FF2B5EF4-FFF2-40B4-BE49-F238E27FC236}">
                <a16:creationId xmlns:a16="http://schemas.microsoft.com/office/drawing/2014/main" id="{227D0A40-0DA6-40CE-A9D7-5598EA3D53ED}"/>
              </a:ext>
            </a:extLst>
          </p:cNvPr>
          <p:cNvSpPr>
            <a:spLocks xmlns:a="http://schemas.openxmlformats.org/drawingml/2006/main" noGrp="1"/>
          </p:cNvSpPr>
          <p:nvPr/>
        </p:nvSpPr>
        <p:spPr>
          <a:xfrm xmlns:a="http://schemas.openxmlformats.org/drawingml/2006/main">
            <a:off x="3310128" y="1371600"/>
            <a:ext cx="2651760" cy="2834640"/>
          </a:xfrm>
          <a:prstGeom xmlns:a="http://schemas.openxmlformats.org/drawingml/2006/main" prst="rect">
            <a:avLst/>
          </a:prstGeom>
          <a:solidFill xmlns:a="http://schemas.openxmlformats.org/drawingml/2006/main">
            <a:srgbClr val="FFFFFF"/>
          </a:solidFill>
          <a:ln xmlns:a="http://schemas.openxmlformats.org/drawingml/2006/main" w="12700">
            <a:solidFill>
              <a:srgbClr val="E67E22"/>
            </a:solidFill>
            <a:prstDash val="solid"/>
          </a:ln>
          <a:effectLst xmlns:a="http://schemas.openxmlformats.org/drawingml/2006/main">
            <a:outerShdw blurRad="101600" dist="38100" dir="8100000" sx="100000" sy="100000" kx="0" ky="0" algn="bl" rotWithShape="0">
              <a:srgbClr val="000000">
                <a:alpha val="10000"/>
              </a:srgbClr>
            </a:outerShdw>
          </a:effectLst>
        </p:spPr>
      </p:sp>
      <p:sp>
        <p:nvSpPr>
          <p:cNvPr id="19" name="Shape 17">
            <a:extLst xmlns:a="http://schemas.openxmlformats.org/drawingml/2006/main">
              <a:ext uri="{FF2B5EF4-FFF2-40B4-BE49-F238E27FC236}">
                <a16:creationId xmlns:a16="http://schemas.microsoft.com/office/drawing/2014/main" id="{1853FDD2-81C9-47AF-9DE5-156DDAF5F885}"/>
              </a:ext>
            </a:extLst>
          </p:cNvPr>
          <p:cNvSpPr>
            <a:spLocks xmlns:a="http://schemas.openxmlformats.org/drawingml/2006/main" noGrp="1"/>
          </p:cNvSpPr>
          <p:nvPr/>
        </p:nvSpPr>
        <p:spPr>
          <a:xfrm xmlns:a="http://schemas.openxmlformats.org/drawingml/2006/main">
            <a:off x="3310128" y="1371600"/>
            <a:ext cx="2651760" cy="384048"/>
          </a:xfrm>
          <a:prstGeom xmlns:a="http://schemas.openxmlformats.org/drawingml/2006/main" prst="rect">
            <a:avLst/>
          </a:prstGeom>
          <a:solidFill xmlns:a="http://schemas.openxmlformats.org/drawingml/2006/main">
            <a:srgbClr val="E67E22"/>
          </a:solidFill>
          <a:ln xmlns:a="http://schemas.openxmlformats.org/drawingml/2006/main" w="12700">
            <a:solidFill>
              <a:srgbClr val="E67E22"/>
            </a:solidFill>
            <a:prstDash val="solid"/>
          </a:ln>
        </p:spPr>
      </p:sp>
      <p:sp>
        <p:nvSpPr>
          <p:cNvPr id="20" name="Text 18">
            <a:extLst xmlns:a="http://schemas.openxmlformats.org/drawingml/2006/main">
              <a:ext uri="{FF2B5EF4-FFF2-40B4-BE49-F238E27FC236}">
                <a16:creationId xmlns:a16="http://schemas.microsoft.com/office/drawing/2014/main" id="{105B757C-3387-43E4-8755-47E796BA4C51}"/>
              </a:ext>
            </a:extLst>
          </p:cNvPr>
          <p:cNvSpPr>
            <a:spLocks xmlns:a="http://schemas.openxmlformats.org/drawingml/2006/main" noGrp="1"/>
          </p:cNvSpPr>
          <p:nvPr/>
        </p:nvSpPr>
        <p:spPr>
          <a:xfrm xmlns:a="http://schemas.openxmlformats.org/drawingml/2006/main">
            <a:off x="3310128" y="1371600"/>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rPr>
              <a:t>MODEL RESULT</a:t>
            </a:r>
            <a:endParaRPr sz="1100"/>
          </a:p>
        </p:txBody>
      </p:sp>
      <p:sp>
        <p:nvSpPr>
          <p:cNvPr id="21" name="Text 19">
            <a:extLst xmlns:a="http://schemas.openxmlformats.org/drawingml/2006/main">
              <a:ext uri="{FF2B5EF4-FFF2-40B4-BE49-F238E27FC236}">
                <a16:creationId xmlns:a16="http://schemas.microsoft.com/office/drawing/2014/main" id="{7FCCAA10-640A-4877-BDF7-D0715D3E9D85}"/>
              </a:ext>
            </a:extLst>
          </p:cNvPr>
          <p:cNvSpPr>
            <a:spLocks xmlns:a="http://schemas.openxmlformats.org/drawingml/2006/main" noGrp="1"/>
          </p:cNvSpPr>
          <p:nvPr/>
        </p:nvSpPr>
        <p:spPr>
          <a:xfrm xmlns:a="http://schemas.openxmlformats.org/drawingml/2006/main">
            <a:off x="3401568" y="1792224"/>
            <a:ext cx="24688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E67E22"/>
                </a:solidFill>
              </a:rPr>
              <a:t>Hypothesis partially supported</a:t>
            </a:r>
            <a:endParaRPr sz="800"/>
          </a:p>
        </p:txBody>
      </p:sp>
      <p:sp>
        <p:nvSpPr>
          <p:cNvPr id="22" name="Text 20">
            <a:extLst xmlns:a="http://schemas.openxmlformats.org/drawingml/2006/main">
              <a:ext uri="{FF2B5EF4-FFF2-40B4-BE49-F238E27FC236}">
                <a16:creationId xmlns:a16="http://schemas.microsoft.com/office/drawing/2014/main" id="{2E8ADD6B-24AD-4193-9FBD-F3F31B5B609E}"/>
              </a:ext>
            </a:extLst>
          </p:cNvPr>
          <p:cNvSpPr>
            <a:spLocks xmlns:a="http://schemas.openxmlformats.org/drawingml/2006/main" noGrp="1"/>
          </p:cNvSpPr>
          <p:nvPr/>
        </p:nvSpPr>
        <p:spPr>
          <a:xfrm xmlns:a="http://schemas.openxmlformats.org/drawingml/2006/main">
            <a:off x="3401568" y="2048256"/>
            <a:ext cx="24688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1A2638"/>
                </a:solidFill>
              </a:rPr>
              <a:t>The nine-feature model improves selected comparative diagnostics, but does not solve extreme-event underprediction.</a:t>
            </a:r>
            <a:endParaRPr sz="850"/>
          </a:p>
        </p:txBody>
      </p:sp>
      <p:sp>
        <p:nvSpPr>
          <p:cNvPr id="23" name="Shape 21">
            <a:extLst xmlns:a="http://schemas.openxmlformats.org/drawingml/2006/main">
              <a:ext uri="{FF2B5EF4-FFF2-40B4-BE49-F238E27FC236}">
                <a16:creationId xmlns:a16="http://schemas.microsoft.com/office/drawing/2014/main" id="{BF495EEE-9C70-49FA-9B76-01434D5B515B}"/>
              </a:ext>
            </a:extLst>
          </p:cNvPr>
          <p:cNvSpPr>
            <a:spLocks xmlns:a="http://schemas.openxmlformats.org/drawingml/2006/main" noGrp="1"/>
          </p:cNvSpPr>
          <p:nvPr/>
        </p:nvSpPr>
        <p:spPr>
          <a:xfrm xmlns:a="http://schemas.openxmlformats.org/drawingml/2006/main">
            <a:off x="3401568" y="2578608"/>
            <a:ext cx="2468880" cy="502920"/>
          </a:xfrm>
          <a:prstGeom xmlns:a="http://schemas.openxmlformats.org/drawingml/2006/main" prst="rect">
            <a:avLst/>
          </a:prstGeom>
          <a:solidFill xmlns:a="http://schemas.openxmlformats.org/drawingml/2006/main">
            <a:srgbClr val="FEF3E2"/>
          </a:solidFill>
          <a:ln xmlns:a="http://schemas.openxmlformats.org/drawingml/2006/main" w="12700">
            <a:solidFill>
              <a:srgbClr val="FEF3E2"/>
            </a:solidFill>
            <a:prstDash val="solid"/>
          </a:ln>
        </p:spPr>
      </p:sp>
      <p:sp>
        <p:nvSpPr>
          <p:cNvPr id="24" name="Text 22">
            <a:extLst xmlns:a="http://schemas.openxmlformats.org/drawingml/2006/main">
              <a:ext uri="{FF2B5EF4-FFF2-40B4-BE49-F238E27FC236}">
                <a16:creationId xmlns:a16="http://schemas.microsoft.com/office/drawing/2014/main" id="{7E9DFFCA-C999-493A-85F1-CEEE2960D202}"/>
              </a:ext>
            </a:extLst>
          </p:cNvPr>
          <p:cNvSpPr>
            <a:spLocks xmlns:a="http://schemas.openxmlformats.org/drawingml/2006/main" noGrp="1"/>
          </p:cNvSpPr>
          <p:nvPr/>
        </p:nvSpPr>
        <p:spPr>
          <a:xfrm xmlns:a="http://schemas.openxmlformats.org/drawingml/2006/main">
            <a:off x="3447288" y="2578608"/>
            <a:ext cx="23774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i="1">
                <a:solidFill>
                  <a:srgbClr val="1A2638"/>
                </a:solidFill>
              </a:rPr>
              <a:t>2026 is target-free</a:t>
            </a:r>
            <a:endParaRPr sz="800"/>
          </a:p>
        </p:txBody>
      </p:sp>
      <p:sp>
        <p:nvSpPr>
          <p:cNvPr id="25" name="Text 23">
            <a:extLst xmlns:a="http://schemas.openxmlformats.org/drawingml/2006/main">
              <a:ext uri="{FF2B5EF4-FFF2-40B4-BE49-F238E27FC236}">
                <a16:creationId xmlns:a16="http://schemas.microsoft.com/office/drawing/2014/main" id="{DCF76D05-AD79-475B-BF3A-C3D4F0DF1815}"/>
              </a:ext>
            </a:extLst>
          </p:cNvPr>
          <p:cNvSpPr>
            <a:spLocks xmlns:a="http://schemas.openxmlformats.org/drawingml/2006/main" noGrp="1"/>
          </p:cNvSpPr>
          <p:nvPr/>
        </p:nvSpPr>
        <p:spPr>
          <a:xfrm xmlns:a="http://schemas.openxmlformats.org/drawingml/2006/main">
            <a:off x="3401568" y="3145536"/>
            <a:ext cx="24688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750" b="1">
                <a:solidFill>
                  <a:srgbClr val="2A9D61"/>
                </a:solidFill>
              </a:rPr>
              <a:t>Its future performance must be evaluated only after observed outcome data are available.</a:t>
            </a:r>
            <a:endParaRPr sz="750"/>
          </a:p>
        </p:txBody>
      </p:sp>
      <p:sp>
        <p:nvSpPr>
          <p:cNvPr id="26" name="Text 24">
            <a:extLst xmlns:a="http://schemas.openxmlformats.org/drawingml/2006/main">
              <a:ext uri="{FF2B5EF4-FFF2-40B4-BE49-F238E27FC236}">
                <a16:creationId xmlns:a16="http://schemas.microsoft.com/office/drawing/2014/main" id="{4C110B4E-8200-4661-8C23-2F8B6C0A4D28}"/>
              </a:ext>
            </a:extLst>
          </p:cNvPr>
          <p:cNvSpPr>
            <a:spLocks xmlns:a="http://schemas.openxmlformats.org/drawingml/2006/main" noGrp="1"/>
          </p:cNvSpPr>
          <p:nvPr/>
        </p:nvSpPr>
        <p:spPr>
          <a:xfrm xmlns:a="http://schemas.openxmlformats.org/drawingml/2006/main">
            <a:off x="3401568" y="3675888"/>
            <a:ext cx="24688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750" b="1">
                <a:solidFill>
                  <a:srgbClr val="C0392B"/>
                </a:solidFill>
              </a:rPr>
              <a:t>No retrospective claim about unknown outcomes.</a:t>
            </a:r>
            <a:endParaRPr sz="750"/>
          </a:p>
        </p:txBody>
      </p:sp>
      <p:sp>
        <p:nvSpPr>
          <p:cNvPr id="27" name="Text 25">
            <a:extLst xmlns:a="http://schemas.openxmlformats.org/drawingml/2006/main">
              <a:ext uri="{FF2B5EF4-FFF2-40B4-BE49-F238E27FC236}">
                <a16:creationId xmlns:a16="http://schemas.microsoft.com/office/drawing/2014/main" id="{83201544-152E-4D02-8077-3884EAB07F98}"/>
              </a:ext>
            </a:extLst>
          </p:cNvPr>
          <p:cNvSpPr>
            <a:spLocks xmlns:a="http://schemas.openxmlformats.org/drawingml/2006/main" noGrp="1"/>
          </p:cNvSpPr>
          <p:nvPr/>
        </p:nvSpPr>
        <p:spPr>
          <a:xfrm xmlns:a="http://schemas.openxmlformats.org/drawingml/2006/main">
            <a:off x="5998464" y="2560320"/>
            <a:ext cx="3200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E8A020"/>
                </a:solidFill>
              </a:rPr>
              <a:t>→</a:t>
            </a:r>
            <a:endParaRPr sz="2000"/>
          </a:p>
        </p:txBody>
      </p:sp>
      <p:sp>
        <p:nvSpPr>
          <p:cNvPr id="28" name="Shape 26">
            <a:extLst xmlns:a="http://schemas.openxmlformats.org/drawingml/2006/main">
              <a:ext uri="{FF2B5EF4-FFF2-40B4-BE49-F238E27FC236}">
                <a16:creationId xmlns:a16="http://schemas.microsoft.com/office/drawing/2014/main" id="{BE55346A-E69C-419B-9F53-C37EAE7BCF74}"/>
              </a:ext>
            </a:extLst>
          </p:cNvPr>
          <p:cNvSpPr>
            <a:spLocks xmlns:a="http://schemas.openxmlformats.org/drawingml/2006/main" noGrp="1"/>
          </p:cNvSpPr>
          <p:nvPr/>
        </p:nvSpPr>
        <p:spPr>
          <a:xfrm xmlns:a="http://schemas.openxmlformats.org/drawingml/2006/main">
            <a:off x="6345936" y="1371600"/>
            <a:ext cx="2651760" cy="2834640"/>
          </a:xfrm>
          <a:prstGeom xmlns:a="http://schemas.openxmlformats.org/drawingml/2006/main" prst="rect">
            <a:avLst/>
          </a:prstGeom>
          <a:solidFill xmlns:a="http://schemas.openxmlformats.org/drawingml/2006/main">
            <a:srgbClr val="FFFFFF"/>
          </a:solidFill>
          <a:ln xmlns:a="http://schemas.openxmlformats.org/drawingml/2006/main" w="12700">
            <a:solidFill>
              <a:srgbClr val="2A9D61"/>
            </a:solidFill>
            <a:prstDash val="solid"/>
          </a:ln>
          <a:effectLst xmlns:a="http://schemas.openxmlformats.org/drawingml/2006/main">
            <a:outerShdw blurRad="101600" dist="38100" dir="8100000" sx="100000" sy="100000" kx="0" ky="0" algn="bl" rotWithShape="0">
              <a:srgbClr val="000000">
                <a:alpha val="10000"/>
              </a:srgbClr>
            </a:outerShdw>
          </a:effectLst>
        </p:spPr>
      </p:sp>
      <p:sp>
        <p:nvSpPr>
          <p:cNvPr id="29" name="Shape 27">
            <a:extLst xmlns:a="http://schemas.openxmlformats.org/drawingml/2006/main">
              <a:ext uri="{FF2B5EF4-FFF2-40B4-BE49-F238E27FC236}">
                <a16:creationId xmlns:a16="http://schemas.microsoft.com/office/drawing/2014/main" id="{9E9ACD73-16DC-45DA-BF3F-29483F5DA902}"/>
              </a:ext>
            </a:extLst>
          </p:cNvPr>
          <p:cNvSpPr>
            <a:spLocks xmlns:a="http://schemas.openxmlformats.org/drawingml/2006/main" noGrp="1"/>
          </p:cNvSpPr>
          <p:nvPr/>
        </p:nvSpPr>
        <p:spPr>
          <a:xfrm xmlns:a="http://schemas.openxmlformats.org/drawingml/2006/main">
            <a:off x="6345936" y="1371600"/>
            <a:ext cx="2651760" cy="384048"/>
          </a:xfrm>
          <a:prstGeom xmlns:a="http://schemas.openxmlformats.org/drawingml/2006/main" prst="rect">
            <a:avLst/>
          </a:prstGeom>
          <a:solidFill xmlns:a="http://schemas.openxmlformats.org/drawingml/2006/main">
            <a:srgbClr val="2A9D61"/>
          </a:solidFill>
          <a:ln xmlns:a="http://schemas.openxmlformats.org/drawingml/2006/main" w="12700">
            <a:solidFill>
              <a:srgbClr val="2A9D61"/>
            </a:solidFill>
            <a:prstDash val="solid"/>
          </a:ln>
        </p:spPr>
      </p:sp>
      <p:sp>
        <p:nvSpPr>
          <p:cNvPr id="30" name="Text 28">
            <a:extLst xmlns:a="http://schemas.openxmlformats.org/drawingml/2006/main">
              <a:ext uri="{FF2B5EF4-FFF2-40B4-BE49-F238E27FC236}">
                <a16:creationId xmlns:a16="http://schemas.microsoft.com/office/drawing/2014/main" id="{B62BA0E5-342B-4B8A-B522-4EBF950A10B6}"/>
              </a:ext>
            </a:extLst>
          </p:cNvPr>
          <p:cNvSpPr>
            <a:spLocks xmlns:a="http://schemas.openxmlformats.org/drawingml/2006/main" noGrp="1"/>
          </p:cNvSpPr>
          <p:nvPr/>
        </p:nvSpPr>
        <p:spPr>
          <a:xfrm xmlns:a="http://schemas.openxmlformats.org/drawingml/2006/main">
            <a:off x="6345936" y="1371600"/>
            <a:ext cx="26517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rPr>
              <a:t>NEXT STEPS FOR THIS PROJECT</a:t>
            </a:r>
            <a:endParaRPr sz="1100"/>
          </a:p>
        </p:txBody>
      </p:sp>
      <p:sp>
        <p:nvSpPr>
          <p:cNvPr id="31" name="Text 29">
            <a:extLst xmlns:a="http://schemas.openxmlformats.org/drawingml/2006/main">
              <a:ext uri="{FF2B5EF4-FFF2-40B4-BE49-F238E27FC236}">
                <a16:creationId xmlns:a16="http://schemas.microsoft.com/office/drawing/2014/main" id="{4AC5C230-4301-4FDE-B694-E685F46AB091}"/>
              </a:ext>
            </a:extLst>
          </p:cNvPr>
          <p:cNvSpPr>
            <a:spLocks xmlns:a="http://schemas.openxmlformats.org/drawingml/2006/main" noGrp="1"/>
          </p:cNvSpPr>
          <p:nvPr/>
        </p:nvSpPr>
        <p:spPr>
          <a:xfrm xmlns:a="http://schemas.openxmlformats.org/drawingml/2006/main">
            <a:off x="6437376" y="1792224"/>
            <a:ext cx="24688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2A9D61"/>
                </a:solidFill>
              </a:rPr>
              <a:t>Refresh, rebuild, validate</a:t>
            </a:r>
            <a:endParaRPr sz="800"/>
          </a:p>
        </p:txBody>
      </p:sp>
      <p:sp>
        <p:nvSpPr>
          <p:cNvPr id="32" name="Text 30">
            <a:extLst xmlns:a="http://schemas.openxmlformats.org/drawingml/2006/main">
              <a:ext uri="{FF2B5EF4-FFF2-40B4-BE49-F238E27FC236}">
                <a16:creationId xmlns:a16="http://schemas.microsoft.com/office/drawing/2014/main" id="{3E5AD3DE-3E62-4022-9451-D7F12B56A64D}"/>
              </a:ext>
            </a:extLst>
          </p:cNvPr>
          <p:cNvSpPr>
            <a:spLocks xmlns:a="http://schemas.openxmlformats.org/drawingml/2006/main" noGrp="1"/>
          </p:cNvSpPr>
          <p:nvPr/>
        </p:nvSpPr>
        <p:spPr>
          <a:xfrm xmlns:a="http://schemas.openxmlformats.org/drawingml/2006/main">
            <a:off x="6437376" y="2048256"/>
            <a:ext cx="24688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1A2638"/>
                </a:solidFill>
              </a:rPr>
              <a:t>1. Add the latest completed-year sources. 2. Rebuild the target-free estimate and QGIS layer. 3. When outcomes arrive, evaluate the estimate. 4. Repeat annually.</a:t>
            </a:r>
            <a:endParaRPr sz="850"/>
          </a:p>
        </p:txBody>
      </p:sp>
      <p:sp>
        <p:nvSpPr>
          <p:cNvPr id="33" name="Shape 31">
            <a:extLst xmlns:a="http://schemas.openxmlformats.org/drawingml/2006/main">
              <a:ext uri="{FF2B5EF4-FFF2-40B4-BE49-F238E27FC236}">
                <a16:creationId xmlns:a16="http://schemas.microsoft.com/office/drawing/2014/main" id="{1D97F61A-3048-4A24-B838-60FD9F2680DE}"/>
              </a:ext>
            </a:extLst>
          </p:cNvPr>
          <p:cNvSpPr>
            <a:spLocks xmlns:a="http://schemas.openxmlformats.org/drawingml/2006/main" noGrp="1"/>
          </p:cNvSpPr>
          <p:nvPr/>
        </p:nvSpPr>
        <p:spPr>
          <a:xfrm xmlns:a="http://schemas.openxmlformats.org/drawingml/2006/main">
            <a:off x="6437376" y="2578608"/>
            <a:ext cx="2468880" cy="502920"/>
          </a:xfrm>
          <a:prstGeom xmlns:a="http://schemas.openxmlformats.org/drawingml/2006/main" prst="rect">
            <a:avLst/>
          </a:prstGeom>
          <a:solidFill xmlns:a="http://schemas.openxmlformats.org/drawingml/2006/main">
            <a:srgbClr val="E6F5EE"/>
          </a:solidFill>
          <a:ln xmlns:a="http://schemas.openxmlformats.org/drawingml/2006/main" w="12700">
            <a:solidFill>
              <a:srgbClr val="E6F5EE"/>
            </a:solidFill>
            <a:prstDash val="solid"/>
          </a:ln>
        </p:spPr>
      </p:sp>
      <p:sp>
        <p:nvSpPr>
          <p:cNvPr id="34" name="Text 32">
            <a:extLst xmlns:a="http://schemas.openxmlformats.org/drawingml/2006/main">
              <a:ext uri="{FF2B5EF4-FFF2-40B4-BE49-F238E27FC236}">
                <a16:creationId xmlns:a16="http://schemas.microsoft.com/office/drawing/2014/main" id="{E463D690-7AF4-490A-8AEF-BDD57CA7B3F8}"/>
              </a:ext>
            </a:extLst>
          </p:cNvPr>
          <p:cNvSpPr>
            <a:spLocks xmlns:a="http://schemas.openxmlformats.org/drawingml/2006/main" noGrp="1"/>
          </p:cNvSpPr>
          <p:nvPr/>
        </p:nvSpPr>
        <p:spPr>
          <a:xfrm xmlns:a="http://schemas.openxmlformats.org/drawingml/2006/main">
            <a:off x="6483096" y="2578608"/>
            <a:ext cx="23774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i="1">
                <a:solidFill>
                  <a:srgbClr val="1A2638"/>
                </a:solidFill>
              </a:rPr>
              <a:t>HOW TO USE THE OUTPUTS</a:t>
            </a:r>
            <a:endParaRPr sz="800"/>
          </a:p>
        </p:txBody>
      </p:sp>
      <p:sp>
        <p:nvSpPr>
          <p:cNvPr id="35" name="Text 33">
            <a:extLst xmlns:a="http://schemas.openxmlformats.org/drawingml/2006/main">
              <a:ext uri="{FF2B5EF4-FFF2-40B4-BE49-F238E27FC236}">
                <a16:creationId xmlns:a16="http://schemas.microsoft.com/office/drawing/2014/main" id="{3CECC8A6-84AE-4D97-A48E-EBF1D00E3B3F}"/>
              </a:ext>
            </a:extLst>
          </p:cNvPr>
          <p:cNvSpPr>
            <a:spLocks xmlns:a="http://schemas.openxmlformats.org/drawingml/2006/main" noGrp="1"/>
          </p:cNvSpPr>
          <p:nvPr/>
        </p:nvSpPr>
        <p:spPr>
          <a:xfrm xmlns:a="http://schemas.openxmlformats.org/drawingml/2006/main">
            <a:off x="6437376" y="3145536"/>
            <a:ext cx="24688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750" b="1">
                <a:solidFill>
                  <a:srgbClr val="2A9D61"/>
                </a:solidFill>
              </a:rPr>
              <a:t>Use the maps to narrow broad areas, then check local site, planning, insurance and property evidence.</a:t>
            </a:r>
            <a:endParaRPr sz="750"/>
          </a:p>
        </p:txBody>
      </p:sp>
      <p:sp>
        <p:nvSpPr>
          <p:cNvPr id="36" name="Text 34">
            <a:extLst xmlns:a="http://schemas.openxmlformats.org/drawingml/2006/main">
              <a:ext uri="{FF2B5EF4-FFF2-40B4-BE49-F238E27FC236}">
                <a16:creationId xmlns:a16="http://schemas.microsoft.com/office/drawing/2014/main" id="{58D1355D-D03F-4A09-BDA2-4D152B718612}"/>
              </a:ext>
            </a:extLst>
          </p:cNvPr>
          <p:cNvSpPr>
            <a:spLocks xmlns:a="http://schemas.openxmlformats.org/drawingml/2006/main" noGrp="1"/>
          </p:cNvSpPr>
          <p:nvPr/>
        </p:nvSpPr>
        <p:spPr>
          <a:xfrm xmlns:a="http://schemas.openxmlformats.org/drawingml/2006/main">
            <a:off x="6437376" y="3675888"/>
            <a:ext cx="24688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750" b="1">
                <a:solidFill>
                  <a:srgbClr val="C0392B"/>
                </a:solidFill>
              </a:rPr>
              <a:t>The outputs support screening; the next decision still requires local evidence.</a:t>
            </a:r>
            <a:endParaRPr sz="750"/>
          </a:p>
        </p:txBody>
      </p:sp>
      <p:sp>
        <p:nvSpPr>
          <p:cNvPr id="37" name="Shape 35">
            <a:extLst xmlns:a="http://schemas.openxmlformats.org/drawingml/2006/main">
              <a:ext uri="{FF2B5EF4-FFF2-40B4-BE49-F238E27FC236}">
                <a16:creationId xmlns:a16="http://schemas.microsoft.com/office/drawing/2014/main" id="{19000DE9-D9C8-4054-86C8-5E7938726140}"/>
              </a:ext>
            </a:extLst>
          </p:cNvPr>
          <p:cNvSpPr>
            <a:spLocks xmlns:a="http://schemas.openxmlformats.org/drawingml/2006/main" noGrp="1"/>
          </p:cNvSpPr>
          <p:nvPr/>
        </p:nvSpPr>
        <p:spPr>
          <a:xfrm xmlns:a="http://schemas.openxmlformats.org/drawingml/2006/main">
            <a:off x="274320" y="4315968"/>
            <a:ext cx="8595360" cy="457200"/>
          </a:xfrm>
          <a:prstGeom xmlns:a="http://schemas.openxmlformats.org/drawingml/2006/main" prst="rect">
            <a:avLst/>
          </a:prstGeom>
          <a:solidFill xmlns:a="http://schemas.openxmlformats.org/drawingml/2006/main">
            <a:srgbClr val="0D1F2D"/>
          </a:solidFill>
          <a:ln xmlns:a="http://schemas.openxmlformats.org/drawingml/2006/main" w="12700">
            <a:solidFill>
              <a:srgbClr val="0D1F2D"/>
            </a:solidFill>
            <a:prstDash val="solid"/>
          </a:ln>
        </p:spPr>
      </p:sp>
      <p:sp>
        <p:nvSpPr>
          <p:cNvPr id="38" name="Text 36">
            <a:extLst xmlns:a="http://schemas.openxmlformats.org/drawingml/2006/main">
              <a:ext uri="{FF2B5EF4-FFF2-40B4-BE49-F238E27FC236}">
                <a16:creationId xmlns:a16="http://schemas.microsoft.com/office/drawing/2014/main" id="{E71B9F53-7C87-466A-82C0-B1674D8C50DE}"/>
              </a:ext>
            </a:extLst>
          </p:cNvPr>
          <p:cNvSpPr>
            <a:spLocks xmlns:a="http://schemas.openxmlformats.org/drawingml/2006/main" noGrp="1"/>
          </p:cNvSpPr>
          <p:nvPr/>
        </p:nvSpPr>
        <p:spPr>
          <a:xfrm xmlns:a="http://schemas.openxmlformats.org/drawingml/2006/main">
            <a:off x="411480" y="4315968"/>
            <a:ext cx="83210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E8A020"/>
                </a:solidFill>
              </a:rPr>
              <a:t>Next milestone: refresh with new data and evaluate when the observed outcome arrives.</a:t>
            </a:r>
            <a:endParaRPr sz="850"/>
          </a:p>
        </p:txBody>
      </p:sp>
      <p:sp>
        <p:nvSpPr>
          <p:cNvPr id="39" name="Shape 37">
            <a:extLst xmlns:a="http://schemas.openxmlformats.org/drawingml/2006/main">
              <a:ext uri="{FF2B5EF4-FFF2-40B4-BE49-F238E27FC236}">
                <a16:creationId xmlns:a16="http://schemas.microsoft.com/office/drawing/2014/main" id="{FD984804-AA2D-42E2-920F-E4B1379C983E}"/>
              </a:ext>
            </a:extLst>
          </p:cNvPr>
          <p:cNvSpPr>
            <a:spLocks xmlns:a="http://schemas.openxmlformats.org/drawingml/2006/main" noGrp="1"/>
          </p:cNvSpPr>
          <p:nvPr/>
        </p:nvSpPr>
        <p:spPr>
          <a:xfrm xmlns:a="http://schemas.openxmlformats.org/drawingml/2006/main">
            <a:off x="0" y="4919472"/>
            <a:ext cx="9144000" cy="224028"/>
          </a:xfrm>
          <a:prstGeom xmlns:a="http://schemas.openxmlformats.org/drawingml/2006/main" prst="rect">
            <a:avLst/>
          </a:prstGeom>
          <a:solidFill xmlns:a="http://schemas.openxmlformats.org/drawingml/2006/main">
            <a:srgbClr val="162B3D"/>
          </a:solidFill>
          <a:ln xmlns:a="http://schemas.openxmlformats.org/drawingml/2006/main" w="12700">
            <a:solidFill>
              <a:srgbClr val="162B3D"/>
            </a:solidFill>
            <a:prstDash val="solid"/>
          </a:ln>
        </p:spPr>
      </p:sp>
      <p:sp>
        <p:nvSpPr>
          <p:cNvPr id="40" name="Text 38">
            <a:extLst xmlns:a="http://schemas.openxmlformats.org/drawingml/2006/main">
              <a:ext uri="{FF2B5EF4-FFF2-40B4-BE49-F238E27FC236}">
                <a16:creationId xmlns:a16="http://schemas.microsoft.com/office/drawing/2014/main" id="{93433E41-EB5C-414B-84DF-E080804E3487}"/>
              </a:ext>
            </a:extLst>
          </p:cNvPr>
          <p:cNvSpPr>
            <a:spLocks xmlns:a="http://schemas.openxmlformats.org/drawingml/2006/main" noGrp="1"/>
          </p:cNvSpPr>
          <p:nvPr/>
        </p:nvSpPr>
        <p:spPr>
          <a:xfrm xmlns:a="http://schemas.openxmlformats.org/drawingml/2006/main">
            <a:off x="274320" y="4919472"/>
            <a:ext cx="8595360" cy="2240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a:solidFill>
                  <a:srgbClr val="E8A020"/>
                </a:solidFill>
              </a:rPr>
              <a:t>Serhii Diadechko  |  Data Science &amp; Machine Learning Capstone</a:t>
            </a:r>
            <a:endParaRPr sz="800"/>
          </a:p>
        </p:txBody>
      </p:sp>
    </p:spTree>
    <p:extLst>
      <p:ext uri="{BB962C8B-B14F-4D97-AF65-F5344CB8AC3E}">
        <p14:creationId xmlns:p14="http://schemas.microsoft.com/office/powerpoint/2010/main" val="1875363277"/>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2026-08-08T12:20:41.5770000Z</dcterms:created>
  <dcterms:modified xsi:type="dcterms:W3CDTF">2026-08-08T12:20:41.5770000Z</dcterms:modified>
</coreProperties>
</file>